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1" r:id="rId4"/>
  </p:sldMasterIdLst>
  <p:notesMasterIdLst>
    <p:notesMasterId r:id="rId20"/>
  </p:notesMasterIdLst>
  <p:sldIdLst>
    <p:sldId id="274" r:id="rId5"/>
    <p:sldId id="323" r:id="rId6"/>
    <p:sldId id="344" r:id="rId7"/>
    <p:sldId id="345" r:id="rId8"/>
    <p:sldId id="346" r:id="rId9"/>
    <p:sldId id="347" r:id="rId10"/>
    <p:sldId id="348" r:id="rId11"/>
    <p:sldId id="349" r:id="rId12"/>
    <p:sldId id="350" r:id="rId13"/>
    <p:sldId id="354" r:id="rId14"/>
    <p:sldId id="353" r:id="rId15"/>
    <p:sldId id="352" r:id="rId16"/>
    <p:sldId id="351" r:id="rId17"/>
    <p:sldId id="355" r:id="rId18"/>
    <p:sldId id="356" r:id="rId19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D7D31"/>
    <a:srgbClr val="B6D3EC"/>
    <a:srgbClr val="70AD47"/>
    <a:srgbClr val="FFFFFF"/>
    <a:srgbClr val="DAE3F3"/>
    <a:srgbClr val="FFF2CC"/>
    <a:srgbClr val="ED7D32"/>
    <a:srgbClr val="000000"/>
    <a:srgbClr val="ED7D30"/>
    <a:srgbClr val="7AAE5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166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69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331634E-3E6C-4B3D-9EC2-83A93BE7A607}" type="datetimeFigureOut">
              <a:rPr lang="fr-FR" smtClean="0"/>
              <a:t>16/02/2026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B88923B-847D-472A-95B5-6052F0DD8A3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454846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EC6FAE-C67C-E8E1-DD00-E4C949D821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CD524AAB-7DCD-A69D-7DD1-E2DCB6C9C86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27EE80FB-B01D-5B35-DB80-EC2E9FA26FC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sz="1000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BB0A676C-2E71-854C-EF50-73D0AB26580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1FFC7C6-E81E-472B-B028-0EDB0A3D63A8}" type="slidenum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2213013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4EF1AF-2A36-8DFC-692C-DDB012F412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FF22C7D6-BDC5-2967-F482-54EA3DC3AB8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D8259BA4-D7C6-3FFE-4EC7-1DC40087AF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sz="1000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7D39BC7E-B8C3-0DB7-6208-6D131F7FD42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1FFC7C6-E81E-472B-B028-0EDB0A3D63A8}" type="slidenum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5923600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DC828F-6552-A451-331D-C0B9509A39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B74548A5-3CD6-1FDF-81C9-C335159F3E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EACFBD0A-4C7B-07A3-1FF4-1D241EADF42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sz="1000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43298787-68FF-9AAF-AEE6-C6372B5951E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1FFC7C6-E81E-472B-B028-0EDB0A3D63A8}" type="slidenum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78238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78DCA3-DD8B-A269-D255-0C548F74BC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CAAD4586-9D2E-C574-FE0C-31CAC953D76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BAC4FF95-F698-1615-B359-383A822D762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sz="1000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4393DE85-AFC2-EC5D-0E2C-C8941950D2D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1FFC7C6-E81E-472B-B028-0EDB0A3D63A8}" type="slidenum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0016152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7B3863-ACB4-6C16-F0C4-05BECF4A4C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9ACC8101-AC46-36EA-90C6-295E1B34886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DBE187B1-55A9-E0CA-098E-52E084C898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sz="1000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F2524BC8-80E8-D344-043A-2428EB6016E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1FFC7C6-E81E-472B-B028-0EDB0A3D63A8}" type="slidenum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6944409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FA5EEA-5EFF-42CC-A657-8A8DF60617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77203D33-5D15-4B76-E44E-75002BCC4FC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0F1B3C93-2C9C-B844-2D77-7DCF8EA8CF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sz="1000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B6DED79D-6E48-F9FF-E2EC-EA78567600D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1FFC7C6-E81E-472B-B028-0EDB0A3D63A8}" type="slidenum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8509679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808ABC-80E3-7881-6B63-EE953FD3BA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706FB17E-1CF5-A90D-E54E-439F021554B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C90EFE16-5B4E-A766-6C79-BB1D5AA0CEB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sz="1000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8CC86419-1870-86A5-4DD1-D634F16F0F1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1FFC7C6-E81E-472B-B028-0EDB0A3D63A8}" type="slidenum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9187361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5BEFC1-3E08-F7A6-6F51-55DB4589CA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08FEFDC0-A7F0-52FC-3611-B291821676A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6E854349-ED21-68A0-702E-DCF23921E45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sz="1000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DAD98196-5E4A-1043-21FF-092E6C70ACF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1FFC7C6-E81E-472B-B028-0EDB0A3D63A8}" type="slidenum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291682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489ADC-007C-89D4-F171-6B11B2BF47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62B2B9B4-8056-4CAF-C8BB-DD0C6039B6D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169B1481-1B43-CB0E-0B7E-B0B0BA33644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sz="1000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14DA7776-EABA-BEBE-5D1F-1206D881A43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1FFC7C6-E81E-472B-B028-0EDB0A3D63A8}" type="slidenum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5233694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068D8D-F7F1-46DF-CE35-53D42C7F7B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F4BD7A4D-E698-39FE-5D36-2A379D12D7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26710688-7125-D248-87AA-F6C858D61D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sz="1000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D2AE34B1-E205-B368-38A3-6499627785E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1FFC7C6-E81E-472B-B028-0EDB0A3D63A8}" type="slidenum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3680706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0BCFA1-4D40-1DCE-FDAE-58771511C8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A6FBD990-3C73-8212-F430-909AC5E1E7A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220AF44B-4C8A-D5F5-FEAC-DC5928C1A34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sz="1000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A8F9715F-8F42-2B8C-CC40-415AD11A6C9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1FFC7C6-E81E-472B-B028-0EDB0A3D63A8}" type="slidenum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5219739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4F863B-E406-7925-5900-9E4946DE78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2FEFC931-8006-E2A7-5AFB-E86854C2C5D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E27BD4D6-C502-C036-ADAE-B0E9CEBC279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sz="1000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E4EFE888-751E-4723-A635-BC2D2D4725D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1FFC7C6-E81E-472B-B028-0EDB0A3D63A8}" type="slidenum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8427993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805F59-90AB-83C6-8BA1-1F841D4101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BCBC8D4F-05AC-EF58-2BC3-8315232F568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FF80748F-CE72-E4A3-8845-C91008600A9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sz="1000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4B83188E-E5C3-5E68-28A7-3F92D7F48DF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1FFC7C6-E81E-472B-B028-0EDB0A3D63A8}" type="slidenum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6012261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93B648-097D-7BB8-48F9-A38A8B6C0B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0537D4CE-CF8E-DF26-0D46-005482AD31C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3620A6C4-051D-1135-0A0E-B8AB2048998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sz="1000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793D869E-3950-21A3-B30E-AA23145D754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1FFC7C6-E81E-472B-B028-0EDB0A3D63A8}" type="slidenum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095755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4906621-5688-4961-9964-76DC000A38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901E4AE6-B89D-4A91-8DFC-981450FBA0F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3C227DF-5400-45F5-913B-2DB785F77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BF5F93-9E15-4810-8DF1-7C25C36E4748}" type="datetimeFigureOut">
              <a:rPr lang="fr-FR" smtClean="0"/>
              <a:t>16/02/2026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8C09C0D-006E-4829-B17F-37B157B8F5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C10EDC2-36CC-4BF2-A8BE-BF6182AAD3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01463C-4ACC-4AFD-B16D-5255ED5BA0D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537189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FB8C4B3-16B2-4BB8-90D9-7A2D6C71F7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5F90376-0106-48D3-9E9A-D4D8622029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79A6899-B7BE-45B3-959B-DD0F9737AA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BF5F93-9E15-4810-8DF1-7C25C36E4748}" type="datetimeFigureOut">
              <a:rPr lang="fr-FR" smtClean="0"/>
              <a:t>16/02/2026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3C4ACDA3-502D-4DBA-AA6B-8CDBBE0A39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B23D2EE-BE81-48D9-8EA9-A4EF03884C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01463C-4ACC-4AFD-B16D-5255ED5BA0D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49346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F15997B-62E8-44E1-9128-A9D37D9B4F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5AD4969D-4B81-48A0-8EF5-9491F71D12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9172C23-21C9-4EB9-8DB0-F622148B0D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BF5F93-9E15-4810-8DF1-7C25C36E4748}" type="datetimeFigureOut">
              <a:rPr lang="fr-FR" smtClean="0"/>
              <a:t>16/02/2026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A245A1F-199E-47B8-8A05-079F4E244B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1B6B81A-2425-4295-98A9-DFC61EBF5E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01463C-4ACC-4AFD-B16D-5255ED5BA0D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901422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F2D2C72-22AE-40D6-8D59-BDF6361BE5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220134F-90F5-43A2-B9AA-1E89763F0A4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F401C002-27C3-4928-B980-3A6288AF01F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70B0E208-CA4D-4F0C-9EF0-AB6A275B12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BF5F93-9E15-4810-8DF1-7C25C36E4748}" type="datetimeFigureOut">
              <a:rPr lang="fr-FR" smtClean="0"/>
              <a:t>16/02/2026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D51BBA2E-DBF8-4ECE-9A78-44AE8956E0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CC000922-5411-40C3-AD58-F01893AEBE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01463C-4ACC-4AFD-B16D-5255ED5BA0D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820906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786F162-371B-4371-ABA1-CA3DCB23F6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A4B4E8EA-0CB2-4D61-9C53-5D3077096A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41BFAD59-D417-402D-B30E-066396E96A6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71E81DAB-586B-4F4F-9B6C-1DC374A4627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35C6B6E2-ADCA-4A96-A3D6-A4441F5D4EF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6BD901B7-0B64-48FE-9B8E-F0885FBF17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BF5F93-9E15-4810-8DF1-7C25C36E4748}" type="datetimeFigureOut">
              <a:rPr lang="fr-FR" smtClean="0"/>
              <a:t>16/02/2026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FF25FC58-BC9A-4282-A62B-F26080703F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9A2DA505-D373-402A-A732-AD67D7034B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01463C-4ACC-4AFD-B16D-5255ED5BA0D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559722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EF6ADAB-DEEA-4E09-A7F8-041A5A89B9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C6CDEF5B-BC2A-4708-8AAB-8109CDD9DF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BF5F93-9E15-4810-8DF1-7C25C36E4748}" type="datetimeFigureOut">
              <a:rPr lang="fr-FR" smtClean="0"/>
              <a:t>16/02/2026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1CF1B228-2998-4292-BEDD-888C998BFC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DBE0EC90-1614-4EB9-8760-24027659C7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01463C-4ACC-4AFD-B16D-5255ED5BA0D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231796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BDA05553-D5A1-4E22-9606-450715B759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BF5F93-9E15-4810-8DF1-7C25C36E4748}" type="datetimeFigureOut">
              <a:rPr lang="fr-FR" smtClean="0"/>
              <a:t>16/02/2026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F6180DA3-1AFB-4FEA-8782-ECC925BFB3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0AA5D3BA-46FD-4278-978E-FAA71B6DE8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01463C-4ACC-4AFD-B16D-5255ED5BA0D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57862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F749CB7-4C66-44EE-8B9F-43F8FCD974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1556436-3648-466D-BE95-5E40DDBA1F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EDC539AF-B2BB-4184-84A2-1B99D317775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A9C34D13-6EC9-468D-8C61-7A686E2AFC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BF5F93-9E15-4810-8DF1-7C25C36E4748}" type="datetimeFigureOut">
              <a:rPr lang="fr-FR" smtClean="0"/>
              <a:t>16/02/2026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89847C13-921C-4BE9-8136-2DA95542D5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E72F868C-5F52-4A2C-87E2-7EE5D70DED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01463C-4ACC-4AFD-B16D-5255ED5BA0D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369009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B46DD31-D4D3-4E81-9FBD-9DECEA37CB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2A3045A9-C14C-4C64-801E-499D28A54BC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889FCDE3-FA72-4AFB-A971-988943EE29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D7FD3EA9-7512-4BFA-ABC9-50ADB5C231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BF5F93-9E15-4810-8DF1-7C25C36E4748}" type="datetimeFigureOut">
              <a:rPr lang="fr-FR" smtClean="0"/>
              <a:t>16/02/2026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C0627CBE-C346-4E75-A1D2-B84CCA23E5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852A811F-3145-4993-842B-C055B21EA5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01463C-4ACC-4AFD-B16D-5255ED5BA0D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172855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EDF277D-9F11-4ECA-8E75-E6AC1B9A25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6D76EDD6-C6B2-4839-8D5F-41D7C03553C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5831EAF6-1F0D-4E59-81B1-5C6C3FACBF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BF5F93-9E15-4810-8DF1-7C25C36E4748}" type="datetimeFigureOut">
              <a:rPr lang="fr-FR" smtClean="0"/>
              <a:t>16/02/2026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9815AB8-7709-44EA-BE8E-2B405B8500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4C8DF60-ECEF-48B3-B0F3-D0DBB054FE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01463C-4ACC-4AFD-B16D-5255ED5BA0D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260856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DEE90964-79E0-4C20-9861-D296B15745C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2C466783-282E-4ADB-809B-63FBF916993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0951521-08B7-4BDC-8FD0-DD5CF89AD8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BF5F93-9E15-4810-8DF1-7C25C36E4748}" type="datetimeFigureOut">
              <a:rPr lang="fr-FR" smtClean="0"/>
              <a:t>16/02/2026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B4121F9-2E4B-480D-9B67-EB5BA22E29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F3023B7-BC53-4D20-8AA0-5B71D48F0D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01463C-4ACC-4AFD-B16D-5255ED5BA0D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830047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D71AAB68-9875-46A3-96BA-CA493FF998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060DF2C2-2A46-421F-886D-06EAD10D10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1EEC5AE-39A6-4A34-86E3-3711AC147C7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BBF5F93-9E15-4810-8DF1-7C25C36E4748}" type="datetimeFigureOut">
              <a:rPr lang="fr-FR" smtClean="0"/>
              <a:t>16/02/2026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F446C06-CE7D-4BEA-8277-BAE7D051EE6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5715D5A-6DAB-4C6C-B418-1984F79E94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D01463C-4ACC-4AFD-B16D-5255ED5BA0D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818660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slide" Target="slide12.xml"/><Relationship Id="rId13" Type="http://schemas.openxmlformats.org/officeDocument/2006/relationships/slide" Target="slide7.xml"/><Relationship Id="rId3" Type="http://schemas.openxmlformats.org/officeDocument/2006/relationships/slide" Target="slide3.xml"/><Relationship Id="rId7" Type="http://schemas.openxmlformats.org/officeDocument/2006/relationships/slide" Target="slide11.xml"/><Relationship Id="rId12" Type="http://schemas.openxmlformats.org/officeDocument/2006/relationships/slide" Target="slide14.xml"/><Relationship Id="rId2" Type="http://schemas.openxmlformats.org/officeDocument/2006/relationships/slide" Target="slide2.xml"/><Relationship Id="rId1" Type="http://schemas.openxmlformats.org/officeDocument/2006/relationships/slideLayout" Target="../slideLayouts/slideLayout1.xml"/><Relationship Id="rId6" Type="http://schemas.openxmlformats.org/officeDocument/2006/relationships/slide" Target="slide10.xml"/><Relationship Id="rId11" Type="http://schemas.openxmlformats.org/officeDocument/2006/relationships/slide" Target="slide6.xml"/><Relationship Id="rId5" Type="http://schemas.openxmlformats.org/officeDocument/2006/relationships/slide" Target="slide9.xml"/><Relationship Id="rId10" Type="http://schemas.openxmlformats.org/officeDocument/2006/relationships/slide" Target="slide13.xml"/><Relationship Id="rId4" Type="http://schemas.openxmlformats.org/officeDocument/2006/relationships/slide" Target="slide4.xml"/><Relationship Id="rId9" Type="http://schemas.openxmlformats.org/officeDocument/2006/relationships/slide" Target="slide5.xml"/><Relationship Id="rId14" Type="http://schemas.openxmlformats.org/officeDocument/2006/relationships/slide" Target="slide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1">
            <a:extLst>
              <a:ext uri="{FF2B5EF4-FFF2-40B4-BE49-F238E27FC236}">
                <a16:creationId xmlns:a16="http://schemas.microsoft.com/office/drawing/2014/main" id="{EF62914D-18BD-7FDC-75A8-0CD78CD5AB11}"/>
              </a:ext>
            </a:extLst>
          </p:cNvPr>
          <p:cNvSpPr txBox="1"/>
          <p:nvPr/>
        </p:nvSpPr>
        <p:spPr>
          <a:xfrm>
            <a:off x="0" y="129296"/>
            <a:ext cx="12192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4400" b="0" i="0" strike="noStrike" kern="1200" cap="none" spc="0" normalizeH="0" baseline="0" noProof="0" dirty="0">
                <a:ln>
                  <a:noFill/>
                </a:ln>
                <a:solidFill>
                  <a:srgbClr val="5B9BD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Sommaire Cartographie Applicative</a:t>
            </a:r>
          </a:p>
        </p:txBody>
      </p:sp>
      <p:sp>
        <p:nvSpPr>
          <p:cNvPr id="10" name="ZoneTexte 81">
            <a:extLst>
              <a:ext uri="{FF2B5EF4-FFF2-40B4-BE49-F238E27FC236}">
                <a16:creationId xmlns:a16="http://schemas.microsoft.com/office/drawing/2014/main" id="{58D5BBD2-2338-91C5-2E45-2D19AA33EFEB}"/>
              </a:ext>
            </a:extLst>
          </p:cNvPr>
          <p:cNvSpPr txBox="1"/>
          <p:nvPr/>
        </p:nvSpPr>
        <p:spPr>
          <a:xfrm>
            <a:off x="2150618" y="3569707"/>
            <a:ext cx="1440000" cy="468000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  <a:effectLst>
            <a:outerShdw blurRad="50800" dist="38100" dir="2700000" algn="tl" rotWithShape="0">
              <a:schemeClr val="tx1"/>
            </a:outerShdw>
          </a:effectLst>
        </p:spPr>
        <p:txBody>
          <a:bodyPr wrap="none" lIns="0" rIns="0" rtlCol="0" anchor="ctr">
            <a:noAutofit/>
          </a:bodyPr>
          <a:lstStyle>
            <a:defPPr>
              <a:defRPr lang="fr-FR"/>
            </a:defPPr>
            <a:lvl1pPr algn="ctr">
              <a:defRPr kumimoji="0" sz="800" b="0" i="0" u="sng" strike="noStrike" cap="none" spc="0" normalizeH="0" baseline="0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fr-FR" dirty="0"/>
          </a:p>
        </p:txBody>
      </p:sp>
      <p:sp>
        <p:nvSpPr>
          <p:cNvPr id="5" name="ZoneTexte 81">
            <a:hlinkClick r:id="rId2" action="ppaction://hlinksldjump"/>
            <a:extLst>
              <a:ext uri="{FF2B5EF4-FFF2-40B4-BE49-F238E27FC236}">
                <a16:creationId xmlns:a16="http://schemas.microsoft.com/office/drawing/2014/main" id="{0CF67253-FB77-4E9A-6A4B-6405013AECD4}"/>
              </a:ext>
            </a:extLst>
          </p:cNvPr>
          <p:cNvSpPr txBox="1"/>
          <p:nvPr/>
        </p:nvSpPr>
        <p:spPr>
          <a:xfrm>
            <a:off x="551016" y="1046014"/>
            <a:ext cx="1440000" cy="468000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  <a:effectLst>
            <a:outerShdw blurRad="50800" dist="38100" dir="2700000" algn="tl" rotWithShape="0">
              <a:schemeClr val="tx1"/>
            </a:outerShdw>
          </a:effectLst>
        </p:spPr>
        <p:txBody>
          <a:bodyPr wrap="none" lIns="0" rIns="0" rtlCol="0" anchor="ctr">
            <a:noAutofit/>
          </a:bodyPr>
          <a:lstStyle>
            <a:defPPr>
              <a:defRPr lang="fr-FR"/>
            </a:defPPr>
            <a:lvl1pPr algn="ctr">
              <a:defRPr kumimoji="0" sz="800" b="0" i="0" u="sng" strike="noStrike" cap="none" spc="0" normalizeH="0" baseline="0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fr-FR" dirty="0"/>
              <a:t>Versement Libre </a:t>
            </a:r>
            <a:r>
              <a:rPr lang="fr-FR" dirty="0" err="1"/>
              <a:t>Selfcare</a:t>
            </a:r>
            <a:r>
              <a:rPr lang="fr-FR" dirty="0"/>
              <a:t> </a:t>
            </a:r>
            <a:br>
              <a:rPr lang="fr-FR" dirty="0"/>
            </a:br>
            <a:r>
              <a:rPr lang="fr-FR" dirty="0"/>
              <a:t>LCL</a:t>
            </a:r>
          </a:p>
        </p:txBody>
      </p:sp>
      <p:sp>
        <p:nvSpPr>
          <p:cNvPr id="11" name="ZoneTexte 81">
            <a:hlinkClick r:id="rId3" action="ppaction://hlinksldjump"/>
            <a:extLst>
              <a:ext uri="{FF2B5EF4-FFF2-40B4-BE49-F238E27FC236}">
                <a16:creationId xmlns:a16="http://schemas.microsoft.com/office/drawing/2014/main" id="{78F53C01-53FA-5914-744A-2E1BBEA611C6}"/>
              </a:ext>
            </a:extLst>
          </p:cNvPr>
          <p:cNvSpPr txBox="1"/>
          <p:nvPr/>
        </p:nvSpPr>
        <p:spPr>
          <a:xfrm>
            <a:off x="2150618" y="1046014"/>
            <a:ext cx="1440000" cy="468000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  <a:effectLst>
            <a:outerShdw blurRad="50800" dist="38100" dir="2700000" algn="tl" rotWithShape="0">
              <a:schemeClr val="tx1"/>
            </a:outerShdw>
          </a:effectLst>
        </p:spPr>
        <p:txBody>
          <a:bodyPr wrap="none" lIns="0" rIns="0" rtlCol="0" anchor="ctr">
            <a:noAutofit/>
          </a:bodyPr>
          <a:lstStyle>
            <a:defPPr>
              <a:defRPr lang="fr-FR"/>
            </a:defPPr>
            <a:lvl1pPr algn="ctr">
              <a:defRPr kumimoji="0" sz="800" b="0" i="0" u="sng" strike="noStrike" cap="none" spc="0" normalizeH="0" baseline="0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Adhésion</a:t>
            </a:r>
            <a:r>
              <a:rPr lang="en-US" dirty="0"/>
              <a:t> selfcare LCL</a:t>
            </a:r>
          </a:p>
        </p:txBody>
      </p:sp>
      <p:sp>
        <p:nvSpPr>
          <p:cNvPr id="15" name="ZoneTexte 81">
            <a:hlinkClick r:id="rId4" action="ppaction://hlinksldjump"/>
            <a:extLst>
              <a:ext uri="{FF2B5EF4-FFF2-40B4-BE49-F238E27FC236}">
                <a16:creationId xmlns:a16="http://schemas.microsoft.com/office/drawing/2014/main" id="{3533BBF5-47E9-F9E4-715C-F3F6D6A0CA59}"/>
              </a:ext>
            </a:extLst>
          </p:cNvPr>
          <p:cNvSpPr txBox="1"/>
          <p:nvPr/>
        </p:nvSpPr>
        <p:spPr>
          <a:xfrm>
            <a:off x="3750220" y="1046014"/>
            <a:ext cx="1440000" cy="468000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  <a:effectLst>
            <a:outerShdw blurRad="50800" dist="38100" dir="2700000" algn="tl" rotWithShape="0">
              <a:schemeClr val="tx1"/>
            </a:outerShdw>
          </a:effectLst>
        </p:spPr>
        <p:txBody>
          <a:bodyPr wrap="none" lIns="0" rIns="0" rtlCol="0" anchor="ctr">
            <a:noAutofit/>
          </a:bodyPr>
          <a:lstStyle>
            <a:defPPr>
              <a:defRPr lang="fr-FR"/>
            </a:defPPr>
            <a:lvl1pPr algn="ctr">
              <a:defRPr kumimoji="0" sz="800" b="0" i="0" u="sng" strike="noStrike" cap="none" spc="0" normalizeH="0" baseline="0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fr-FR" dirty="0"/>
              <a:t>Accessibilité ERI Audits</a:t>
            </a:r>
          </a:p>
        </p:txBody>
      </p:sp>
      <p:sp>
        <p:nvSpPr>
          <p:cNvPr id="6" name="ZoneTexte 81">
            <a:hlinkClick r:id="rId5" action="ppaction://hlinksldjump"/>
            <a:extLst>
              <a:ext uri="{FF2B5EF4-FFF2-40B4-BE49-F238E27FC236}">
                <a16:creationId xmlns:a16="http://schemas.microsoft.com/office/drawing/2014/main" id="{E297451D-B6B1-EAAC-1E76-C64ABA721DAE}"/>
              </a:ext>
            </a:extLst>
          </p:cNvPr>
          <p:cNvSpPr txBox="1"/>
          <p:nvPr/>
        </p:nvSpPr>
        <p:spPr>
          <a:xfrm>
            <a:off x="551016" y="1669527"/>
            <a:ext cx="1440000" cy="468000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  <a:effectLst>
            <a:outerShdw blurRad="50800" dist="38100" dir="2700000" algn="tl" rotWithShape="0">
              <a:schemeClr val="tx1"/>
            </a:outerShdw>
          </a:effectLst>
        </p:spPr>
        <p:txBody>
          <a:bodyPr wrap="none" lIns="0" rIns="0" rtlCol="0" anchor="ctr">
            <a:noAutofit/>
          </a:bodyPr>
          <a:lstStyle>
            <a:defPPr>
              <a:defRPr lang="fr-FR"/>
            </a:defPPr>
            <a:lvl1pPr algn="ctr">
              <a:defRPr kumimoji="0" sz="800" b="0" i="0" u="sng" strike="noStrike" cap="none" spc="0" normalizeH="0" baseline="0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fr-FR" dirty="0">
                <a:highlight>
                  <a:srgbClr val="FFFF00"/>
                </a:highlight>
              </a:rPr>
              <a:t>Arbitrage E gestion conseillée</a:t>
            </a:r>
          </a:p>
        </p:txBody>
      </p:sp>
      <p:sp>
        <p:nvSpPr>
          <p:cNvPr id="12" name="ZoneTexte 81">
            <a:hlinkClick r:id="rId6" action="ppaction://hlinksldjump"/>
            <a:extLst>
              <a:ext uri="{FF2B5EF4-FFF2-40B4-BE49-F238E27FC236}">
                <a16:creationId xmlns:a16="http://schemas.microsoft.com/office/drawing/2014/main" id="{E077C7F7-8AFA-1655-5088-E63B97CDE459}"/>
              </a:ext>
            </a:extLst>
          </p:cNvPr>
          <p:cNvSpPr txBox="1"/>
          <p:nvPr/>
        </p:nvSpPr>
        <p:spPr>
          <a:xfrm>
            <a:off x="2150618" y="1669527"/>
            <a:ext cx="1440000" cy="468000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  <a:effectLst>
            <a:outerShdw blurRad="50800" dist="38100" dir="2700000" algn="tl" rotWithShape="0">
              <a:schemeClr val="tx1"/>
            </a:outerShdw>
          </a:effectLst>
        </p:spPr>
        <p:txBody>
          <a:bodyPr wrap="none" lIns="0" rIns="0" rtlCol="0" anchor="ctr">
            <a:noAutofit/>
          </a:bodyPr>
          <a:lstStyle>
            <a:defPPr>
              <a:defRPr lang="fr-FR"/>
            </a:defPPr>
            <a:lvl1pPr algn="ctr">
              <a:defRPr kumimoji="0" sz="800" b="0" i="0" u="sng" strike="noStrike" cap="none" spc="0" normalizeH="0" baseline="0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fr-FR" dirty="0"/>
              <a:t>Ouverture VLC </a:t>
            </a:r>
          </a:p>
          <a:p>
            <a:r>
              <a:rPr lang="fr-FR" dirty="0"/>
              <a:t>pour le produit PER</a:t>
            </a:r>
          </a:p>
        </p:txBody>
      </p:sp>
      <p:sp>
        <p:nvSpPr>
          <p:cNvPr id="16" name="ZoneTexte 81">
            <a:hlinkClick r:id="rId7" action="ppaction://hlinksldjump"/>
            <a:extLst>
              <a:ext uri="{FF2B5EF4-FFF2-40B4-BE49-F238E27FC236}">
                <a16:creationId xmlns:a16="http://schemas.microsoft.com/office/drawing/2014/main" id="{55CDAD26-C5AE-DFBC-11BF-28A566210B5E}"/>
              </a:ext>
            </a:extLst>
          </p:cNvPr>
          <p:cNvSpPr txBox="1"/>
          <p:nvPr/>
        </p:nvSpPr>
        <p:spPr>
          <a:xfrm>
            <a:off x="3750220" y="1669527"/>
            <a:ext cx="1440000" cy="468000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  <a:effectLst>
            <a:outerShdw blurRad="50800" dist="38100" dir="2700000" algn="tl" rotWithShape="0">
              <a:schemeClr val="tx1"/>
            </a:outerShdw>
          </a:effectLst>
        </p:spPr>
        <p:txBody>
          <a:bodyPr wrap="none" lIns="0" rIns="0" rtlCol="0" anchor="ctr">
            <a:noAutofit/>
          </a:bodyPr>
          <a:lstStyle>
            <a:defPPr>
              <a:defRPr lang="fr-FR"/>
            </a:defPPr>
            <a:lvl1pPr algn="ctr">
              <a:defRPr kumimoji="0" sz="800" b="0" i="0" u="sng" strike="noStrike" cap="none" spc="0" normalizeH="0" baseline="0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fr-FR" dirty="0"/>
              <a:t>Ouverture Arbitrage Conseiller</a:t>
            </a:r>
          </a:p>
          <a:p>
            <a:r>
              <a:rPr lang="fr-FR" dirty="0"/>
              <a:t> pour le produit PER</a:t>
            </a:r>
          </a:p>
        </p:txBody>
      </p:sp>
      <p:sp>
        <p:nvSpPr>
          <p:cNvPr id="7" name="ZoneTexte 81">
            <a:extLst>
              <a:ext uri="{FF2B5EF4-FFF2-40B4-BE49-F238E27FC236}">
                <a16:creationId xmlns:a16="http://schemas.microsoft.com/office/drawing/2014/main" id="{7B0FFC12-9EA8-2175-60CE-10990EEDB3AE}"/>
              </a:ext>
            </a:extLst>
          </p:cNvPr>
          <p:cNvSpPr txBox="1"/>
          <p:nvPr/>
        </p:nvSpPr>
        <p:spPr>
          <a:xfrm>
            <a:off x="551016" y="2935603"/>
            <a:ext cx="1440000" cy="468000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  <a:effectLst>
            <a:outerShdw blurRad="50800" dist="38100" dir="2700000" algn="tl" rotWithShape="0">
              <a:schemeClr val="tx1"/>
            </a:outerShdw>
          </a:effectLst>
        </p:spPr>
        <p:txBody>
          <a:bodyPr wrap="none" lIns="0" rIns="0" rtlCol="0" anchor="ctr">
            <a:noAutofit/>
          </a:bodyPr>
          <a:lstStyle>
            <a:defPPr>
              <a:defRPr lang="fr-FR"/>
            </a:defPPr>
            <a:lvl1pPr algn="ctr">
              <a:defRPr kumimoji="0" sz="800" b="0" i="0" u="sng" strike="noStrike" cap="none" spc="0" normalizeH="0" baseline="0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fr-FR" dirty="0"/>
          </a:p>
        </p:txBody>
      </p:sp>
      <p:sp>
        <p:nvSpPr>
          <p:cNvPr id="13" name="ZoneTexte 81">
            <a:extLst>
              <a:ext uri="{FF2B5EF4-FFF2-40B4-BE49-F238E27FC236}">
                <a16:creationId xmlns:a16="http://schemas.microsoft.com/office/drawing/2014/main" id="{65E03260-D1CF-D01B-57AA-13588F6CBFE2}"/>
              </a:ext>
            </a:extLst>
          </p:cNvPr>
          <p:cNvSpPr txBox="1"/>
          <p:nvPr/>
        </p:nvSpPr>
        <p:spPr>
          <a:xfrm>
            <a:off x="2150618" y="2301276"/>
            <a:ext cx="1440000" cy="468000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  <a:effectLst>
            <a:outerShdw blurRad="50800" dist="38100" dir="2700000" algn="tl" rotWithShape="0">
              <a:schemeClr val="tx1"/>
            </a:outerShdw>
          </a:effectLst>
        </p:spPr>
        <p:txBody>
          <a:bodyPr wrap="none" lIns="0" rIns="0" rtlCol="0" anchor="ctr">
            <a:noAutofit/>
          </a:bodyPr>
          <a:lstStyle>
            <a:defPPr>
              <a:defRPr lang="fr-FR"/>
            </a:defPPr>
            <a:lvl1pPr algn="ctr">
              <a:defRPr kumimoji="0" sz="800" b="0" i="0" u="sng" strike="noStrike" cap="none" spc="0" normalizeH="0" baseline="0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fr-FR" dirty="0"/>
          </a:p>
        </p:txBody>
      </p:sp>
      <p:sp>
        <p:nvSpPr>
          <p:cNvPr id="17" name="ZoneTexte 81">
            <a:extLst>
              <a:ext uri="{FF2B5EF4-FFF2-40B4-BE49-F238E27FC236}">
                <a16:creationId xmlns:a16="http://schemas.microsoft.com/office/drawing/2014/main" id="{FD1BB919-846E-D418-EB5C-959048042558}"/>
              </a:ext>
            </a:extLst>
          </p:cNvPr>
          <p:cNvSpPr txBox="1"/>
          <p:nvPr/>
        </p:nvSpPr>
        <p:spPr>
          <a:xfrm>
            <a:off x="3750220" y="2301276"/>
            <a:ext cx="1440000" cy="468000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  <a:effectLst>
            <a:outerShdw blurRad="50800" dist="38100" dir="2700000" algn="tl" rotWithShape="0">
              <a:schemeClr val="tx1"/>
            </a:outerShdw>
          </a:effectLst>
        </p:spPr>
        <p:txBody>
          <a:bodyPr wrap="none" lIns="0" rIns="0" rtlCol="0" anchor="ctr">
            <a:noAutofit/>
          </a:bodyPr>
          <a:lstStyle>
            <a:defPPr>
              <a:defRPr lang="fr-FR"/>
            </a:defPPr>
            <a:lvl1pPr algn="ctr">
              <a:defRPr kumimoji="0" sz="800" b="0" i="0" u="sng" strike="noStrike" cap="none" spc="0" normalizeH="0" baseline="0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fr-FR" dirty="0"/>
          </a:p>
        </p:txBody>
      </p:sp>
      <p:sp>
        <p:nvSpPr>
          <p:cNvPr id="8" name="ZoneTexte 81">
            <a:extLst>
              <a:ext uri="{FF2B5EF4-FFF2-40B4-BE49-F238E27FC236}">
                <a16:creationId xmlns:a16="http://schemas.microsoft.com/office/drawing/2014/main" id="{B0E3F459-5896-51A7-95EF-983F703A51FD}"/>
              </a:ext>
            </a:extLst>
          </p:cNvPr>
          <p:cNvSpPr txBox="1"/>
          <p:nvPr/>
        </p:nvSpPr>
        <p:spPr>
          <a:xfrm>
            <a:off x="551016" y="3569707"/>
            <a:ext cx="1440000" cy="468000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  <a:effectLst>
            <a:outerShdw blurRad="50800" dist="38100" dir="2700000" algn="tl" rotWithShape="0">
              <a:schemeClr val="tx1"/>
            </a:outerShdw>
          </a:effectLst>
        </p:spPr>
        <p:txBody>
          <a:bodyPr wrap="none" lIns="0" rIns="0" rtlCol="0" anchor="ctr">
            <a:noAutofit/>
          </a:bodyPr>
          <a:lstStyle>
            <a:defPPr>
              <a:defRPr lang="fr-FR"/>
            </a:defPPr>
            <a:lvl1pPr algn="ctr">
              <a:defRPr kumimoji="0" sz="800" b="0" i="0" u="sng" strike="noStrike" cap="none" spc="0" normalizeH="0" baseline="0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fr-FR" dirty="0"/>
          </a:p>
        </p:txBody>
      </p:sp>
      <p:sp>
        <p:nvSpPr>
          <p:cNvPr id="14" name="ZoneTexte 81">
            <a:extLst>
              <a:ext uri="{FF2B5EF4-FFF2-40B4-BE49-F238E27FC236}">
                <a16:creationId xmlns:a16="http://schemas.microsoft.com/office/drawing/2014/main" id="{B3998687-1D8A-1768-2097-337FE38E4744}"/>
              </a:ext>
            </a:extLst>
          </p:cNvPr>
          <p:cNvSpPr txBox="1"/>
          <p:nvPr/>
        </p:nvSpPr>
        <p:spPr>
          <a:xfrm>
            <a:off x="2150618" y="2935603"/>
            <a:ext cx="1440000" cy="468000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  <a:effectLst>
            <a:outerShdw blurRad="50800" dist="38100" dir="2700000" algn="tl" rotWithShape="0">
              <a:schemeClr val="tx1"/>
            </a:outerShdw>
          </a:effectLst>
        </p:spPr>
        <p:txBody>
          <a:bodyPr wrap="none" lIns="0" rIns="0" rtlCol="0" anchor="ctr">
            <a:noAutofit/>
          </a:bodyPr>
          <a:lstStyle>
            <a:defPPr>
              <a:defRPr lang="fr-FR"/>
            </a:defPPr>
            <a:lvl1pPr algn="ctr">
              <a:defRPr kumimoji="0" sz="800" b="0" i="0" u="sng" strike="noStrike" cap="none" spc="0" normalizeH="0" baseline="0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fr-FR" dirty="0"/>
          </a:p>
        </p:txBody>
      </p:sp>
      <p:sp>
        <p:nvSpPr>
          <p:cNvPr id="18" name="ZoneTexte 81">
            <a:extLst>
              <a:ext uri="{FF2B5EF4-FFF2-40B4-BE49-F238E27FC236}">
                <a16:creationId xmlns:a16="http://schemas.microsoft.com/office/drawing/2014/main" id="{9E77D969-F6F3-D8B9-B2D6-273380D16954}"/>
              </a:ext>
            </a:extLst>
          </p:cNvPr>
          <p:cNvSpPr txBox="1"/>
          <p:nvPr/>
        </p:nvSpPr>
        <p:spPr>
          <a:xfrm>
            <a:off x="3750220" y="2935603"/>
            <a:ext cx="1440000" cy="468000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  <a:effectLst>
            <a:outerShdw blurRad="50800" dist="38100" dir="2700000" algn="tl" rotWithShape="0">
              <a:schemeClr val="tx1"/>
            </a:outerShdw>
          </a:effectLst>
        </p:spPr>
        <p:txBody>
          <a:bodyPr wrap="none" lIns="0" rIns="0" rtlCol="0" anchor="ctr">
            <a:noAutofit/>
          </a:bodyPr>
          <a:lstStyle>
            <a:defPPr>
              <a:defRPr lang="fr-FR"/>
            </a:defPPr>
            <a:lvl1pPr algn="ctr">
              <a:defRPr kumimoji="0" sz="800" b="0" i="0" u="sng" strike="noStrike" cap="none" spc="0" normalizeH="0" baseline="0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fr-FR" dirty="0"/>
          </a:p>
        </p:txBody>
      </p:sp>
      <p:sp>
        <p:nvSpPr>
          <p:cNvPr id="20" name="ZoneTexte 81">
            <a:hlinkClick r:id="" action="ppaction://noaction"/>
            <a:extLst>
              <a:ext uri="{FF2B5EF4-FFF2-40B4-BE49-F238E27FC236}">
                <a16:creationId xmlns:a16="http://schemas.microsoft.com/office/drawing/2014/main" id="{9E77D969-F6F3-D8B9-B2D6-273380D16954}"/>
              </a:ext>
            </a:extLst>
          </p:cNvPr>
          <p:cNvSpPr txBox="1"/>
          <p:nvPr/>
        </p:nvSpPr>
        <p:spPr>
          <a:xfrm>
            <a:off x="3750220" y="3569707"/>
            <a:ext cx="1440000" cy="468000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  <a:effectLst>
            <a:outerShdw blurRad="50800" dist="38100" dir="2700000" algn="tl" rotWithShape="0">
              <a:schemeClr val="tx1"/>
            </a:outerShdw>
          </a:effectLst>
        </p:spPr>
        <p:txBody>
          <a:bodyPr wrap="none" lIns="0" rIns="0" rtlCol="0" anchor="ctr">
            <a:noAutofit/>
          </a:bodyPr>
          <a:lstStyle>
            <a:defPPr>
              <a:defRPr lang="fr-FR"/>
            </a:defPPr>
            <a:lvl1pPr algn="ctr">
              <a:defRPr kumimoji="0" sz="800" b="0" i="0" u="sng" strike="noStrike" cap="none" spc="0" normalizeH="0" baseline="0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fr-FR" dirty="0"/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07ECA236-D7C6-1B61-56A5-E58090FE3EB3}"/>
              </a:ext>
            </a:extLst>
          </p:cNvPr>
          <p:cNvSpPr txBox="1"/>
          <p:nvPr/>
        </p:nvSpPr>
        <p:spPr>
          <a:xfrm>
            <a:off x="9872945" y="6376943"/>
            <a:ext cx="2073003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50" b="0" i="1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Ctrl + Clic gauche pour accès direct</a:t>
            </a:r>
          </a:p>
        </p:txBody>
      </p:sp>
      <p:sp>
        <p:nvSpPr>
          <p:cNvPr id="9" name="ZoneTexte 81">
            <a:hlinkClick r:id="rId8" action="ppaction://hlinksldjump"/>
            <a:extLst>
              <a:ext uri="{FF2B5EF4-FFF2-40B4-BE49-F238E27FC236}">
                <a16:creationId xmlns:a16="http://schemas.microsoft.com/office/drawing/2014/main" id="{6F7363D6-5468-E189-1B74-DB86E9059F9C}"/>
              </a:ext>
            </a:extLst>
          </p:cNvPr>
          <p:cNvSpPr txBox="1"/>
          <p:nvPr/>
        </p:nvSpPr>
        <p:spPr>
          <a:xfrm>
            <a:off x="5349822" y="1669527"/>
            <a:ext cx="1440000" cy="468000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  <a:effectLst>
            <a:outerShdw blurRad="50800" dist="38100" dir="2700000" algn="tl" rotWithShape="0">
              <a:schemeClr val="tx1"/>
            </a:outerShdw>
          </a:effectLst>
        </p:spPr>
        <p:txBody>
          <a:bodyPr wrap="none" lIns="0" rIns="0" rtlCol="0" anchor="ctr">
            <a:noAutofit/>
          </a:bodyPr>
          <a:lstStyle>
            <a:defPPr>
              <a:defRPr lang="fr-FR"/>
            </a:defPPr>
            <a:lvl1pPr algn="ctr">
              <a:defRPr kumimoji="0" sz="800" b="0" i="0" u="sng" strike="noStrike" cap="none" spc="0" normalizeH="0" baseline="0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fr-FR" dirty="0"/>
              <a:t>REFONTE </a:t>
            </a:r>
          </a:p>
          <a:p>
            <a:r>
              <a:rPr lang="fr-FR" dirty="0"/>
              <a:t>ADHESION CONSEILLER </a:t>
            </a:r>
          </a:p>
        </p:txBody>
      </p:sp>
      <p:sp>
        <p:nvSpPr>
          <p:cNvPr id="3" name="ZoneTexte 81">
            <a:hlinkClick r:id="rId9" action="ppaction://hlinksldjump"/>
            <a:extLst>
              <a:ext uri="{FF2B5EF4-FFF2-40B4-BE49-F238E27FC236}">
                <a16:creationId xmlns:a16="http://schemas.microsoft.com/office/drawing/2014/main" id="{91B83A57-F0E7-DC18-A96D-CA0BBB357CBE}"/>
              </a:ext>
            </a:extLst>
          </p:cNvPr>
          <p:cNvSpPr txBox="1"/>
          <p:nvPr/>
        </p:nvSpPr>
        <p:spPr>
          <a:xfrm>
            <a:off x="5349822" y="1046014"/>
            <a:ext cx="1440000" cy="468000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  <a:effectLst>
            <a:outerShdw blurRad="50800" dist="38100" dir="2700000" algn="tl" rotWithShape="0">
              <a:schemeClr val="tx1"/>
            </a:outerShdw>
          </a:effectLst>
        </p:spPr>
        <p:txBody>
          <a:bodyPr wrap="none" lIns="0" rIns="0" rtlCol="0" anchor="ctr">
            <a:noAutofit/>
          </a:bodyPr>
          <a:lstStyle>
            <a:defPPr>
              <a:defRPr lang="fr-FR"/>
            </a:defPPr>
            <a:lvl1pPr algn="ctr">
              <a:defRPr kumimoji="0" sz="800" b="0" i="0" u="sng" strike="noStrike" cap="none" spc="0" normalizeH="0" baseline="0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fr-FR" dirty="0"/>
              <a:t>VR </a:t>
            </a:r>
            <a:r>
              <a:rPr lang="fr-FR" dirty="0" err="1"/>
              <a:t>Selfcare</a:t>
            </a:r>
            <a:endParaRPr lang="fr-FR" dirty="0"/>
          </a:p>
        </p:txBody>
      </p:sp>
      <p:sp>
        <p:nvSpPr>
          <p:cNvPr id="19" name="ZoneTexte 81">
            <a:extLst>
              <a:ext uri="{FF2B5EF4-FFF2-40B4-BE49-F238E27FC236}">
                <a16:creationId xmlns:a16="http://schemas.microsoft.com/office/drawing/2014/main" id="{38444FF2-BE00-F629-ADBA-D6511D1AEC1C}"/>
              </a:ext>
            </a:extLst>
          </p:cNvPr>
          <p:cNvSpPr txBox="1"/>
          <p:nvPr/>
        </p:nvSpPr>
        <p:spPr>
          <a:xfrm>
            <a:off x="551016" y="2301276"/>
            <a:ext cx="1440000" cy="468000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  <a:effectLst>
            <a:outerShdw blurRad="50800" dist="38100" dir="2700000" algn="tl" rotWithShape="0">
              <a:schemeClr val="tx1"/>
            </a:outerShdw>
          </a:effectLst>
        </p:spPr>
        <p:txBody>
          <a:bodyPr wrap="none" lIns="0" rIns="0" rtlCol="0" anchor="ctr">
            <a:noAutofit/>
          </a:bodyPr>
          <a:lstStyle>
            <a:defPPr>
              <a:defRPr lang="fr-FR"/>
            </a:defPPr>
            <a:lvl1pPr algn="ctr">
              <a:defRPr kumimoji="0" sz="800" b="0" i="0" u="sng" strike="noStrike" cap="none" spc="0" normalizeH="0" baseline="0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fr-FR" dirty="0"/>
          </a:p>
        </p:txBody>
      </p:sp>
      <p:sp>
        <p:nvSpPr>
          <p:cNvPr id="21" name="ZoneTexte 81">
            <a:hlinkClick r:id="" action="ppaction://noaction"/>
            <a:extLst>
              <a:ext uri="{FF2B5EF4-FFF2-40B4-BE49-F238E27FC236}">
                <a16:creationId xmlns:a16="http://schemas.microsoft.com/office/drawing/2014/main" id="{D9896B05-D4DC-D981-6BFD-9F2D06882CD6}"/>
              </a:ext>
            </a:extLst>
          </p:cNvPr>
          <p:cNvSpPr txBox="1"/>
          <p:nvPr/>
        </p:nvSpPr>
        <p:spPr>
          <a:xfrm>
            <a:off x="6959042" y="2301276"/>
            <a:ext cx="1440000" cy="468000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  <a:effectLst>
            <a:outerShdw blurRad="50800" dist="38100" dir="2700000" algn="tl" rotWithShape="0">
              <a:schemeClr val="tx1"/>
            </a:outerShdw>
          </a:effectLst>
        </p:spPr>
        <p:txBody>
          <a:bodyPr wrap="none" lIns="0" rIns="0" rtlCol="0" anchor="ctr">
            <a:noAutofit/>
          </a:bodyPr>
          <a:lstStyle>
            <a:defPPr>
              <a:defRPr lang="fr-FR"/>
            </a:defPPr>
            <a:lvl1pPr algn="ctr">
              <a:defRPr kumimoji="0" sz="800" b="0" i="0" u="sng" strike="noStrike" cap="none" spc="0" normalizeH="0" baseline="0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fr-FR" dirty="0"/>
          </a:p>
        </p:txBody>
      </p:sp>
      <p:sp>
        <p:nvSpPr>
          <p:cNvPr id="22" name="ZoneTexte 81">
            <a:hlinkClick r:id="" action="ppaction://noaction"/>
            <a:extLst>
              <a:ext uri="{FF2B5EF4-FFF2-40B4-BE49-F238E27FC236}">
                <a16:creationId xmlns:a16="http://schemas.microsoft.com/office/drawing/2014/main" id="{5678CBCD-9DFC-134C-36DF-91C8DBFCAC9B}"/>
              </a:ext>
            </a:extLst>
          </p:cNvPr>
          <p:cNvSpPr txBox="1"/>
          <p:nvPr/>
        </p:nvSpPr>
        <p:spPr>
          <a:xfrm>
            <a:off x="5349822" y="2935603"/>
            <a:ext cx="1440000" cy="468000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  <a:effectLst>
            <a:outerShdw blurRad="50800" dist="38100" dir="2700000" algn="tl" rotWithShape="0">
              <a:schemeClr val="tx1"/>
            </a:outerShdw>
          </a:effectLst>
        </p:spPr>
        <p:txBody>
          <a:bodyPr wrap="none" lIns="0" rIns="0" rtlCol="0" anchor="ctr">
            <a:noAutofit/>
          </a:bodyPr>
          <a:lstStyle>
            <a:defPPr>
              <a:defRPr lang="fr-FR"/>
            </a:defPPr>
            <a:lvl1pPr algn="ctr">
              <a:defRPr kumimoji="0" sz="800" b="0" i="0" u="sng" strike="noStrike" cap="none" spc="0" normalizeH="0" baseline="0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fr-FR" dirty="0"/>
          </a:p>
        </p:txBody>
      </p:sp>
      <p:sp>
        <p:nvSpPr>
          <p:cNvPr id="23" name="ZoneTexte 81">
            <a:hlinkClick r:id="" action="ppaction://noaction"/>
            <a:extLst>
              <a:ext uri="{FF2B5EF4-FFF2-40B4-BE49-F238E27FC236}">
                <a16:creationId xmlns:a16="http://schemas.microsoft.com/office/drawing/2014/main" id="{7026B99D-6529-F81C-39FB-4FD49792834A}"/>
              </a:ext>
            </a:extLst>
          </p:cNvPr>
          <p:cNvSpPr txBox="1"/>
          <p:nvPr/>
        </p:nvSpPr>
        <p:spPr>
          <a:xfrm>
            <a:off x="5349822" y="3569707"/>
            <a:ext cx="1440000" cy="468000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  <a:effectLst>
            <a:outerShdw blurRad="50800" dist="38100" dir="2700000" algn="tl" rotWithShape="0">
              <a:schemeClr val="tx1"/>
            </a:outerShdw>
          </a:effectLst>
        </p:spPr>
        <p:txBody>
          <a:bodyPr wrap="none" lIns="0" rIns="0" rtlCol="0" anchor="ctr">
            <a:noAutofit/>
          </a:bodyPr>
          <a:lstStyle>
            <a:defPPr>
              <a:defRPr lang="fr-FR"/>
            </a:defPPr>
            <a:lvl1pPr algn="ctr">
              <a:defRPr kumimoji="0" sz="800" b="0" i="0" u="sng" strike="noStrike" cap="none" spc="0" normalizeH="0" baseline="0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fr-FR" dirty="0"/>
          </a:p>
        </p:txBody>
      </p:sp>
      <p:sp>
        <p:nvSpPr>
          <p:cNvPr id="24" name="ZoneTexte 81">
            <a:hlinkClick r:id="rId10" action="ppaction://hlinksldjump"/>
            <a:extLst>
              <a:ext uri="{FF2B5EF4-FFF2-40B4-BE49-F238E27FC236}">
                <a16:creationId xmlns:a16="http://schemas.microsoft.com/office/drawing/2014/main" id="{2A039920-2027-F697-1259-E9E501549125}"/>
              </a:ext>
            </a:extLst>
          </p:cNvPr>
          <p:cNvSpPr txBox="1"/>
          <p:nvPr/>
        </p:nvSpPr>
        <p:spPr>
          <a:xfrm>
            <a:off x="6959042" y="1669527"/>
            <a:ext cx="1440000" cy="468000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  <a:effectLst>
            <a:outerShdw blurRad="50800" dist="38100" dir="2700000" algn="tl" rotWithShape="0">
              <a:schemeClr val="tx1"/>
            </a:outerShdw>
          </a:effectLst>
        </p:spPr>
        <p:txBody>
          <a:bodyPr wrap="none" lIns="0" rIns="0" rtlCol="0" anchor="ctr">
            <a:noAutofit/>
          </a:bodyPr>
          <a:lstStyle>
            <a:defPPr>
              <a:defRPr lang="fr-FR"/>
            </a:defPPr>
            <a:lvl1pPr algn="ctr">
              <a:defRPr kumimoji="0" sz="800" b="0" i="0" u="sng" strike="noStrike" cap="none" spc="0" normalizeH="0" baseline="0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fr-FR" dirty="0"/>
              <a:t>VLS LCL 26.1</a:t>
            </a:r>
          </a:p>
        </p:txBody>
      </p:sp>
      <p:sp>
        <p:nvSpPr>
          <p:cNvPr id="25" name="ZoneTexte 81">
            <a:hlinkClick r:id="rId11" action="ppaction://hlinksldjump"/>
            <a:extLst>
              <a:ext uri="{FF2B5EF4-FFF2-40B4-BE49-F238E27FC236}">
                <a16:creationId xmlns:a16="http://schemas.microsoft.com/office/drawing/2014/main" id="{3DD7B6C0-68B7-AF60-6ACA-327B0E65374C}"/>
              </a:ext>
            </a:extLst>
          </p:cNvPr>
          <p:cNvSpPr txBox="1"/>
          <p:nvPr/>
        </p:nvSpPr>
        <p:spPr>
          <a:xfrm>
            <a:off x="6959042" y="1046014"/>
            <a:ext cx="1440000" cy="468000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  <a:effectLst>
            <a:outerShdw blurRad="50800" dist="38100" dir="2700000" algn="tl" rotWithShape="0">
              <a:schemeClr val="tx1"/>
            </a:outerShdw>
          </a:effectLst>
        </p:spPr>
        <p:txBody>
          <a:bodyPr wrap="none" lIns="0" rIns="0" rtlCol="0" anchor="ctr">
            <a:noAutofit/>
          </a:bodyPr>
          <a:lstStyle>
            <a:defPPr>
              <a:defRPr lang="fr-FR"/>
            </a:defPPr>
            <a:lvl1pPr algn="ctr">
              <a:defRPr kumimoji="0" sz="800" b="0" i="0" u="sng" strike="noStrike" cap="none" spc="0" normalizeH="0" baseline="0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fr-FR" dirty="0"/>
              <a:t>15C ADE</a:t>
            </a:r>
          </a:p>
          <a:p>
            <a:r>
              <a:rPr lang="fr-FR" dirty="0"/>
              <a:t>Lot 1 : Adhésion </a:t>
            </a:r>
            <a:r>
              <a:rPr lang="fr-FR" dirty="0">
                <a:hlinkClick r:id="rId11" action="ppaction://hlinksldjump"/>
              </a:rPr>
              <a:t>Lemoine</a:t>
            </a:r>
            <a:endParaRPr lang="fr-FR" dirty="0"/>
          </a:p>
        </p:txBody>
      </p:sp>
      <p:sp>
        <p:nvSpPr>
          <p:cNvPr id="26" name="ZoneTexte 81">
            <a:hlinkClick r:id="" action="ppaction://noaction"/>
            <a:extLst>
              <a:ext uri="{FF2B5EF4-FFF2-40B4-BE49-F238E27FC236}">
                <a16:creationId xmlns:a16="http://schemas.microsoft.com/office/drawing/2014/main" id="{DA22E33B-DF4D-B299-7BBB-44CA8F84E5F7}"/>
              </a:ext>
            </a:extLst>
          </p:cNvPr>
          <p:cNvSpPr txBox="1"/>
          <p:nvPr/>
        </p:nvSpPr>
        <p:spPr>
          <a:xfrm>
            <a:off x="5349822" y="2301276"/>
            <a:ext cx="1440000" cy="468000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  <a:effectLst>
            <a:outerShdw blurRad="50800" dist="38100" dir="2700000" algn="tl" rotWithShape="0">
              <a:schemeClr val="tx1"/>
            </a:outerShdw>
          </a:effectLst>
        </p:spPr>
        <p:txBody>
          <a:bodyPr wrap="none" lIns="0" rIns="0" rtlCol="0" anchor="ctr">
            <a:noAutofit/>
          </a:bodyPr>
          <a:lstStyle>
            <a:defPPr>
              <a:defRPr lang="fr-FR"/>
            </a:defPPr>
            <a:lvl1pPr algn="ctr">
              <a:defRPr kumimoji="0" sz="800" b="0" i="0" u="sng" strike="noStrike" cap="none" spc="0" normalizeH="0" baseline="0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fr-FR" dirty="0"/>
          </a:p>
        </p:txBody>
      </p:sp>
      <p:sp>
        <p:nvSpPr>
          <p:cNvPr id="28" name="ZoneTexte 81">
            <a:hlinkClick r:id="rId11" action="ppaction://hlinksldjump"/>
            <a:extLst>
              <a:ext uri="{FF2B5EF4-FFF2-40B4-BE49-F238E27FC236}">
                <a16:creationId xmlns:a16="http://schemas.microsoft.com/office/drawing/2014/main" id="{0FE5E143-2FD6-4797-72FE-BC8D0B6AD66A}"/>
              </a:ext>
            </a:extLst>
          </p:cNvPr>
          <p:cNvSpPr txBox="1"/>
          <p:nvPr/>
        </p:nvSpPr>
        <p:spPr>
          <a:xfrm>
            <a:off x="6959042" y="2935603"/>
            <a:ext cx="1440000" cy="468000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  <a:effectLst>
            <a:outerShdw blurRad="50800" dist="38100" dir="2700000" algn="tl" rotWithShape="0">
              <a:schemeClr val="tx1"/>
            </a:outerShdw>
          </a:effectLst>
        </p:spPr>
        <p:txBody>
          <a:bodyPr wrap="none" lIns="0" rIns="0" rtlCol="0" anchor="ctr">
            <a:noAutofit/>
          </a:bodyPr>
          <a:lstStyle>
            <a:defPPr>
              <a:defRPr lang="fr-FR"/>
            </a:defPPr>
            <a:lvl1pPr algn="ctr">
              <a:defRPr kumimoji="0" sz="800" b="0" i="0" u="sng" strike="noStrike" cap="none" spc="0" normalizeH="0" baseline="0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fr-FR" dirty="0"/>
          </a:p>
        </p:txBody>
      </p:sp>
      <p:sp>
        <p:nvSpPr>
          <p:cNvPr id="29" name="ZoneTexte 81">
            <a:hlinkClick r:id="" action="ppaction://noaction"/>
            <a:extLst>
              <a:ext uri="{FF2B5EF4-FFF2-40B4-BE49-F238E27FC236}">
                <a16:creationId xmlns:a16="http://schemas.microsoft.com/office/drawing/2014/main" id="{B867A2AA-0F09-8C61-5DE0-E2C16BD01161}"/>
              </a:ext>
            </a:extLst>
          </p:cNvPr>
          <p:cNvSpPr txBox="1"/>
          <p:nvPr/>
        </p:nvSpPr>
        <p:spPr>
          <a:xfrm>
            <a:off x="10158246" y="2935603"/>
            <a:ext cx="1440000" cy="468000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  <a:effectLst>
            <a:outerShdw blurRad="50800" dist="38100" dir="2700000" algn="tl" rotWithShape="0">
              <a:schemeClr val="tx1"/>
            </a:outerShdw>
          </a:effectLst>
        </p:spPr>
        <p:txBody>
          <a:bodyPr wrap="none" lIns="0" rIns="0" rtlCol="0" anchor="ctr">
            <a:noAutofit/>
          </a:bodyPr>
          <a:lstStyle>
            <a:defPPr>
              <a:defRPr lang="fr-FR"/>
            </a:defPPr>
            <a:lvl1pPr algn="ctr">
              <a:defRPr kumimoji="0" sz="800" b="0" i="0" u="sng" strike="noStrike" cap="none" spc="0" normalizeH="0" baseline="0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fr-FR" dirty="0"/>
          </a:p>
        </p:txBody>
      </p:sp>
      <p:sp>
        <p:nvSpPr>
          <p:cNvPr id="30" name="ZoneTexte 81">
            <a:extLst>
              <a:ext uri="{FF2B5EF4-FFF2-40B4-BE49-F238E27FC236}">
                <a16:creationId xmlns:a16="http://schemas.microsoft.com/office/drawing/2014/main" id="{8DFAA02F-9471-D749-1CCD-7D321AEAAE9A}"/>
              </a:ext>
            </a:extLst>
          </p:cNvPr>
          <p:cNvSpPr txBox="1"/>
          <p:nvPr/>
        </p:nvSpPr>
        <p:spPr>
          <a:xfrm>
            <a:off x="8874198" y="6403812"/>
            <a:ext cx="900000" cy="193743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  <a:effectLst>
            <a:outerShdw blurRad="50800" dist="38100" dir="2700000" algn="tl" rotWithShape="0">
              <a:schemeClr val="tx1"/>
            </a:outerShdw>
          </a:effectLst>
        </p:spPr>
        <p:txBody>
          <a:bodyPr wrap="none" lIns="0" rIns="0" rtlCol="0" anchor="ctr">
            <a:noAutofit/>
          </a:bodyPr>
          <a:lstStyle/>
          <a:p>
            <a:pPr algn="ctr">
              <a:defRPr/>
            </a:pPr>
            <a:r>
              <a:rPr lang="fr-FR" sz="900" u="sng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Projet en cours</a:t>
            </a:r>
          </a:p>
        </p:txBody>
      </p:sp>
      <p:sp>
        <p:nvSpPr>
          <p:cNvPr id="31" name="ZoneTexte 81">
            <a:extLst>
              <a:ext uri="{FF2B5EF4-FFF2-40B4-BE49-F238E27FC236}">
                <a16:creationId xmlns:a16="http://schemas.microsoft.com/office/drawing/2014/main" id="{648CA5DA-E373-D828-883D-39D7987887A8}"/>
              </a:ext>
            </a:extLst>
          </p:cNvPr>
          <p:cNvSpPr txBox="1"/>
          <p:nvPr/>
        </p:nvSpPr>
        <p:spPr>
          <a:xfrm>
            <a:off x="7888256" y="6403812"/>
            <a:ext cx="900000" cy="193743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  <a:effectLst>
            <a:outerShdw blurRad="50800" dist="38100" dir="2700000" algn="tl" rotWithShape="0">
              <a:schemeClr val="tx1"/>
            </a:outerShdw>
          </a:effectLst>
        </p:spPr>
        <p:txBody>
          <a:bodyPr wrap="none" lIns="0" rIns="0" rtlCol="0" anchor="ctr">
            <a:noAutofit/>
          </a:bodyPr>
          <a:lstStyle/>
          <a:p>
            <a:pPr algn="ctr">
              <a:defRPr/>
            </a:pPr>
            <a:r>
              <a:rPr lang="fr-FR" sz="900" u="sng" dirty="0">
                <a:solidFill>
                  <a:srgbClr val="70AD4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Déjà en Prod</a:t>
            </a:r>
          </a:p>
        </p:txBody>
      </p:sp>
      <p:sp>
        <p:nvSpPr>
          <p:cNvPr id="32" name="ZoneTexte 81">
            <a:hlinkClick r:id="" action="ppaction://noaction"/>
            <a:extLst>
              <a:ext uri="{FF2B5EF4-FFF2-40B4-BE49-F238E27FC236}">
                <a16:creationId xmlns:a16="http://schemas.microsoft.com/office/drawing/2014/main" id="{73853F6F-0B98-420C-AE0B-54C3C8DDBA4D}"/>
              </a:ext>
            </a:extLst>
          </p:cNvPr>
          <p:cNvSpPr txBox="1"/>
          <p:nvPr/>
        </p:nvSpPr>
        <p:spPr>
          <a:xfrm>
            <a:off x="6959042" y="3569707"/>
            <a:ext cx="1440000" cy="468000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  <a:effectLst>
            <a:outerShdw blurRad="50800" dist="38100" dir="2700000" algn="tl" rotWithShape="0">
              <a:schemeClr val="tx1"/>
            </a:outerShdw>
          </a:effectLst>
        </p:spPr>
        <p:txBody>
          <a:bodyPr wrap="none" lIns="0" rIns="0" rtlCol="0" anchor="ctr">
            <a:noAutofit/>
          </a:bodyPr>
          <a:lstStyle>
            <a:defPPr>
              <a:defRPr lang="fr-FR"/>
            </a:defPPr>
            <a:lvl1pPr algn="ctr">
              <a:defRPr kumimoji="0" sz="800" b="0" i="0" u="sng" strike="noStrike" cap="none" spc="0" normalizeH="0" baseline="0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fr-FR" dirty="0"/>
          </a:p>
        </p:txBody>
      </p:sp>
      <p:sp>
        <p:nvSpPr>
          <p:cNvPr id="33" name="ZoneTexte 81">
            <a:hlinkClick r:id="rId12" action="ppaction://hlinksldjump"/>
            <a:extLst>
              <a:ext uri="{FF2B5EF4-FFF2-40B4-BE49-F238E27FC236}">
                <a16:creationId xmlns:a16="http://schemas.microsoft.com/office/drawing/2014/main" id="{1592F7A1-0B81-4437-A4BD-19F7E19439D4}"/>
              </a:ext>
            </a:extLst>
          </p:cNvPr>
          <p:cNvSpPr txBox="1"/>
          <p:nvPr/>
        </p:nvSpPr>
        <p:spPr>
          <a:xfrm>
            <a:off x="8549026" y="1669527"/>
            <a:ext cx="1440000" cy="468000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  <a:effectLst>
            <a:outerShdw blurRad="50800" dist="38100" dir="2700000" algn="tl" rotWithShape="0">
              <a:schemeClr val="tx1"/>
            </a:outerShdw>
          </a:effectLst>
        </p:spPr>
        <p:txBody>
          <a:bodyPr wrap="none" lIns="0" rIns="0" rtlCol="0" anchor="ctr">
            <a:noAutofit/>
          </a:bodyPr>
          <a:lstStyle>
            <a:defPPr>
              <a:defRPr lang="fr-FR"/>
            </a:defPPr>
            <a:lvl1pPr algn="ctr">
              <a:defRPr kumimoji="0" sz="800" b="0" i="0" u="sng" strike="noStrike" cap="none" spc="0" normalizeH="0" baseline="0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fr-FR" dirty="0"/>
              <a:t>VL ARBI-Enrichissement</a:t>
            </a:r>
          </a:p>
        </p:txBody>
      </p:sp>
      <p:sp>
        <p:nvSpPr>
          <p:cNvPr id="34" name="ZoneTexte 81">
            <a:hlinkClick r:id="rId13" action="ppaction://hlinksldjump"/>
            <a:extLst>
              <a:ext uri="{FF2B5EF4-FFF2-40B4-BE49-F238E27FC236}">
                <a16:creationId xmlns:a16="http://schemas.microsoft.com/office/drawing/2014/main" id="{932C32B7-D06D-4802-BD57-9F8118C675FE}"/>
              </a:ext>
            </a:extLst>
          </p:cNvPr>
          <p:cNvSpPr txBox="1"/>
          <p:nvPr/>
        </p:nvSpPr>
        <p:spPr>
          <a:xfrm>
            <a:off x="8549026" y="1046014"/>
            <a:ext cx="1440000" cy="468000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  <a:effectLst>
            <a:outerShdw blurRad="50800" dist="38100" dir="2700000" algn="tl" rotWithShape="0">
              <a:schemeClr val="tx1"/>
            </a:outerShdw>
          </a:effectLst>
        </p:spPr>
        <p:txBody>
          <a:bodyPr wrap="none" lIns="0" rIns="0" rtlCol="0" anchor="ctr">
            <a:noAutofit/>
          </a:bodyPr>
          <a:lstStyle>
            <a:defPPr>
              <a:defRPr lang="fr-FR"/>
            </a:defPPr>
            <a:lvl1pPr algn="ctr">
              <a:defRPr kumimoji="0" sz="800" b="0" i="0" u="sng" strike="noStrike" cap="none" spc="0" normalizeH="0" baseline="0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fr-FR" dirty="0"/>
              <a:t>Parcours GOBS conseiller</a:t>
            </a:r>
          </a:p>
        </p:txBody>
      </p:sp>
      <p:sp>
        <p:nvSpPr>
          <p:cNvPr id="35" name="ZoneTexte 81">
            <a:hlinkClick r:id="" action="ppaction://noaction"/>
            <a:extLst>
              <a:ext uri="{FF2B5EF4-FFF2-40B4-BE49-F238E27FC236}">
                <a16:creationId xmlns:a16="http://schemas.microsoft.com/office/drawing/2014/main" id="{EF53E2A1-FAD3-420E-A607-225C86519070}"/>
              </a:ext>
            </a:extLst>
          </p:cNvPr>
          <p:cNvSpPr txBox="1"/>
          <p:nvPr/>
        </p:nvSpPr>
        <p:spPr>
          <a:xfrm>
            <a:off x="8549026" y="2935603"/>
            <a:ext cx="1440000" cy="468000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  <a:effectLst>
            <a:outerShdw blurRad="50800" dist="38100" dir="2700000" algn="tl" rotWithShape="0">
              <a:schemeClr val="tx1"/>
            </a:outerShdw>
          </a:effectLst>
        </p:spPr>
        <p:txBody>
          <a:bodyPr wrap="none" lIns="0" rIns="0" rtlCol="0" anchor="ctr">
            <a:noAutofit/>
          </a:bodyPr>
          <a:lstStyle>
            <a:defPPr>
              <a:defRPr lang="fr-FR"/>
            </a:defPPr>
            <a:lvl1pPr algn="ctr">
              <a:defRPr kumimoji="0" sz="800" b="0" i="0" u="sng" strike="noStrike" cap="none" spc="0" normalizeH="0" baseline="0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fr-FR" dirty="0"/>
          </a:p>
        </p:txBody>
      </p:sp>
      <p:sp>
        <p:nvSpPr>
          <p:cNvPr id="36" name="ZoneTexte 81">
            <a:hlinkClick r:id="" action="ppaction://noaction"/>
            <a:extLst>
              <a:ext uri="{FF2B5EF4-FFF2-40B4-BE49-F238E27FC236}">
                <a16:creationId xmlns:a16="http://schemas.microsoft.com/office/drawing/2014/main" id="{AE2FCB16-500B-407E-B3B2-3F7758536F8A}"/>
              </a:ext>
            </a:extLst>
          </p:cNvPr>
          <p:cNvSpPr txBox="1"/>
          <p:nvPr/>
        </p:nvSpPr>
        <p:spPr>
          <a:xfrm>
            <a:off x="8549026" y="3569707"/>
            <a:ext cx="1440000" cy="468000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  <a:effectLst>
            <a:outerShdw blurRad="50800" dist="38100" dir="2700000" algn="tl" rotWithShape="0">
              <a:schemeClr val="tx1"/>
            </a:outerShdw>
          </a:effectLst>
        </p:spPr>
        <p:txBody>
          <a:bodyPr wrap="none" lIns="0" rIns="0" rtlCol="0" anchor="ctr">
            <a:noAutofit/>
          </a:bodyPr>
          <a:lstStyle>
            <a:defPPr>
              <a:defRPr lang="fr-FR"/>
            </a:defPPr>
            <a:lvl1pPr algn="ctr">
              <a:defRPr kumimoji="0" sz="800" b="0" i="0" u="sng" strike="noStrike" cap="none" spc="0" normalizeH="0" baseline="0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fr-FR" dirty="0"/>
          </a:p>
        </p:txBody>
      </p:sp>
      <p:sp>
        <p:nvSpPr>
          <p:cNvPr id="27" name="ZoneTexte 81">
            <a:hlinkClick r:id="" action="ppaction://noaction"/>
            <a:extLst>
              <a:ext uri="{FF2B5EF4-FFF2-40B4-BE49-F238E27FC236}">
                <a16:creationId xmlns:a16="http://schemas.microsoft.com/office/drawing/2014/main" id="{8651DFAA-DD11-5EAA-203A-AEB54677F3FC}"/>
              </a:ext>
            </a:extLst>
          </p:cNvPr>
          <p:cNvSpPr txBox="1"/>
          <p:nvPr/>
        </p:nvSpPr>
        <p:spPr>
          <a:xfrm>
            <a:off x="2150618" y="4218321"/>
            <a:ext cx="1440000" cy="468000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  <a:effectLst>
            <a:outerShdw blurRad="50800" dist="38100" dir="2700000" algn="tl" rotWithShape="0">
              <a:schemeClr val="tx1"/>
            </a:outerShdw>
          </a:effectLst>
        </p:spPr>
        <p:txBody>
          <a:bodyPr wrap="none" lIns="0" rIns="0" rtlCol="0" anchor="ctr">
            <a:noAutofit/>
          </a:bodyPr>
          <a:lstStyle>
            <a:defPPr>
              <a:defRPr lang="fr-FR"/>
            </a:defPPr>
            <a:lvl1pPr algn="ctr">
              <a:defRPr kumimoji="0" sz="800" b="0" i="0" u="sng" strike="noStrike" cap="none" spc="0" normalizeH="0" baseline="0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fr-FR" dirty="0"/>
          </a:p>
        </p:txBody>
      </p:sp>
      <p:sp>
        <p:nvSpPr>
          <p:cNvPr id="37" name="ZoneTexte 81">
            <a:hlinkClick r:id="" action="ppaction://noaction"/>
            <a:extLst>
              <a:ext uri="{FF2B5EF4-FFF2-40B4-BE49-F238E27FC236}">
                <a16:creationId xmlns:a16="http://schemas.microsoft.com/office/drawing/2014/main" id="{5D3B9B7D-BBD3-CC93-2008-20305A3B4086}"/>
              </a:ext>
            </a:extLst>
          </p:cNvPr>
          <p:cNvSpPr txBox="1"/>
          <p:nvPr/>
        </p:nvSpPr>
        <p:spPr>
          <a:xfrm>
            <a:off x="551016" y="4218321"/>
            <a:ext cx="1440000" cy="468000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  <a:effectLst>
            <a:outerShdw blurRad="50800" dist="38100" dir="2700000" algn="tl" rotWithShape="0">
              <a:schemeClr val="tx1"/>
            </a:outerShdw>
          </a:effectLst>
        </p:spPr>
        <p:txBody>
          <a:bodyPr wrap="none" lIns="0" rIns="0" rtlCol="0" anchor="ctr">
            <a:noAutofit/>
          </a:bodyPr>
          <a:lstStyle>
            <a:defPPr>
              <a:defRPr lang="fr-FR"/>
            </a:defPPr>
            <a:lvl1pPr algn="ctr">
              <a:defRPr kumimoji="0" sz="800" b="0" i="0" u="sng" strike="noStrike" cap="none" spc="0" normalizeH="0" baseline="0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fr-FR" dirty="0"/>
          </a:p>
        </p:txBody>
      </p:sp>
      <p:sp>
        <p:nvSpPr>
          <p:cNvPr id="38" name="ZoneTexte 81">
            <a:hlinkClick r:id="" action="ppaction://noaction"/>
            <a:extLst>
              <a:ext uri="{FF2B5EF4-FFF2-40B4-BE49-F238E27FC236}">
                <a16:creationId xmlns:a16="http://schemas.microsoft.com/office/drawing/2014/main" id="{6C1A5CAB-D242-274D-B082-0F5059711E2E}"/>
              </a:ext>
            </a:extLst>
          </p:cNvPr>
          <p:cNvSpPr txBox="1"/>
          <p:nvPr/>
        </p:nvSpPr>
        <p:spPr>
          <a:xfrm>
            <a:off x="3750220" y="4218321"/>
            <a:ext cx="1440000" cy="468000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  <a:effectLst>
            <a:outerShdw blurRad="50800" dist="38100" dir="2700000" algn="tl" rotWithShape="0">
              <a:schemeClr val="tx1"/>
            </a:outerShdw>
          </a:effectLst>
        </p:spPr>
        <p:txBody>
          <a:bodyPr wrap="none" lIns="0" rIns="0" rtlCol="0" anchor="ctr">
            <a:noAutofit/>
          </a:bodyPr>
          <a:lstStyle>
            <a:defPPr>
              <a:defRPr lang="fr-FR"/>
            </a:defPPr>
            <a:lvl1pPr algn="ctr">
              <a:defRPr kumimoji="0" sz="800" b="0" i="0" u="sng" strike="noStrike" cap="none" spc="0" normalizeH="0" baseline="0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fr-FR" dirty="0"/>
          </a:p>
        </p:txBody>
      </p:sp>
      <p:sp>
        <p:nvSpPr>
          <p:cNvPr id="39" name="ZoneTexte 81">
            <a:hlinkClick r:id="" action="ppaction://noaction"/>
            <a:extLst>
              <a:ext uri="{FF2B5EF4-FFF2-40B4-BE49-F238E27FC236}">
                <a16:creationId xmlns:a16="http://schemas.microsoft.com/office/drawing/2014/main" id="{0E441D7B-1677-782A-0897-5D13B5A9D683}"/>
              </a:ext>
            </a:extLst>
          </p:cNvPr>
          <p:cNvSpPr txBox="1"/>
          <p:nvPr/>
        </p:nvSpPr>
        <p:spPr>
          <a:xfrm>
            <a:off x="5349822" y="4218321"/>
            <a:ext cx="1440000" cy="468000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  <a:effectLst>
            <a:outerShdw blurRad="50800" dist="38100" dir="2700000" algn="tl" rotWithShape="0">
              <a:schemeClr val="tx1"/>
            </a:outerShdw>
          </a:effectLst>
        </p:spPr>
        <p:txBody>
          <a:bodyPr wrap="none" lIns="0" rIns="0" rtlCol="0" anchor="ctr">
            <a:noAutofit/>
          </a:bodyPr>
          <a:lstStyle>
            <a:defPPr>
              <a:defRPr lang="fr-FR"/>
            </a:defPPr>
            <a:lvl1pPr algn="ctr">
              <a:defRPr kumimoji="0" sz="800" b="0" i="0" u="sng" strike="noStrike" cap="none" spc="0" normalizeH="0" baseline="0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fr-FR" dirty="0"/>
          </a:p>
        </p:txBody>
      </p:sp>
      <p:sp>
        <p:nvSpPr>
          <p:cNvPr id="40" name="ZoneTexte 81">
            <a:hlinkClick r:id="rId2" action="ppaction://hlinksldjump"/>
            <a:extLst>
              <a:ext uri="{FF2B5EF4-FFF2-40B4-BE49-F238E27FC236}">
                <a16:creationId xmlns:a16="http://schemas.microsoft.com/office/drawing/2014/main" id="{84F16846-40B9-E691-1D24-780C37A57624}"/>
              </a:ext>
            </a:extLst>
          </p:cNvPr>
          <p:cNvSpPr txBox="1"/>
          <p:nvPr/>
        </p:nvSpPr>
        <p:spPr>
          <a:xfrm>
            <a:off x="6959042" y="4218321"/>
            <a:ext cx="1440000" cy="468000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  <a:effectLst>
            <a:outerShdw blurRad="50800" dist="38100" dir="2700000" algn="tl" rotWithShape="0">
              <a:schemeClr val="tx1"/>
            </a:outerShdw>
          </a:effectLst>
        </p:spPr>
        <p:txBody>
          <a:bodyPr wrap="none" lIns="0" rIns="0" rtlCol="0" anchor="ctr">
            <a:noAutofit/>
          </a:bodyPr>
          <a:lstStyle/>
          <a:p>
            <a:pPr algn="ctr">
              <a:defRPr/>
            </a:pPr>
            <a:endParaRPr lang="fr-FR" sz="800" u="sng" dirty="0">
              <a:solidFill>
                <a:schemeClr val="accent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1" name="ZoneTexte 81">
            <a:hlinkClick r:id="" action="ppaction://noaction"/>
            <a:extLst>
              <a:ext uri="{FF2B5EF4-FFF2-40B4-BE49-F238E27FC236}">
                <a16:creationId xmlns:a16="http://schemas.microsoft.com/office/drawing/2014/main" id="{DEDD3731-8FCF-1D59-223C-4AA5D1729C67}"/>
              </a:ext>
            </a:extLst>
          </p:cNvPr>
          <p:cNvSpPr txBox="1"/>
          <p:nvPr/>
        </p:nvSpPr>
        <p:spPr>
          <a:xfrm>
            <a:off x="8549026" y="4218321"/>
            <a:ext cx="1440000" cy="468000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  <a:effectLst>
            <a:outerShdw blurRad="50800" dist="38100" dir="2700000" algn="tl" rotWithShape="0">
              <a:schemeClr val="tx1"/>
            </a:outerShdw>
          </a:effectLst>
        </p:spPr>
        <p:txBody>
          <a:bodyPr wrap="none" lIns="0" rIns="0" rtlCol="0" anchor="ctr">
            <a:noAutofit/>
          </a:bodyPr>
          <a:lstStyle>
            <a:defPPr>
              <a:defRPr lang="fr-FR"/>
            </a:defPPr>
            <a:lvl1pPr algn="ctr">
              <a:defRPr kumimoji="0" sz="800" b="0" i="0" u="sng" strike="noStrike" cap="none" spc="0" normalizeH="0" baseline="0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fr-FR" dirty="0"/>
          </a:p>
        </p:txBody>
      </p:sp>
      <p:sp>
        <p:nvSpPr>
          <p:cNvPr id="42" name="ZoneTexte 81">
            <a:hlinkClick r:id="" action="ppaction://noaction"/>
            <a:extLst>
              <a:ext uri="{FF2B5EF4-FFF2-40B4-BE49-F238E27FC236}">
                <a16:creationId xmlns:a16="http://schemas.microsoft.com/office/drawing/2014/main" id="{63646884-A1AE-EAC8-F546-27F37F2EB106}"/>
              </a:ext>
            </a:extLst>
          </p:cNvPr>
          <p:cNvSpPr txBox="1"/>
          <p:nvPr/>
        </p:nvSpPr>
        <p:spPr>
          <a:xfrm>
            <a:off x="551016" y="4865449"/>
            <a:ext cx="1440000" cy="468000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  <a:effectLst>
            <a:outerShdw blurRad="50800" dist="38100" dir="2700000" algn="tl" rotWithShape="0">
              <a:schemeClr val="tx1"/>
            </a:outerShdw>
          </a:effectLst>
        </p:spPr>
        <p:txBody>
          <a:bodyPr wrap="none" lIns="0" rIns="0" rtlCol="0" anchor="ctr">
            <a:noAutofit/>
          </a:bodyPr>
          <a:lstStyle>
            <a:defPPr>
              <a:defRPr lang="fr-FR"/>
            </a:defPPr>
            <a:lvl1pPr algn="ctr">
              <a:defRPr kumimoji="0" sz="800" b="0" i="0" u="sng" strike="noStrike" cap="none" spc="0" normalizeH="0" baseline="0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fr-FR" dirty="0"/>
          </a:p>
        </p:txBody>
      </p:sp>
      <p:sp>
        <p:nvSpPr>
          <p:cNvPr id="43" name="ZoneTexte 81">
            <a:hlinkClick r:id="" action="ppaction://noaction"/>
            <a:extLst>
              <a:ext uri="{FF2B5EF4-FFF2-40B4-BE49-F238E27FC236}">
                <a16:creationId xmlns:a16="http://schemas.microsoft.com/office/drawing/2014/main" id="{24C81356-72C8-3C7D-0A5A-E07E10F379B9}"/>
              </a:ext>
            </a:extLst>
          </p:cNvPr>
          <p:cNvSpPr txBox="1"/>
          <p:nvPr/>
        </p:nvSpPr>
        <p:spPr>
          <a:xfrm>
            <a:off x="8549026" y="2301276"/>
            <a:ext cx="1440000" cy="468000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  <a:effectLst>
            <a:outerShdw blurRad="50800" dist="38100" dir="2700000" algn="tl" rotWithShape="0">
              <a:schemeClr val="tx1"/>
            </a:outerShdw>
          </a:effectLst>
        </p:spPr>
        <p:txBody>
          <a:bodyPr wrap="none" lIns="0" rIns="0" rtlCol="0" anchor="ctr">
            <a:noAutofit/>
          </a:bodyPr>
          <a:lstStyle>
            <a:defPPr>
              <a:defRPr lang="fr-FR"/>
            </a:defPPr>
            <a:lvl1pPr algn="ctr">
              <a:defRPr kumimoji="0" sz="800" b="0" i="0" u="sng" strike="noStrike" cap="none" spc="0" normalizeH="0" baseline="0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fr-FR" dirty="0"/>
          </a:p>
        </p:txBody>
      </p:sp>
      <p:sp>
        <p:nvSpPr>
          <p:cNvPr id="44" name="ZoneTexte 81">
            <a:hlinkClick r:id="" action="ppaction://noaction"/>
            <a:extLst>
              <a:ext uri="{FF2B5EF4-FFF2-40B4-BE49-F238E27FC236}">
                <a16:creationId xmlns:a16="http://schemas.microsoft.com/office/drawing/2014/main" id="{C907DBD0-CEDB-D362-78BE-18E29F142453}"/>
              </a:ext>
            </a:extLst>
          </p:cNvPr>
          <p:cNvSpPr txBox="1"/>
          <p:nvPr/>
        </p:nvSpPr>
        <p:spPr>
          <a:xfrm>
            <a:off x="10158246" y="1669527"/>
            <a:ext cx="1440000" cy="468000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  <a:effectLst>
            <a:outerShdw blurRad="50800" dist="38100" dir="2700000" algn="tl" rotWithShape="0">
              <a:schemeClr val="tx1"/>
            </a:outerShdw>
          </a:effectLst>
        </p:spPr>
        <p:txBody>
          <a:bodyPr wrap="none" lIns="0" rIns="0" rtlCol="0" anchor="ctr">
            <a:noAutofit/>
          </a:bodyPr>
          <a:lstStyle>
            <a:defPPr>
              <a:defRPr lang="fr-FR"/>
            </a:defPPr>
            <a:lvl1pPr algn="ctr">
              <a:defRPr kumimoji="0" sz="800" b="0" i="0" u="sng" strike="noStrike" cap="none" spc="0" normalizeH="0" baseline="0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fr-FR" dirty="0"/>
          </a:p>
        </p:txBody>
      </p:sp>
      <p:sp>
        <p:nvSpPr>
          <p:cNvPr id="45" name="ZoneTexte 81">
            <a:hlinkClick r:id="" action="ppaction://noaction"/>
            <a:extLst>
              <a:ext uri="{FF2B5EF4-FFF2-40B4-BE49-F238E27FC236}">
                <a16:creationId xmlns:a16="http://schemas.microsoft.com/office/drawing/2014/main" id="{52FA3781-7BD5-1AD7-2F22-CF0267A0DD49}"/>
              </a:ext>
            </a:extLst>
          </p:cNvPr>
          <p:cNvSpPr txBox="1"/>
          <p:nvPr/>
        </p:nvSpPr>
        <p:spPr>
          <a:xfrm>
            <a:off x="10158246" y="2301276"/>
            <a:ext cx="1440000" cy="468000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  <a:effectLst>
            <a:outerShdw blurRad="50800" dist="38100" dir="2700000" algn="tl" rotWithShape="0">
              <a:schemeClr val="tx1"/>
            </a:outerShdw>
          </a:effectLst>
        </p:spPr>
        <p:txBody>
          <a:bodyPr wrap="none" lIns="0" rIns="0" rtlCol="0" anchor="ctr">
            <a:noAutofit/>
          </a:bodyPr>
          <a:lstStyle>
            <a:defPPr>
              <a:defRPr lang="fr-FR"/>
            </a:defPPr>
            <a:lvl1pPr algn="ctr">
              <a:defRPr kumimoji="0" sz="800" b="0" i="0" u="sng" strike="noStrike" cap="none" spc="0" normalizeH="0" baseline="0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fr-FR" dirty="0"/>
          </a:p>
        </p:txBody>
      </p:sp>
      <p:sp>
        <p:nvSpPr>
          <p:cNvPr id="46" name="ZoneTexte 81">
            <a:hlinkClick r:id="" action="ppaction://noaction"/>
            <a:extLst>
              <a:ext uri="{FF2B5EF4-FFF2-40B4-BE49-F238E27FC236}">
                <a16:creationId xmlns:a16="http://schemas.microsoft.com/office/drawing/2014/main" id="{8E01835F-7F5A-32CC-B6F2-02D746E8A8BB}"/>
              </a:ext>
            </a:extLst>
          </p:cNvPr>
          <p:cNvSpPr txBox="1"/>
          <p:nvPr/>
        </p:nvSpPr>
        <p:spPr>
          <a:xfrm>
            <a:off x="10158246" y="4218321"/>
            <a:ext cx="1440000" cy="468000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  <a:effectLst>
            <a:outerShdw blurRad="50800" dist="38100" dir="2700000" algn="tl" rotWithShape="0">
              <a:schemeClr val="tx1"/>
            </a:outerShdw>
          </a:effectLst>
        </p:spPr>
        <p:txBody>
          <a:bodyPr wrap="none" lIns="0" rIns="0" rtlCol="0" anchor="ctr">
            <a:noAutofit/>
          </a:bodyPr>
          <a:lstStyle>
            <a:defPPr>
              <a:defRPr lang="fr-FR"/>
            </a:defPPr>
            <a:lvl1pPr algn="ctr">
              <a:defRPr kumimoji="0" sz="800" b="0" i="0" u="sng" strike="noStrike" cap="none" spc="0" normalizeH="0" baseline="0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fr-FR" dirty="0"/>
          </a:p>
        </p:txBody>
      </p:sp>
      <p:sp>
        <p:nvSpPr>
          <p:cNvPr id="47" name="ZoneTexte 81">
            <a:hlinkClick r:id="" action="ppaction://noaction"/>
            <a:extLst>
              <a:ext uri="{FF2B5EF4-FFF2-40B4-BE49-F238E27FC236}">
                <a16:creationId xmlns:a16="http://schemas.microsoft.com/office/drawing/2014/main" id="{6924C02F-8A07-D30F-1D8A-FB6A48F1D804}"/>
              </a:ext>
            </a:extLst>
          </p:cNvPr>
          <p:cNvSpPr txBox="1"/>
          <p:nvPr/>
        </p:nvSpPr>
        <p:spPr>
          <a:xfrm>
            <a:off x="10158246" y="3569707"/>
            <a:ext cx="1440000" cy="468000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  <a:effectLst>
            <a:outerShdw blurRad="50800" dist="38100" dir="2700000" algn="tl" rotWithShape="0">
              <a:schemeClr val="tx1"/>
            </a:outerShdw>
          </a:effectLst>
        </p:spPr>
        <p:txBody>
          <a:bodyPr wrap="none" lIns="0" rIns="0" rtlCol="0" anchor="ctr">
            <a:noAutofit/>
          </a:bodyPr>
          <a:lstStyle>
            <a:defPPr>
              <a:defRPr lang="fr-FR"/>
            </a:defPPr>
            <a:lvl1pPr algn="ctr">
              <a:defRPr kumimoji="0" sz="800" b="0" i="0" u="sng" strike="noStrike" cap="none" spc="0" normalizeH="0" baseline="0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fr-FR" dirty="0"/>
          </a:p>
        </p:txBody>
      </p:sp>
      <p:sp>
        <p:nvSpPr>
          <p:cNvPr id="48" name="ZoneTexte 81">
            <a:hlinkClick r:id="rId14" action="ppaction://hlinksldjump"/>
            <a:extLst>
              <a:ext uri="{FF2B5EF4-FFF2-40B4-BE49-F238E27FC236}">
                <a16:creationId xmlns:a16="http://schemas.microsoft.com/office/drawing/2014/main" id="{48DE37A5-A15E-EAEC-C751-6D28D49F13C8}"/>
              </a:ext>
            </a:extLst>
          </p:cNvPr>
          <p:cNvSpPr txBox="1"/>
          <p:nvPr/>
        </p:nvSpPr>
        <p:spPr>
          <a:xfrm>
            <a:off x="10158246" y="1046014"/>
            <a:ext cx="1440000" cy="468000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  <a:effectLst>
            <a:outerShdw blurRad="50800" dist="38100" dir="2700000" algn="tl" rotWithShape="0">
              <a:schemeClr val="tx1"/>
            </a:outerShdw>
          </a:effectLst>
        </p:spPr>
        <p:txBody>
          <a:bodyPr wrap="none" lIns="0" rIns="0" rtlCol="0" anchor="ctr">
            <a:noAutofit/>
          </a:bodyPr>
          <a:lstStyle>
            <a:defPPr>
              <a:defRPr lang="fr-FR"/>
            </a:defPPr>
            <a:lvl1pPr algn="ctr">
              <a:defRPr kumimoji="0" sz="800" b="0" i="0" u="sng" strike="noStrike" cap="none" spc="0" normalizeH="0" baseline="0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fr-FR" dirty="0"/>
              <a:t>Arbitrage - EGC</a:t>
            </a:r>
          </a:p>
        </p:txBody>
      </p:sp>
      <p:sp>
        <p:nvSpPr>
          <p:cNvPr id="49" name="ZoneTexte 81">
            <a:hlinkClick r:id="" action="ppaction://noaction"/>
            <a:extLst>
              <a:ext uri="{FF2B5EF4-FFF2-40B4-BE49-F238E27FC236}">
                <a16:creationId xmlns:a16="http://schemas.microsoft.com/office/drawing/2014/main" id="{426BC60D-8DFD-C55C-DB94-44A47F628A52}"/>
              </a:ext>
            </a:extLst>
          </p:cNvPr>
          <p:cNvSpPr txBox="1"/>
          <p:nvPr/>
        </p:nvSpPr>
        <p:spPr>
          <a:xfrm>
            <a:off x="2150618" y="4865449"/>
            <a:ext cx="1440000" cy="468000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  <a:effectLst>
            <a:outerShdw blurRad="50800" dist="38100" dir="2700000" algn="tl" rotWithShape="0">
              <a:schemeClr val="tx1"/>
            </a:outerShdw>
          </a:effectLst>
        </p:spPr>
        <p:txBody>
          <a:bodyPr wrap="none" lIns="0" rIns="0" rtlCol="0" anchor="ctr">
            <a:noAutofit/>
          </a:bodyPr>
          <a:lstStyle>
            <a:defPPr>
              <a:defRPr lang="fr-FR"/>
            </a:defPPr>
            <a:lvl1pPr algn="ctr">
              <a:defRPr kumimoji="0" sz="800" b="0" i="0" u="sng" strike="noStrike" cap="none" spc="0" normalizeH="0" baseline="0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fr-FR" dirty="0"/>
          </a:p>
        </p:txBody>
      </p:sp>
      <p:sp>
        <p:nvSpPr>
          <p:cNvPr id="50" name="ZoneTexte 81">
            <a:hlinkClick r:id="" action="ppaction://noaction"/>
            <a:extLst>
              <a:ext uri="{FF2B5EF4-FFF2-40B4-BE49-F238E27FC236}">
                <a16:creationId xmlns:a16="http://schemas.microsoft.com/office/drawing/2014/main" id="{1A2FA295-9AAE-5153-7C00-DE299DF9D20D}"/>
              </a:ext>
            </a:extLst>
          </p:cNvPr>
          <p:cNvSpPr txBox="1"/>
          <p:nvPr/>
        </p:nvSpPr>
        <p:spPr>
          <a:xfrm>
            <a:off x="3750220" y="4865449"/>
            <a:ext cx="1440000" cy="468000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  <a:effectLst>
            <a:outerShdw blurRad="50800" dist="38100" dir="2700000" algn="tl" rotWithShape="0">
              <a:schemeClr val="tx1"/>
            </a:outerShdw>
          </a:effectLst>
        </p:spPr>
        <p:txBody>
          <a:bodyPr wrap="none" lIns="0" rIns="0" rtlCol="0" anchor="ctr">
            <a:noAutofit/>
          </a:bodyPr>
          <a:lstStyle>
            <a:defPPr>
              <a:defRPr lang="fr-FR"/>
            </a:defPPr>
            <a:lvl1pPr algn="ctr">
              <a:defRPr kumimoji="0" sz="800" b="0" i="0" u="sng" strike="noStrike" cap="none" spc="0" normalizeH="0" baseline="0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fr-FR" dirty="0"/>
          </a:p>
        </p:txBody>
      </p:sp>
      <p:sp>
        <p:nvSpPr>
          <p:cNvPr id="51" name="ZoneTexte 81">
            <a:hlinkClick r:id="" action="ppaction://noaction"/>
            <a:extLst>
              <a:ext uri="{FF2B5EF4-FFF2-40B4-BE49-F238E27FC236}">
                <a16:creationId xmlns:a16="http://schemas.microsoft.com/office/drawing/2014/main" id="{B556F227-3B53-DDEC-DF47-6EAB172879A7}"/>
              </a:ext>
            </a:extLst>
          </p:cNvPr>
          <p:cNvSpPr txBox="1"/>
          <p:nvPr/>
        </p:nvSpPr>
        <p:spPr>
          <a:xfrm>
            <a:off x="5349822" y="4865449"/>
            <a:ext cx="1440000" cy="468000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  <a:effectLst>
            <a:outerShdw blurRad="50800" dist="38100" dir="2700000" algn="tl" rotWithShape="0">
              <a:schemeClr val="tx1"/>
            </a:outerShdw>
          </a:effectLst>
        </p:spPr>
        <p:txBody>
          <a:bodyPr wrap="none" lIns="0" rIns="0" rtlCol="0" anchor="ctr">
            <a:noAutofit/>
          </a:bodyPr>
          <a:lstStyle>
            <a:defPPr>
              <a:defRPr lang="fr-FR"/>
            </a:defPPr>
            <a:lvl1pPr algn="ctr">
              <a:defRPr kumimoji="0" sz="800" b="0" i="0" u="sng" strike="noStrike" cap="none" spc="0" normalizeH="0" baseline="0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fr-FR" dirty="0"/>
          </a:p>
        </p:txBody>
      </p:sp>
      <p:sp>
        <p:nvSpPr>
          <p:cNvPr id="52" name="ZoneTexte 81">
            <a:hlinkClick r:id="" action="ppaction://noaction"/>
            <a:extLst>
              <a:ext uri="{FF2B5EF4-FFF2-40B4-BE49-F238E27FC236}">
                <a16:creationId xmlns:a16="http://schemas.microsoft.com/office/drawing/2014/main" id="{E45A2958-AECD-9835-5D87-3E9C42124E6F}"/>
              </a:ext>
            </a:extLst>
          </p:cNvPr>
          <p:cNvSpPr txBox="1"/>
          <p:nvPr/>
        </p:nvSpPr>
        <p:spPr>
          <a:xfrm>
            <a:off x="6959042" y="5494947"/>
            <a:ext cx="1440000" cy="468000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  <a:effectLst>
            <a:outerShdw blurRad="50800" dist="38100" dir="2700000" algn="tl" rotWithShape="0">
              <a:schemeClr val="tx1"/>
            </a:outerShdw>
          </a:effectLst>
        </p:spPr>
        <p:txBody>
          <a:bodyPr wrap="none" lIns="0" rIns="0" rtlCol="0" anchor="ctr">
            <a:noAutofit/>
          </a:bodyPr>
          <a:lstStyle>
            <a:defPPr>
              <a:defRPr lang="fr-FR"/>
            </a:defPPr>
            <a:lvl1pPr algn="ctr">
              <a:defRPr kumimoji="0" sz="800" b="0" i="0" u="sng" strike="noStrike" cap="none" spc="0" normalizeH="0" baseline="0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fr-FR" dirty="0"/>
          </a:p>
        </p:txBody>
      </p:sp>
      <p:sp>
        <p:nvSpPr>
          <p:cNvPr id="53" name="ZoneTexte 81">
            <a:hlinkClick r:id="" action="ppaction://noaction"/>
            <a:extLst>
              <a:ext uri="{FF2B5EF4-FFF2-40B4-BE49-F238E27FC236}">
                <a16:creationId xmlns:a16="http://schemas.microsoft.com/office/drawing/2014/main" id="{0FF9010F-1029-23F7-C2E8-976D60D4A593}"/>
              </a:ext>
            </a:extLst>
          </p:cNvPr>
          <p:cNvSpPr txBox="1"/>
          <p:nvPr/>
        </p:nvSpPr>
        <p:spPr>
          <a:xfrm>
            <a:off x="8549026" y="5494947"/>
            <a:ext cx="1440000" cy="468000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  <a:effectLst>
            <a:outerShdw blurRad="50800" dist="38100" dir="2700000" algn="tl" rotWithShape="0">
              <a:schemeClr val="tx1"/>
            </a:outerShdw>
          </a:effectLst>
        </p:spPr>
        <p:txBody>
          <a:bodyPr wrap="none" lIns="0" rIns="0" rtlCol="0" anchor="ctr">
            <a:noAutofit/>
          </a:bodyPr>
          <a:lstStyle>
            <a:defPPr>
              <a:defRPr lang="fr-FR"/>
            </a:defPPr>
            <a:lvl1pPr algn="ctr">
              <a:defRPr kumimoji="0" sz="800" b="0" i="0" u="sng" strike="noStrike" cap="none" spc="0" normalizeH="0" baseline="0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fr-FR" dirty="0"/>
          </a:p>
        </p:txBody>
      </p:sp>
      <p:sp>
        <p:nvSpPr>
          <p:cNvPr id="55" name="ZoneTexte 81">
            <a:hlinkClick r:id="rId4" action="ppaction://hlinksldjump"/>
            <a:extLst>
              <a:ext uri="{FF2B5EF4-FFF2-40B4-BE49-F238E27FC236}">
                <a16:creationId xmlns:a16="http://schemas.microsoft.com/office/drawing/2014/main" id="{6C6D53CB-E5F3-B31A-10DB-42C8EAF2DC7D}"/>
              </a:ext>
            </a:extLst>
          </p:cNvPr>
          <p:cNvSpPr txBox="1"/>
          <p:nvPr/>
        </p:nvSpPr>
        <p:spPr>
          <a:xfrm>
            <a:off x="3750220" y="5494947"/>
            <a:ext cx="1440000" cy="468000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  <a:effectLst>
            <a:outerShdw blurRad="50800" dist="38100" dir="2700000" algn="tl" rotWithShape="0">
              <a:schemeClr val="tx1"/>
            </a:outerShdw>
          </a:effectLst>
        </p:spPr>
        <p:txBody>
          <a:bodyPr wrap="none" lIns="0" rIns="0" rtlCol="0" anchor="ctr">
            <a:noAutofit/>
          </a:bodyPr>
          <a:lstStyle>
            <a:defPPr>
              <a:defRPr lang="fr-FR"/>
            </a:defPPr>
            <a:lvl1pPr algn="ctr">
              <a:defRPr sz="800" u="sng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fr-FR" dirty="0"/>
          </a:p>
        </p:txBody>
      </p:sp>
      <p:sp>
        <p:nvSpPr>
          <p:cNvPr id="56" name="ZoneTexte 81">
            <a:hlinkClick r:id="rId3" action="ppaction://hlinksldjump"/>
            <a:extLst>
              <a:ext uri="{FF2B5EF4-FFF2-40B4-BE49-F238E27FC236}">
                <a16:creationId xmlns:a16="http://schemas.microsoft.com/office/drawing/2014/main" id="{427A0359-CCEE-2C2E-79CB-B727D70E7149}"/>
              </a:ext>
            </a:extLst>
          </p:cNvPr>
          <p:cNvSpPr txBox="1"/>
          <p:nvPr/>
        </p:nvSpPr>
        <p:spPr>
          <a:xfrm>
            <a:off x="2150618" y="5494947"/>
            <a:ext cx="1440000" cy="468000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  <a:effectLst>
            <a:outerShdw blurRad="50800" dist="38100" dir="2700000" algn="tl" rotWithShape="0">
              <a:schemeClr val="tx1"/>
            </a:outerShdw>
          </a:effectLst>
        </p:spPr>
        <p:txBody>
          <a:bodyPr wrap="none" lIns="0" rIns="0" rtlCol="0" anchor="ctr">
            <a:noAutofit/>
          </a:bodyPr>
          <a:lstStyle>
            <a:defPPr>
              <a:defRPr lang="fr-FR"/>
            </a:defPPr>
            <a:lvl1pPr algn="ctr">
              <a:defRPr sz="800" u="sng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57" name="ZoneTexte 81">
            <a:hlinkClick r:id="" action="ppaction://noaction"/>
            <a:extLst>
              <a:ext uri="{FF2B5EF4-FFF2-40B4-BE49-F238E27FC236}">
                <a16:creationId xmlns:a16="http://schemas.microsoft.com/office/drawing/2014/main" id="{B6DDA426-F2D1-C81C-A0EC-E17579A4B9CC}"/>
              </a:ext>
            </a:extLst>
          </p:cNvPr>
          <p:cNvSpPr txBox="1"/>
          <p:nvPr/>
        </p:nvSpPr>
        <p:spPr>
          <a:xfrm>
            <a:off x="551016" y="5494947"/>
            <a:ext cx="1440000" cy="468000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  <a:effectLst>
            <a:outerShdw blurRad="50800" dist="38100" dir="2700000" algn="tl" rotWithShape="0">
              <a:schemeClr val="tx1"/>
            </a:outerShdw>
          </a:effectLst>
        </p:spPr>
        <p:txBody>
          <a:bodyPr wrap="none" lIns="0" rIns="0" rtlCol="0" anchor="ctr">
            <a:noAutofit/>
          </a:bodyPr>
          <a:lstStyle>
            <a:defPPr>
              <a:defRPr lang="fr-FR"/>
            </a:defPPr>
            <a:lvl1pPr algn="ctr">
              <a:defRPr sz="800" u="sng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fr-FR" dirty="0"/>
          </a:p>
        </p:txBody>
      </p:sp>
      <p:sp>
        <p:nvSpPr>
          <p:cNvPr id="58" name="ZoneTexte 81">
            <a:hlinkClick r:id="rId9" action="ppaction://hlinksldjump"/>
            <a:extLst>
              <a:ext uri="{FF2B5EF4-FFF2-40B4-BE49-F238E27FC236}">
                <a16:creationId xmlns:a16="http://schemas.microsoft.com/office/drawing/2014/main" id="{0CEB3014-47ED-23E4-F39E-CFEBA3129748}"/>
              </a:ext>
            </a:extLst>
          </p:cNvPr>
          <p:cNvSpPr txBox="1"/>
          <p:nvPr/>
        </p:nvSpPr>
        <p:spPr>
          <a:xfrm>
            <a:off x="5349822" y="5494947"/>
            <a:ext cx="1440000" cy="468000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  <a:effectLst>
            <a:outerShdw blurRad="50800" dist="38100" dir="2700000" algn="tl" rotWithShape="0">
              <a:schemeClr val="tx1"/>
            </a:outerShdw>
          </a:effectLst>
        </p:spPr>
        <p:txBody>
          <a:bodyPr wrap="none" lIns="0" rIns="0" rtlCol="0" anchor="ctr">
            <a:noAutofit/>
          </a:bodyPr>
          <a:lstStyle>
            <a:defPPr>
              <a:defRPr lang="fr-FR"/>
            </a:defPPr>
            <a:lvl1pPr algn="ctr">
              <a:defRPr sz="800" u="sng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fr-FR" dirty="0"/>
          </a:p>
        </p:txBody>
      </p:sp>
      <p:sp>
        <p:nvSpPr>
          <p:cNvPr id="59" name="ZoneTexte 81">
            <a:hlinkClick r:id="" action="ppaction://noaction"/>
            <a:extLst>
              <a:ext uri="{FF2B5EF4-FFF2-40B4-BE49-F238E27FC236}">
                <a16:creationId xmlns:a16="http://schemas.microsoft.com/office/drawing/2014/main" id="{0D7B0A5F-F39A-F8EC-26E1-9B42579F68CD}"/>
              </a:ext>
            </a:extLst>
          </p:cNvPr>
          <p:cNvSpPr txBox="1"/>
          <p:nvPr/>
        </p:nvSpPr>
        <p:spPr>
          <a:xfrm>
            <a:off x="6959042" y="4865449"/>
            <a:ext cx="1440000" cy="468000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  <a:effectLst>
            <a:outerShdw blurRad="50800" dist="38100" dir="2700000" algn="tl" rotWithShape="0">
              <a:schemeClr val="tx1"/>
            </a:outerShdw>
          </a:effectLst>
        </p:spPr>
        <p:txBody>
          <a:bodyPr wrap="none" lIns="0" rIns="0" rtlCol="0" anchor="ctr">
            <a:noAutofit/>
          </a:bodyPr>
          <a:lstStyle>
            <a:defPPr>
              <a:defRPr lang="fr-FR"/>
            </a:defPPr>
            <a:lvl1pPr algn="ctr">
              <a:defRPr kumimoji="0" sz="800" b="0" i="0" u="sng" strike="noStrike" cap="none" spc="0" normalizeH="0" baseline="0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fr-FR" dirty="0"/>
          </a:p>
        </p:txBody>
      </p:sp>
      <p:sp>
        <p:nvSpPr>
          <p:cNvPr id="60" name="ZoneTexte 81">
            <a:hlinkClick r:id="" action="ppaction://noaction"/>
            <a:extLst>
              <a:ext uri="{FF2B5EF4-FFF2-40B4-BE49-F238E27FC236}">
                <a16:creationId xmlns:a16="http://schemas.microsoft.com/office/drawing/2014/main" id="{DFA2B708-1AE4-AC78-252A-003125E5D197}"/>
              </a:ext>
            </a:extLst>
          </p:cNvPr>
          <p:cNvSpPr txBox="1"/>
          <p:nvPr/>
        </p:nvSpPr>
        <p:spPr>
          <a:xfrm>
            <a:off x="8549026" y="4865449"/>
            <a:ext cx="1440000" cy="468000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  <a:effectLst>
            <a:outerShdw blurRad="50800" dist="38100" dir="2700000" algn="tl" rotWithShape="0">
              <a:schemeClr val="tx1"/>
            </a:outerShdw>
          </a:effectLst>
        </p:spPr>
        <p:txBody>
          <a:bodyPr wrap="none" lIns="0" rIns="0" rtlCol="0" anchor="ctr">
            <a:noAutofit/>
          </a:bodyPr>
          <a:lstStyle>
            <a:defPPr>
              <a:defRPr lang="fr-FR"/>
            </a:defPPr>
            <a:lvl1pPr algn="ctr">
              <a:defRPr kumimoji="0" sz="800" b="0" i="0" u="sng" strike="noStrike" cap="none" spc="0" normalizeH="0" baseline="0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fr-FR" dirty="0"/>
          </a:p>
        </p:txBody>
      </p:sp>
      <p:sp>
        <p:nvSpPr>
          <p:cNvPr id="61" name="ZoneTexte 81">
            <a:hlinkClick r:id="" action="ppaction://noaction"/>
            <a:extLst>
              <a:ext uri="{FF2B5EF4-FFF2-40B4-BE49-F238E27FC236}">
                <a16:creationId xmlns:a16="http://schemas.microsoft.com/office/drawing/2014/main" id="{53902539-58D7-6328-1CBF-6E38866B755F}"/>
              </a:ext>
            </a:extLst>
          </p:cNvPr>
          <p:cNvSpPr txBox="1"/>
          <p:nvPr/>
        </p:nvSpPr>
        <p:spPr>
          <a:xfrm>
            <a:off x="10158246" y="4865449"/>
            <a:ext cx="1440000" cy="468000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  <a:effectLst>
            <a:outerShdw blurRad="50800" dist="38100" dir="2700000" algn="tl" rotWithShape="0">
              <a:schemeClr val="tx1"/>
            </a:outerShdw>
          </a:effectLst>
        </p:spPr>
        <p:txBody>
          <a:bodyPr wrap="none" lIns="0" rIns="0" rtlCol="0" anchor="ctr">
            <a:noAutofit/>
          </a:bodyPr>
          <a:lstStyle>
            <a:defPPr>
              <a:defRPr lang="fr-FR"/>
            </a:defPPr>
            <a:lvl1pPr algn="ctr">
              <a:defRPr kumimoji="0" sz="800" b="0" i="0" u="sng" strike="noStrike" cap="none" spc="0" normalizeH="0" baseline="0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fr-FR" dirty="0"/>
          </a:p>
        </p:txBody>
      </p:sp>
      <p:sp>
        <p:nvSpPr>
          <p:cNvPr id="62" name="ZoneTexte 81">
            <a:hlinkClick r:id="" action="ppaction://noaction"/>
            <a:extLst>
              <a:ext uri="{FF2B5EF4-FFF2-40B4-BE49-F238E27FC236}">
                <a16:creationId xmlns:a16="http://schemas.microsoft.com/office/drawing/2014/main" id="{17130BB4-00A9-97F1-A9D0-EDD42609BE85}"/>
              </a:ext>
            </a:extLst>
          </p:cNvPr>
          <p:cNvSpPr txBox="1"/>
          <p:nvPr/>
        </p:nvSpPr>
        <p:spPr>
          <a:xfrm>
            <a:off x="10158246" y="5494947"/>
            <a:ext cx="1440000" cy="468000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  <a:effectLst>
            <a:outerShdw blurRad="50800" dist="38100" dir="2700000" algn="tl" rotWithShape="0">
              <a:schemeClr val="tx1"/>
            </a:outerShdw>
          </a:effectLst>
        </p:spPr>
        <p:txBody>
          <a:bodyPr wrap="none" lIns="0" rIns="0" rtlCol="0" anchor="ctr">
            <a:noAutofit/>
          </a:bodyPr>
          <a:lstStyle>
            <a:defPPr>
              <a:defRPr lang="fr-FR"/>
            </a:defPPr>
            <a:lvl1pPr algn="ctr">
              <a:defRPr kumimoji="0" sz="800" b="0" i="0" u="sng" strike="noStrike" cap="none" spc="0" normalizeH="0" baseline="0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5362646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7BEB7C-DE7B-EAE5-D856-9DBE3DD7C7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r_Global">
            <a:extLst>
              <a:ext uri="{FF2B5EF4-FFF2-40B4-BE49-F238E27FC236}">
                <a16:creationId xmlns:a16="http://schemas.microsoft.com/office/drawing/2014/main" id="{492EEC2C-1EE0-8DD6-6A58-D63437DFD8F1}"/>
              </a:ext>
            </a:extLst>
          </p:cNvPr>
          <p:cNvSpPr/>
          <p:nvPr/>
        </p:nvSpPr>
        <p:spPr>
          <a:xfrm>
            <a:off x="390525" y="1675922"/>
            <a:ext cx="11353800" cy="4743928"/>
          </a:xfrm>
          <a:prstGeom prst="roundRect">
            <a:avLst/>
          </a:prstGeom>
          <a:solidFill>
            <a:schemeClr val="bg1"/>
          </a:solidFill>
          <a:ln>
            <a:solidFill>
              <a:schemeClr val="accent1"/>
            </a:solidFill>
          </a:ln>
          <a:effectLst>
            <a:outerShdw blurRad="50800" dist="38100" dir="2700000" algn="tl" rotWithShape="0">
              <a:schemeClr val="tx1"/>
            </a:outerShdw>
          </a:effectLst>
        </p:spPr>
        <p:txBody>
          <a:bodyPr wrap="none" lIns="0" rIns="0" rtlCol="0" anchor="ctr">
            <a:noAutofit/>
          </a:bodyPr>
          <a:lstStyle/>
          <a:p>
            <a:pPr algn="ctr"/>
            <a:endParaRPr lang="fr-FR" sz="1600" b="1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1" name="Gr_NOVA">
            <a:extLst>
              <a:ext uri="{FF2B5EF4-FFF2-40B4-BE49-F238E27FC236}">
                <a16:creationId xmlns:a16="http://schemas.microsoft.com/office/drawing/2014/main" id="{BF2E53DB-7A5A-B5F5-48A5-1A4530C8F982}"/>
              </a:ext>
            </a:extLst>
          </p:cNvPr>
          <p:cNvSpPr/>
          <p:nvPr/>
        </p:nvSpPr>
        <p:spPr>
          <a:xfrm>
            <a:off x="5877816" y="1876551"/>
            <a:ext cx="2350211" cy="1879964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  <a:effectLst>
            <a:outerShdw blurRad="50800" dist="38100" dir="2700000" algn="ctr" rotWithShape="0">
              <a:schemeClr val="tx1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/>
            </a:endParaRPr>
          </a:p>
        </p:txBody>
      </p:sp>
      <p:sp>
        <p:nvSpPr>
          <p:cNvPr id="92" name="ZT_NOVA">
            <a:extLst>
              <a:ext uri="{FF2B5EF4-FFF2-40B4-BE49-F238E27FC236}">
                <a16:creationId xmlns:a16="http://schemas.microsoft.com/office/drawing/2014/main" id="{16D6FB69-E1CF-E665-0E51-1479C73A187D}"/>
              </a:ext>
            </a:extLst>
          </p:cNvPr>
          <p:cNvSpPr txBox="1"/>
          <p:nvPr/>
        </p:nvSpPr>
        <p:spPr>
          <a:xfrm>
            <a:off x="5873516" y="1903866"/>
            <a:ext cx="2354511" cy="246221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NOVA</a:t>
            </a:r>
            <a:endParaRPr kumimoji="0" lang="fr-FR" sz="1000" b="1" i="1" u="none" strike="noStrike" kern="1200" cap="none" spc="0" normalizeH="0" baseline="0" noProof="0" dirty="0">
              <a:ln>
                <a:noFill/>
              </a:ln>
              <a:solidFill>
                <a:srgbClr val="ED7D3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8" name="BA_OX">
            <a:extLst>
              <a:ext uri="{FF2B5EF4-FFF2-40B4-BE49-F238E27FC236}">
                <a16:creationId xmlns:a16="http://schemas.microsoft.com/office/drawing/2014/main" id="{F68028FC-DB5A-8E6A-F0C9-7CBB3C0AF1B6}"/>
              </a:ext>
            </a:extLst>
          </p:cNvPr>
          <p:cNvSpPr/>
          <p:nvPr/>
        </p:nvSpPr>
        <p:spPr>
          <a:xfrm>
            <a:off x="6010721" y="2199276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OX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Opérations </a:t>
            </a:r>
            <a:r>
              <a:rPr kumimoji="0" lang="fr-FR" sz="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Ass</a:t>
            </a: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.</a:t>
            </a:r>
          </a:p>
        </p:txBody>
      </p:sp>
      <p:sp>
        <p:nvSpPr>
          <p:cNvPr id="99" name="BA_MX">
            <a:extLst>
              <a:ext uri="{FF2B5EF4-FFF2-40B4-BE49-F238E27FC236}">
                <a16:creationId xmlns:a16="http://schemas.microsoft.com/office/drawing/2014/main" id="{BECC54AB-420B-EA50-ED83-40AB5B308EF9}"/>
              </a:ext>
            </a:extLst>
          </p:cNvPr>
          <p:cNvSpPr/>
          <p:nvPr/>
        </p:nvSpPr>
        <p:spPr>
          <a:xfrm>
            <a:off x="6717913" y="2199276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MX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Services  internes</a:t>
            </a:r>
          </a:p>
        </p:txBody>
      </p:sp>
      <p:sp>
        <p:nvSpPr>
          <p:cNvPr id="108" name="BA_SX">
            <a:extLst>
              <a:ext uri="{FF2B5EF4-FFF2-40B4-BE49-F238E27FC236}">
                <a16:creationId xmlns:a16="http://schemas.microsoft.com/office/drawing/2014/main" id="{92B1E9C5-376A-FE7A-4F78-A35B74419020}"/>
              </a:ext>
            </a:extLst>
          </p:cNvPr>
          <p:cNvSpPr/>
          <p:nvPr/>
        </p:nvSpPr>
        <p:spPr>
          <a:xfrm>
            <a:off x="7427943" y="2199276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SX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Socle Exposition</a:t>
            </a:r>
          </a:p>
        </p:txBody>
      </p:sp>
      <p:sp>
        <p:nvSpPr>
          <p:cNvPr id="117" name="BA_HX">
            <a:extLst>
              <a:ext uri="{FF2B5EF4-FFF2-40B4-BE49-F238E27FC236}">
                <a16:creationId xmlns:a16="http://schemas.microsoft.com/office/drawing/2014/main" id="{1D79F167-2E16-149B-8F53-596C1241E041}"/>
              </a:ext>
            </a:extLst>
          </p:cNvPr>
          <p:cNvSpPr/>
          <p:nvPr/>
        </p:nvSpPr>
        <p:spPr>
          <a:xfrm>
            <a:off x="6010721" y="2556356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HX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Habilitations PCO</a:t>
            </a:r>
          </a:p>
        </p:txBody>
      </p:sp>
      <p:sp>
        <p:nvSpPr>
          <p:cNvPr id="119" name="BA_RX">
            <a:extLst>
              <a:ext uri="{FF2B5EF4-FFF2-40B4-BE49-F238E27FC236}">
                <a16:creationId xmlns:a16="http://schemas.microsoft.com/office/drawing/2014/main" id="{62CDA419-DB68-A954-3E5A-0EC1C92A6168}"/>
              </a:ext>
            </a:extLst>
          </p:cNvPr>
          <p:cNvSpPr/>
          <p:nvPr/>
        </p:nvSpPr>
        <p:spPr>
          <a:xfrm>
            <a:off x="7427943" y="2556356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RX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Socle Editique</a:t>
            </a:r>
          </a:p>
        </p:txBody>
      </p:sp>
      <p:sp>
        <p:nvSpPr>
          <p:cNvPr id="120" name="BA_WP">
            <a:extLst>
              <a:ext uri="{FF2B5EF4-FFF2-40B4-BE49-F238E27FC236}">
                <a16:creationId xmlns:a16="http://schemas.microsoft.com/office/drawing/2014/main" id="{00E355B8-5925-323E-FE50-7B415C60AB40}"/>
              </a:ext>
            </a:extLst>
          </p:cNvPr>
          <p:cNvSpPr/>
          <p:nvPr/>
        </p:nvSpPr>
        <p:spPr>
          <a:xfrm>
            <a:off x="6013246" y="2911884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WP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Lanceur PCO</a:t>
            </a:r>
          </a:p>
        </p:txBody>
      </p:sp>
      <p:sp>
        <p:nvSpPr>
          <p:cNvPr id="121" name="BA_FM">
            <a:extLst>
              <a:ext uri="{FF2B5EF4-FFF2-40B4-BE49-F238E27FC236}">
                <a16:creationId xmlns:a16="http://schemas.microsoft.com/office/drawing/2014/main" id="{4A52A1EC-496D-1861-4466-5B85E7BB3463}"/>
              </a:ext>
            </a:extLst>
          </p:cNvPr>
          <p:cNvSpPr/>
          <p:nvPr/>
        </p:nvSpPr>
        <p:spPr>
          <a:xfrm>
            <a:off x="6721690" y="2911884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FM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Fonctions IHM</a:t>
            </a:r>
          </a:p>
        </p:txBody>
      </p:sp>
      <p:sp>
        <p:nvSpPr>
          <p:cNvPr id="123" name="BA_JF">
            <a:extLst>
              <a:ext uri="{FF2B5EF4-FFF2-40B4-BE49-F238E27FC236}">
                <a16:creationId xmlns:a16="http://schemas.microsoft.com/office/drawing/2014/main" id="{3D31421F-3B02-BA80-433B-B08B96B8C537}"/>
              </a:ext>
            </a:extLst>
          </p:cNvPr>
          <p:cNvSpPr/>
          <p:nvPr/>
        </p:nvSpPr>
        <p:spPr>
          <a:xfrm>
            <a:off x="7425674" y="2911884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JF</a:t>
            </a:r>
            <a:endParaRPr kumimoji="0" lang="fr-FR" sz="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Animation </a:t>
            </a:r>
            <a:r>
              <a:rPr kumimoji="0" lang="fr-FR" sz="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comm</a:t>
            </a: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.</a:t>
            </a:r>
          </a:p>
        </p:txBody>
      </p:sp>
      <p:sp>
        <p:nvSpPr>
          <p:cNvPr id="124" name="Gr_Avanet">
            <a:extLst>
              <a:ext uri="{FF2B5EF4-FFF2-40B4-BE49-F238E27FC236}">
                <a16:creationId xmlns:a16="http://schemas.microsoft.com/office/drawing/2014/main" id="{5C52B92E-188F-D167-34B8-42250C426823}"/>
              </a:ext>
            </a:extLst>
          </p:cNvPr>
          <p:cNvSpPr/>
          <p:nvPr/>
        </p:nvSpPr>
        <p:spPr>
          <a:xfrm>
            <a:off x="4037787" y="1876551"/>
            <a:ext cx="1690030" cy="117785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  <a:effectLst>
            <a:outerShdw blurRad="50800" dist="38100" dir="2700000" algn="ctr" rotWithShape="0">
              <a:schemeClr val="tx1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/>
            </a:endParaRPr>
          </a:p>
        </p:txBody>
      </p:sp>
      <p:sp>
        <p:nvSpPr>
          <p:cNvPr id="125" name="ZT_Avanet">
            <a:extLst>
              <a:ext uri="{FF2B5EF4-FFF2-40B4-BE49-F238E27FC236}">
                <a16:creationId xmlns:a16="http://schemas.microsoft.com/office/drawing/2014/main" id="{937C7E8F-4F58-9040-494D-902DFF296BCB}"/>
              </a:ext>
            </a:extLst>
          </p:cNvPr>
          <p:cNvSpPr txBox="1"/>
          <p:nvPr/>
        </p:nvSpPr>
        <p:spPr>
          <a:xfrm>
            <a:off x="4047162" y="1903866"/>
            <a:ext cx="1680655" cy="246221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1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Avanet</a:t>
            </a:r>
            <a:endParaRPr kumimoji="0" lang="fr-FR" sz="1000" b="1" i="1" u="none" strike="noStrike" kern="1200" cap="none" spc="0" normalizeH="0" baseline="0" noProof="0" dirty="0">
              <a:ln>
                <a:noFill/>
              </a:ln>
              <a:solidFill>
                <a:srgbClr val="ED7D3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6" name="BA_W5">
            <a:extLst>
              <a:ext uri="{FF2B5EF4-FFF2-40B4-BE49-F238E27FC236}">
                <a16:creationId xmlns:a16="http://schemas.microsoft.com/office/drawing/2014/main" id="{0F70F849-4E8C-DA70-4FB1-3425682B03DC}"/>
              </a:ext>
            </a:extLst>
          </p:cNvPr>
          <p:cNvSpPr/>
          <p:nvPr/>
        </p:nvSpPr>
        <p:spPr>
          <a:xfrm>
            <a:off x="4170691" y="2199707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W5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Av@net</a:t>
            </a:r>
            <a:endParaRPr kumimoji="0" lang="fr-FR" sz="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7" name="BA_AEDI">
            <a:extLst>
              <a:ext uri="{FF2B5EF4-FFF2-40B4-BE49-F238E27FC236}">
                <a16:creationId xmlns:a16="http://schemas.microsoft.com/office/drawing/2014/main" id="{D143AB10-300D-73B3-CFA6-FF8660894241}"/>
              </a:ext>
            </a:extLst>
          </p:cNvPr>
          <p:cNvSpPr/>
          <p:nvPr/>
        </p:nvSpPr>
        <p:spPr>
          <a:xfrm>
            <a:off x="4964917" y="2203693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AEDI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API-EDI</a:t>
            </a:r>
          </a:p>
        </p:txBody>
      </p:sp>
      <p:sp>
        <p:nvSpPr>
          <p:cNvPr id="128" name="BA_SVOD">
            <a:extLst>
              <a:ext uri="{FF2B5EF4-FFF2-40B4-BE49-F238E27FC236}">
                <a16:creationId xmlns:a16="http://schemas.microsoft.com/office/drawing/2014/main" id="{121A9D88-BA2B-32DB-0DD0-B2C251BEEFC8}"/>
              </a:ext>
            </a:extLst>
          </p:cNvPr>
          <p:cNvSpPr/>
          <p:nvPr/>
        </p:nvSpPr>
        <p:spPr>
          <a:xfrm>
            <a:off x="4170691" y="2584512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SVOD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SAS </a:t>
            </a:r>
            <a:r>
              <a:rPr kumimoji="0" lang="fr-FR" sz="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Valid</a:t>
            </a: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.</a:t>
            </a:r>
          </a:p>
        </p:txBody>
      </p:sp>
      <p:sp>
        <p:nvSpPr>
          <p:cNvPr id="129" name="Gr_PFD">
            <a:extLst>
              <a:ext uri="{FF2B5EF4-FFF2-40B4-BE49-F238E27FC236}">
                <a16:creationId xmlns:a16="http://schemas.microsoft.com/office/drawing/2014/main" id="{0BFD5693-16BD-B6BA-7C5C-29A3EBF3507E}"/>
              </a:ext>
            </a:extLst>
          </p:cNvPr>
          <p:cNvSpPr/>
          <p:nvPr/>
        </p:nvSpPr>
        <p:spPr>
          <a:xfrm>
            <a:off x="5870535" y="4989321"/>
            <a:ext cx="1714524" cy="117785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  <a:effectLst>
            <a:outerShdw blurRad="50800" dist="38100" dir="2700000" algn="ctr" rotWithShape="0">
              <a:schemeClr val="tx1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/>
            </a:endParaRPr>
          </a:p>
        </p:txBody>
      </p:sp>
      <p:sp>
        <p:nvSpPr>
          <p:cNvPr id="130" name="ZT_PFD">
            <a:extLst>
              <a:ext uri="{FF2B5EF4-FFF2-40B4-BE49-F238E27FC236}">
                <a16:creationId xmlns:a16="http://schemas.microsoft.com/office/drawing/2014/main" id="{17DD9A5C-59C8-B1CB-1FDB-BEC2E5794C3E}"/>
              </a:ext>
            </a:extLst>
          </p:cNvPr>
          <p:cNvSpPr txBox="1"/>
          <p:nvPr/>
        </p:nvSpPr>
        <p:spPr>
          <a:xfrm>
            <a:off x="5870535" y="5016636"/>
            <a:ext cx="1860066" cy="246221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Plateforme Data (PFD)</a:t>
            </a:r>
          </a:p>
        </p:txBody>
      </p:sp>
      <p:sp>
        <p:nvSpPr>
          <p:cNvPr id="131" name="BA_J2">
            <a:extLst>
              <a:ext uri="{FF2B5EF4-FFF2-40B4-BE49-F238E27FC236}">
                <a16:creationId xmlns:a16="http://schemas.microsoft.com/office/drawing/2014/main" id="{49403B05-E1D5-BE4F-82A2-9B5C747C158D}"/>
              </a:ext>
            </a:extLst>
          </p:cNvPr>
          <p:cNvSpPr/>
          <p:nvPr/>
        </p:nvSpPr>
        <p:spPr>
          <a:xfrm>
            <a:off x="6003440" y="5312477"/>
            <a:ext cx="648000" cy="288000"/>
          </a:xfrm>
          <a:prstGeom prst="round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J2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Exposition PFD</a:t>
            </a:r>
          </a:p>
        </p:txBody>
      </p:sp>
      <p:sp>
        <p:nvSpPr>
          <p:cNvPr id="136" name="BA_J6">
            <a:extLst>
              <a:ext uri="{FF2B5EF4-FFF2-40B4-BE49-F238E27FC236}">
                <a16:creationId xmlns:a16="http://schemas.microsoft.com/office/drawing/2014/main" id="{6CBDBE6E-777F-BE7C-EE1E-E73AEF34C403}"/>
              </a:ext>
            </a:extLst>
          </p:cNvPr>
          <p:cNvSpPr/>
          <p:nvPr/>
        </p:nvSpPr>
        <p:spPr>
          <a:xfrm>
            <a:off x="6755755" y="5316463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J6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Restit</a:t>
            </a: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. </a:t>
            </a:r>
            <a:r>
              <a:rPr kumimoji="0" lang="fr-FR" sz="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Régl</a:t>
            </a: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.</a:t>
            </a:r>
          </a:p>
        </p:txBody>
      </p:sp>
      <p:sp>
        <p:nvSpPr>
          <p:cNvPr id="147" name="BA_J8">
            <a:extLst>
              <a:ext uri="{FF2B5EF4-FFF2-40B4-BE49-F238E27FC236}">
                <a16:creationId xmlns:a16="http://schemas.microsoft.com/office/drawing/2014/main" id="{7ECE56EF-2BB5-E8D2-7B99-6690ACD5E4DC}"/>
              </a:ext>
            </a:extLst>
          </p:cNvPr>
          <p:cNvSpPr/>
          <p:nvPr/>
        </p:nvSpPr>
        <p:spPr>
          <a:xfrm>
            <a:off x="6003440" y="5697282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J8</a:t>
            </a:r>
            <a:endParaRPr kumimoji="0" lang="fr-FR" sz="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Données Contrats</a:t>
            </a:r>
          </a:p>
        </p:txBody>
      </p:sp>
      <p:sp>
        <p:nvSpPr>
          <p:cNvPr id="149" name="Gr_Prediweb1">
            <a:extLst>
              <a:ext uri="{FF2B5EF4-FFF2-40B4-BE49-F238E27FC236}">
                <a16:creationId xmlns:a16="http://schemas.microsoft.com/office/drawing/2014/main" id="{99F1DA81-8323-2827-A2CB-67DD3CBAB1F0}"/>
              </a:ext>
            </a:extLst>
          </p:cNvPr>
          <p:cNvSpPr/>
          <p:nvPr/>
        </p:nvSpPr>
        <p:spPr>
          <a:xfrm>
            <a:off x="4031910" y="3133720"/>
            <a:ext cx="1695907" cy="671739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  <a:effectLst>
            <a:outerShdw blurRad="50800" dist="38100" dir="2700000" algn="ctr" rotWithShape="0">
              <a:schemeClr val="tx1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/>
            </a:endParaRPr>
          </a:p>
        </p:txBody>
      </p:sp>
      <p:sp>
        <p:nvSpPr>
          <p:cNvPr id="151" name="ZT_Prediweb1">
            <a:extLst>
              <a:ext uri="{FF2B5EF4-FFF2-40B4-BE49-F238E27FC236}">
                <a16:creationId xmlns:a16="http://schemas.microsoft.com/office/drawing/2014/main" id="{AF257E0C-BDB6-6F8D-C605-D72EF516FA6C}"/>
              </a:ext>
            </a:extLst>
          </p:cNvPr>
          <p:cNvSpPr txBox="1"/>
          <p:nvPr/>
        </p:nvSpPr>
        <p:spPr>
          <a:xfrm>
            <a:off x="4039108" y="3161305"/>
            <a:ext cx="1688709" cy="246221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1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Prediweb</a:t>
            </a:r>
            <a:r>
              <a:rPr kumimoji="0" lang="fr-FR" sz="1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 1</a:t>
            </a:r>
            <a:endParaRPr kumimoji="0" lang="fr-FR" sz="1000" b="1" i="1" u="none" strike="noStrike" kern="1200" cap="none" spc="0" normalizeH="0" baseline="0" noProof="0" dirty="0">
              <a:ln>
                <a:noFill/>
              </a:ln>
              <a:solidFill>
                <a:srgbClr val="ED7D3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3" name="BA_BD">
            <a:extLst>
              <a:ext uri="{FF2B5EF4-FFF2-40B4-BE49-F238E27FC236}">
                <a16:creationId xmlns:a16="http://schemas.microsoft.com/office/drawing/2014/main" id="{5203D6A2-B729-5024-7C34-5516C04411C6}"/>
              </a:ext>
            </a:extLst>
          </p:cNvPr>
          <p:cNvSpPr/>
          <p:nvPr/>
        </p:nvSpPr>
        <p:spPr>
          <a:xfrm>
            <a:off x="4164814" y="3456875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BD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Prediweb</a:t>
            </a:r>
            <a:endParaRPr kumimoji="0" lang="fr-FR" sz="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6" name="BA_SGR">
            <a:extLst>
              <a:ext uri="{FF2B5EF4-FFF2-40B4-BE49-F238E27FC236}">
                <a16:creationId xmlns:a16="http://schemas.microsoft.com/office/drawing/2014/main" id="{DA0E0FEE-C44D-9B80-0389-D1D1D384172D}"/>
              </a:ext>
            </a:extLst>
          </p:cNvPr>
          <p:cNvSpPr/>
          <p:nvPr/>
        </p:nvSpPr>
        <p:spPr>
          <a:xfrm>
            <a:off x="4940125" y="3461132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SGR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Lanceur SGR</a:t>
            </a:r>
          </a:p>
        </p:txBody>
      </p:sp>
      <p:sp>
        <p:nvSpPr>
          <p:cNvPr id="158" name="BA_Autre_PFD">
            <a:extLst>
              <a:ext uri="{FF2B5EF4-FFF2-40B4-BE49-F238E27FC236}">
                <a16:creationId xmlns:a16="http://schemas.microsoft.com/office/drawing/2014/main" id="{30BBEFFC-883D-613F-6DE7-A39D6D327AAE}"/>
              </a:ext>
            </a:extLst>
          </p:cNvPr>
          <p:cNvSpPr/>
          <p:nvPr/>
        </p:nvSpPr>
        <p:spPr>
          <a:xfrm>
            <a:off x="6755755" y="5668755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…</a:t>
            </a:r>
          </a:p>
        </p:txBody>
      </p:sp>
      <p:sp>
        <p:nvSpPr>
          <p:cNvPr id="159" name="Gr_AIA">
            <a:extLst>
              <a:ext uri="{FF2B5EF4-FFF2-40B4-BE49-F238E27FC236}">
                <a16:creationId xmlns:a16="http://schemas.microsoft.com/office/drawing/2014/main" id="{792BC0E5-30F4-247F-BAEB-C1838697EC7C}"/>
              </a:ext>
            </a:extLst>
          </p:cNvPr>
          <p:cNvSpPr/>
          <p:nvPr/>
        </p:nvSpPr>
        <p:spPr>
          <a:xfrm>
            <a:off x="749177" y="3739935"/>
            <a:ext cx="1080000" cy="61200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  <a:effectLst>
            <a:outerShdw blurRad="50800" dist="38100" dir="2700000" algn="ctr" rotWithShape="0">
              <a:schemeClr val="tx1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/>
            </a:endParaRPr>
          </a:p>
        </p:txBody>
      </p:sp>
      <p:sp>
        <p:nvSpPr>
          <p:cNvPr id="160" name="ZT_AIA">
            <a:extLst>
              <a:ext uri="{FF2B5EF4-FFF2-40B4-BE49-F238E27FC236}">
                <a16:creationId xmlns:a16="http://schemas.microsoft.com/office/drawing/2014/main" id="{A830D227-BA75-14E2-3331-8A8215B3C2A6}"/>
              </a:ext>
            </a:extLst>
          </p:cNvPr>
          <p:cNvSpPr txBox="1"/>
          <p:nvPr/>
        </p:nvSpPr>
        <p:spPr>
          <a:xfrm>
            <a:off x="768479" y="3767385"/>
            <a:ext cx="1080000" cy="246221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AIA V4 (Sinistres)</a:t>
            </a:r>
          </a:p>
        </p:txBody>
      </p:sp>
      <p:sp>
        <p:nvSpPr>
          <p:cNvPr id="161" name="BA_AJ">
            <a:extLst>
              <a:ext uri="{FF2B5EF4-FFF2-40B4-BE49-F238E27FC236}">
                <a16:creationId xmlns:a16="http://schemas.microsoft.com/office/drawing/2014/main" id="{4A025800-440B-034A-3AD8-04FC4C0287B0}"/>
              </a:ext>
            </a:extLst>
          </p:cNvPr>
          <p:cNvSpPr/>
          <p:nvPr/>
        </p:nvSpPr>
        <p:spPr>
          <a:xfrm>
            <a:off x="971713" y="4002859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AJ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AIA </a:t>
            </a:r>
            <a:r>
              <a:rPr kumimoji="0" lang="fr-FR" sz="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Sinitres</a:t>
            </a:r>
            <a:endParaRPr kumimoji="0" lang="fr-FR" sz="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2" name="Gr_Prediweb2">
            <a:extLst>
              <a:ext uri="{FF2B5EF4-FFF2-40B4-BE49-F238E27FC236}">
                <a16:creationId xmlns:a16="http://schemas.microsoft.com/office/drawing/2014/main" id="{CEA15B8C-9DC0-C565-E180-7057BB7540AD}"/>
              </a:ext>
            </a:extLst>
          </p:cNvPr>
          <p:cNvSpPr/>
          <p:nvPr/>
        </p:nvSpPr>
        <p:spPr>
          <a:xfrm>
            <a:off x="5873516" y="3968698"/>
            <a:ext cx="1080000" cy="61200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  <a:effectLst>
            <a:outerShdw blurRad="50800" dist="38100" dir="2700000" algn="ctr" rotWithShape="0">
              <a:schemeClr val="tx1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/>
            </a:endParaRPr>
          </a:p>
        </p:txBody>
      </p:sp>
      <p:sp>
        <p:nvSpPr>
          <p:cNvPr id="163" name="ZT_Prediweb2">
            <a:extLst>
              <a:ext uri="{FF2B5EF4-FFF2-40B4-BE49-F238E27FC236}">
                <a16:creationId xmlns:a16="http://schemas.microsoft.com/office/drawing/2014/main" id="{521DF7BF-81FB-5486-8E65-986C8EAE449E}"/>
              </a:ext>
            </a:extLst>
          </p:cNvPr>
          <p:cNvSpPr txBox="1"/>
          <p:nvPr/>
        </p:nvSpPr>
        <p:spPr>
          <a:xfrm>
            <a:off x="5873579" y="3996283"/>
            <a:ext cx="1073170" cy="246221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1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Prediweb</a:t>
            </a:r>
            <a:r>
              <a:rPr kumimoji="0" lang="fr-FR" sz="1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 2</a:t>
            </a:r>
            <a:endParaRPr kumimoji="0" lang="fr-FR" sz="1000" b="1" i="1" u="none" strike="noStrike" kern="1200" cap="none" spc="0" normalizeH="0" baseline="0" noProof="0" dirty="0">
              <a:ln>
                <a:noFill/>
              </a:ln>
              <a:solidFill>
                <a:srgbClr val="ED7D3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4" name="BA_PY">
            <a:extLst>
              <a:ext uri="{FF2B5EF4-FFF2-40B4-BE49-F238E27FC236}">
                <a16:creationId xmlns:a16="http://schemas.microsoft.com/office/drawing/2014/main" id="{3D98458D-6086-3F5E-39C0-0510C7D068F0}"/>
              </a:ext>
            </a:extLst>
          </p:cNvPr>
          <p:cNvSpPr/>
          <p:nvPr/>
        </p:nvSpPr>
        <p:spPr>
          <a:xfrm>
            <a:off x="6086164" y="4238900"/>
            <a:ext cx="648000" cy="288000"/>
          </a:xfrm>
          <a:prstGeom prst="roundRect">
            <a:avLst/>
          </a:prstGeom>
          <a:solidFill>
            <a:srgbClr val="70AD47"/>
          </a:solidFill>
          <a:ln>
            <a:noFill/>
          </a:ln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PY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Prediweb</a:t>
            </a: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 2</a:t>
            </a:r>
          </a:p>
        </p:txBody>
      </p:sp>
      <p:sp>
        <p:nvSpPr>
          <p:cNvPr id="165" name="Gr_NewNOVA">
            <a:extLst>
              <a:ext uri="{FF2B5EF4-FFF2-40B4-BE49-F238E27FC236}">
                <a16:creationId xmlns:a16="http://schemas.microsoft.com/office/drawing/2014/main" id="{E203A24D-AC8D-711F-664A-554E705043E3}"/>
              </a:ext>
            </a:extLst>
          </p:cNvPr>
          <p:cNvSpPr/>
          <p:nvPr/>
        </p:nvSpPr>
        <p:spPr>
          <a:xfrm>
            <a:off x="8439128" y="1876551"/>
            <a:ext cx="3056400" cy="341366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  <a:effectLst>
            <a:outerShdw blurRad="50800" dist="38100" dir="2700000" algn="ctr" rotWithShape="0">
              <a:schemeClr val="tx1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/>
            </a:endParaRPr>
          </a:p>
        </p:txBody>
      </p:sp>
      <p:sp>
        <p:nvSpPr>
          <p:cNvPr id="166" name="ZT_NewNOVA">
            <a:extLst>
              <a:ext uri="{FF2B5EF4-FFF2-40B4-BE49-F238E27FC236}">
                <a16:creationId xmlns:a16="http://schemas.microsoft.com/office/drawing/2014/main" id="{3BE310A7-D836-D023-F37C-5F06A88912A1}"/>
              </a:ext>
            </a:extLst>
          </p:cNvPr>
          <p:cNvSpPr txBox="1"/>
          <p:nvPr/>
        </p:nvSpPr>
        <p:spPr>
          <a:xfrm>
            <a:off x="8439128" y="1903868"/>
            <a:ext cx="2930793" cy="246221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New NOVA (K8S+AWS)</a:t>
            </a:r>
            <a:endParaRPr kumimoji="0" lang="fr-FR" sz="1000" b="1" i="1" u="none" strike="noStrike" kern="1200" cap="none" spc="0" normalizeH="0" baseline="0" noProof="0" dirty="0">
              <a:ln>
                <a:noFill/>
              </a:ln>
              <a:solidFill>
                <a:srgbClr val="ED7D3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7" name="BA_APPE">
            <a:extLst>
              <a:ext uri="{FF2B5EF4-FFF2-40B4-BE49-F238E27FC236}">
                <a16:creationId xmlns:a16="http://schemas.microsoft.com/office/drawing/2014/main" id="{0C5009CE-B8A8-C412-6F57-93513671DAFF}"/>
              </a:ext>
            </a:extLst>
          </p:cNvPr>
          <p:cNvSpPr/>
          <p:nvPr/>
        </p:nvSpPr>
        <p:spPr>
          <a:xfrm>
            <a:off x="8593481" y="2199709"/>
            <a:ext cx="648000" cy="288000"/>
          </a:xfrm>
          <a:prstGeom prst="roundRect">
            <a:avLst/>
          </a:prstGeom>
          <a:solidFill>
            <a:srgbClr val="70AD4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APPE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API Personne</a:t>
            </a:r>
          </a:p>
        </p:txBody>
      </p:sp>
      <p:sp>
        <p:nvSpPr>
          <p:cNvPr id="168" name="BA_CJNI">
            <a:extLst>
              <a:ext uri="{FF2B5EF4-FFF2-40B4-BE49-F238E27FC236}">
                <a16:creationId xmlns:a16="http://schemas.microsoft.com/office/drawing/2014/main" id="{4E17AE97-A99C-F589-4DB8-CE7D0579E6B0}"/>
              </a:ext>
            </a:extLst>
          </p:cNvPr>
          <p:cNvSpPr/>
          <p:nvPr/>
        </p:nvSpPr>
        <p:spPr>
          <a:xfrm>
            <a:off x="9285330" y="2199709"/>
            <a:ext cx="648000" cy="288000"/>
          </a:xfrm>
          <a:prstGeom prst="round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CJNI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Jeton SSO</a:t>
            </a:r>
          </a:p>
        </p:txBody>
      </p:sp>
      <p:sp>
        <p:nvSpPr>
          <p:cNvPr id="169" name="BA_C8">
            <a:extLst>
              <a:ext uri="{FF2B5EF4-FFF2-40B4-BE49-F238E27FC236}">
                <a16:creationId xmlns:a16="http://schemas.microsoft.com/office/drawing/2014/main" id="{7D7DEF6C-3B3F-BF90-D05A-CBD6609CE1E0}"/>
              </a:ext>
            </a:extLst>
          </p:cNvPr>
          <p:cNvSpPr/>
          <p:nvPr/>
        </p:nvSpPr>
        <p:spPr>
          <a:xfrm>
            <a:off x="9969793" y="2199709"/>
            <a:ext cx="648000" cy="288000"/>
          </a:xfrm>
          <a:prstGeom prst="roundRect">
            <a:avLst/>
          </a:prstGeom>
          <a:solidFill>
            <a:srgbClr val="70AD4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C8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Consentements</a:t>
            </a:r>
          </a:p>
        </p:txBody>
      </p:sp>
      <p:sp>
        <p:nvSpPr>
          <p:cNvPr id="170" name="BA_D9">
            <a:extLst>
              <a:ext uri="{FF2B5EF4-FFF2-40B4-BE49-F238E27FC236}">
                <a16:creationId xmlns:a16="http://schemas.microsoft.com/office/drawing/2014/main" id="{2752F598-13D2-B4AD-C6E8-1247C00E5CEF}"/>
              </a:ext>
            </a:extLst>
          </p:cNvPr>
          <p:cNvSpPr/>
          <p:nvPr/>
        </p:nvSpPr>
        <p:spPr>
          <a:xfrm>
            <a:off x="10654255" y="2199709"/>
            <a:ext cx="648000" cy="288000"/>
          </a:xfrm>
          <a:prstGeom prst="roundRect">
            <a:avLst/>
          </a:prstGeom>
          <a:solidFill>
            <a:srgbClr val="70AD4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D9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Base Doc AWS</a:t>
            </a:r>
          </a:p>
        </p:txBody>
      </p:sp>
      <p:sp>
        <p:nvSpPr>
          <p:cNvPr id="171" name="BA_F3">
            <a:extLst>
              <a:ext uri="{FF2B5EF4-FFF2-40B4-BE49-F238E27FC236}">
                <a16:creationId xmlns:a16="http://schemas.microsoft.com/office/drawing/2014/main" id="{D900EC1A-DF9C-B6ED-1D99-7097E6EB8550}"/>
              </a:ext>
            </a:extLst>
          </p:cNvPr>
          <p:cNvSpPr/>
          <p:nvPr/>
        </p:nvSpPr>
        <p:spPr>
          <a:xfrm>
            <a:off x="8593481" y="2517130"/>
            <a:ext cx="648000" cy="288000"/>
          </a:xfrm>
          <a:prstGeom prst="roundRect">
            <a:avLst/>
          </a:prstGeom>
          <a:solidFill>
            <a:srgbClr val="ED7D3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F3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Versement Libre</a:t>
            </a:r>
          </a:p>
        </p:txBody>
      </p:sp>
      <p:sp>
        <p:nvSpPr>
          <p:cNvPr id="172" name="BA_F4">
            <a:extLst>
              <a:ext uri="{FF2B5EF4-FFF2-40B4-BE49-F238E27FC236}">
                <a16:creationId xmlns:a16="http://schemas.microsoft.com/office/drawing/2014/main" id="{F10F6D5C-B5EB-4EDD-0D37-4867AE480E4F}"/>
              </a:ext>
            </a:extLst>
          </p:cNvPr>
          <p:cNvSpPr/>
          <p:nvPr/>
        </p:nvSpPr>
        <p:spPr>
          <a:xfrm>
            <a:off x="9285330" y="2517130"/>
            <a:ext cx="648000" cy="288000"/>
          </a:xfrm>
          <a:prstGeom prst="roundRect">
            <a:avLst/>
          </a:prstGeom>
          <a:solidFill>
            <a:srgbClr val="70AD47"/>
          </a:solidFill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F4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Synthèse </a:t>
            </a:r>
            <a:r>
              <a:rPr kumimoji="0" lang="fr-FR" sz="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Opér</a:t>
            </a: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.</a:t>
            </a:r>
          </a:p>
        </p:txBody>
      </p:sp>
      <p:sp>
        <p:nvSpPr>
          <p:cNvPr id="173" name="BA_F5">
            <a:extLst>
              <a:ext uri="{FF2B5EF4-FFF2-40B4-BE49-F238E27FC236}">
                <a16:creationId xmlns:a16="http://schemas.microsoft.com/office/drawing/2014/main" id="{3DBBF766-4808-6050-572E-F0BDEA6C4B62}"/>
              </a:ext>
            </a:extLst>
          </p:cNvPr>
          <p:cNvSpPr/>
          <p:nvPr/>
        </p:nvSpPr>
        <p:spPr>
          <a:xfrm>
            <a:off x="9969793" y="2517130"/>
            <a:ext cx="648000" cy="288000"/>
          </a:xfrm>
          <a:prstGeom prst="round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F5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Conf</a:t>
            </a: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. New Nova</a:t>
            </a:r>
          </a:p>
        </p:txBody>
      </p:sp>
      <p:sp>
        <p:nvSpPr>
          <p:cNvPr id="174" name="BA_F6">
            <a:extLst>
              <a:ext uri="{FF2B5EF4-FFF2-40B4-BE49-F238E27FC236}">
                <a16:creationId xmlns:a16="http://schemas.microsoft.com/office/drawing/2014/main" id="{CF579909-7EFF-C8E1-8347-5D2786502D0B}"/>
              </a:ext>
            </a:extLst>
          </p:cNvPr>
          <p:cNvSpPr/>
          <p:nvPr/>
        </p:nvSpPr>
        <p:spPr>
          <a:xfrm>
            <a:off x="10654255" y="2517130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F6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API Adhésion</a:t>
            </a:r>
          </a:p>
        </p:txBody>
      </p:sp>
      <p:sp>
        <p:nvSpPr>
          <p:cNvPr id="175" name="BA_F7">
            <a:extLst>
              <a:ext uri="{FF2B5EF4-FFF2-40B4-BE49-F238E27FC236}">
                <a16:creationId xmlns:a16="http://schemas.microsoft.com/office/drawing/2014/main" id="{24DAAB04-DAC1-990C-B7CC-7E3ED767CE3F}"/>
              </a:ext>
            </a:extLst>
          </p:cNvPr>
          <p:cNvSpPr/>
          <p:nvPr/>
        </p:nvSpPr>
        <p:spPr>
          <a:xfrm>
            <a:off x="8593481" y="2829812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F7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Arbitrage</a:t>
            </a:r>
          </a:p>
        </p:txBody>
      </p:sp>
      <p:sp>
        <p:nvSpPr>
          <p:cNvPr id="176" name="BA_G3">
            <a:extLst>
              <a:ext uri="{FF2B5EF4-FFF2-40B4-BE49-F238E27FC236}">
                <a16:creationId xmlns:a16="http://schemas.microsoft.com/office/drawing/2014/main" id="{4C529A49-68D2-E371-4D4B-E3EB46B9F814}"/>
              </a:ext>
            </a:extLst>
          </p:cNvPr>
          <p:cNvSpPr/>
          <p:nvPr/>
        </p:nvSpPr>
        <p:spPr>
          <a:xfrm>
            <a:off x="9969793" y="2829812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G3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Pièces médicales</a:t>
            </a:r>
          </a:p>
        </p:txBody>
      </p:sp>
      <p:sp>
        <p:nvSpPr>
          <p:cNvPr id="177" name="BA_G4">
            <a:extLst>
              <a:ext uri="{FF2B5EF4-FFF2-40B4-BE49-F238E27FC236}">
                <a16:creationId xmlns:a16="http://schemas.microsoft.com/office/drawing/2014/main" id="{543D8342-BA3B-2163-53F8-4ADA79F191A8}"/>
              </a:ext>
            </a:extLst>
          </p:cNvPr>
          <p:cNvSpPr/>
          <p:nvPr/>
        </p:nvSpPr>
        <p:spPr>
          <a:xfrm>
            <a:off x="10639886" y="2829812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G4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API FRC</a:t>
            </a:r>
          </a:p>
        </p:txBody>
      </p:sp>
      <p:sp>
        <p:nvSpPr>
          <p:cNvPr id="178" name="BA_G6">
            <a:extLst>
              <a:ext uri="{FF2B5EF4-FFF2-40B4-BE49-F238E27FC236}">
                <a16:creationId xmlns:a16="http://schemas.microsoft.com/office/drawing/2014/main" id="{1663D1C4-516C-639E-1D66-DC999381F3A9}"/>
              </a:ext>
            </a:extLst>
          </p:cNvPr>
          <p:cNvSpPr/>
          <p:nvPr/>
        </p:nvSpPr>
        <p:spPr>
          <a:xfrm>
            <a:off x="8593481" y="3151100"/>
            <a:ext cx="648000" cy="288000"/>
          </a:xfrm>
          <a:prstGeom prst="roundRect">
            <a:avLst/>
          </a:prstGeom>
          <a:solidFill>
            <a:srgbClr val="70AD4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G6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API </a:t>
            </a:r>
            <a:r>
              <a:rPr kumimoji="0" lang="fr-FR" sz="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Passport</a:t>
            </a:r>
            <a:endParaRPr kumimoji="0" lang="fr-FR" sz="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9" name="BA_GQ">
            <a:extLst>
              <a:ext uri="{FF2B5EF4-FFF2-40B4-BE49-F238E27FC236}">
                <a16:creationId xmlns:a16="http://schemas.microsoft.com/office/drawing/2014/main" id="{1A548E85-9B1A-DA3C-0243-0D73A9BE669B}"/>
              </a:ext>
            </a:extLst>
          </p:cNvPr>
          <p:cNvSpPr/>
          <p:nvPr/>
        </p:nvSpPr>
        <p:spPr>
          <a:xfrm>
            <a:off x="9282935" y="3151100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GQ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GED Prévoyance</a:t>
            </a:r>
          </a:p>
        </p:txBody>
      </p:sp>
      <p:sp>
        <p:nvSpPr>
          <p:cNvPr id="180" name="BA_I5">
            <a:extLst>
              <a:ext uri="{FF2B5EF4-FFF2-40B4-BE49-F238E27FC236}">
                <a16:creationId xmlns:a16="http://schemas.microsoft.com/office/drawing/2014/main" id="{0B6C88BC-1B8D-20F5-00B7-3012FBE40C75}"/>
              </a:ext>
            </a:extLst>
          </p:cNvPr>
          <p:cNvSpPr/>
          <p:nvPr/>
        </p:nvSpPr>
        <p:spPr>
          <a:xfrm>
            <a:off x="9974451" y="3151100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I5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Lanceur New Nova</a:t>
            </a:r>
          </a:p>
        </p:txBody>
      </p:sp>
      <p:sp>
        <p:nvSpPr>
          <p:cNvPr id="181" name="BA_I9">
            <a:extLst>
              <a:ext uri="{FF2B5EF4-FFF2-40B4-BE49-F238E27FC236}">
                <a16:creationId xmlns:a16="http://schemas.microsoft.com/office/drawing/2014/main" id="{A16EBFD3-0601-825C-462D-4A724B1E8A6E}"/>
              </a:ext>
            </a:extLst>
          </p:cNvPr>
          <p:cNvSpPr/>
          <p:nvPr/>
        </p:nvSpPr>
        <p:spPr>
          <a:xfrm>
            <a:off x="10654255" y="3151100"/>
            <a:ext cx="648000" cy="288000"/>
          </a:xfrm>
          <a:prstGeom prst="round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I9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Keycloak</a:t>
            </a: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 Intranet</a:t>
            </a:r>
          </a:p>
        </p:txBody>
      </p:sp>
      <p:sp>
        <p:nvSpPr>
          <p:cNvPr id="182" name="BA_K7">
            <a:extLst>
              <a:ext uri="{FF2B5EF4-FFF2-40B4-BE49-F238E27FC236}">
                <a16:creationId xmlns:a16="http://schemas.microsoft.com/office/drawing/2014/main" id="{087513D9-3250-25C5-D3AC-15F30EB5A599}"/>
              </a:ext>
            </a:extLst>
          </p:cNvPr>
          <p:cNvSpPr/>
          <p:nvPr/>
        </p:nvSpPr>
        <p:spPr>
          <a:xfrm>
            <a:off x="8593481" y="3482529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K7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Aiguilleur</a:t>
            </a:r>
          </a:p>
        </p:txBody>
      </p:sp>
      <p:sp>
        <p:nvSpPr>
          <p:cNvPr id="183" name="BA_K9">
            <a:extLst>
              <a:ext uri="{FF2B5EF4-FFF2-40B4-BE49-F238E27FC236}">
                <a16:creationId xmlns:a16="http://schemas.microsoft.com/office/drawing/2014/main" id="{158F5790-12CD-E387-D7FB-B206D56EB508}"/>
              </a:ext>
            </a:extLst>
          </p:cNvPr>
          <p:cNvSpPr/>
          <p:nvPr/>
        </p:nvSpPr>
        <p:spPr>
          <a:xfrm>
            <a:off x="9282935" y="3482529"/>
            <a:ext cx="648000" cy="288000"/>
          </a:xfrm>
          <a:prstGeom prst="roundRect">
            <a:avLst/>
          </a:prstGeom>
          <a:solidFill>
            <a:srgbClr val="70AD47"/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K9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Keycloak</a:t>
            </a: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 Internet</a:t>
            </a:r>
          </a:p>
        </p:txBody>
      </p:sp>
      <p:sp>
        <p:nvSpPr>
          <p:cNvPr id="184" name="BA_L8">
            <a:extLst>
              <a:ext uri="{FF2B5EF4-FFF2-40B4-BE49-F238E27FC236}">
                <a16:creationId xmlns:a16="http://schemas.microsoft.com/office/drawing/2014/main" id="{B3773624-CF07-5BEC-2E74-D178FABBE599}"/>
              </a:ext>
            </a:extLst>
          </p:cNvPr>
          <p:cNvSpPr/>
          <p:nvPr/>
        </p:nvSpPr>
        <p:spPr>
          <a:xfrm>
            <a:off x="9967328" y="3482529"/>
            <a:ext cx="648000" cy="288000"/>
          </a:xfrm>
          <a:prstGeom prst="roundRect">
            <a:avLst/>
          </a:prstGeom>
          <a:solidFill>
            <a:srgbClr val="70AD4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L8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API Archivage</a:t>
            </a:r>
          </a:p>
        </p:txBody>
      </p:sp>
      <p:sp>
        <p:nvSpPr>
          <p:cNvPr id="185" name="BA_L9">
            <a:extLst>
              <a:ext uri="{FF2B5EF4-FFF2-40B4-BE49-F238E27FC236}">
                <a16:creationId xmlns:a16="http://schemas.microsoft.com/office/drawing/2014/main" id="{75FA16A5-6A84-1653-456D-74D4AAB7E606}"/>
              </a:ext>
            </a:extLst>
          </p:cNvPr>
          <p:cNvSpPr/>
          <p:nvPr/>
        </p:nvSpPr>
        <p:spPr>
          <a:xfrm>
            <a:off x="10660897" y="3482529"/>
            <a:ext cx="648000" cy="288000"/>
          </a:xfrm>
          <a:prstGeom prst="roundRect">
            <a:avLst/>
          </a:prstGeom>
          <a:solidFill>
            <a:srgbClr val="70AD4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L9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API Structure</a:t>
            </a:r>
          </a:p>
        </p:txBody>
      </p:sp>
      <p:sp>
        <p:nvSpPr>
          <p:cNvPr id="186" name="BA_N6">
            <a:extLst>
              <a:ext uri="{FF2B5EF4-FFF2-40B4-BE49-F238E27FC236}">
                <a16:creationId xmlns:a16="http://schemas.microsoft.com/office/drawing/2014/main" id="{7101D6C3-E15A-FAF5-A4B9-6D2EB10970AE}"/>
              </a:ext>
            </a:extLst>
          </p:cNvPr>
          <p:cNvSpPr/>
          <p:nvPr/>
        </p:nvSpPr>
        <p:spPr>
          <a:xfrm>
            <a:off x="8593481" y="3807905"/>
            <a:ext cx="648000" cy="288000"/>
          </a:xfrm>
          <a:prstGeom prst="round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N6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API produit</a:t>
            </a:r>
          </a:p>
        </p:txBody>
      </p:sp>
      <p:sp>
        <p:nvSpPr>
          <p:cNvPr id="187" name="BA_N8">
            <a:extLst>
              <a:ext uri="{FF2B5EF4-FFF2-40B4-BE49-F238E27FC236}">
                <a16:creationId xmlns:a16="http://schemas.microsoft.com/office/drawing/2014/main" id="{5A2AAE86-C228-F689-520D-76DBF728651D}"/>
              </a:ext>
            </a:extLst>
          </p:cNvPr>
          <p:cNvSpPr/>
          <p:nvPr/>
        </p:nvSpPr>
        <p:spPr>
          <a:xfrm>
            <a:off x="9282935" y="3807905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N8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Notif</a:t>
            </a: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. Distributeur</a:t>
            </a:r>
          </a:p>
        </p:txBody>
      </p:sp>
      <p:sp>
        <p:nvSpPr>
          <p:cNvPr id="188" name="BA_P4">
            <a:extLst>
              <a:ext uri="{FF2B5EF4-FFF2-40B4-BE49-F238E27FC236}">
                <a16:creationId xmlns:a16="http://schemas.microsoft.com/office/drawing/2014/main" id="{D1BB0CFC-4AF2-F395-B5E2-51BBEDC5CC2F}"/>
              </a:ext>
            </a:extLst>
          </p:cNvPr>
          <p:cNvSpPr/>
          <p:nvPr/>
        </p:nvSpPr>
        <p:spPr>
          <a:xfrm>
            <a:off x="9974451" y="3807905"/>
            <a:ext cx="648000" cy="288000"/>
          </a:xfrm>
          <a:prstGeom prst="roundRect">
            <a:avLst/>
          </a:prstGeom>
          <a:solidFill>
            <a:srgbClr val="70AD47"/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P4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Services Editique</a:t>
            </a:r>
          </a:p>
        </p:txBody>
      </p:sp>
      <p:sp>
        <p:nvSpPr>
          <p:cNvPr id="189" name="BA_P5">
            <a:extLst>
              <a:ext uri="{FF2B5EF4-FFF2-40B4-BE49-F238E27FC236}">
                <a16:creationId xmlns:a16="http://schemas.microsoft.com/office/drawing/2014/main" id="{79480841-3D67-2BE9-7906-8EF4698339C0}"/>
              </a:ext>
            </a:extLst>
          </p:cNvPr>
          <p:cNvSpPr/>
          <p:nvPr/>
        </p:nvSpPr>
        <p:spPr>
          <a:xfrm>
            <a:off x="10660897" y="3807905"/>
            <a:ext cx="648000" cy="288000"/>
          </a:xfrm>
          <a:prstGeom prst="roundRect">
            <a:avLst/>
          </a:prstGeom>
          <a:solidFill>
            <a:srgbClr val="70AD47"/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P5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API Contrat</a:t>
            </a:r>
          </a:p>
        </p:txBody>
      </p:sp>
      <p:sp>
        <p:nvSpPr>
          <p:cNvPr id="190" name="BA_P6">
            <a:extLst>
              <a:ext uri="{FF2B5EF4-FFF2-40B4-BE49-F238E27FC236}">
                <a16:creationId xmlns:a16="http://schemas.microsoft.com/office/drawing/2014/main" id="{752EAB59-0277-6D48-C786-50B6E01AF535}"/>
              </a:ext>
            </a:extLst>
          </p:cNvPr>
          <p:cNvSpPr/>
          <p:nvPr/>
        </p:nvSpPr>
        <p:spPr>
          <a:xfrm>
            <a:off x="8593481" y="4126011"/>
            <a:ext cx="648000" cy="288000"/>
          </a:xfrm>
          <a:prstGeom prst="round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P6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API Support</a:t>
            </a:r>
          </a:p>
        </p:txBody>
      </p:sp>
      <p:sp>
        <p:nvSpPr>
          <p:cNvPr id="191" name="BA_P7">
            <a:extLst>
              <a:ext uri="{FF2B5EF4-FFF2-40B4-BE49-F238E27FC236}">
                <a16:creationId xmlns:a16="http://schemas.microsoft.com/office/drawing/2014/main" id="{ABC9D67C-0AB1-1A31-15AD-CE3FE6A8BC06}"/>
              </a:ext>
            </a:extLst>
          </p:cNvPr>
          <p:cNvSpPr/>
          <p:nvPr/>
        </p:nvSpPr>
        <p:spPr>
          <a:xfrm>
            <a:off x="9278944" y="4126011"/>
            <a:ext cx="648000" cy="288000"/>
          </a:xfrm>
          <a:prstGeom prst="roundRect">
            <a:avLst/>
          </a:prstGeom>
          <a:solidFill>
            <a:srgbClr val="70AD47"/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P7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Campagnes et Frais</a:t>
            </a:r>
          </a:p>
        </p:txBody>
      </p:sp>
      <p:sp>
        <p:nvSpPr>
          <p:cNvPr id="192" name="BA_P8">
            <a:extLst>
              <a:ext uri="{FF2B5EF4-FFF2-40B4-BE49-F238E27FC236}">
                <a16:creationId xmlns:a16="http://schemas.microsoft.com/office/drawing/2014/main" id="{4F318432-09DB-14AD-ABB1-9429B21C0D9A}"/>
              </a:ext>
            </a:extLst>
          </p:cNvPr>
          <p:cNvSpPr/>
          <p:nvPr/>
        </p:nvSpPr>
        <p:spPr>
          <a:xfrm>
            <a:off x="9971257" y="4126011"/>
            <a:ext cx="648000" cy="288000"/>
          </a:xfrm>
          <a:prstGeom prst="round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P8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Habilit</a:t>
            </a: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. &amp;  </a:t>
            </a:r>
            <a:r>
              <a:rPr kumimoji="0" lang="fr-FR" sz="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Délég</a:t>
            </a: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.</a:t>
            </a:r>
          </a:p>
        </p:txBody>
      </p:sp>
      <p:sp>
        <p:nvSpPr>
          <p:cNvPr id="193" name="BA_Q1">
            <a:extLst>
              <a:ext uri="{FF2B5EF4-FFF2-40B4-BE49-F238E27FC236}">
                <a16:creationId xmlns:a16="http://schemas.microsoft.com/office/drawing/2014/main" id="{4960B29D-3C00-3A5D-B541-4C6D9BFB1871}"/>
              </a:ext>
            </a:extLst>
          </p:cNvPr>
          <p:cNvSpPr/>
          <p:nvPr/>
        </p:nvSpPr>
        <p:spPr>
          <a:xfrm>
            <a:off x="10649334" y="4126011"/>
            <a:ext cx="648000" cy="288000"/>
          </a:xfrm>
          <a:prstGeom prst="roundRect">
            <a:avLst/>
          </a:prstGeom>
          <a:solidFill>
            <a:srgbClr val="70AD4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Q1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API </a:t>
            </a:r>
            <a:r>
              <a:rPr kumimoji="0" lang="fr-FR" sz="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Déciséo</a:t>
            </a:r>
            <a:endParaRPr kumimoji="0" lang="fr-FR" sz="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4" name="BA_W1">
            <a:extLst>
              <a:ext uri="{FF2B5EF4-FFF2-40B4-BE49-F238E27FC236}">
                <a16:creationId xmlns:a16="http://schemas.microsoft.com/office/drawing/2014/main" id="{7A5B53B3-9D22-26A3-522E-614A5E10ECB5}"/>
              </a:ext>
            </a:extLst>
          </p:cNvPr>
          <p:cNvSpPr/>
          <p:nvPr/>
        </p:nvSpPr>
        <p:spPr>
          <a:xfrm>
            <a:off x="9974451" y="4442744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W1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API Signature</a:t>
            </a:r>
          </a:p>
        </p:txBody>
      </p:sp>
      <p:sp>
        <p:nvSpPr>
          <p:cNvPr id="195" name="BA_W2">
            <a:extLst>
              <a:ext uri="{FF2B5EF4-FFF2-40B4-BE49-F238E27FC236}">
                <a16:creationId xmlns:a16="http://schemas.microsoft.com/office/drawing/2014/main" id="{040D44F7-22BA-A510-04AB-6301216C42D9}"/>
              </a:ext>
            </a:extLst>
          </p:cNvPr>
          <p:cNvSpPr/>
          <p:nvPr/>
        </p:nvSpPr>
        <p:spPr>
          <a:xfrm>
            <a:off x="10660897" y="4442744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W2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Clause </a:t>
            </a:r>
            <a:r>
              <a:rPr kumimoji="0" lang="fr-FR" sz="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Bénéf</a:t>
            </a: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.</a:t>
            </a:r>
          </a:p>
        </p:txBody>
      </p:sp>
      <p:sp>
        <p:nvSpPr>
          <p:cNvPr id="196" name="BA_W4">
            <a:extLst>
              <a:ext uri="{FF2B5EF4-FFF2-40B4-BE49-F238E27FC236}">
                <a16:creationId xmlns:a16="http://schemas.microsoft.com/office/drawing/2014/main" id="{D35D9455-2702-076E-B4AF-542A6C305C32}"/>
              </a:ext>
            </a:extLst>
          </p:cNvPr>
          <p:cNvSpPr/>
          <p:nvPr/>
        </p:nvSpPr>
        <p:spPr>
          <a:xfrm>
            <a:off x="8593481" y="4764067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W4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Modif</a:t>
            </a: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. </a:t>
            </a:r>
            <a:r>
              <a:rPr kumimoji="0" lang="fr-FR" sz="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Gar</a:t>
            </a: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. </a:t>
            </a:r>
            <a:r>
              <a:rPr kumimoji="0" lang="fr-FR" sz="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Prév</a:t>
            </a: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.</a:t>
            </a:r>
          </a:p>
        </p:txBody>
      </p:sp>
      <p:sp>
        <p:nvSpPr>
          <p:cNvPr id="197" name="Gr_REFUC">
            <a:extLst>
              <a:ext uri="{FF2B5EF4-FFF2-40B4-BE49-F238E27FC236}">
                <a16:creationId xmlns:a16="http://schemas.microsoft.com/office/drawing/2014/main" id="{221EBFD5-31AE-9A90-B306-47598C39161E}"/>
              </a:ext>
            </a:extLst>
          </p:cNvPr>
          <p:cNvSpPr/>
          <p:nvPr/>
        </p:nvSpPr>
        <p:spPr>
          <a:xfrm>
            <a:off x="4640469" y="4759484"/>
            <a:ext cx="1080000" cy="61200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  <a:effectLst>
            <a:outerShdw blurRad="50800" dist="38100" dir="2700000" algn="ctr" rotWithShape="0">
              <a:schemeClr val="tx1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/>
            </a:endParaRPr>
          </a:p>
        </p:txBody>
      </p:sp>
      <p:sp>
        <p:nvSpPr>
          <p:cNvPr id="198" name="ZT_REFUC">
            <a:extLst>
              <a:ext uri="{FF2B5EF4-FFF2-40B4-BE49-F238E27FC236}">
                <a16:creationId xmlns:a16="http://schemas.microsoft.com/office/drawing/2014/main" id="{B676BA00-91C1-E321-3A2B-8380FC21406C}"/>
              </a:ext>
            </a:extLst>
          </p:cNvPr>
          <p:cNvSpPr txBox="1"/>
          <p:nvPr/>
        </p:nvSpPr>
        <p:spPr>
          <a:xfrm>
            <a:off x="4640469" y="4787069"/>
            <a:ext cx="1080000" cy="246221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REFUC</a:t>
            </a:r>
          </a:p>
        </p:txBody>
      </p:sp>
      <p:sp>
        <p:nvSpPr>
          <p:cNvPr id="199" name="BA_VL">
            <a:extLst>
              <a:ext uri="{FF2B5EF4-FFF2-40B4-BE49-F238E27FC236}">
                <a16:creationId xmlns:a16="http://schemas.microsoft.com/office/drawing/2014/main" id="{2B292472-1B74-CEB8-DC6A-E60044A76F7A}"/>
              </a:ext>
            </a:extLst>
          </p:cNvPr>
          <p:cNvSpPr/>
          <p:nvPr/>
        </p:nvSpPr>
        <p:spPr>
          <a:xfrm>
            <a:off x="4872863" y="5004706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VL</a:t>
            </a:r>
            <a:endParaRPr kumimoji="0" lang="fr-FR" sz="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Référ</a:t>
            </a: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. UC</a:t>
            </a:r>
          </a:p>
        </p:txBody>
      </p:sp>
      <p:sp>
        <p:nvSpPr>
          <p:cNvPr id="200" name="Gr_EBX">
            <a:extLst>
              <a:ext uri="{FF2B5EF4-FFF2-40B4-BE49-F238E27FC236}">
                <a16:creationId xmlns:a16="http://schemas.microsoft.com/office/drawing/2014/main" id="{E56C5751-B734-3D47-EE7C-B382B63918A9}"/>
              </a:ext>
            </a:extLst>
          </p:cNvPr>
          <p:cNvSpPr/>
          <p:nvPr/>
        </p:nvSpPr>
        <p:spPr>
          <a:xfrm>
            <a:off x="4653241" y="5538849"/>
            <a:ext cx="1080000" cy="61200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  <a:effectLst>
            <a:outerShdw blurRad="50800" dist="38100" dir="2700000" algn="ctr" rotWithShape="0">
              <a:schemeClr val="tx1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/>
            </a:endParaRPr>
          </a:p>
        </p:txBody>
      </p:sp>
      <p:sp>
        <p:nvSpPr>
          <p:cNvPr id="201" name="ZT_EBX">
            <a:extLst>
              <a:ext uri="{FF2B5EF4-FFF2-40B4-BE49-F238E27FC236}">
                <a16:creationId xmlns:a16="http://schemas.microsoft.com/office/drawing/2014/main" id="{E5D8F528-6879-C664-AECC-49061FE3ACBC}"/>
              </a:ext>
            </a:extLst>
          </p:cNvPr>
          <p:cNvSpPr txBox="1"/>
          <p:nvPr/>
        </p:nvSpPr>
        <p:spPr>
          <a:xfrm>
            <a:off x="4653241" y="5566434"/>
            <a:ext cx="1080000" cy="246221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EBX</a:t>
            </a:r>
          </a:p>
        </p:txBody>
      </p:sp>
      <p:sp>
        <p:nvSpPr>
          <p:cNvPr id="202" name="BA_EBX">
            <a:extLst>
              <a:ext uri="{FF2B5EF4-FFF2-40B4-BE49-F238E27FC236}">
                <a16:creationId xmlns:a16="http://schemas.microsoft.com/office/drawing/2014/main" id="{6FAE8E16-FDCD-45DA-285C-1ECFC088A9D2}"/>
              </a:ext>
            </a:extLst>
          </p:cNvPr>
          <p:cNvSpPr/>
          <p:nvPr/>
        </p:nvSpPr>
        <p:spPr>
          <a:xfrm>
            <a:off x="4877999" y="5795790"/>
            <a:ext cx="648000" cy="276281"/>
          </a:xfrm>
          <a:prstGeom prst="roundRect">
            <a:avLst/>
          </a:prstGeom>
          <a:solidFill>
            <a:srgbClr val="70AD4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EBX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EBX-Platform</a:t>
            </a:r>
          </a:p>
        </p:txBody>
      </p:sp>
      <p:sp>
        <p:nvSpPr>
          <p:cNvPr id="203" name="ZoneProjet">
            <a:extLst>
              <a:ext uri="{FF2B5EF4-FFF2-40B4-BE49-F238E27FC236}">
                <a16:creationId xmlns:a16="http://schemas.microsoft.com/office/drawing/2014/main" id="{CF674ED4-EE69-5017-674E-BB96F3C06BE2}"/>
              </a:ext>
            </a:extLst>
          </p:cNvPr>
          <p:cNvSpPr txBox="1"/>
          <p:nvPr/>
        </p:nvSpPr>
        <p:spPr>
          <a:xfrm>
            <a:off x="303315" y="973037"/>
            <a:ext cx="3270190" cy="553998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>
            <a:defPPr>
              <a:defRPr lang="fr-FR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b="1" i="0" u="none" strike="noStrike" cap="none" spc="0" normalizeH="0" baseline="0">
                <a:ln>
                  <a:noFill/>
                </a:ln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fr-FR" dirty="0"/>
              <a:t>Versement Libre </a:t>
            </a:r>
            <a:r>
              <a:rPr lang="fr-FR" dirty="0" err="1"/>
              <a:t>Selfcare</a:t>
            </a:r>
            <a:r>
              <a:rPr lang="fr-FR" dirty="0"/>
              <a:t> LCL</a:t>
            </a:r>
            <a:br>
              <a:rPr lang="fr-FR" dirty="0"/>
            </a:br>
            <a:r>
              <a:rPr lang="fr-FR" sz="1200" dirty="0"/>
              <a:t>(Lot V26.1)</a:t>
            </a:r>
          </a:p>
        </p:txBody>
      </p:sp>
      <p:sp>
        <p:nvSpPr>
          <p:cNvPr id="204" name="ZT_Titre">
            <a:extLst>
              <a:ext uri="{FF2B5EF4-FFF2-40B4-BE49-F238E27FC236}">
                <a16:creationId xmlns:a16="http://schemas.microsoft.com/office/drawing/2014/main" id="{0C9278CB-FA4F-FD62-A830-31CE904DC640}"/>
              </a:ext>
            </a:extLst>
          </p:cNvPr>
          <p:cNvSpPr txBox="1"/>
          <p:nvPr/>
        </p:nvSpPr>
        <p:spPr>
          <a:xfrm>
            <a:off x="0" y="323850"/>
            <a:ext cx="12192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800" b="0" i="0" u="none" strike="noStrike" kern="1200" cap="none" spc="0" normalizeH="0" baseline="0" noProof="0" dirty="0">
                <a:ln>
                  <a:noFill/>
                </a:ln>
                <a:solidFill>
                  <a:srgbClr val="5B9BD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Identification des composants applicatifs</a:t>
            </a:r>
          </a:p>
        </p:txBody>
      </p:sp>
      <p:sp>
        <p:nvSpPr>
          <p:cNvPr id="205" name="Gr_BDOC">
            <a:extLst>
              <a:ext uri="{FF2B5EF4-FFF2-40B4-BE49-F238E27FC236}">
                <a16:creationId xmlns:a16="http://schemas.microsoft.com/office/drawing/2014/main" id="{2519B995-8F04-B8AC-8997-BD823623F2D1}"/>
              </a:ext>
            </a:extLst>
          </p:cNvPr>
          <p:cNvSpPr/>
          <p:nvPr/>
        </p:nvSpPr>
        <p:spPr>
          <a:xfrm>
            <a:off x="4644961" y="3974152"/>
            <a:ext cx="1080000" cy="61200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  <a:effectLst>
            <a:outerShdw blurRad="50800" dist="38100" dir="2700000" algn="ctr" rotWithShape="0">
              <a:schemeClr val="tx1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/>
            </a:endParaRPr>
          </a:p>
        </p:txBody>
      </p:sp>
      <p:sp>
        <p:nvSpPr>
          <p:cNvPr id="206" name="ZT_BDOC">
            <a:extLst>
              <a:ext uri="{FF2B5EF4-FFF2-40B4-BE49-F238E27FC236}">
                <a16:creationId xmlns:a16="http://schemas.microsoft.com/office/drawing/2014/main" id="{5C0A462A-A81D-E74B-078F-3296DD81A388}"/>
              </a:ext>
            </a:extLst>
          </p:cNvPr>
          <p:cNvSpPr txBox="1"/>
          <p:nvPr/>
        </p:nvSpPr>
        <p:spPr>
          <a:xfrm>
            <a:off x="4644961" y="4001737"/>
            <a:ext cx="1080000" cy="246221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BDOC</a:t>
            </a:r>
          </a:p>
        </p:txBody>
      </p:sp>
      <p:sp>
        <p:nvSpPr>
          <p:cNvPr id="207" name="BA_BX">
            <a:extLst>
              <a:ext uri="{FF2B5EF4-FFF2-40B4-BE49-F238E27FC236}">
                <a16:creationId xmlns:a16="http://schemas.microsoft.com/office/drawing/2014/main" id="{89C4504F-2022-2D33-E8ED-0823B0A32C9B}"/>
              </a:ext>
            </a:extLst>
          </p:cNvPr>
          <p:cNvSpPr/>
          <p:nvPr/>
        </p:nvSpPr>
        <p:spPr>
          <a:xfrm>
            <a:off x="4854972" y="4256461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BX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BDOC WEB</a:t>
            </a:r>
          </a:p>
        </p:txBody>
      </p:sp>
      <p:sp>
        <p:nvSpPr>
          <p:cNvPr id="208" name="ZT_MàJ">
            <a:extLst>
              <a:ext uri="{FF2B5EF4-FFF2-40B4-BE49-F238E27FC236}">
                <a16:creationId xmlns:a16="http://schemas.microsoft.com/office/drawing/2014/main" id="{5E764968-DBD0-AFBC-53B6-8C1B86E6F155}"/>
              </a:ext>
            </a:extLst>
          </p:cNvPr>
          <p:cNvSpPr txBox="1"/>
          <p:nvPr/>
        </p:nvSpPr>
        <p:spPr>
          <a:xfrm>
            <a:off x="390525" y="6420331"/>
            <a:ext cx="174438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Mise à jour : 07/10/2026</a:t>
            </a:r>
          </a:p>
        </p:txBody>
      </p:sp>
      <p:sp>
        <p:nvSpPr>
          <p:cNvPr id="209" name="ZT_Validité">
            <a:extLst>
              <a:ext uri="{FF2B5EF4-FFF2-40B4-BE49-F238E27FC236}">
                <a16:creationId xmlns:a16="http://schemas.microsoft.com/office/drawing/2014/main" id="{F73009BA-ECD3-1C46-51CF-6AE321F1BD96}"/>
              </a:ext>
            </a:extLst>
          </p:cNvPr>
          <p:cNvSpPr txBox="1"/>
          <p:nvPr/>
        </p:nvSpPr>
        <p:spPr>
          <a:xfrm>
            <a:off x="10479876" y="6430403"/>
            <a:ext cx="126444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Validité : T</a:t>
            </a:r>
            <a:r>
              <a:rPr lang="fr-FR" sz="1200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/>
              </a:rPr>
              <a:t>2</a:t>
            </a:r>
            <a:r>
              <a:rPr kumimoji="0" lang="fr-F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 2026</a:t>
            </a:r>
          </a:p>
        </p:txBody>
      </p:sp>
      <p:sp>
        <p:nvSpPr>
          <p:cNvPr id="210" name="Légende_Comp3">
            <a:extLst>
              <a:ext uri="{FF2B5EF4-FFF2-40B4-BE49-F238E27FC236}">
                <a16:creationId xmlns:a16="http://schemas.microsoft.com/office/drawing/2014/main" id="{FE2DA68B-1E40-1062-D14E-A4E009B3C843}"/>
              </a:ext>
            </a:extLst>
          </p:cNvPr>
          <p:cNvSpPr/>
          <p:nvPr/>
        </p:nvSpPr>
        <p:spPr>
          <a:xfrm>
            <a:off x="6567797" y="998327"/>
            <a:ext cx="1080000" cy="360000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Composant </a:t>
            </a:r>
            <a:b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créé ou modifié</a:t>
            </a:r>
          </a:p>
        </p:txBody>
      </p:sp>
      <p:sp>
        <p:nvSpPr>
          <p:cNvPr id="211" name="Légende_Comp2">
            <a:extLst>
              <a:ext uri="{FF2B5EF4-FFF2-40B4-BE49-F238E27FC236}">
                <a16:creationId xmlns:a16="http://schemas.microsoft.com/office/drawing/2014/main" id="{B4A60935-8A01-7F97-94A7-450821B21185}"/>
              </a:ext>
            </a:extLst>
          </p:cNvPr>
          <p:cNvSpPr/>
          <p:nvPr/>
        </p:nvSpPr>
        <p:spPr>
          <a:xfrm>
            <a:off x="5383906" y="995911"/>
            <a:ext cx="1080000" cy="360000"/>
          </a:xfrm>
          <a:prstGeom prst="round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Composant utilisé</a:t>
            </a:r>
          </a:p>
        </p:txBody>
      </p:sp>
      <p:sp>
        <p:nvSpPr>
          <p:cNvPr id="212" name="Légende_Comp1">
            <a:extLst>
              <a:ext uri="{FF2B5EF4-FFF2-40B4-BE49-F238E27FC236}">
                <a16:creationId xmlns:a16="http://schemas.microsoft.com/office/drawing/2014/main" id="{EC8A556C-7331-EF7D-2072-B6C8DD29329B}"/>
              </a:ext>
            </a:extLst>
          </p:cNvPr>
          <p:cNvSpPr/>
          <p:nvPr/>
        </p:nvSpPr>
        <p:spPr>
          <a:xfrm>
            <a:off x="4200015" y="991336"/>
            <a:ext cx="1080000" cy="360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Composant non exploité</a:t>
            </a:r>
          </a:p>
        </p:txBody>
      </p:sp>
      <p:sp>
        <p:nvSpPr>
          <p:cNvPr id="213" name="BA_T2">
            <a:extLst>
              <a:ext uri="{FF2B5EF4-FFF2-40B4-BE49-F238E27FC236}">
                <a16:creationId xmlns:a16="http://schemas.microsoft.com/office/drawing/2014/main" id="{6E874E13-F677-EAE0-E17F-AA0C77CEFB44}"/>
              </a:ext>
            </a:extLst>
          </p:cNvPr>
          <p:cNvSpPr/>
          <p:nvPr/>
        </p:nvSpPr>
        <p:spPr>
          <a:xfrm>
            <a:off x="8593481" y="4442744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T2</a:t>
            </a:r>
            <a:endParaRPr kumimoji="0" lang="fr-FR" sz="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KConnect</a:t>
            </a: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 MUTU</a:t>
            </a:r>
          </a:p>
        </p:txBody>
      </p:sp>
      <p:sp>
        <p:nvSpPr>
          <p:cNvPr id="214" name="BA_T3">
            <a:extLst>
              <a:ext uri="{FF2B5EF4-FFF2-40B4-BE49-F238E27FC236}">
                <a16:creationId xmlns:a16="http://schemas.microsoft.com/office/drawing/2014/main" id="{EFB0C174-68A0-5C9F-1B9A-A27C85EED7F2}"/>
              </a:ext>
            </a:extLst>
          </p:cNvPr>
          <p:cNvSpPr/>
          <p:nvPr/>
        </p:nvSpPr>
        <p:spPr>
          <a:xfrm>
            <a:off x="9270960" y="4442744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T3</a:t>
            </a:r>
            <a:endParaRPr kumimoji="0" lang="fr-FR" sz="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KConnect</a:t>
            </a: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 CAA</a:t>
            </a:r>
          </a:p>
        </p:txBody>
      </p:sp>
      <p:sp>
        <p:nvSpPr>
          <p:cNvPr id="215" name="BA_F8">
            <a:extLst>
              <a:ext uri="{FF2B5EF4-FFF2-40B4-BE49-F238E27FC236}">
                <a16:creationId xmlns:a16="http://schemas.microsoft.com/office/drawing/2014/main" id="{ABBB0F77-49B7-0934-4BF6-A41D8FF88AFC}"/>
              </a:ext>
            </a:extLst>
          </p:cNvPr>
          <p:cNvSpPr/>
          <p:nvPr/>
        </p:nvSpPr>
        <p:spPr>
          <a:xfrm>
            <a:off x="9285330" y="2829812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F8</a:t>
            </a:r>
            <a:endParaRPr kumimoji="0" lang="fr-FR" sz="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API MOOP</a:t>
            </a:r>
          </a:p>
        </p:txBody>
      </p:sp>
      <p:sp>
        <p:nvSpPr>
          <p:cNvPr id="216" name="Gr_ETL">
            <a:extLst>
              <a:ext uri="{FF2B5EF4-FFF2-40B4-BE49-F238E27FC236}">
                <a16:creationId xmlns:a16="http://schemas.microsoft.com/office/drawing/2014/main" id="{050BFAA3-10A9-282A-A9D3-A76EB6B078EA}"/>
              </a:ext>
            </a:extLst>
          </p:cNvPr>
          <p:cNvSpPr/>
          <p:nvPr/>
        </p:nvSpPr>
        <p:spPr>
          <a:xfrm>
            <a:off x="2575344" y="3728930"/>
            <a:ext cx="1080000" cy="61200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  <a:effectLst>
            <a:outerShdw blurRad="50800" dist="38100" dir="2700000" algn="ctr" rotWithShape="0">
              <a:schemeClr val="tx1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/>
            </a:endParaRPr>
          </a:p>
        </p:txBody>
      </p:sp>
      <p:sp>
        <p:nvSpPr>
          <p:cNvPr id="217" name="ZT_ETL">
            <a:extLst>
              <a:ext uri="{FF2B5EF4-FFF2-40B4-BE49-F238E27FC236}">
                <a16:creationId xmlns:a16="http://schemas.microsoft.com/office/drawing/2014/main" id="{AB0A5F23-C46A-337C-4003-296FAB8AE224}"/>
              </a:ext>
            </a:extLst>
          </p:cNvPr>
          <p:cNvSpPr txBox="1"/>
          <p:nvPr/>
        </p:nvSpPr>
        <p:spPr>
          <a:xfrm>
            <a:off x="2575344" y="3756515"/>
            <a:ext cx="1080000" cy="246221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ETL</a:t>
            </a:r>
          </a:p>
        </p:txBody>
      </p:sp>
      <p:sp>
        <p:nvSpPr>
          <p:cNvPr id="218" name="BA_PWC2">
            <a:extLst>
              <a:ext uri="{FF2B5EF4-FFF2-40B4-BE49-F238E27FC236}">
                <a16:creationId xmlns:a16="http://schemas.microsoft.com/office/drawing/2014/main" id="{09550218-43B7-217A-C5F0-587D1DBBDC2E}"/>
              </a:ext>
            </a:extLst>
          </p:cNvPr>
          <p:cNvSpPr/>
          <p:nvPr/>
        </p:nvSpPr>
        <p:spPr>
          <a:xfrm>
            <a:off x="2807738" y="3974152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PWC2</a:t>
            </a:r>
            <a:endParaRPr kumimoji="0" lang="fr-FR" sz="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ETL PREDICA</a:t>
            </a:r>
          </a:p>
        </p:txBody>
      </p:sp>
      <p:sp>
        <p:nvSpPr>
          <p:cNvPr id="219" name="Légende_Date1">
            <a:extLst>
              <a:ext uri="{FF2B5EF4-FFF2-40B4-BE49-F238E27FC236}">
                <a16:creationId xmlns:a16="http://schemas.microsoft.com/office/drawing/2014/main" id="{244F98FF-E99E-9972-3068-FEC6184C8CD6}"/>
              </a:ext>
            </a:extLst>
          </p:cNvPr>
          <p:cNvSpPr txBox="1"/>
          <p:nvPr/>
        </p:nvSpPr>
        <p:spPr>
          <a:xfrm rot="19102564">
            <a:off x="7647306" y="1007517"/>
            <a:ext cx="927160" cy="369332"/>
          </a:xfrm>
          <a:prstGeom prst="rect">
            <a:avLst/>
          </a:prstGeom>
          <a:noFill/>
          <a:ln cap="flat">
            <a:noFill/>
            <a:prstDash val="solid"/>
          </a:ln>
          <a:effectLst>
            <a:softEdge rad="0"/>
          </a:effectLst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900" b="0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Date de </a:t>
            </a:r>
            <a:r>
              <a:rPr kumimoji="0" lang="fr-FR" sz="900" b="0" i="0" u="none" strike="noStrike" kern="1200" cap="none" spc="0" normalizeH="0" baseline="0" noProof="0" dirty="0" err="1">
                <a:ln>
                  <a:noFill/>
                </a:ln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MeP</a:t>
            </a:r>
            <a:r>
              <a:rPr kumimoji="0" lang="fr-FR" sz="900" b="0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 prévue</a:t>
            </a:r>
          </a:p>
        </p:txBody>
      </p:sp>
      <p:sp>
        <p:nvSpPr>
          <p:cNvPr id="222" name="Légende_Date2">
            <a:extLst>
              <a:ext uri="{FF2B5EF4-FFF2-40B4-BE49-F238E27FC236}">
                <a16:creationId xmlns:a16="http://schemas.microsoft.com/office/drawing/2014/main" id="{6047C4F0-B57F-0D21-1372-AB121F6E569B}"/>
              </a:ext>
            </a:extLst>
          </p:cNvPr>
          <p:cNvSpPr txBox="1"/>
          <p:nvPr/>
        </p:nvSpPr>
        <p:spPr>
          <a:xfrm rot="19102564">
            <a:off x="8343008" y="1017193"/>
            <a:ext cx="927160" cy="369332"/>
          </a:xfrm>
          <a:prstGeom prst="rect">
            <a:avLst/>
          </a:prstGeom>
          <a:noFill/>
          <a:ln cap="flat">
            <a:noFill/>
            <a:prstDash val="solid"/>
          </a:ln>
          <a:effectLst>
            <a:softEdge rad="0"/>
          </a:effectLst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900" b="0" i="0" u="none" strike="noStrike" kern="1200" cap="none" spc="0" normalizeH="0" baseline="0" noProof="0" dirty="0">
                <a:ln>
                  <a:noFill/>
                </a:ln>
                <a:solidFill>
                  <a:srgbClr val="70AD4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Date de </a:t>
            </a:r>
            <a:r>
              <a:rPr kumimoji="0" lang="fr-FR" sz="900" b="0" i="0" u="none" strike="noStrike" kern="1200" cap="none" spc="0" normalizeH="0" baseline="0" noProof="0" dirty="0" err="1">
                <a:ln>
                  <a:noFill/>
                </a:ln>
                <a:solidFill>
                  <a:srgbClr val="70AD4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MeP</a:t>
            </a:r>
            <a:r>
              <a:rPr kumimoji="0" lang="fr-FR" sz="900" b="0" i="0" u="none" strike="noStrike" kern="1200" cap="none" spc="0" normalizeH="0" baseline="0" noProof="0" dirty="0">
                <a:ln>
                  <a:noFill/>
                </a:ln>
                <a:solidFill>
                  <a:srgbClr val="70AD4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 effective</a:t>
            </a:r>
          </a:p>
        </p:txBody>
      </p:sp>
      <p:sp>
        <p:nvSpPr>
          <p:cNvPr id="223" name="Gr_CATS">
            <a:extLst>
              <a:ext uri="{FF2B5EF4-FFF2-40B4-BE49-F238E27FC236}">
                <a16:creationId xmlns:a16="http://schemas.microsoft.com/office/drawing/2014/main" id="{B3303547-FBB0-CA95-84C2-599EADE30F6B}"/>
              </a:ext>
            </a:extLst>
          </p:cNvPr>
          <p:cNvSpPr/>
          <p:nvPr/>
        </p:nvSpPr>
        <p:spPr>
          <a:xfrm>
            <a:off x="753361" y="4617816"/>
            <a:ext cx="3756378" cy="1618116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4" name="ZT_CATS">
            <a:extLst>
              <a:ext uri="{FF2B5EF4-FFF2-40B4-BE49-F238E27FC236}">
                <a16:creationId xmlns:a16="http://schemas.microsoft.com/office/drawing/2014/main" id="{67F3F6A2-7DC5-5791-61FA-323FE90D74BA}"/>
              </a:ext>
            </a:extLst>
          </p:cNvPr>
          <p:cNvSpPr txBox="1"/>
          <p:nvPr/>
        </p:nvSpPr>
        <p:spPr>
          <a:xfrm>
            <a:off x="753360" y="4699736"/>
            <a:ext cx="3756379" cy="246221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CA-TS</a:t>
            </a:r>
            <a:endParaRPr kumimoji="0" lang="fr-FR" sz="1000" b="1" i="1" u="none" strike="noStrike" kern="1200" cap="none" spc="0" normalizeH="0" baseline="0" noProof="0" dirty="0">
              <a:ln>
                <a:noFill/>
              </a:ln>
              <a:solidFill>
                <a:srgbClr val="ED7D3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5" name="BA_PDI9">
            <a:extLst>
              <a:ext uri="{FF2B5EF4-FFF2-40B4-BE49-F238E27FC236}">
                <a16:creationId xmlns:a16="http://schemas.microsoft.com/office/drawing/2014/main" id="{1E33B508-478A-DB60-7D66-A10622E1B304}"/>
              </a:ext>
            </a:extLst>
          </p:cNvPr>
          <p:cNvSpPr/>
          <p:nvPr/>
        </p:nvSpPr>
        <p:spPr>
          <a:xfrm>
            <a:off x="808632" y="5375275"/>
            <a:ext cx="648000" cy="288000"/>
          </a:xfrm>
          <a:prstGeom prst="roundRect">
            <a:avLst/>
          </a:prstGeom>
          <a:solidFill>
            <a:srgbClr val="CDE1F2"/>
          </a:solidFill>
          <a:ln w="6350"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PDI9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6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/>
              </a:rPr>
              <a:t>-</a:t>
            </a:r>
            <a:endParaRPr kumimoji="0" lang="fr-FR" sz="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6" name="BA_XConnect">
            <a:extLst>
              <a:ext uri="{FF2B5EF4-FFF2-40B4-BE49-F238E27FC236}">
                <a16:creationId xmlns:a16="http://schemas.microsoft.com/office/drawing/2014/main" id="{9588D8DF-CCCD-A571-8036-5A4E4EEAE9AA}"/>
              </a:ext>
            </a:extLst>
          </p:cNvPr>
          <p:cNvSpPr/>
          <p:nvPr/>
        </p:nvSpPr>
        <p:spPr>
          <a:xfrm>
            <a:off x="1544683" y="5371484"/>
            <a:ext cx="648000" cy="288000"/>
          </a:xfrm>
          <a:prstGeom prst="roundRect">
            <a:avLst/>
          </a:prstGeom>
          <a:solidFill>
            <a:srgbClr val="CDE1F2"/>
          </a:solidFill>
          <a:ln w="6350"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Xconnect</a:t>
            </a:r>
            <a:endParaRPr kumimoji="0" lang="fr-FR" sz="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6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/>
              </a:rPr>
              <a:t>-</a:t>
            </a:r>
            <a:endParaRPr kumimoji="0" lang="fr-FR" sz="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7" name="BA_SIMM">
            <a:extLst>
              <a:ext uri="{FF2B5EF4-FFF2-40B4-BE49-F238E27FC236}">
                <a16:creationId xmlns:a16="http://schemas.microsoft.com/office/drawing/2014/main" id="{40348C6E-9ED9-DC80-1E49-9EC5971CFCAD}"/>
              </a:ext>
            </a:extLst>
          </p:cNvPr>
          <p:cNvSpPr/>
          <p:nvPr/>
        </p:nvSpPr>
        <p:spPr>
          <a:xfrm>
            <a:off x="808632" y="5766042"/>
            <a:ext cx="648000" cy="288000"/>
          </a:xfrm>
          <a:prstGeom prst="roundRect">
            <a:avLst/>
          </a:prstGeom>
          <a:solidFill>
            <a:srgbClr val="CDE1F2"/>
          </a:solidFill>
          <a:ln w="6350"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SIMM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6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/>
              </a:rPr>
              <a:t>-</a:t>
            </a:r>
            <a:endParaRPr kumimoji="0" lang="fr-FR" sz="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8" name="BA_BAM">
            <a:extLst>
              <a:ext uri="{FF2B5EF4-FFF2-40B4-BE49-F238E27FC236}">
                <a16:creationId xmlns:a16="http://schemas.microsoft.com/office/drawing/2014/main" id="{F2FF4043-DBB6-1C97-4B02-D551731DF28A}"/>
              </a:ext>
            </a:extLst>
          </p:cNvPr>
          <p:cNvSpPr/>
          <p:nvPr/>
        </p:nvSpPr>
        <p:spPr>
          <a:xfrm>
            <a:off x="3731893" y="4984508"/>
            <a:ext cx="648000" cy="288000"/>
          </a:xfrm>
          <a:prstGeom prst="roundRect">
            <a:avLst/>
          </a:prstGeom>
          <a:solidFill>
            <a:srgbClr val="C4DBF1"/>
          </a:solidFill>
          <a:ln w="6350"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BAM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6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/>
              </a:rPr>
              <a:t>-</a:t>
            </a:r>
            <a:endParaRPr kumimoji="0" lang="fr-FR" sz="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9" name="BA_RAC">
            <a:extLst>
              <a:ext uri="{FF2B5EF4-FFF2-40B4-BE49-F238E27FC236}">
                <a16:creationId xmlns:a16="http://schemas.microsoft.com/office/drawing/2014/main" id="{80EB571A-BA3A-33B5-A2AA-280BB98942B7}"/>
              </a:ext>
            </a:extLst>
          </p:cNvPr>
          <p:cNvSpPr/>
          <p:nvPr/>
        </p:nvSpPr>
        <p:spPr>
          <a:xfrm>
            <a:off x="3736223" y="5371484"/>
            <a:ext cx="648000" cy="288000"/>
          </a:xfrm>
          <a:prstGeom prst="roundRect">
            <a:avLst/>
          </a:prstGeom>
          <a:solidFill>
            <a:srgbClr val="C4DBF1"/>
          </a:solidFill>
          <a:ln w="6350"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RAC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6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/>
              </a:rPr>
              <a:t>-</a:t>
            </a:r>
            <a:endParaRPr kumimoji="0" lang="fr-FR" sz="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0" name="BA_DétContratNatifMB">
            <a:extLst>
              <a:ext uri="{FF2B5EF4-FFF2-40B4-BE49-F238E27FC236}">
                <a16:creationId xmlns:a16="http://schemas.microsoft.com/office/drawing/2014/main" id="{8D20DA5E-D370-33A3-F12B-601B2E1FB75F}"/>
              </a:ext>
            </a:extLst>
          </p:cNvPr>
          <p:cNvSpPr/>
          <p:nvPr/>
        </p:nvSpPr>
        <p:spPr>
          <a:xfrm>
            <a:off x="808632" y="4984508"/>
            <a:ext cx="1376693" cy="288000"/>
          </a:xfrm>
          <a:prstGeom prst="roundRect">
            <a:avLst/>
          </a:prstGeom>
          <a:solidFill>
            <a:srgbClr val="CDE1F2"/>
          </a:solidFill>
          <a:ln w="6350"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Dét</a:t>
            </a: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. Contrat natif MB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6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/>
              </a:rPr>
              <a:t>-</a:t>
            </a:r>
            <a:endParaRPr kumimoji="0" lang="fr-FR" sz="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1" name="BA_BPM">
            <a:extLst>
              <a:ext uri="{FF2B5EF4-FFF2-40B4-BE49-F238E27FC236}">
                <a16:creationId xmlns:a16="http://schemas.microsoft.com/office/drawing/2014/main" id="{23A6896E-90C6-6A27-FFB5-EE2CB00B3074}"/>
              </a:ext>
            </a:extLst>
          </p:cNvPr>
          <p:cNvSpPr/>
          <p:nvPr/>
        </p:nvSpPr>
        <p:spPr>
          <a:xfrm>
            <a:off x="2275196" y="5371484"/>
            <a:ext cx="648000" cy="288000"/>
          </a:xfrm>
          <a:prstGeom prst="roundRect">
            <a:avLst/>
          </a:prstGeom>
          <a:solidFill>
            <a:srgbClr val="CDE1F2"/>
          </a:solidFill>
          <a:ln w="6350"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BPM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6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/>
              </a:rPr>
              <a:t>-</a:t>
            </a:r>
            <a:endParaRPr kumimoji="0" lang="fr-FR" sz="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2" name="BA_APX9">
            <a:extLst>
              <a:ext uri="{FF2B5EF4-FFF2-40B4-BE49-F238E27FC236}">
                <a16:creationId xmlns:a16="http://schemas.microsoft.com/office/drawing/2014/main" id="{F4BA7C48-E34A-E6CE-BDAB-E69FB43934C1}"/>
              </a:ext>
            </a:extLst>
          </p:cNvPr>
          <p:cNvSpPr/>
          <p:nvPr/>
        </p:nvSpPr>
        <p:spPr>
          <a:xfrm>
            <a:off x="3005709" y="5371484"/>
            <a:ext cx="648000" cy="288000"/>
          </a:xfrm>
          <a:prstGeom prst="roundRect">
            <a:avLst/>
          </a:prstGeom>
          <a:solidFill>
            <a:srgbClr val="CDE1F2"/>
          </a:solidFill>
          <a:ln w="6350"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APX9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6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/>
              </a:rPr>
              <a:t>-</a:t>
            </a:r>
            <a:endParaRPr kumimoji="0" lang="fr-FR" sz="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3" name="BA_HUB">
            <a:extLst>
              <a:ext uri="{FF2B5EF4-FFF2-40B4-BE49-F238E27FC236}">
                <a16:creationId xmlns:a16="http://schemas.microsoft.com/office/drawing/2014/main" id="{AECA6F87-FA3F-9046-280F-FBD72D531CD5}"/>
              </a:ext>
            </a:extLst>
          </p:cNvPr>
          <p:cNvSpPr/>
          <p:nvPr/>
        </p:nvSpPr>
        <p:spPr>
          <a:xfrm>
            <a:off x="1537325" y="5766042"/>
            <a:ext cx="648000" cy="288000"/>
          </a:xfrm>
          <a:prstGeom prst="roundRect">
            <a:avLst/>
          </a:prstGeom>
          <a:solidFill>
            <a:srgbClr val="C4DBF1"/>
          </a:solidFill>
          <a:ln w="6350"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HUB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6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/>
              </a:rPr>
              <a:t>-</a:t>
            </a:r>
            <a:endParaRPr kumimoji="0" lang="fr-FR" sz="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4" name="BA_NPC">
            <a:extLst>
              <a:ext uri="{FF2B5EF4-FFF2-40B4-BE49-F238E27FC236}">
                <a16:creationId xmlns:a16="http://schemas.microsoft.com/office/drawing/2014/main" id="{E7C1F74B-B7C3-11BF-E8CE-E43192ACB328}"/>
              </a:ext>
            </a:extLst>
          </p:cNvPr>
          <p:cNvSpPr/>
          <p:nvPr/>
        </p:nvSpPr>
        <p:spPr>
          <a:xfrm>
            <a:off x="2261190" y="5760544"/>
            <a:ext cx="648000" cy="288000"/>
          </a:xfrm>
          <a:prstGeom prst="roundRect">
            <a:avLst/>
          </a:prstGeom>
          <a:solidFill>
            <a:srgbClr val="C4DBF1"/>
          </a:solidFill>
          <a:ln w="6350"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NPC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6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/>
              </a:rPr>
              <a:t>-</a:t>
            </a:r>
            <a:endParaRPr kumimoji="0" lang="fr-FR" sz="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5" name="BA_Microservices">
            <a:extLst>
              <a:ext uri="{FF2B5EF4-FFF2-40B4-BE49-F238E27FC236}">
                <a16:creationId xmlns:a16="http://schemas.microsoft.com/office/drawing/2014/main" id="{68AF953B-67E7-89BE-7581-4C44F52049B9}"/>
              </a:ext>
            </a:extLst>
          </p:cNvPr>
          <p:cNvSpPr/>
          <p:nvPr/>
        </p:nvSpPr>
        <p:spPr>
          <a:xfrm>
            <a:off x="2275382" y="4984508"/>
            <a:ext cx="1375993" cy="288000"/>
          </a:xfrm>
          <a:prstGeom prst="roundRect">
            <a:avLst/>
          </a:prstGeom>
          <a:solidFill>
            <a:srgbClr val="CDE1F2"/>
          </a:solidFill>
          <a:ln w="6350"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Microservices</a:t>
            </a:r>
            <a:endParaRPr kumimoji="0" lang="fr-FR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6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/>
              </a:rPr>
              <a:t>-</a:t>
            </a:r>
            <a:endParaRPr kumimoji="0" lang="fr-FR" sz="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6" name="BA_SIG9">
            <a:extLst>
              <a:ext uri="{FF2B5EF4-FFF2-40B4-BE49-F238E27FC236}">
                <a16:creationId xmlns:a16="http://schemas.microsoft.com/office/drawing/2014/main" id="{0A7B0E96-069B-0A08-06C4-3F54578DF9C2}"/>
              </a:ext>
            </a:extLst>
          </p:cNvPr>
          <p:cNvSpPr/>
          <p:nvPr/>
        </p:nvSpPr>
        <p:spPr>
          <a:xfrm>
            <a:off x="3010695" y="5763466"/>
            <a:ext cx="648000" cy="288000"/>
          </a:xfrm>
          <a:prstGeom prst="roundRect">
            <a:avLst/>
          </a:prstGeom>
          <a:solidFill>
            <a:srgbClr val="C4DBF1"/>
          </a:solidFill>
          <a:ln w="6350"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SIG9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6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/>
              </a:rPr>
              <a:t>-</a:t>
            </a:r>
            <a:endParaRPr kumimoji="0" lang="fr-FR" sz="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7" name="Gr_MVS">
            <a:extLst>
              <a:ext uri="{FF2B5EF4-FFF2-40B4-BE49-F238E27FC236}">
                <a16:creationId xmlns:a16="http://schemas.microsoft.com/office/drawing/2014/main" id="{4EF1A901-2BC7-F630-40B1-6B985F6E9D5F}"/>
              </a:ext>
            </a:extLst>
          </p:cNvPr>
          <p:cNvSpPr/>
          <p:nvPr/>
        </p:nvSpPr>
        <p:spPr>
          <a:xfrm>
            <a:off x="755813" y="1876551"/>
            <a:ext cx="2901105" cy="1661382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  <a:effectLst>
            <a:outerShdw blurRad="50800" dist="38100" dir="2700000" algn="ctr" rotWithShape="0">
              <a:schemeClr val="tx1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/>
            </a:endParaRPr>
          </a:p>
        </p:txBody>
      </p:sp>
      <p:sp>
        <p:nvSpPr>
          <p:cNvPr id="238" name="BA_CICS_LCL">
            <a:extLst>
              <a:ext uri="{FF2B5EF4-FFF2-40B4-BE49-F238E27FC236}">
                <a16:creationId xmlns:a16="http://schemas.microsoft.com/office/drawing/2014/main" id="{1C1E7C88-01CE-D727-0ADD-F1531861333D}"/>
              </a:ext>
            </a:extLst>
          </p:cNvPr>
          <p:cNvSpPr/>
          <p:nvPr/>
        </p:nvSpPr>
        <p:spPr>
          <a:xfrm>
            <a:off x="818985" y="2406849"/>
            <a:ext cx="648000" cy="288000"/>
          </a:xfrm>
          <a:prstGeom prst="round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CICS</a:t>
            </a:r>
          </a:p>
        </p:txBody>
      </p:sp>
      <p:sp>
        <p:nvSpPr>
          <p:cNvPr id="239" name="BA_DB2_LCL">
            <a:extLst>
              <a:ext uri="{FF2B5EF4-FFF2-40B4-BE49-F238E27FC236}">
                <a16:creationId xmlns:a16="http://schemas.microsoft.com/office/drawing/2014/main" id="{D4CBAD38-FEE8-6826-96BD-8C168A5C10B3}"/>
              </a:ext>
            </a:extLst>
          </p:cNvPr>
          <p:cNvSpPr/>
          <p:nvPr/>
        </p:nvSpPr>
        <p:spPr>
          <a:xfrm>
            <a:off x="1502591" y="2406128"/>
            <a:ext cx="648000" cy="288000"/>
          </a:xfrm>
          <a:prstGeom prst="round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DB2</a:t>
            </a:r>
          </a:p>
        </p:txBody>
      </p:sp>
      <p:sp>
        <p:nvSpPr>
          <p:cNvPr id="240" name="ZT_MVS">
            <a:extLst>
              <a:ext uri="{FF2B5EF4-FFF2-40B4-BE49-F238E27FC236}">
                <a16:creationId xmlns:a16="http://schemas.microsoft.com/office/drawing/2014/main" id="{157099F8-86AF-C8D3-748E-6B94A240EA19}"/>
              </a:ext>
            </a:extLst>
          </p:cNvPr>
          <p:cNvSpPr txBox="1"/>
          <p:nvPr/>
        </p:nvSpPr>
        <p:spPr>
          <a:xfrm>
            <a:off x="755812" y="1876551"/>
            <a:ext cx="2901106" cy="246221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MVS Z/OS (</a:t>
            </a:r>
            <a:r>
              <a:rPr kumimoji="0" lang="fr-FR" sz="1000" b="1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Ingenium</a:t>
            </a:r>
            <a:r>
              <a:rPr kumimoji="0" lang="fr-FR" sz="1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)</a:t>
            </a:r>
            <a:endParaRPr kumimoji="0" lang="fr-FR" sz="1000" b="1" i="1" u="none" strike="noStrike" kern="1200" cap="none" spc="0" normalizeH="0" baseline="0" noProof="0" dirty="0">
              <a:ln>
                <a:noFill/>
              </a:ln>
              <a:solidFill>
                <a:srgbClr val="ED7D3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1" name="BA_ING_CA">
            <a:extLst>
              <a:ext uri="{FF2B5EF4-FFF2-40B4-BE49-F238E27FC236}">
                <a16:creationId xmlns:a16="http://schemas.microsoft.com/office/drawing/2014/main" id="{ACB8CB7D-289B-8BFD-0A06-D1803A0A5A53}"/>
              </a:ext>
            </a:extLst>
          </p:cNvPr>
          <p:cNvSpPr/>
          <p:nvPr/>
        </p:nvSpPr>
        <p:spPr>
          <a:xfrm>
            <a:off x="2238762" y="2735052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INVI/VC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Ingenium</a:t>
            </a: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 CA</a:t>
            </a:r>
          </a:p>
        </p:txBody>
      </p:sp>
      <p:sp>
        <p:nvSpPr>
          <p:cNvPr id="242" name="BA_PE_CA">
            <a:extLst>
              <a:ext uri="{FF2B5EF4-FFF2-40B4-BE49-F238E27FC236}">
                <a16:creationId xmlns:a16="http://schemas.microsoft.com/office/drawing/2014/main" id="{E1AA32E5-DFDE-0545-C9D1-32C30162FCC0}"/>
              </a:ext>
            </a:extLst>
          </p:cNvPr>
          <p:cNvSpPr/>
          <p:nvPr/>
        </p:nvSpPr>
        <p:spPr>
          <a:xfrm>
            <a:off x="2911803" y="2736730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PE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Base Pers CA</a:t>
            </a:r>
          </a:p>
        </p:txBody>
      </p:sp>
      <p:sp>
        <p:nvSpPr>
          <p:cNvPr id="243" name="BA_Autre_CA">
            <a:extLst>
              <a:ext uri="{FF2B5EF4-FFF2-40B4-BE49-F238E27FC236}">
                <a16:creationId xmlns:a16="http://schemas.microsoft.com/office/drawing/2014/main" id="{DCA12BB5-DC30-6445-4A2D-F5D20CA39974}"/>
              </a:ext>
            </a:extLst>
          </p:cNvPr>
          <p:cNvSpPr/>
          <p:nvPr/>
        </p:nvSpPr>
        <p:spPr>
          <a:xfrm>
            <a:off x="2573112" y="3074397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…</a:t>
            </a:r>
          </a:p>
        </p:txBody>
      </p:sp>
      <p:sp>
        <p:nvSpPr>
          <p:cNvPr id="244" name="BA_ING_LCL">
            <a:extLst>
              <a:ext uri="{FF2B5EF4-FFF2-40B4-BE49-F238E27FC236}">
                <a16:creationId xmlns:a16="http://schemas.microsoft.com/office/drawing/2014/main" id="{9BE60DAF-A5F0-F17B-C7B6-F5576E76AB05}"/>
              </a:ext>
            </a:extLst>
          </p:cNvPr>
          <p:cNvSpPr/>
          <p:nvPr/>
        </p:nvSpPr>
        <p:spPr>
          <a:xfrm>
            <a:off x="814785" y="2729723"/>
            <a:ext cx="648000" cy="288000"/>
          </a:xfrm>
          <a:prstGeom prst="round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INVI/VC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Ingenium</a:t>
            </a: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 LCL</a:t>
            </a:r>
          </a:p>
        </p:txBody>
      </p:sp>
      <p:sp>
        <p:nvSpPr>
          <p:cNvPr id="245" name="BA_PE_LCL">
            <a:extLst>
              <a:ext uri="{FF2B5EF4-FFF2-40B4-BE49-F238E27FC236}">
                <a16:creationId xmlns:a16="http://schemas.microsoft.com/office/drawing/2014/main" id="{766A3181-C83F-D5FC-9B91-03B9B98B4FA6}"/>
              </a:ext>
            </a:extLst>
          </p:cNvPr>
          <p:cNvSpPr/>
          <p:nvPr/>
        </p:nvSpPr>
        <p:spPr>
          <a:xfrm>
            <a:off x="1500755" y="2728058"/>
            <a:ext cx="648000" cy="288000"/>
          </a:xfrm>
          <a:prstGeom prst="round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PE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Base Pers LCL</a:t>
            </a:r>
          </a:p>
        </p:txBody>
      </p:sp>
      <p:sp>
        <p:nvSpPr>
          <p:cNvPr id="246" name="BA_Autre_LCL">
            <a:extLst>
              <a:ext uri="{FF2B5EF4-FFF2-40B4-BE49-F238E27FC236}">
                <a16:creationId xmlns:a16="http://schemas.microsoft.com/office/drawing/2014/main" id="{D9E5D99F-44E9-BA53-2A8D-DD9967DB570B}"/>
              </a:ext>
            </a:extLst>
          </p:cNvPr>
          <p:cNvSpPr/>
          <p:nvPr/>
        </p:nvSpPr>
        <p:spPr>
          <a:xfrm>
            <a:off x="1205531" y="3049988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…</a:t>
            </a:r>
          </a:p>
        </p:txBody>
      </p:sp>
      <p:cxnSp>
        <p:nvCxnSpPr>
          <p:cNvPr id="247" name="Connecteur droit">
            <a:extLst>
              <a:ext uri="{FF2B5EF4-FFF2-40B4-BE49-F238E27FC236}">
                <a16:creationId xmlns:a16="http://schemas.microsoft.com/office/drawing/2014/main" id="{FC13A131-3213-6407-9DEE-01A970E98A51}"/>
              </a:ext>
            </a:extLst>
          </p:cNvPr>
          <p:cNvCxnSpPr/>
          <p:nvPr/>
        </p:nvCxnSpPr>
        <p:spPr>
          <a:xfrm>
            <a:off x="2179681" y="2195294"/>
            <a:ext cx="4993" cy="1220450"/>
          </a:xfrm>
          <a:prstGeom prst="line">
            <a:avLst/>
          </a:prstGeom>
          <a:ln w="9525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8" name="ZT_CA">
            <a:extLst>
              <a:ext uri="{FF2B5EF4-FFF2-40B4-BE49-F238E27FC236}">
                <a16:creationId xmlns:a16="http://schemas.microsoft.com/office/drawing/2014/main" id="{384C8BF4-C01D-F430-D86F-A3AB31BB3815}"/>
              </a:ext>
            </a:extLst>
          </p:cNvPr>
          <p:cNvSpPr txBox="1"/>
          <p:nvPr/>
        </p:nvSpPr>
        <p:spPr>
          <a:xfrm>
            <a:off x="2614129" y="2136603"/>
            <a:ext cx="551086" cy="246221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CA</a:t>
            </a:r>
            <a:endParaRPr kumimoji="0" lang="fr-FR" sz="1000" b="1" i="1" u="none" strike="noStrike" kern="1200" cap="none" spc="0" normalizeH="0" baseline="0" noProof="0" dirty="0">
              <a:ln>
                <a:noFill/>
              </a:ln>
              <a:solidFill>
                <a:srgbClr val="ED7D3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9" name="ZT_LCL">
            <a:extLst>
              <a:ext uri="{FF2B5EF4-FFF2-40B4-BE49-F238E27FC236}">
                <a16:creationId xmlns:a16="http://schemas.microsoft.com/office/drawing/2014/main" id="{0F24D840-8D9D-E947-CAB1-90B1439720FA}"/>
              </a:ext>
            </a:extLst>
          </p:cNvPr>
          <p:cNvSpPr txBox="1"/>
          <p:nvPr/>
        </p:nvSpPr>
        <p:spPr>
          <a:xfrm>
            <a:off x="1227715" y="2143005"/>
            <a:ext cx="551086" cy="246221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LCL</a:t>
            </a:r>
            <a:endParaRPr kumimoji="0" lang="fr-FR" sz="1000" b="1" i="1" u="none" strike="noStrike" kern="1200" cap="none" spc="0" normalizeH="0" baseline="0" noProof="0" dirty="0">
              <a:ln>
                <a:noFill/>
              </a:ln>
              <a:solidFill>
                <a:srgbClr val="ED7D3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0" name="BA_CICS_CA">
            <a:extLst>
              <a:ext uri="{FF2B5EF4-FFF2-40B4-BE49-F238E27FC236}">
                <a16:creationId xmlns:a16="http://schemas.microsoft.com/office/drawing/2014/main" id="{A71322C4-4C14-5116-DFB9-4736A7C413E6}"/>
              </a:ext>
            </a:extLst>
          </p:cNvPr>
          <p:cNvSpPr/>
          <p:nvPr/>
        </p:nvSpPr>
        <p:spPr>
          <a:xfrm>
            <a:off x="2216889" y="2411365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CICS</a:t>
            </a:r>
          </a:p>
        </p:txBody>
      </p:sp>
      <p:sp>
        <p:nvSpPr>
          <p:cNvPr id="251" name="BA_DB2_CA">
            <a:extLst>
              <a:ext uri="{FF2B5EF4-FFF2-40B4-BE49-F238E27FC236}">
                <a16:creationId xmlns:a16="http://schemas.microsoft.com/office/drawing/2014/main" id="{1325DEA1-83D4-D752-B1FF-C709F443E7E2}"/>
              </a:ext>
            </a:extLst>
          </p:cNvPr>
          <p:cNvSpPr/>
          <p:nvPr/>
        </p:nvSpPr>
        <p:spPr>
          <a:xfrm>
            <a:off x="2913195" y="2410644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DB2</a:t>
            </a:r>
          </a:p>
        </p:txBody>
      </p:sp>
      <p:sp>
        <p:nvSpPr>
          <p:cNvPr id="252" name="BA_GG">
            <a:extLst>
              <a:ext uri="{FF2B5EF4-FFF2-40B4-BE49-F238E27FC236}">
                <a16:creationId xmlns:a16="http://schemas.microsoft.com/office/drawing/2014/main" id="{17E22C1C-F4FA-CECA-57C5-7D365E1CD06E}"/>
              </a:ext>
            </a:extLst>
          </p:cNvPr>
          <p:cNvSpPr/>
          <p:nvPr/>
        </p:nvSpPr>
        <p:spPr>
          <a:xfrm>
            <a:off x="6010721" y="3263526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GG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Sim.Prév</a:t>
            </a: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. Décès</a:t>
            </a:r>
          </a:p>
        </p:txBody>
      </p:sp>
      <p:sp>
        <p:nvSpPr>
          <p:cNvPr id="253" name="BA_GH">
            <a:extLst>
              <a:ext uri="{FF2B5EF4-FFF2-40B4-BE49-F238E27FC236}">
                <a16:creationId xmlns:a16="http://schemas.microsoft.com/office/drawing/2014/main" id="{1AF07C85-7363-C523-6653-41D842CFB003}"/>
              </a:ext>
            </a:extLst>
          </p:cNvPr>
          <p:cNvSpPr/>
          <p:nvPr/>
        </p:nvSpPr>
        <p:spPr>
          <a:xfrm>
            <a:off x="6717913" y="3272605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GH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Moteur </a:t>
            </a:r>
            <a:r>
              <a:rPr kumimoji="0" lang="fr-FR" sz="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Epicaste</a:t>
            </a:r>
            <a:endParaRPr kumimoji="0" lang="fr-FR" sz="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4" name="Gr_Editique">
            <a:extLst>
              <a:ext uri="{FF2B5EF4-FFF2-40B4-BE49-F238E27FC236}">
                <a16:creationId xmlns:a16="http://schemas.microsoft.com/office/drawing/2014/main" id="{C93A147E-2A02-5642-B546-C2FD6993015D}"/>
              </a:ext>
            </a:extLst>
          </p:cNvPr>
          <p:cNvSpPr/>
          <p:nvPr/>
        </p:nvSpPr>
        <p:spPr>
          <a:xfrm>
            <a:off x="7148027" y="3968698"/>
            <a:ext cx="1080000" cy="61200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  <a:effectLst>
            <a:outerShdw blurRad="50800" dist="38100" dir="2700000" algn="ctr" rotWithShape="0">
              <a:schemeClr val="tx1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/>
            </a:endParaRPr>
          </a:p>
        </p:txBody>
      </p:sp>
      <p:sp>
        <p:nvSpPr>
          <p:cNvPr id="255" name="ZT_Editique">
            <a:extLst>
              <a:ext uri="{FF2B5EF4-FFF2-40B4-BE49-F238E27FC236}">
                <a16:creationId xmlns:a16="http://schemas.microsoft.com/office/drawing/2014/main" id="{75998D0F-372F-B3C8-601C-BD713B015FBE}"/>
              </a:ext>
            </a:extLst>
          </p:cNvPr>
          <p:cNvSpPr txBox="1"/>
          <p:nvPr/>
        </p:nvSpPr>
        <p:spPr>
          <a:xfrm>
            <a:off x="7148027" y="3996283"/>
            <a:ext cx="1080000" cy="246221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Editique</a:t>
            </a:r>
          </a:p>
        </p:txBody>
      </p:sp>
      <p:sp>
        <p:nvSpPr>
          <p:cNvPr id="256" name="BA_ONDM">
            <a:extLst>
              <a:ext uri="{FF2B5EF4-FFF2-40B4-BE49-F238E27FC236}">
                <a16:creationId xmlns:a16="http://schemas.microsoft.com/office/drawing/2014/main" id="{FEFF8A45-A380-77E9-046B-2595BD6A968E}"/>
              </a:ext>
            </a:extLst>
          </p:cNvPr>
          <p:cNvSpPr/>
          <p:nvPr/>
        </p:nvSpPr>
        <p:spPr>
          <a:xfrm>
            <a:off x="7372785" y="4225639"/>
            <a:ext cx="648000" cy="276281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ONDM</a:t>
            </a:r>
            <a:endParaRPr kumimoji="0" lang="fr-FR" sz="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On </a:t>
            </a:r>
            <a:r>
              <a:rPr kumimoji="0" lang="fr-FR" sz="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Demand</a:t>
            </a:r>
            <a:endParaRPr kumimoji="0" lang="fr-FR" sz="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257" name="Groupe_Retour">
            <a:extLst>
              <a:ext uri="{FF2B5EF4-FFF2-40B4-BE49-F238E27FC236}">
                <a16:creationId xmlns:a16="http://schemas.microsoft.com/office/drawing/2014/main" id="{129F3613-C452-C42A-2994-27BCC4EFB7B5}"/>
              </a:ext>
            </a:extLst>
          </p:cNvPr>
          <p:cNvGrpSpPr/>
          <p:nvPr/>
        </p:nvGrpSpPr>
        <p:grpSpPr>
          <a:xfrm>
            <a:off x="0" y="0"/>
            <a:ext cx="1417975" cy="461665"/>
            <a:chOff x="0" y="0"/>
            <a:chExt cx="1417975" cy="461665"/>
          </a:xfrm>
        </p:grpSpPr>
        <p:sp>
          <p:nvSpPr>
            <p:cNvPr id="258" name="Rectangle 257">
              <a:hlinkClick r:id="rId3" action="ppaction://hlinksldjump"/>
              <a:extLst>
                <a:ext uri="{FF2B5EF4-FFF2-40B4-BE49-F238E27FC236}">
                  <a16:creationId xmlns:a16="http://schemas.microsoft.com/office/drawing/2014/main" id="{706F1CA2-220E-92A5-AC8B-71F1DA67C7E2}"/>
                </a:ext>
              </a:extLst>
            </p:cNvPr>
            <p:cNvSpPr/>
            <p:nvPr/>
          </p:nvSpPr>
          <p:spPr>
            <a:xfrm>
              <a:off x="0" y="0"/>
              <a:ext cx="768479" cy="461665"/>
            </a:xfrm>
            <a:prstGeom prst="rect">
              <a:avLst/>
            </a:prstGeom>
            <a:noFill/>
          </p:spPr>
          <p:txBody>
            <a:bodyPr wrap="square" lIns="91440" tIns="45720" rIns="91440" bIns="45720" anchor="ctr">
              <a:spAutoFit/>
            </a:bodyPr>
            <a:lstStyle/>
            <a:p>
              <a:pPr algn="ctr"/>
              <a:r>
                <a:rPr lang="fr-FR" sz="2400" b="1" spc="50" dirty="0">
                  <a:ln w="9525" cmpd="sng">
                    <a:solidFill>
                      <a:schemeClr val="accent1"/>
                    </a:solidFill>
                    <a:prstDash val="solid"/>
                  </a:ln>
                  <a:solidFill>
                    <a:srgbClr val="70AD47">
                      <a:tint val="1000"/>
                    </a:srgbClr>
                  </a:solidFill>
                  <a:effectLst>
                    <a:glow rad="38100">
                      <a:schemeClr val="accent1">
                        <a:alpha val="40000"/>
                      </a:schemeClr>
                    </a:glow>
                  </a:effectLst>
                  <a:latin typeface="HoloLens MDL2 Assets" panose="050A0102010101010101" pitchFamily="18" charset="0"/>
                </a:rPr>
                <a:t></a:t>
              </a:r>
              <a:endParaRPr lang="fr-FR" sz="1400" dirty="0">
                <a:solidFill>
                  <a:srgbClr val="5B9BD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/>
              </a:endParaRPr>
            </a:p>
          </p:txBody>
        </p:sp>
        <p:sp>
          <p:nvSpPr>
            <p:cNvPr id="259" name="ZoneTexte 258">
              <a:extLst>
                <a:ext uri="{FF2B5EF4-FFF2-40B4-BE49-F238E27FC236}">
                  <a16:creationId xmlns:a16="http://schemas.microsoft.com/office/drawing/2014/main" id="{BA8AC070-CC5A-62ED-26C1-3D594EAB5250}"/>
                </a:ext>
              </a:extLst>
            </p:cNvPr>
            <p:cNvSpPr txBox="1"/>
            <p:nvPr/>
          </p:nvSpPr>
          <p:spPr>
            <a:xfrm>
              <a:off x="525450" y="71273"/>
              <a:ext cx="89252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1400" dirty="0">
                  <a:solidFill>
                    <a:srgbClr val="5B9BD5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libri" panose="020F0502020204030204"/>
                </a:rPr>
                <a:t>Retour</a:t>
              </a:r>
              <a:endParaRPr lang="fr-FR" sz="1400" dirty="0"/>
            </a:p>
          </p:txBody>
        </p:sp>
      </p:grpSp>
      <p:sp>
        <p:nvSpPr>
          <p:cNvPr id="260" name="BA_PW">
            <a:extLst>
              <a:ext uri="{FF2B5EF4-FFF2-40B4-BE49-F238E27FC236}">
                <a16:creationId xmlns:a16="http://schemas.microsoft.com/office/drawing/2014/main" id="{7FCF406E-533A-C0CD-1429-041CD714F48F}"/>
              </a:ext>
            </a:extLst>
          </p:cNvPr>
          <p:cNvSpPr/>
          <p:nvPr/>
        </p:nvSpPr>
        <p:spPr>
          <a:xfrm>
            <a:off x="4961545" y="2584512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PW</a:t>
            </a:r>
            <a:br>
              <a:rPr lang="fr-FR" sz="10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/>
              </a:rPr>
            </a:b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SFC</a:t>
            </a:r>
          </a:p>
        </p:txBody>
      </p:sp>
      <p:sp>
        <p:nvSpPr>
          <p:cNvPr id="2" name="Étoile à 5 branches">
            <a:extLst>
              <a:ext uri="{FF2B5EF4-FFF2-40B4-BE49-F238E27FC236}">
                <a16:creationId xmlns:a16="http://schemas.microsoft.com/office/drawing/2014/main" id="{B132D6A0-5DCC-31A8-3791-86D0E3A30CAC}"/>
              </a:ext>
            </a:extLst>
          </p:cNvPr>
          <p:cNvSpPr/>
          <p:nvPr/>
        </p:nvSpPr>
        <p:spPr>
          <a:xfrm>
            <a:off x="9368151" y="1002926"/>
            <a:ext cx="108000" cy="108000"/>
          </a:xfrm>
          <a:prstGeom prst="star5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Légende_Nouveau_Bloc">
            <a:extLst>
              <a:ext uri="{FF2B5EF4-FFF2-40B4-BE49-F238E27FC236}">
                <a16:creationId xmlns:a16="http://schemas.microsoft.com/office/drawing/2014/main" id="{AE7FA1B1-D17C-161E-175D-8C14122B9CB8}"/>
              </a:ext>
            </a:extLst>
          </p:cNvPr>
          <p:cNvSpPr txBox="1"/>
          <p:nvPr/>
        </p:nvSpPr>
        <p:spPr>
          <a:xfrm>
            <a:off x="9464720" y="940052"/>
            <a:ext cx="97013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Nouveau bloc</a:t>
            </a:r>
          </a:p>
        </p:txBody>
      </p:sp>
      <p:sp>
        <p:nvSpPr>
          <p:cNvPr id="4" name="Légende_Nouveau_Bloc">
            <a:extLst>
              <a:ext uri="{FF2B5EF4-FFF2-40B4-BE49-F238E27FC236}">
                <a16:creationId xmlns:a16="http://schemas.microsoft.com/office/drawing/2014/main" id="{69FB1FC4-83AD-4C31-AAA7-5D52A2D938DC}"/>
              </a:ext>
            </a:extLst>
          </p:cNvPr>
          <p:cNvSpPr txBox="1"/>
          <p:nvPr/>
        </p:nvSpPr>
        <p:spPr>
          <a:xfrm>
            <a:off x="9467926" y="1172013"/>
            <a:ext cx="963725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Bloc supprimé</a:t>
            </a:r>
          </a:p>
        </p:txBody>
      </p:sp>
      <p:sp>
        <p:nvSpPr>
          <p:cNvPr id="5" name="Croix 4">
            <a:extLst>
              <a:ext uri="{FF2B5EF4-FFF2-40B4-BE49-F238E27FC236}">
                <a16:creationId xmlns:a16="http://schemas.microsoft.com/office/drawing/2014/main" id="{FBD7C8B7-2115-219D-AAC9-3841012F1CBB}"/>
              </a:ext>
            </a:extLst>
          </p:cNvPr>
          <p:cNvSpPr/>
          <p:nvPr/>
        </p:nvSpPr>
        <p:spPr>
          <a:xfrm rot="2700000">
            <a:off x="9371629" y="1233497"/>
            <a:ext cx="108000" cy="108000"/>
          </a:xfrm>
          <a:prstGeom prst="plus">
            <a:avLst>
              <a:gd name="adj" fmla="val 45756"/>
            </a:avLst>
          </a:prstGeom>
          <a:solidFill>
            <a:schemeClr val="tx1"/>
          </a:solidFill>
          <a:ln>
            <a:solidFill>
              <a:srgbClr val="FF0000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B011EA3D-8608-0C45-2FD8-A70F7E2D6780}"/>
              </a:ext>
            </a:extLst>
          </p:cNvPr>
          <p:cNvSpPr txBox="1"/>
          <p:nvPr/>
        </p:nvSpPr>
        <p:spPr>
          <a:xfrm rot="20093653">
            <a:off x="3207312" y="2814457"/>
            <a:ext cx="766920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7200" dirty="0">
                <a:solidFill>
                  <a:srgbClr val="FF0000"/>
                </a:solidFill>
              </a:rPr>
              <a:t>En construction</a:t>
            </a:r>
          </a:p>
        </p:txBody>
      </p:sp>
      <p:sp>
        <p:nvSpPr>
          <p:cNvPr id="8" name="Date_F3">
            <a:extLst>
              <a:ext uri="{FF2B5EF4-FFF2-40B4-BE49-F238E27FC236}">
                <a16:creationId xmlns:a16="http://schemas.microsoft.com/office/drawing/2014/main" id="{C62E25F0-E860-F1F2-DF95-D33E8D16B394}"/>
              </a:ext>
            </a:extLst>
          </p:cNvPr>
          <p:cNvSpPr txBox="1"/>
          <p:nvPr/>
        </p:nvSpPr>
        <p:spPr>
          <a:xfrm rot="19102564">
            <a:off x="8744090" y="2402758"/>
            <a:ext cx="927160" cy="230832"/>
          </a:xfrm>
          <a:prstGeom prst="rect">
            <a:avLst/>
          </a:prstGeom>
          <a:noFill/>
          <a:ln cap="flat">
            <a:noFill/>
            <a:prstDash val="solid"/>
          </a:ln>
          <a:effectLst>
            <a:softEdge rad="0"/>
          </a:effectLst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900" b="0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V26.1</a:t>
            </a:r>
          </a:p>
        </p:txBody>
      </p:sp>
      <p:sp>
        <p:nvSpPr>
          <p:cNvPr id="9" name="BA_GH">
            <a:extLst>
              <a:ext uri="{FF2B5EF4-FFF2-40B4-BE49-F238E27FC236}">
                <a16:creationId xmlns:a16="http://schemas.microsoft.com/office/drawing/2014/main" id="{DB3210B2-EA2C-203D-421E-0AD626899544}"/>
              </a:ext>
            </a:extLst>
          </p:cNvPr>
          <p:cNvSpPr/>
          <p:nvPr/>
        </p:nvSpPr>
        <p:spPr>
          <a:xfrm>
            <a:off x="6717913" y="2551290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HJ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Contenus statiques</a:t>
            </a:r>
          </a:p>
        </p:txBody>
      </p:sp>
    </p:spTree>
    <p:extLst>
      <p:ext uri="{BB962C8B-B14F-4D97-AF65-F5344CB8AC3E}">
        <p14:creationId xmlns:p14="http://schemas.microsoft.com/office/powerpoint/2010/main" val="4421712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930A82-4B4D-1000-332F-6FBFCDB73E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r_Global">
            <a:extLst>
              <a:ext uri="{FF2B5EF4-FFF2-40B4-BE49-F238E27FC236}">
                <a16:creationId xmlns:a16="http://schemas.microsoft.com/office/drawing/2014/main" id="{11D0D9AA-7E94-5892-02FC-FFD3B48FED8E}"/>
              </a:ext>
            </a:extLst>
          </p:cNvPr>
          <p:cNvSpPr/>
          <p:nvPr/>
        </p:nvSpPr>
        <p:spPr>
          <a:xfrm>
            <a:off x="156924" y="1037108"/>
            <a:ext cx="11860567" cy="5512742"/>
          </a:xfrm>
          <a:prstGeom prst="roundRect">
            <a:avLst/>
          </a:prstGeom>
          <a:solidFill>
            <a:schemeClr val="bg1"/>
          </a:solidFill>
          <a:ln>
            <a:solidFill>
              <a:schemeClr val="accent1"/>
            </a:solidFill>
          </a:ln>
          <a:effectLst>
            <a:outerShdw blurRad="50800" dist="38100" dir="2700000" algn="tl" rotWithShape="0">
              <a:schemeClr val="tx1"/>
            </a:outerShdw>
          </a:effectLst>
        </p:spPr>
        <p:txBody>
          <a:bodyPr wrap="none" lIns="0" rIns="0" rtlCol="0" anchor="ctr">
            <a:noAutofit/>
          </a:bodyPr>
          <a:lstStyle/>
          <a:p>
            <a:pPr algn="ctr"/>
            <a:endParaRPr lang="fr-FR" sz="1600" b="1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1" name="Gr_NOVA">
            <a:extLst>
              <a:ext uri="{FF2B5EF4-FFF2-40B4-BE49-F238E27FC236}">
                <a16:creationId xmlns:a16="http://schemas.microsoft.com/office/drawing/2014/main" id="{64EF9DD9-25FF-F688-50E0-71106F27CFEB}"/>
              </a:ext>
            </a:extLst>
          </p:cNvPr>
          <p:cNvSpPr/>
          <p:nvPr/>
        </p:nvSpPr>
        <p:spPr>
          <a:xfrm>
            <a:off x="5407282" y="1111645"/>
            <a:ext cx="2350211" cy="1879964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  <a:effectLst>
            <a:outerShdw blurRad="50800" dist="38100" dir="2700000" algn="ctr" rotWithShape="0">
              <a:schemeClr val="tx1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/>
            </a:endParaRPr>
          </a:p>
        </p:txBody>
      </p:sp>
      <p:sp>
        <p:nvSpPr>
          <p:cNvPr id="92" name="ZT_NOVA">
            <a:extLst>
              <a:ext uri="{FF2B5EF4-FFF2-40B4-BE49-F238E27FC236}">
                <a16:creationId xmlns:a16="http://schemas.microsoft.com/office/drawing/2014/main" id="{0412CDBB-101C-8D28-EBF8-FC14912205FC}"/>
              </a:ext>
            </a:extLst>
          </p:cNvPr>
          <p:cNvSpPr txBox="1"/>
          <p:nvPr/>
        </p:nvSpPr>
        <p:spPr>
          <a:xfrm>
            <a:off x="5402982" y="1138960"/>
            <a:ext cx="2354511" cy="246221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NOVA</a:t>
            </a:r>
            <a:endParaRPr kumimoji="0" lang="fr-FR" sz="1000" b="1" i="1" u="none" strike="noStrike" kern="1200" cap="none" spc="0" normalizeH="0" baseline="0" noProof="0" dirty="0">
              <a:ln>
                <a:noFill/>
              </a:ln>
              <a:solidFill>
                <a:srgbClr val="ED7D3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8" name="BA_OX">
            <a:extLst>
              <a:ext uri="{FF2B5EF4-FFF2-40B4-BE49-F238E27FC236}">
                <a16:creationId xmlns:a16="http://schemas.microsoft.com/office/drawing/2014/main" id="{F4BF4F63-C942-495F-8AF3-509CA22B7638}"/>
              </a:ext>
            </a:extLst>
          </p:cNvPr>
          <p:cNvSpPr/>
          <p:nvPr/>
        </p:nvSpPr>
        <p:spPr>
          <a:xfrm>
            <a:off x="5540187" y="1434370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OX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Opérations </a:t>
            </a:r>
            <a:r>
              <a:rPr kumimoji="0" lang="fr-FR" sz="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Ass</a:t>
            </a: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.</a:t>
            </a:r>
          </a:p>
        </p:txBody>
      </p:sp>
      <p:sp>
        <p:nvSpPr>
          <p:cNvPr id="99" name="BA_MX">
            <a:extLst>
              <a:ext uri="{FF2B5EF4-FFF2-40B4-BE49-F238E27FC236}">
                <a16:creationId xmlns:a16="http://schemas.microsoft.com/office/drawing/2014/main" id="{13D4AFAC-28A0-DC56-EF7C-9AE2E50AD1F2}"/>
              </a:ext>
            </a:extLst>
          </p:cNvPr>
          <p:cNvSpPr/>
          <p:nvPr/>
        </p:nvSpPr>
        <p:spPr>
          <a:xfrm>
            <a:off x="6247379" y="1434370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MX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Services  internes</a:t>
            </a:r>
          </a:p>
        </p:txBody>
      </p:sp>
      <p:sp>
        <p:nvSpPr>
          <p:cNvPr id="108" name="BA_SX">
            <a:extLst>
              <a:ext uri="{FF2B5EF4-FFF2-40B4-BE49-F238E27FC236}">
                <a16:creationId xmlns:a16="http://schemas.microsoft.com/office/drawing/2014/main" id="{31803EA4-30C3-A167-D442-9A7FA80CEB34}"/>
              </a:ext>
            </a:extLst>
          </p:cNvPr>
          <p:cNvSpPr/>
          <p:nvPr/>
        </p:nvSpPr>
        <p:spPr>
          <a:xfrm>
            <a:off x="6957409" y="1434370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SX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Socle Exposition</a:t>
            </a:r>
          </a:p>
        </p:txBody>
      </p:sp>
      <p:sp>
        <p:nvSpPr>
          <p:cNvPr id="117" name="BA_HX">
            <a:extLst>
              <a:ext uri="{FF2B5EF4-FFF2-40B4-BE49-F238E27FC236}">
                <a16:creationId xmlns:a16="http://schemas.microsoft.com/office/drawing/2014/main" id="{3888D680-4BF4-20CC-769B-4FEBB5EB5D0F}"/>
              </a:ext>
            </a:extLst>
          </p:cNvPr>
          <p:cNvSpPr/>
          <p:nvPr/>
        </p:nvSpPr>
        <p:spPr>
          <a:xfrm>
            <a:off x="5540187" y="1791450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HX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Habilitations PCO</a:t>
            </a:r>
          </a:p>
        </p:txBody>
      </p:sp>
      <p:sp>
        <p:nvSpPr>
          <p:cNvPr id="119" name="BA_RX">
            <a:extLst>
              <a:ext uri="{FF2B5EF4-FFF2-40B4-BE49-F238E27FC236}">
                <a16:creationId xmlns:a16="http://schemas.microsoft.com/office/drawing/2014/main" id="{411545EC-9ADB-94BF-28AB-EE6B03D5DDFC}"/>
              </a:ext>
            </a:extLst>
          </p:cNvPr>
          <p:cNvSpPr/>
          <p:nvPr/>
        </p:nvSpPr>
        <p:spPr>
          <a:xfrm>
            <a:off x="6957409" y="1791450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RX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Socle Editique</a:t>
            </a:r>
          </a:p>
        </p:txBody>
      </p:sp>
      <p:sp>
        <p:nvSpPr>
          <p:cNvPr id="120" name="BA_WP">
            <a:extLst>
              <a:ext uri="{FF2B5EF4-FFF2-40B4-BE49-F238E27FC236}">
                <a16:creationId xmlns:a16="http://schemas.microsoft.com/office/drawing/2014/main" id="{1BFAA070-8759-7202-6209-68FD75B80E2E}"/>
              </a:ext>
            </a:extLst>
          </p:cNvPr>
          <p:cNvSpPr/>
          <p:nvPr/>
        </p:nvSpPr>
        <p:spPr>
          <a:xfrm>
            <a:off x="5542712" y="2146978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WP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Lanceur PCO</a:t>
            </a:r>
          </a:p>
        </p:txBody>
      </p:sp>
      <p:sp>
        <p:nvSpPr>
          <p:cNvPr id="121" name="BA_FM">
            <a:extLst>
              <a:ext uri="{FF2B5EF4-FFF2-40B4-BE49-F238E27FC236}">
                <a16:creationId xmlns:a16="http://schemas.microsoft.com/office/drawing/2014/main" id="{5E3F625F-6081-B54F-60EA-412AEB5B66BF}"/>
              </a:ext>
            </a:extLst>
          </p:cNvPr>
          <p:cNvSpPr/>
          <p:nvPr/>
        </p:nvSpPr>
        <p:spPr>
          <a:xfrm>
            <a:off x="6251156" y="2146978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FM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Fonctions IHM</a:t>
            </a:r>
          </a:p>
        </p:txBody>
      </p:sp>
      <p:sp>
        <p:nvSpPr>
          <p:cNvPr id="123" name="BA_JF">
            <a:extLst>
              <a:ext uri="{FF2B5EF4-FFF2-40B4-BE49-F238E27FC236}">
                <a16:creationId xmlns:a16="http://schemas.microsoft.com/office/drawing/2014/main" id="{9DEDBBCF-6B89-0DB3-58A1-ABBAB53501E9}"/>
              </a:ext>
            </a:extLst>
          </p:cNvPr>
          <p:cNvSpPr/>
          <p:nvPr/>
        </p:nvSpPr>
        <p:spPr>
          <a:xfrm>
            <a:off x="6955140" y="2146978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JF</a:t>
            </a:r>
            <a:endParaRPr kumimoji="0" lang="fr-FR" sz="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Animation </a:t>
            </a:r>
            <a:r>
              <a:rPr kumimoji="0" lang="fr-FR" sz="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comm</a:t>
            </a: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.</a:t>
            </a:r>
          </a:p>
        </p:txBody>
      </p:sp>
      <p:sp>
        <p:nvSpPr>
          <p:cNvPr id="124" name="Gr_Avanet">
            <a:extLst>
              <a:ext uri="{FF2B5EF4-FFF2-40B4-BE49-F238E27FC236}">
                <a16:creationId xmlns:a16="http://schemas.microsoft.com/office/drawing/2014/main" id="{67251776-D574-4194-2E9A-22A01286C784}"/>
              </a:ext>
            </a:extLst>
          </p:cNvPr>
          <p:cNvSpPr/>
          <p:nvPr/>
        </p:nvSpPr>
        <p:spPr>
          <a:xfrm>
            <a:off x="3593887" y="1111645"/>
            <a:ext cx="1690030" cy="117785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  <a:effectLst>
            <a:outerShdw blurRad="50800" dist="38100" dir="2700000" algn="ctr" rotWithShape="0">
              <a:schemeClr val="tx1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/>
            </a:endParaRPr>
          </a:p>
        </p:txBody>
      </p:sp>
      <p:sp>
        <p:nvSpPr>
          <p:cNvPr id="125" name="ZT_Avanet">
            <a:extLst>
              <a:ext uri="{FF2B5EF4-FFF2-40B4-BE49-F238E27FC236}">
                <a16:creationId xmlns:a16="http://schemas.microsoft.com/office/drawing/2014/main" id="{A4337514-6E7B-4D9E-559A-CE9950F45781}"/>
              </a:ext>
            </a:extLst>
          </p:cNvPr>
          <p:cNvSpPr txBox="1"/>
          <p:nvPr/>
        </p:nvSpPr>
        <p:spPr>
          <a:xfrm>
            <a:off x="3603262" y="1138960"/>
            <a:ext cx="1680655" cy="246221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1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Avanet</a:t>
            </a:r>
            <a:endParaRPr kumimoji="0" lang="fr-FR" sz="1000" b="1" i="1" u="none" strike="noStrike" kern="1200" cap="none" spc="0" normalizeH="0" baseline="0" noProof="0" dirty="0">
              <a:ln>
                <a:noFill/>
              </a:ln>
              <a:solidFill>
                <a:srgbClr val="ED7D3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6" name="BA_W5">
            <a:extLst>
              <a:ext uri="{FF2B5EF4-FFF2-40B4-BE49-F238E27FC236}">
                <a16:creationId xmlns:a16="http://schemas.microsoft.com/office/drawing/2014/main" id="{A252535A-05D2-5094-B014-DE89BCC85CAF}"/>
              </a:ext>
            </a:extLst>
          </p:cNvPr>
          <p:cNvSpPr/>
          <p:nvPr/>
        </p:nvSpPr>
        <p:spPr>
          <a:xfrm>
            <a:off x="3726791" y="1434801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W5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Av@net</a:t>
            </a:r>
            <a:endParaRPr kumimoji="0" lang="fr-FR" sz="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7" name="BA_AEDI">
            <a:extLst>
              <a:ext uri="{FF2B5EF4-FFF2-40B4-BE49-F238E27FC236}">
                <a16:creationId xmlns:a16="http://schemas.microsoft.com/office/drawing/2014/main" id="{735DBE47-1355-8D8E-1F6C-A9D5372D594A}"/>
              </a:ext>
            </a:extLst>
          </p:cNvPr>
          <p:cNvSpPr/>
          <p:nvPr/>
        </p:nvSpPr>
        <p:spPr>
          <a:xfrm>
            <a:off x="4521017" y="1438787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AEDI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API-EDI</a:t>
            </a:r>
          </a:p>
        </p:txBody>
      </p:sp>
      <p:sp>
        <p:nvSpPr>
          <p:cNvPr id="128" name="BA_SVOD">
            <a:extLst>
              <a:ext uri="{FF2B5EF4-FFF2-40B4-BE49-F238E27FC236}">
                <a16:creationId xmlns:a16="http://schemas.microsoft.com/office/drawing/2014/main" id="{85589305-AED8-19AD-940E-8965E1CA286D}"/>
              </a:ext>
            </a:extLst>
          </p:cNvPr>
          <p:cNvSpPr/>
          <p:nvPr/>
        </p:nvSpPr>
        <p:spPr>
          <a:xfrm>
            <a:off x="3726791" y="1819606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SVOD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SAS </a:t>
            </a:r>
            <a:r>
              <a:rPr kumimoji="0" lang="fr-FR" sz="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Valid</a:t>
            </a: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.</a:t>
            </a:r>
          </a:p>
        </p:txBody>
      </p:sp>
      <p:sp>
        <p:nvSpPr>
          <p:cNvPr id="129" name="Gr_PFD">
            <a:extLst>
              <a:ext uri="{FF2B5EF4-FFF2-40B4-BE49-F238E27FC236}">
                <a16:creationId xmlns:a16="http://schemas.microsoft.com/office/drawing/2014/main" id="{6E5BF9E0-CF0E-FCDC-1FD3-AAAD840F2C60}"/>
              </a:ext>
            </a:extLst>
          </p:cNvPr>
          <p:cNvSpPr/>
          <p:nvPr/>
        </p:nvSpPr>
        <p:spPr>
          <a:xfrm>
            <a:off x="6161552" y="3780520"/>
            <a:ext cx="1627675" cy="1021008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  <a:effectLst>
            <a:outerShdw blurRad="50800" dist="38100" dir="2700000" algn="ctr" rotWithShape="0">
              <a:schemeClr val="tx1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/>
            </a:endParaRPr>
          </a:p>
        </p:txBody>
      </p:sp>
      <p:sp>
        <p:nvSpPr>
          <p:cNvPr id="130" name="ZT_PFD">
            <a:extLst>
              <a:ext uri="{FF2B5EF4-FFF2-40B4-BE49-F238E27FC236}">
                <a16:creationId xmlns:a16="http://schemas.microsoft.com/office/drawing/2014/main" id="{C858C634-EE1B-7896-F711-3020D6FD4CD3}"/>
              </a:ext>
            </a:extLst>
          </p:cNvPr>
          <p:cNvSpPr txBox="1"/>
          <p:nvPr/>
        </p:nvSpPr>
        <p:spPr>
          <a:xfrm>
            <a:off x="6185238" y="3807835"/>
            <a:ext cx="1714025" cy="246221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Plateforme Data (PFD)</a:t>
            </a:r>
          </a:p>
        </p:txBody>
      </p:sp>
      <p:sp>
        <p:nvSpPr>
          <p:cNvPr id="131" name="BA_J2">
            <a:extLst>
              <a:ext uri="{FF2B5EF4-FFF2-40B4-BE49-F238E27FC236}">
                <a16:creationId xmlns:a16="http://schemas.microsoft.com/office/drawing/2014/main" id="{1DC03C77-624A-DF6E-A7F9-C9D663D3CD50}"/>
              </a:ext>
            </a:extLst>
          </p:cNvPr>
          <p:cNvSpPr/>
          <p:nvPr/>
        </p:nvSpPr>
        <p:spPr>
          <a:xfrm>
            <a:off x="6296389" y="4103676"/>
            <a:ext cx="648000" cy="288000"/>
          </a:xfrm>
          <a:prstGeom prst="round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J2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Exposition PFD</a:t>
            </a:r>
          </a:p>
        </p:txBody>
      </p:sp>
      <p:sp>
        <p:nvSpPr>
          <p:cNvPr id="136" name="BA_J6">
            <a:extLst>
              <a:ext uri="{FF2B5EF4-FFF2-40B4-BE49-F238E27FC236}">
                <a16:creationId xmlns:a16="http://schemas.microsoft.com/office/drawing/2014/main" id="{F882162C-3B77-4B10-F3EB-2B0D570E71F5}"/>
              </a:ext>
            </a:extLst>
          </p:cNvPr>
          <p:cNvSpPr/>
          <p:nvPr/>
        </p:nvSpPr>
        <p:spPr>
          <a:xfrm>
            <a:off x="7048704" y="4107662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J6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Restit</a:t>
            </a: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. </a:t>
            </a:r>
            <a:r>
              <a:rPr kumimoji="0" lang="fr-FR" sz="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Régl</a:t>
            </a: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.</a:t>
            </a:r>
          </a:p>
        </p:txBody>
      </p:sp>
      <p:sp>
        <p:nvSpPr>
          <p:cNvPr id="147" name="BA_J8">
            <a:extLst>
              <a:ext uri="{FF2B5EF4-FFF2-40B4-BE49-F238E27FC236}">
                <a16:creationId xmlns:a16="http://schemas.microsoft.com/office/drawing/2014/main" id="{ED452672-16D0-972A-C646-EA91170949A3}"/>
              </a:ext>
            </a:extLst>
          </p:cNvPr>
          <p:cNvSpPr/>
          <p:nvPr/>
        </p:nvSpPr>
        <p:spPr>
          <a:xfrm>
            <a:off x="6296389" y="4488481"/>
            <a:ext cx="648000" cy="288000"/>
          </a:xfrm>
          <a:prstGeom prst="roundRect">
            <a:avLst/>
          </a:prstGeom>
          <a:solidFill>
            <a:srgbClr val="70AD47"/>
          </a:solidFill>
          <a:ln>
            <a:noFill/>
          </a:ln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J8</a:t>
            </a:r>
            <a:endParaRPr kumimoji="0" lang="fr-FR" sz="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Données Contrats</a:t>
            </a:r>
          </a:p>
        </p:txBody>
      </p:sp>
      <p:sp>
        <p:nvSpPr>
          <p:cNvPr id="149" name="Gr_Prediweb1">
            <a:extLst>
              <a:ext uri="{FF2B5EF4-FFF2-40B4-BE49-F238E27FC236}">
                <a16:creationId xmlns:a16="http://schemas.microsoft.com/office/drawing/2014/main" id="{DAF047B6-FA2A-8076-FB4F-24C16807DDE2}"/>
              </a:ext>
            </a:extLst>
          </p:cNvPr>
          <p:cNvSpPr/>
          <p:nvPr/>
        </p:nvSpPr>
        <p:spPr>
          <a:xfrm>
            <a:off x="3588010" y="2368814"/>
            <a:ext cx="1695907" cy="671739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  <a:effectLst>
            <a:outerShdw blurRad="50800" dist="38100" dir="2700000" algn="ctr" rotWithShape="0">
              <a:schemeClr val="tx1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/>
            </a:endParaRPr>
          </a:p>
        </p:txBody>
      </p:sp>
      <p:sp>
        <p:nvSpPr>
          <p:cNvPr id="151" name="ZT_Prediweb1">
            <a:extLst>
              <a:ext uri="{FF2B5EF4-FFF2-40B4-BE49-F238E27FC236}">
                <a16:creationId xmlns:a16="http://schemas.microsoft.com/office/drawing/2014/main" id="{29DE4E5B-AD4C-5C3B-AF3A-F0E98DA6AF38}"/>
              </a:ext>
            </a:extLst>
          </p:cNvPr>
          <p:cNvSpPr txBox="1"/>
          <p:nvPr/>
        </p:nvSpPr>
        <p:spPr>
          <a:xfrm>
            <a:off x="3595208" y="2396399"/>
            <a:ext cx="1688709" cy="246221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1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Prediweb</a:t>
            </a:r>
            <a:r>
              <a:rPr kumimoji="0" lang="fr-FR" sz="1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 1</a:t>
            </a:r>
            <a:endParaRPr kumimoji="0" lang="fr-FR" sz="1000" b="1" i="1" u="none" strike="noStrike" kern="1200" cap="none" spc="0" normalizeH="0" baseline="0" noProof="0" dirty="0">
              <a:ln>
                <a:noFill/>
              </a:ln>
              <a:solidFill>
                <a:srgbClr val="ED7D3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3" name="BA_BD">
            <a:extLst>
              <a:ext uri="{FF2B5EF4-FFF2-40B4-BE49-F238E27FC236}">
                <a16:creationId xmlns:a16="http://schemas.microsoft.com/office/drawing/2014/main" id="{A43F733B-794D-6E8D-D9EE-397006BC830C}"/>
              </a:ext>
            </a:extLst>
          </p:cNvPr>
          <p:cNvSpPr/>
          <p:nvPr/>
        </p:nvSpPr>
        <p:spPr>
          <a:xfrm>
            <a:off x="3720914" y="2691969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BD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Prediweb</a:t>
            </a:r>
            <a:endParaRPr kumimoji="0" lang="fr-FR" sz="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6" name="BA_SGR">
            <a:extLst>
              <a:ext uri="{FF2B5EF4-FFF2-40B4-BE49-F238E27FC236}">
                <a16:creationId xmlns:a16="http://schemas.microsoft.com/office/drawing/2014/main" id="{440FA90B-E887-82ED-2C8D-46505163ABF8}"/>
              </a:ext>
            </a:extLst>
          </p:cNvPr>
          <p:cNvSpPr/>
          <p:nvPr/>
        </p:nvSpPr>
        <p:spPr>
          <a:xfrm>
            <a:off x="4496225" y="2696226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SGR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Lanceur SGR</a:t>
            </a:r>
          </a:p>
        </p:txBody>
      </p:sp>
      <p:sp>
        <p:nvSpPr>
          <p:cNvPr id="158" name="BA_Autre_PFD">
            <a:extLst>
              <a:ext uri="{FF2B5EF4-FFF2-40B4-BE49-F238E27FC236}">
                <a16:creationId xmlns:a16="http://schemas.microsoft.com/office/drawing/2014/main" id="{C2CD9AF0-8AD7-93F4-E189-D9F807C458FA}"/>
              </a:ext>
            </a:extLst>
          </p:cNvPr>
          <p:cNvSpPr/>
          <p:nvPr/>
        </p:nvSpPr>
        <p:spPr>
          <a:xfrm>
            <a:off x="7048704" y="4459954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…</a:t>
            </a:r>
          </a:p>
        </p:txBody>
      </p:sp>
      <p:sp>
        <p:nvSpPr>
          <p:cNvPr id="159" name="Gr_AIA">
            <a:extLst>
              <a:ext uri="{FF2B5EF4-FFF2-40B4-BE49-F238E27FC236}">
                <a16:creationId xmlns:a16="http://schemas.microsoft.com/office/drawing/2014/main" id="{CF06A1A0-99A2-B753-589E-F2FF028206CB}"/>
              </a:ext>
            </a:extLst>
          </p:cNvPr>
          <p:cNvSpPr/>
          <p:nvPr/>
        </p:nvSpPr>
        <p:spPr>
          <a:xfrm>
            <a:off x="600429" y="2842718"/>
            <a:ext cx="927635" cy="550924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  <a:effectLst>
            <a:outerShdw blurRad="50800" dist="38100" dir="2700000" algn="ctr" rotWithShape="0">
              <a:schemeClr val="tx1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/>
            </a:endParaRPr>
          </a:p>
        </p:txBody>
      </p:sp>
      <p:sp>
        <p:nvSpPr>
          <p:cNvPr id="160" name="ZT_AIA">
            <a:extLst>
              <a:ext uri="{FF2B5EF4-FFF2-40B4-BE49-F238E27FC236}">
                <a16:creationId xmlns:a16="http://schemas.microsoft.com/office/drawing/2014/main" id="{8F853353-2A03-6346-1EF1-88B91EC47857}"/>
              </a:ext>
            </a:extLst>
          </p:cNvPr>
          <p:cNvSpPr txBox="1"/>
          <p:nvPr/>
        </p:nvSpPr>
        <p:spPr>
          <a:xfrm>
            <a:off x="520497" y="2870168"/>
            <a:ext cx="1080000" cy="246221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AIA V4 (Sinistres)</a:t>
            </a:r>
          </a:p>
        </p:txBody>
      </p:sp>
      <p:sp>
        <p:nvSpPr>
          <p:cNvPr id="161" name="BA_AJ">
            <a:extLst>
              <a:ext uri="{FF2B5EF4-FFF2-40B4-BE49-F238E27FC236}">
                <a16:creationId xmlns:a16="http://schemas.microsoft.com/office/drawing/2014/main" id="{A04B6866-2CE3-D4FC-A1FA-F6134B9C24D5}"/>
              </a:ext>
            </a:extLst>
          </p:cNvPr>
          <p:cNvSpPr/>
          <p:nvPr/>
        </p:nvSpPr>
        <p:spPr>
          <a:xfrm>
            <a:off x="741487" y="3087886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AJ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AIA </a:t>
            </a:r>
            <a:r>
              <a:rPr kumimoji="0" lang="fr-FR" sz="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Sinitres</a:t>
            </a:r>
            <a:endParaRPr kumimoji="0" lang="fr-FR" sz="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2" name="Gr_Prediweb2">
            <a:extLst>
              <a:ext uri="{FF2B5EF4-FFF2-40B4-BE49-F238E27FC236}">
                <a16:creationId xmlns:a16="http://schemas.microsoft.com/office/drawing/2014/main" id="{679B1188-BEE2-D26D-6D0C-89F01F8E7214}"/>
              </a:ext>
            </a:extLst>
          </p:cNvPr>
          <p:cNvSpPr/>
          <p:nvPr/>
        </p:nvSpPr>
        <p:spPr>
          <a:xfrm>
            <a:off x="6172824" y="3106138"/>
            <a:ext cx="754043" cy="61200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  <a:effectLst>
            <a:outerShdw blurRad="50800" dist="38100" dir="2700000" algn="ctr" rotWithShape="0">
              <a:schemeClr val="tx1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/>
            </a:endParaRPr>
          </a:p>
        </p:txBody>
      </p:sp>
      <p:sp>
        <p:nvSpPr>
          <p:cNvPr id="163" name="ZT_Prediweb2">
            <a:extLst>
              <a:ext uri="{FF2B5EF4-FFF2-40B4-BE49-F238E27FC236}">
                <a16:creationId xmlns:a16="http://schemas.microsoft.com/office/drawing/2014/main" id="{161ABEA1-6359-304A-3C01-415AB1032748}"/>
              </a:ext>
            </a:extLst>
          </p:cNvPr>
          <p:cNvSpPr txBox="1"/>
          <p:nvPr/>
        </p:nvSpPr>
        <p:spPr>
          <a:xfrm>
            <a:off x="6145849" y="3133723"/>
            <a:ext cx="774251" cy="246221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1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Prediweb</a:t>
            </a:r>
            <a:r>
              <a:rPr kumimoji="0" lang="fr-FR" sz="1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 2</a:t>
            </a:r>
            <a:endParaRPr kumimoji="0" lang="fr-FR" sz="1000" b="1" i="1" u="none" strike="noStrike" kern="1200" cap="none" spc="0" normalizeH="0" baseline="0" noProof="0" dirty="0">
              <a:ln>
                <a:noFill/>
              </a:ln>
              <a:solidFill>
                <a:srgbClr val="ED7D3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4" name="BA_PY">
            <a:extLst>
              <a:ext uri="{FF2B5EF4-FFF2-40B4-BE49-F238E27FC236}">
                <a16:creationId xmlns:a16="http://schemas.microsoft.com/office/drawing/2014/main" id="{1916EFA8-830D-503D-C8BD-F6409D9F22DC}"/>
              </a:ext>
            </a:extLst>
          </p:cNvPr>
          <p:cNvSpPr/>
          <p:nvPr/>
        </p:nvSpPr>
        <p:spPr>
          <a:xfrm>
            <a:off x="6219320" y="3376340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PY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Prediweb</a:t>
            </a: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 2</a:t>
            </a:r>
          </a:p>
        </p:txBody>
      </p:sp>
      <p:sp>
        <p:nvSpPr>
          <p:cNvPr id="165" name="Gr_NewNOVA">
            <a:extLst>
              <a:ext uri="{FF2B5EF4-FFF2-40B4-BE49-F238E27FC236}">
                <a16:creationId xmlns:a16="http://schemas.microsoft.com/office/drawing/2014/main" id="{BF447258-361F-6F5D-617D-F5B82348CD59}"/>
              </a:ext>
            </a:extLst>
          </p:cNvPr>
          <p:cNvSpPr/>
          <p:nvPr/>
        </p:nvSpPr>
        <p:spPr>
          <a:xfrm>
            <a:off x="7894317" y="1093890"/>
            <a:ext cx="3975128" cy="3939748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  <a:effectLst>
            <a:outerShdw blurRad="50800" dist="38100" dir="2700000" algn="ctr" rotWithShape="0">
              <a:schemeClr val="tx1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/>
            </a:endParaRPr>
          </a:p>
        </p:txBody>
      </p:sp>
      <p:sp>
        <p:nvSpPr>
          <p:cNvPr id="166" name="ZT_NewNOVA">
            <a:extLst>
              <a:ext uri="{FF2B5EF4-FFF2-40B4-BE49-F238E27FC236}">
                <a16:creationId xmlns:a16="http://schemas.microsoft.com/office/drawing/2014/main" id="{65BF418C-9E93-ECDB-2E6D-3EDE84800B60}"/>
              </a:ext>
            </a:extLst>
          </p:cNvPr>
          <p:cNvSpPr txBox="1"/>
          <p:nvPr/>
        </p:nvSpPr>
        <p:spPr>
          <a:xfrm>
            <a:off x="7959719" y="1121206"/>
            <a:ext cx="2930793" cy="246221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New NOVA (K8S+AWS)</a:t>
            </a:r>
            <a:endParaRPr kumimoji="0" lang="fr-FR" sz="1000" b="1" i="1" u="none" strike="noStrike" kern="1200" cap="none" spc="0" normalizeH="0" baseline="0" noProof="0" dirty="0">
              <a:ln>
                <a:noFill/>
              </a:ln>
              <a:solidFill>
                <a:srgbClr val="ED7D3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7" name="BA_APPE">
            <a:extLst>
              <a:ext uri="{FF2B5EF4-FFF2-40B4-BE49-F238E27FC236}">
                <a16:creationId xmlns:a16="http://schemas.microsoft.com/office/drawing/2014/main" id="{592037AF-34D5-B560-5CEA-3B7E7406F472}"/>
              </a:ext>
            </a:extLst>
          </p:cNvPr>
          <p:cNvSpPr/>
          <p:nvPr/>
        </p:nvSpPr>
        <p:spPr>
          <a:xfrm>
            <a:off x="8114072" y="1417047"/>
            <a:ext cx="648000" cy="288000"/>
          </a:xfrm>
          <a:prstGeom prst="roundRect">
            <a:avLst/>
          </a:prstGeom>
          <a:solidFill>
            <a:srgbClr val="ED7D3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APPE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API Personne</a:t>
            </a:r>
          </a:p>
        </p:txBody>
      </p:sp>
      <p:sp>
        <p:nvSpPr>
          <p:cNvPr id="168" name="BA_CJNI">
            <a:extLst>
              <a:ext uri="{FF2B5EF4-FFF2-40B4-BE49-F238E27FC236}">
                <a16:creationId xmlns:a16="http://schemas.microsoft.com/office/drawing/2014/main" id="{2AC12B5A-E388-32CD-2408-EBD89FB8841D}"/>
              </a:ext>
            </a:extLst>
          </p:cNvPr>
          <p:cNvSpPr/>
          <p:nvPr/>
        </p:nvSpPr>
        <p:spPr>
          <a:xfrm>
            <a:off x="8803280" y="1417047"/>
            <a:ext cx="648000" cy="288000"/>
          </a:xfrm>
          <a:prstGeom prst="round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CJNI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Jeton SSO</a:t>
            </a:r>
          </a:p>
        </p:txBody>
      </p:sp>
      <p:sp>
        <p:nvSpPr>
          <p:cNvPr id="169" name="BA_C8">
            <a:extLst>
              <a:ext uri="{FF2B5EF4-FFF2-40B4-BE49-F238E27FC236}">
                <a16:creationId xmlns:a16="http://schemas.microsoft.com/office/drawing/2014/main" id="{7E53AE4F-0F37-BE8D-384A-EE35F5FB4DDC}"/>
              </a:ext>
            </a:extLst>
          </p:cNvPr>
          <p:cNvSpPr/>
          <p:nvPr/>
        </p:nvSpPr>
        <p:spPr>
          <a:xfrm>
            <a:off x="9490384" y="1417047"/>
            <a:ext cx="648000" cy="288000"/>
          </a:xfrm>
          <a:prstGeom prst="roundRect">
            <a:avLst/>
          </a:prstGeom>
          <a:solidFill>
            <a:srgbClr val="70AD4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C8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Consentements</a:t>
            </a:r>
          </a:p>
        </p:txBody>
      </p:sp>
      <p:sp>
        <p:nvSpPr>
          <p:cNvPr id="170" name="BA_D9">
            <a:extLst>
              <a:ext uri="{FF2B5EF4-FFF2-40B4-BE49-F238E27FC236}">
                <a16:creationId xmlns:a16="http://schemas.microsoft.com/office/drawing/2014/main" id="{969148C9-AD12-7444-EE3B-37B32882F95C}"/>
              </a:ext>
            </a:extLst>
          </p:cNvPr>
          <p:cNvSpPr/>
          <p:nvPr/>
        </p:nvSpPr>
        <p:spPr>
          <a:xfrm>
            <a:off x="10160477" y="1417047"/>
            <a:ext cx="648000" cy="288000"/>
          </a:xfrm>
          <a:prstGeom prst="roundRect">
            <a:avLst/>
          </a:prstGeom>
          <a:solidFill>
            <a:srgbClr val="70AD4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D9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Base Doc AWS</a:t>
            </a:r>
          </a:p>
        </p:txBody>
      </p:sp>
      <p:sp>
        <p:nvSpPr>
          <p:cNvPr id="171" name="BA_F3">
            <a:extLst>
              <a:ext uri="{FF2B5EF4-FFF2-40B4-BE49-F238E27FC236}">
                <a16:creationId xmlns:a16="http://schemas.microsoft.com/office/drawing/2014/main" id="{6C06FF91-A2DD-75EA-9FEE-C27C4B627251}"/>
              </a:ext>
            </a:extLst>
          </p:cNvPr>
          <p:cNvSpPr/>
          <p:nvPr/>
        </p:nvSpPr>
        <p:spPr>
          <a:xfrm>
            <a:off x="8114072" y="1734468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F3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Versement Libre</a:t>
            </a:r>
          </a:p>
        </p:txBody>
      </p:sp>
      <p:sp>
        <p:nvSpPr>
          <p:cNvPr id="172" name="BA_F4">
            <a:extLst>
              <a:ext uri="{FF2B5EF4-FFF2-40B4-BE49-F238E27FC236}">
                <a16:creationId xmlns:a16="http://schemas.microsoft.com/office/drawing/2014/main" id="{D91B12E6-5F40-1646-7BA9-C66AF023CB87}"/>
              </a:ext>
            </a:extLst>
          </p:cNvPr>
          <p:cNvSpPr/>
          <p:nvPr/>
        </p:nvSpPr>
        <p:spPr>
          <a:xfrm>
            <a:off x="8803280" y="1734468"/>
            <a:ext cx="648000" cy="288000"/>
          </a:xfrm>
          <a:prstGeom prst="roundRect">
            <a:avLst/>
          </a:prstGeom>
          <a:solidFill>
            <a:srgbClr val="70AD47"/>
          </a:solidFill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F4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Synthèse </a:t>
            </a:r>
            <a:r>
              <a:rPr kumimoji="0" lang="fr-FR" sz="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Opér</a:t>
            </a: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.</a:t>
            </a:r>
          </a:p>
        </p:txBody>
      </p:sp>
      <p:sp>
        <p:nvSpPr>
          <p:cNvPr id="173" name="BA_F5">
            <a:extLst>
              <a:ext uri="{FF2B5EF4-FFF2-40B4-BE49-F238E27FC236}">
                <a16:creationId xmlns:a16="http://schemas.microsoft.com/office/drawing/2014/main" id="{712C8C48-3C1B-6F9F-5A5A-AE71F831C0B7}"/>
              </a:ext>
            </a:extLst>
          </p:cNvPr>
          <p:cNvSpPr/>
          <p:nvPr/>
        </p:nvSpPr>
        <p:spPr>
          <a:xfrm>
            <a:off x="9490384" y="1734468"/>
            <a:ext cx="648000" cy="288000"/>
          </a:xfrm>
          <a:prstGeom prst="round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F5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Conf</a:t>
            </a: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. New Nova</a:t>
            </a:r>
          </a:p>
        </p:txBody>
      </p:sp>
      <p:sp>
        <p:nvSpPr>
          <p:cNvPr id="174" name="BA_F6">
            <a:extLst>
              <a:ext uri="{FF2B5EF4-FFF2-40B4-BE49-F238E27FC236}">
                <a16:creationId xmlns:a16="http://schemas.microsoft.com/office/drawing/2014/main" id="{B9DDEAA6-9AD4-5067-969C-A82E0043571A}"/>
              </a:ext>
            </a:extLst>
          </p:cNvPr>
          <p:cNvSpPr/>
          <p:nvPr/>
        </p:nvSpPr>
        <p:spPr>
          <a:xfrm>
            <a:off x="10160477" y="1734468"/>
            <a:ext cx="648000" cy="288000"/>
          </a:xfrm>
          <a:prstGeom prst="roundRect">
            <a:avLst/>
          </a:prstGeom>
          <a:solidFill>
            <a:srgbClr val="ED7D31"/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F6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API Adhésion</a:t>
            </a:r>
          </a:p>
        </p:txBody>
      </p:sp>
      <p:sp>
        <p:nvSpPr>
          <p:cNvPr id="175" name="BA_F7">
            <a:extLst>
              <a:ext uri="{FF2B5EF4-FFF2-40B4-BE49-F238E27FC236}">
                <a16:creationId xmlns:a16="http://schemas.microsoft.com/office/drawing/2014/main" id="{B111F037-E50D-EC42-FA9C-2C11E788320A}"/>
              </a:ext>
            </a:extLst>
          </p:cNvPr>
          <p:cNvSpPr/>
          <p:nvPr/>
        </p:nvSpPr>
        <p:spPr>
          <a:xfrm>
            <a:off x="8114072" y="2047150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F7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Arbitrage</a:t>
            </a:r>
          </a:p>
        </p:txBody>
      </p:sp>
      <p:sp>
        <p:nvSpPr>
          <p:cNvPr id="176" name="BA_G3">
            <a:extLst>
              <a:ext uri="{FF2B5EF4-FFF2-40B4-BE49-F238E27FC236}">
                <a16:creationId xmlns:a16="http://schemas.microsoft.com/office/drawing/2014/main" id="{9632B41D-FEAE-F31E-429E-104BFB3C837F}"/>
              </a:ext>
            </a:extLst>
          </p:cNvPr>
          <p:cNvSpPr/>
          <p:nvPr/>
        </p:nvSpPr>
        <p:spPr>
          <a:xfrm>
            <a:off x="9490384" y="2047150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G3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Pièces médicales</a:t>
            </a:r>
          </a:p>
        </p:txBody>
      </p:sp>
      <p:sp>
        <p:nvSpPr>
          <p:cNvPr id="177" name="BA_G4">
            <a:extLst>
              <a:ext uri="{FF2B5EF4-FFF2-40B4-BE49-F238E27FC236}">
                <a16:creationId xmlns:a16="http://schemas.microsoft.com/office/drawing/2014/main" id="{E7CCFEF8-1102-2EBC-AC7F-347026A4DF50}"/>
              </a:ext>
            </a:extLst>
          </p:cNvPr>
          <p:cNvSpPr/>
          <p:nvPr/>
        </p:nvSpPr>
        <p:spPr>
          <a:xfrm>
            <a:off x="10160477" y="2047150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G4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API FRC</a:t>
            </a:r>
          </a:p>
        </p:txBody>
      </p:sp>
      <p:sp>
        <p:nvSpPr>
          <p:cNvPr id="178" name="BA_G6">
            <a:extLst>
              <a:ext uri="{FF2B5EF4-FFF2-40B4-BE49-F238E27FC236}">
                <a16:creationId xmlns:a16="http://schemas.microsoft.com/office/drawing/2014/main" id="{04C5E80C-69FB-7633-C4E7-7641DBB6757C}"/>
              </a:ext>
            </a:extLst>
          </p:cNvPr>
          <p:cNvSpPr/>
          <p:nvPr/>
        </p:nvSpPr>
        <p:spPr>
          <a:xfrm>
            <a:off x="8114072" y="2368438"/>
            <a:ext cx="648000" cy="288000"/>
          </a:xfrm>
          <a:prstGeom prst="roundRect">
            <a:avLst/>
          </a:prstGeom>
          <a:solidFill>
            <a:srgbClr val="70AD4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G6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API </a:t>
            </a:r>
            <a:r>
              <a:rPr kumimoji="0" lang="fr-FR" sz="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Passport</a:t>
            </a:r>
            <a:endParaRPr kumimoji="0" lang="fr-FR" sz="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9" name="BA_GQ">
            <a:extLst>
              <a:ext uri="{FF2B5EF4-FFF2-40B4-BE49-F238E27FC236}">
                <a16:creationId xmlns:a16="http://schemas.microsoft.com/office/drawing/2014/main" id="{B1616C05-EA92-A8DC-97CB-A93E4ECFA389}"/>
              </a:ext>
            </a:extLst>
          </p:cNvPr>
          <p:cNvSpPr/>
          <p:nvPr/>
        </p:nvSpPr>
        <p:spPr>
          <a:xfrm>
            <a:off x="8803280" y="2368438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GQ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GED Prévoyance</a:t>
            </a:r>
          </a:p>
        </p:txBody>
      </p:sp>
      <p:sp>
        <p:nvSpPr>
          <p:cNvPr id="180" name="BA_I5">
            <a:extLst>
              <a:ext uri="{FF2B5EF4-FFF2-40B4-BE49-F238E27FC236}">
                <a16:creationId xmlns:a16="http://schemas.microsoft.com/office/drawing/2014/main" id="{5A2AF1BB-D13C-27F8-DB5A-D59426B56225}"/>
              </a:ext>
            </a:extLst>
          </p:cNvPr>
          <p:cNvSpPr/>
          <p:nvPr/>
        </p:nvSpPr>
        <p:spPr>
          <a:xfrm>
            <a:off x="8114072" y="2696076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I5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Lanceur New Nova</a:t>
            </a:r>
          </a:p>
        </p:txBody>
      </p:sp>
      <p:sp>
        <p:nvSpPr>
          <p:cNvPr id="181" name="BA_I9">
            <a:extLst>
              <a:ext uri="{FF2B5EF4-FFF2-40B4-BE49-F238E27FC236}">
                <a16:creationId xmlns:a16="http://schemas.microsoft.com/office/drawing/2014/main" id="{7128F8E1-8008-E56B-3F9C-66C9F40E2EB5}"/>
              </a:ext>
            </a:extLst>
          </p:cNvPr>
          <p:cNvSpPr/>
          <p:nvPr/>
        </p:nvSpPr>
        <p:spPr>
          <a:xfrm>
            <a:off x="8803280" y="2696076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I9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Keycloak</a:t>
            </a: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 Intranet</a:t>
            </a:r>
          </a:p>
        </p:txBody>
      </p:sp>
      <p:sp>
        <p:nvSpPr>
          <p:cNvPr id="182" name="BA_K7">
            <a:extLst>
              <a:ext uri="{FF2B5EF4-FFF2-40B4-BE49-F238E27FC236}">
                <a16:creationId xmlns:a16="http://schemas.microsoft.com/office/drawing/2014/main" id="{75442A04-6954-BA10-DBE2-6FDBCAF000D4}"/>
              </a:ext>
            </a:extLst>
          </p:cNvPr>
          <p:cNvSpPr/>
          <p:nvPr/>
        </p:nvSpPr>
        <p:spPr>
          <a:xfrm>
            <a:off x="9490384" y="2696076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K7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Aiguilleur</a:t>
            </a:r>
          </a:p>
        </p:txBody>
      </p:sp>
      <p:sp>
        <p:nvSpPr>
          <p:cNvPr id="183" name="BA_K9">
            <a:extLst>
              <a:ext uri="{FF2B5EF4-FFF2-40B4-BE49-F238E27FC236}">
                <a16:creationId xmlns:a16="http://schemas.microsoft.com/office/drawing/2014/main" id="{1E870813-BF2D-2212-7EE3-8A9B158A18B0}"/>
              </a:ext>
            </a:extLst>
          </p:cNvPr>
          <p:cNvSpPr/>
          <p:nvPr/>
        </p:nvSpPr>
        <p:spPr>
          <a:xfrm>
            <a:off x="10160477" y="2696076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K9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Keycloak</a:t>
            </a: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 Internet</a:t>
            </a:r>
          </a:p>
        </p:txBody>
      </p:sp>
      <p:sp>
        <p:nvSpPr>
          <p:cNvPr id="184" name="BA_L8">
            <a:extLst>
              <a:ext uri="{FF2B5EF4-FFF2-40B4-BE49-F238E27FC236}">
                <a16:creationId xmlns:a16="http://schemas.microsoft.com/office/drawing/2014/main" id="{3089FB90-57EA-E30A-2AE0-FB701A7F526A}"/>
              </a:ext>
            </a:extLst>
          </p:cNvPr>
          <p:cNvSpPr/>
          <p:nvPr/>
        </p:nvSpPr>
        <p:spPr>
          <a:xfrm>
            <a:off x="8114072" y="3027052"/>
            <a:ext cx="648000" cy="288000"/>
          </a:xfrm>
          <a:prstGeom prst="roundRect">
            <a:avLst/>
          </a:prstGeom>
          <a:solidFill>
            <a:srgbClr val="70AD4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L8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API Archivage</a:t>
            </a:r>
          </a:p>
        </p:txBody>
      </p:sp>
      <p:sp>
        <p:nvSpPr>
          <p:cNvPr id="185" name="BA_L9">
            <a:extLst>
              <a:ext uri="{FF2B5EF4-FFF2-40B4-BE49-F238E27FC236}">
                <a16:creationId xmlns:a16="http://schemas.microsoft.com/office/drawing/2014/main" id="{B28454CF-E9E3-8D07-23E5-706EC14867D4}"/>
              </a:ext>
            </a:extLst>
          </p:cNvPr>
          <p:cNvSpPr/>
          <p:nvPr/>
        </p:nvSpPr>
        <p:spPr>
          <a:xfrm>
            <a:off x="8803280" y="3027052"/>
            <a:ext cx="648000" cy="288000"/>
          </a:xfrm>
          <a:prstGeom prst="roundRect">
            <a:avLst/>
          </a:prstGeom>
          <a:solidFill>
            <a:srgbClr val="70AD4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L9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API Structure</a:t>
            </a:r>
          </a:p>
        </p:txBody>
      </p:sp>
      <p:sp>
        <p:nvSpPr>
          <p:cNvPr id="186" name="BA_N6">
            <a:extLst>
              <a:ext uri="{FF2B5EF4-FFF2-40B4-BE49-F238E27FC236}">
                <a16:creationId xmlns:a16="http://schemas.microsoft.com/office/drawing/2014/main" id="{5FE048D2-F7F6-3F80-9E06-1351155541A8}"/>
              </a:ext>
            </a:extLst>
          </p:cNvPr>
          <p:cNvSpPr/>
          <p:nvPr/>
        </p:nvSpPr>
        <p:spPr>
          <a:xfrm>
            <a:off x="9490384" y="3034498"/>
            <a:ext cx="648000" cy="288000"/>
          </a:xfrm>
          <a:prstGeom prst="round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N6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API produit</a:t>
            </a:r>
          </a:p>
        </p:txBody>
      </p:sp>
      <p:sp>
        <p:nvSpPr>
          <p:cNvPr id="187" name="BA_N8">
            <a:extLst>
              <a:ext uri="{FF2B5EF4-FFF2-40B4-BE49-F238E27FC236}">
                <a16:creationId xmlns:a16="http://schemas.microsoft.com/office/drawing/2014/main" id="{ECD8600B-39B6-27CA-B109-EE74CA838688}"/>
              </a:ext>
            </a:extLst>
          </p:cNvPr>
          <p:cNvSpPr/>
          <p:nvPr/>
        </p:nvSpPr>
        <p:spPr>
          <a:xfrm>
            <a:off x="10160477" y="3034498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N8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Notif</a:t>
            </a: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. Distributeur</a:t>
            </a:r>
          </a:p>
        </p:txBody>
      </p:sp>
      <p:sp>
        <p:nvSpPr>
          <p:cNvPr id="188" name="BA_P4">
            <a:extLst>
              <a:ext uri="{FF2B5EF4-FFF2-40B4-BE49-F238E27FC236}">
                <a16:creationId xmlns:a16="http://schemas.microsoft.com/office/drawing/2014/main" id="{49E023FE-D4A3-6027-5079-972D8B968887}"/>
              </a:ext>
            </a:extLst>
          </p:cNvPr>
          <p:cNvSpPr/>
          <p:nvPr/>
        </p:nvSpPr>
        <p:spPr>
          <a:xfrm>
            <a:off x="8114072" y="3354466"/>
            <a:ext cx="648000" cy="288000"/>
          </a:xfrm>
          <a:prstGeom prst="roundRect">
            <a:avLst/>
          </a:prstGeom>
          <a:solidFill>
            <a:srgbClr val="70AD47"/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P4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Services Editique</a:t>
            </a:r>
          </a:p>
        </p:txBody>
      </p:sp>
      <p:sp>
        <p:nvSpPr>
          <p:cNvPr id="189" name="BA_P5">
            <a:extLst>
              <a:ext uri="{FF2B5EF4-FFF2-40B4-BE49-F238E27FC236}">
                <a16:creationId xmlns:a16="http://schemas.microsoft.com/office/drawing/2014/main" id="{A6F47CE8-9A38-BF71-13F2-C539F8E0F86E}"/>
              </a:ext>
            </a:extLst>
          </p:cNvPr>
          <p:cNvSpPr/>
          <p:nvPr/>
        </p:nvSpPr>
        <p:spPr>
          <a:xfrm>
            <a:off x="8803280" y="3354466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P5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API Contrat</a:t>
            </a:r>
          </a:p>
        </p:txBody>
      </p:sp>
      <p:sp>
        <p:nvSpPr>
          <p:cNvPr id="190" name="BA_P6">
            <a:extLst>
              <a:ext uri="{FF2B5EF4-FFF2-40B4-BE49-F238E27FC236}">
                <a16:creationId xmlns:a16="http://schemas.microsoft.com/office/drawing/2014/main" id="{8DA2AA65-F490-0F86-78C5-38824A3242C8}"/>
              </a:ext>
            </a:extLst>
          </p:cNvPr>
          <p:cNvSpPr/>
          <p:nvPr/>
        </p:nvSpPr>
        <p:spPr>
          <a:xfrm>
            <a:off x="9490384" y="3369007"/>
            <a:ext cx="648000" cy="288000"/>
          </a:xfrm>
          <a:prstGeom prst="round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P6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API Support</a:t>
            </a:r>
          </a:p>
        </p:txBody>
      </p:sp>
      <p:sp>
        <p:nvSpPr>
          <p:cNvPr id="191" name="BA_P7">
            <a:extLst>
              <a:ext uri="{FF2B5EF4-FFF2-40B4-BE49-F238E27FC236}">
                <a16:creationId xmlns:a16="http://schemas.microsoft.com/office/drawing/2014/main" id="{33B56164-33D1-890F-936C-AD079AC0D2C5}"/>
              </a:ext>
            </a:extLst>
          </p:cNvPr>
          <p:cNvSpPr/>
          <p:nvPr/>
        </p:nvSpPr>
        <p:spPr>
          <a:xfrm>
            <a:off x="10160477" y="3369007"/>
            <a:ext cx="648000" cy="288000"/>
          </a:xfrm>
          <a:prstGeom prst="roundRect">
            <a:avLst/>
          </a:prstGeom>
          <a:solidFill>
            <a:srgbClr val="70AD47"/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P7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Campagnes et Frais</a:t>
            </a:r>
          </a:p>
        </p:txBody>
      </p:sp>
      <p:sp>
        <p:nvSpPr>
          <p:cNvPr id="192" name="BA_P8">
            <a:extLst>
              <a:ext uri="{FF2B5EF4-FFF2-40B4-BE49-F238E27FC236}">
                <a16:creationId xmlns:a16="http://schemas.microsoft.com/office/drawing/2014/main" id="{1A1ABA79-22F7-60A2-8C5D-9ED45294B91C}"/>
              </a:ext>
            </a:extLst>
          </p:cNvPr>
          <p:cNvSpPr/>
          <p:nvPr/>
        </p:nvSpPr>
        <p:spPr>
          <a:xfrm>
            <a:off x="8114072" y="3698914"/>
            <a:ext cx="648000" cy="288000"/>
          </a:xfrm>
          <a:prstGeom prst="round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P8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Habilit</a:t>
            </a: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. &amp;  </a:t>
            </a:r>
            <a:r>
              <a:rPr kumimoji="0" lang="fr-FR" sz="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Délég</a:t>
            </a: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.</a:t>
            </a:r>
          </a:p>
        </p:txBody>
      </p:sp>
      <p:sp>
        <p:nvSpPr>
          <p:cNvPr id="193" name="BA_Q1">
            <a:extLst>
              <a:ext uri="{FF2B5EF4-FFF2-40B4-BE49-F238E27FC236}">
                <a16:creationId xmlns:a16="http://schemas.microsoft.com/office/drawing/2014/main" id="{22DB96D2-5762-CB2D-871C-9CB09A97060A}"/>
              </a:ext>
            </a:extLst>
          </p:cNvPr>
          <p:cNvSpPr/>
          <p:nvPr/>
        </p:nvSpPr>
        <p:spPr>
          <a:xfrm>
            <a:off x="8803280" y="3698914"/>
            <a:ext cx="648000" cy="288000"/>
          </a:xfrm>
          <a:prstGeom prst="roundRect">
            <a:avLst/>
          </a:prstGeom>
          <a:solidFill>
            <a:srgbClr val="ED7D3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Q1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API </a:t>
            </a:r>
            <a:r>
              <a:rPr kumimoji="0" lang="fr-FR" sz="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Déciséo</a:t>
            </a:r>
            <a:endParaRPr kumimoji="0" lang="fr-FR" sz="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4" name="BA_W1">
            <a:extLst>
              <a:ext uri="{FF2B5EF4-FFF2-40B4-BE49-F238E27FC236}">
                <a16:creationId xmlns:a16="http://schemas.microsoft.com/office/drawing/2014/main" id="{C773EAFC-146C-CDC9-C5B8-5C49716C8524}"/>
              </a:ext>
            </a:extLst>
          </p:cNvPr>
          <p:cNvSpPr/>
          <p:nvPr/>
        </p:nvSpPr>
        <p:spPr>
          <a:xfrm>
            <a:off x="8114072" y="4023294"/>
            <a:ext cx="648000" cy="288000"/>
          </a:xfrm>
          <a:prstGeom prst="roundRect">
            <a:avLst/>
          </a:prstGeom>
          <a:solidFill>
            <a:srgbClr val="ED7D31"/>
          </a:solidFill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W1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API Signature</a:t>
            </a:r>
          </a:p>
        </p:txBody>
      </p:sp>
      <p:sp>
        <p:nvSpPr>
          <p:cNvPr id="195" name="BA_W2">
            <a:extLst>
              <a:ext uri="{FF2B5EF4-FFF2-40B4-BE49-F238E27FC236}">
                <a16:creationId xmlns:a16="http://schemas.microsoft.com/office/drawing/2014/main" id="{D63552D8-17E9-5E67-5954-2B8152692D12}"/>
              </a:ext>
            </a:extLst>
          </p:cNvPr>
          <p:cNvSpPr/>
          <p:nvPr/>
        </p:nvSpPr>
        <p:spPr>
          <a:xfrm>
            <a:off x="8803280" y="4023294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W2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Clause </a:t>
            </a:r>
            <a:r>
              <a:rPr kumimoji="0" lang="fr-FR" sz="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Bénéf</a:t>
            </a: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.</a:t>
            </a:r>
          </a:p>
        </p:txBody>
      </p:sp>
      <p:sp>
        <p:nvSpPr>
          <p:cNvPr id="196" name="BA_W4">
            <a:extLst>
              <a:ext uri="{FF2B5EF4-FFF2-40B4-BE49-F238E27FC236}">
                <a16:creationId xmlns:a16="http://schemas.microsoft.com/office/drawing/2014/main" id="{5054A908-A7F1-CD36-43DA-66888967EA2E}"/>
              </a:ext>
            </a:extLst>
          </p:cNvPr>
          <p:cNvSpPr/>
          <p:nvPr/>
        </p:nvSpPr>
        <p:spPr>
          <a:xfrm>
            <a:off x="9490384" y="4047213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W4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Modif</a:t>
            </a: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. </a:t>
            </a:r>
            <a:r>
              <a:rPr kumimoji="0" lang="fr-FR" sz="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Gar</a:t>
            </a: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. </a:t>
            </a:r>
            <a:r>
              <a:rPr kumimoji="0" lang="fr-FR" sz="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Prév</a:t>
            </a: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.</a:t>
            </a:r>
          </a:p>
        </p:txBody>
      </p:sp>
      <p:sp>
        <p:nvSpPr>
          <p:cNvPr id="197" name="Gr_REFUC">
            <a:extLst>
              <a:ext uri="{FF2B5EF4-FFF2-40B4-BE49-F238E27FC236}">
                <a16:creationId xmlns:a16="http://schemas.microsoft.com/office/drawing/2014/main" id="{9F57FB26-2B81-EBA3-F0A2-1F95155132C5}"/>
              </a:ext>
            </a:extLst>
          </p:cNvPr>
          <p:cNvSpPr/>
          <p:nvPr/>
        </p:nvSpPr>
        <p:spPr>
          <a:xfrm>
            <a:off x="4497472" y="3115682"/>
            <a:ext cx="769204" cy="591273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  <a:effectLst>
            <a:outerShdw blurRad="50800" dist="38100" dir="2700000" algn="ctr" rotWithShape="0">
              <a:schemeClr val="tx1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/>
            </a:endParaRPr>
          </a:p>
        </p:txBody>
      </p:sp>
      <p:sp>
        <p:nvSpPr>
          <p:cNvPr id="198" name="ZT_REFUC">
            <a:extLst>
              <a:ext uri="{FF2B5EF4-FFF2-40B4-BE49-F238E27FC236}">
                <a16:creationId xmlns:a16="http://schemas.microsoft.com/office/drawing/2014/main" id="{BB62B24F-DEE6-4F16-2D9D-6B02911DDDB1}"/>
              </a:ext>
            </a:extLst>
          </p:cNvPr>
          <p:cNvSpPr txBox="1"/>
          <p:nvPr/>
        </p:nvSpPr>
        <p:spPr>
          <a:xfrm>
            <a:off x="4585812" y="3143267"/>
            <a:ext cx="664123" cy="246221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REFUC</a:t>
            </a:r>
          </a:p>
        </p:txBody>
      </p:sp>
      <p:sp>
        <p:nvSpPr>
          <p:cNvPr id="199" name="BA_VL">
            <a:extLst>
              <a:ext uri="{FF2B5EF4-FFF2-40B4-BE49-F238E27FC236}">
                <a16:creationId xmlns:a16="http://schemas.microsoft.com/office/drawing/2014/main" id="{B2C2CDCA-ECBC-2AAE-01EF-6B1F9DF9891A}"/>
              </a:ext>
            </a:extLst>
          </p:cNvPr>
          <p:cNvSpPr/>
          <p:nvPr/>
        </p:nvSpPr>
        <p:spPr>
          <a:xfrm>
            <a:off x="4562134" y="3360904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VL</a:t>
            </a:r>
            <a:endParaRPr kumimoji="0" lang="fr-FR" sz="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Référ</a:t>
            </a: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. UC</a:t>
            </a:r>
          </a:p>
        </p:txBody>
      </p:sp>
      <p:sp>
        <p:nvSpPr>
          <p:cNvPr id="200" name="Gr_EBX">
            <a:extLst>
              <a:ext uri="{FF2B5EF4-FFF2-40B4-BE49-F238E27FC236}">
                <a16:creationId xmlns:a16="http://schemas.microsoft.com/office/drawing/2014/main" id="{632881EC-17D8-BE50-1842-58BA4D6624F8}"/>
              </a:ext>
            </a:extLst>
          </p:cNvPr>
          <p:cNvSpPr/>
          <p:nvPr/>
        </p:nvSpPr>
        <p:spPr>
          <a:xfrm>
            <a:off x="3593887" y="3113812"/>
            <a:ext cx="834318" cy="61200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  <a:effectLst>
            <a:outerShdw blurRad="50800" dist="38100" dir="2700000" algn="ctr" rotWithShape="0">
              <a:schemeClr val="tx1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/>
            </a:endParaRPr>
          </a:p>
        </p:txBody>
      </p:sp>
      <p:sp>
        <p:nvSpPr>
          <p:cNvPr id="201" name="ZT_EBX">
            <a:extLst>
              <a:ext uri="{FF2B5EF4-FFF2-40B4-BE49-F238E27FC236}">
                <a16:creationId xmlns:a16="http://schemas.microsoft.com/office/drawing/2014/main" id="{E9AA8F2B-EBCC-3239-93C5-1E2A2FEF3A02}"/>
              </a:ext>
            </a:extLst>
          </p:cNvPr>
          <p:cNvSpPr txBox="1"/>
          <p:nvPr/>
        </p:nvSpPr>
        <p:spPr>
          <a:xfrm>
            <a:off x="3603261" y="3141397"/>
            <a:ext cx="824943" cy="246221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EBX</a:t>
            </a:r>
          </a:p>
        </p:txBody>
      </p:sp>
      <p:sp>
        <p:nvSpPr>
          <p:cNvPr id="202" name="BA_EBX">
            <a:extLst>
              <a:ext uri="{FF2B5EF4-FFF2-40B4-BE49-F238E27FC236}">
                <a16:creationId xmlns:a16="http://schemas.microsoft.com/office/drawing/2014/main" id="{EB2C5CDD-B026-CA5B-0751-DC2729784CF0}"/>
              </a:ext>
            </a:extLst>
          </p:cNvPr>
          <p:cNvSpPr/>
          <p:nvPr/>
        </p:nvSpPr>
        <p:spPr>
          <a:xfrm>
            <a:off x="3697255" y="3370753"/>
            <a:ext cx="648000" cy="276281"/>
          </a:xfrm>
          <a:prstGeom prst="roundRect">
            <a:avLst/>
          </a:prstGeom>
          <a:solidFill>
            <a:srgbClr val="ED7D3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EBX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EBX-Platform</a:t>
            </a:r>
          </a:p>
        </p:txBody>
      </p:sp>
      <p:sp>
        <p:nvSpPr>
          <p:cNvPr id="203" name="ZoneProjet">
            <a:extLst>
              <a:ext uri="{FF2B5EF4-FFF2-40B4-BE49-F238E27FC236}">
                <a16:creationId xmlns:a16="http://schemas.microsoft.com/office/drawing/2014/main" id="{9E1C9AEC-724A-7C8D-1A33-2EA2DFA490AE}"/>
              </a:ext>
            </a:extLst>
          </p:cNvPr>
          <p:cNvSpPr txBox="1"/>
          <p:nvPr/>
        </p:nvSpPr>
        <p:spPr>
          <a:xfrm>
            <a:off x="572361" y="445515"/>
            <a:ext cx="2500685" cy="646331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>
            <a:defPPr>
              <a:defRPr lang="fr-FR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b="1" i="0" u="none" strike="noStrike" cap="none" spc="0" normalizeH="0" baseline="0">
                <a:ln>
                  <a:noFill/>
                </a:ln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Adhesion selfcare LCL</a:t>
            </a:r>
            <a:br>
              <a:rPr lang="en-US" dirty="0"/>
            </a:br>
            <a:endParaRPr lang="fr-FR" dirty="0"/>
          </a:p>
        </p:txBody>
      </p:sp>
      <p:sp>
        <p:nvSpPr>
          <p:cNvPr id="204" name="ZT_Titre">
            <a:extLst>
              <a:ext uri="{FF2B5EF4-FFF2-40B4-BE49-F238E27FC236}">
                <a16:creationId xmlns:a16="http://schemas.microsoft.com/office/drawing/2014/main" id="{D03B482D-0779-9DC7-3586-93278D2A9024}"/>
              </a:ext>
            </a:extLst>
          </p:cNvPr>
          <p:cNvSpPr txBox="1"/>
          <p:nvPr/>
        </p:nvSpPr>
        <p:spPr>
          <a:xfrm>
            <a:off x="0" y="-124544"/>
            <a:ext cx="12192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800" b="0" i="0" u="none" strike="noStrike" kern="1200" cap="none" spc="0" normalizeH="0" baseline="0" noProof="0" dirty="0">
                <a:ln>
                  <a:noFill/>
                </a:ln>
                <a:solidFill>
                  <a:srgbClr val="5B9BD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Identification des composants applicatifs</a:t>
            </a:r>
          </a:p>
        </p:txBody>
      </p:sp>
      <p:sp>
        <p:nvSpPr>
          <p:cNvPr id="205" name="Gr_BDOC">
            <a:extLst>
              <a:ext uri="{FF2B5EF4-FFF2-40B4-BE49-F238E27FC236}">
                <a16:creationId xmlns:a16="http://schemas.microsoft.com/office/drawing/2014/main" id="{431543F4-9694-6335-4213-87F08B1435C9}"/>
              </a:ext>
            </a:extLst>
          </p:cNvPr>
          <p:cNvSpPr/>
          <p:nvPr/>
        </p:nvSpPr>
        <p:spPr>
          <a:xfrm>
            <a:off x="5353697" y="3111592"/>
            <a:ext cx="744111" cy="61200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  <a:effectLst>
            <a:outerShdw blurRad="50800" dist="38100" dir="2700000" algn="ctr" rotWithShape="0">
              <a:schemeClr val="tx1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/>
            </a:endParaRPr>
          </a:p>
        </p:txBody>
      </p:sp>
      <p:sp>
        <p:nvSpPr>
          <p:cNvPr id="206" name="ZT_BDOC">
            <a:extLst>
              <a:ext uri="{FF2B5EF4-FFF2-40B4-BE49-F238E27FC236}">
                <a16:creationId xmlns:a16="http://schemas.microsoft.com/office/drawing/2014/main" id="{7670E022-6164-EE98-E5BA-A2D57A27AB2A}"/>
              </a:ext>
            </a:extLst>
          </p:cNvPr>
          <p:cNvSpPr txBox="1"/>
          <p:nvPr/>
        </p:nvSpPr>
        <p:spPr>
          <a:xfrm>
            <a:off x="5429887" y="3139177"/>
            <a:ext cx="623531" cy="246221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BDOC</a:t>
            </a:r>
          </a:p>
        </p:txBody>
      </p:sp>
      <p:sp>
        <p:nvSpPr>
          <p:cNvPr id="207" name="BA_BX">
            <a:extLst>
              <a:ext uri="{FF2B5EF4-FFF2-40B4-BE49-F238E27FC236}">
                <a16:creationId xmlns:a16="http://schemas.microsoft.com/office/drawing/2014/main" id="{30CCE3B2-5085-7401-9329-F2527E1EC4F9}"/>
              </a:ext>
            </a:extLst>
          </p:cNvPr>
          <p:cNvSpPr/>
          <p:nvPr/>
        </p:nvSpPr>
        <p:spPr>
          <a:xfrm>
            <a:off x="5405378" y="3393901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BX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BDOC WEB</a:t>
            </a:r>
          </a:p>
        </p:txBody>
      </p:sp>
      <p:sp>
        <p:nvSpPr>
          <p:cNvPr id="208" name="ZT_MàJ">
            <a:extLst>
              <a:ext uri="{FF2B5EF4-FFF2-40B4-BE49-F238E27FC236}">
                <a16:creationId xmlns:a16="http://schemas.microsoft.com/office/drawing/2014/main" id="{B05B36F5-E0AB-3E0C-53CA-2C570C0903C8}"/>
              </a:ext>
            </a:extLst>
          </p:cNvPr>
          <p:cNvSpPr txBox="1"/>
          <p:nvPr/>
        </p:nvSpPr>
        <p:spPr>
          <a:xfrm>
            <a:off x="390525" y="6491355"/>
            <a:ext cx="169950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Mise à jour : xx/xx/2026</a:t>
            </a:r>
          </a:p>
        </p:txBody>
      </p:sp>
      <p:sp>
        <p:nvSpPr>
          <p:cNvPr id="209" name="ZT_Validité">
            <a:extLst>
              <a:ext uri="{FF2B5EF4-FFF2-40B4-BE49-F238E27FC236}">
                <a16:creationId xmlns:a16="http://schemas.microsoft.com/office/drawing/2014/main" id="{3EDD940B-7CE6-D0CF-44EA-FAD01A4C5FD1}"/>
              </a:ext>
            </a:extLst>
          </p:cNvPr>
          <p:cNvSpPr txBox="1"/>
          <p:nvPr/>
        </p:nvSpPr>
        <p:spPr>
          <a:xfrm>
            <a:off x="10479876" y="6501427"/>
            <a:ext cx="126444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Validité : T2 2026</a:t>
            </a:r>
          </a:p>
        </p:txBody>
      </p:sp>
      <p:sp>
        <p:nvSpPr>
          <p:cNvPr id="210" name="Légende_Comp3">
            <a:extLst>
              <a:ext uri="{FF2B5EF4-FFF2-40B4-BE49-F238E27FC236}">
                <a16:creationId xmlns:a16="http://schemas.microsoft.com/office/drawing/2014/main" id="{24FF50B4-38A9-373E-D923-E793B4A639A5}"/>
              </a:ext>
            </a:extLst>
          </p:cNvPr>
          <p:cNvSpPr/>
          <p:nvPr/>
        </p:nvSpPr>
        <p:spPr>
          <a:xfrm>
            <a:off x="6567797" y="549933"/>
            <a:ext cx="1080000" cy="360000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Composant </a:t>
            </a:r>
            <a:b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créé ou modifié</a:t>
            </a:r>
          </a:p>
        </p:txBody>
      </p:sp>
      <p:sp>
        <p:nvSpPr>
          <p:cNvPr id="211" name="Légende_Comp2">
            <a:extLst>
              <a:ext uri="{FF2B5EF4-FFF2-40B4-BE49-F238E27FC236}">
                <a16:creationId xmlns:a16="http://schemas.microsoft.com/office/drawing/2014/main" id="{418D186C-948D-4F35-B133-6B089D6CF581}"/>
              </a:ext>
            </a:extLst>
          </p:cNvPr>
          <p:cNvSpPr/>
          <p:nvPr/>
        </p:nvSpPr>
        <p:spPr>
          <a:xfrm>
            <a:off x="5383906" y="547517"/>
            <a:ext cx="1080000" cy="360000"/>
          </a:xfrm>
          <a:prstGeom prst="round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Composant utilisé</a:t>
            </a:r>
          </a:p>
        </p:txBody>
      </p:sp>
      <p:sp>
        <p:nvSpPr>
          <p:cNvPr id="212" name="Légende_Comp1">
            <a:extLst>
              <a:ext uri="{FF2B5EF4-FFF2-40B4-BE49-F238E27FC236}">
                <a16:creationId xmlns:a16="http://schemas.microsoft.com/office/drawing/2014/main" id="{722CC1FF-6B2B-3E12-4EF8-B36075831A88}"/>
              </a:ext>
            </a:extLst>
          </p:cNvPr>
          <p:cNvSpPr/>
          <p:nvPr/>
        </p:nvSpPr>
        <p:spPr>
          <a:xfrm>
            <a:off x="4200015" y="542942"/>
            <a:ext cx="1080000" cy="360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Composant non exploité</a:t>
            </a:r>
          </a:p>
        </p:txBody>
      </p:sp>
      <p:sp>
        <p:nvSpPr>
          <p:cNvPr id="213" name="BA_T2">
            <a:extLst>
              <a:ext uri="{FF2B5EF4-FFF2-40B4-BE49-F238E27FC236}">
                <a16:creationId xmlns:a16="http://schemas.microsoft.com/office/drawing/2014/main" id="{084AB553-4391-8DCC-696D-84A8064B00DE}"/>
              </a:ext>
            </a:extLst>
          </p:cNvPr>
          <p:cNvSpPr/>
          <p:nvPr/>
        </p:nvSpPr>
        <p:spPr>
          <a:xfrm>
            <a:off x="9490384" y="3696185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T2</a:t>
            </a:r>
            <a:endParaRPr kumimoji="0" lang="fr-FR" sz="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KConnect</a:t>
            </a: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 MUTU</a:t>
            </a:r>
          </a:p>
        </p:txBody>
      </p:sp>
      <p:sp>
        <p:nvSpPr>
          <p:cNvPr id="214" name="BA_T3">
            <a:extLst>
              <a:ext uri="{FF2B5EF4-FFF2-40B4-BE49-F238E27FC236}">
                <a16:creationId xmlns:a16="http://schemas.microsoft.com/office/drawing/2014/main" id="{0CE43004-24BB-9F5D-2A09-08E73E75EED7}"/>
              </a:ext>
            </a:extLst>
          </p:cNvPr>
          <p:cNvSpPr/>
          <p:nvPr/>
        </p:nvSpPr>
        <p:spPr>
          <a:xfrm>
            <a:off x="10160477" y="3696185"/>
            <a:ext cx="648000" cy="288000"/>
          </a:xfrm>
          <a:prstGeom prst="roundRect">
            <a:avLst/>
          </a:prstGeom>
          <a:solidFill>
            <a:srgbClr val="70AD4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T3</a:t>
            </a:r>
            <a:endParaRPr kumimoji="0" lang="fr-FR" sz="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KConnect</a:t>
            </a: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 CAA</a:t>
            </a:r>
          </a:p>
        </p:txBody>
      </p:sp>
      <p:sp>
        <p:nvSpPr>
          <p:cNvPr id="215" name="BA_F8">
            <a:extLst>
              <a:ext uri="{FF2B5EF4-FFF2-40B4-BE49-F238E27FC236}">
                <a16:creationId xmlns:a16="http://schemas.microsoft.com/office/drawing/2014/main" id="{E90BD119-8F99-A73F-DD2B-FB4C9B3008EB}"/>
              </a:ext>
            </a:extLst>
          </p:cNvPr>
          <p:cNvSpPr/>
          <p:nvPr/>
        </p:nvSpPr>
        <p:spPr>
          <a:xfrm>
            <a:off x="8803280" y="2047150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F8</a:t>
            </a:r>
            <a:endParaRPr kumimoji="0" lang="fr-FR" sz="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API MOOP</a:t>
            </a:r>
          </a:p>
        </p:txBody>
      </p:sp>
      <p:sp>
        <p:nvSpPr>
          <p:cNvPr id="216" name="Gr_ETL">
            <a:extLst>
              <a:ext uri="{FF2B5EF4-FFF2-40B4-BE49-F238E27FC236}">
                <a16:creationId xmlns:a16="http://schemas.microsoft.com/office/drawing/2014/main" id="{6F3805EF-7C5B-4421-A1FD-848340691803}"/>
              </a:ext>
            </a:extLst>
          </p:cNvPr>
          <p:cNvSpPr/>
          <p:nvPr/>
        </p:nvSpPr>
        <p:spPr>
          <a:xfrm>
            <a:off x="1617823" y="2849127"/>
            <a:ext cx="862923" cy="561929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  <a:effectLst>
            <a:outerShdw blurRad="50800" dist="38100" dir="2700000" algn="ctr" rotWithShape="0">
              <a:schemeClr val="tx1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/>
            </a:endParaRPr>
          </a:p>
        </p:txBody>
      </p:sp>
      <p:sp>
        <p:nvSpPr>
          <p:cNvPr id="217" name="ZT_ETL">
            <a:extLst>
              <a:ext uri="{FF2B5EF4-FFF2-40B4-BE49-F238E27FC236}">
                <a16:creationId xmlns:a16="http://schemas.microsoft.com/office/drawing/2014/main" id="{39D3E1DC-57CB-692B-4550-363A42F9B57B}"/>
              </a:ext>
            </a:extLst>
          </p:cNvPr>
          <p:cNvSpPr txBox="1"/>
          <p:nvPr/>
        </p:nvSpPr>
        <p:spPr>
          <a:xfrm>
            <a:off x="1611935" y="2858784"/>
            <a:ext cx="898650" cy="246221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ETL</a:t>
            </a:r>
          </a:p>
        </p:txBody>
      </p:sp>
      <p:sp>
        <p:nvSpPr>
          <p:cNvPr id="218" name="BA_PWC2">
            <a:extLst>
              <a:ext uri="{FF2B5EF4-FFF2-40B4-BE49-F238E27FC236}">
                <a16:creationId xmlns:a16="http://schemas.microsoft.com/office/drawing/2014/main" id="{07902749-3EE0-E8D3-12A4-2C306A2CA3D3}"/>
              </a:ext>
            </a:extLst>
          </p:cNvPr>
          <p:cNvSpPr/>
          <p:nvPr/>
        </p:nvSpPr>
        <p:spPr>
          <a:xfrm>
            <a:off x="1715817" y="3076593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PWC2</a:t>
            </a:r>
            <a:endParaRPr kumimoji="0" lang="fr-FR" sz="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ETL PREDICA</a:t>
            </a:r>
          </a:p>
        </p:txBody>
      </p:sp>
      <p:sp>
        <p:nvSpPr>
          <p:cNvPr id="219" name="Légende_Date1">
            <a:extLst>
              <a:ext uri="{FF2B5EF4-FFF2-40B4-BE49-F238E27FC236}">
                <a16:creationId xmlns:a16="http://schemas.microsoft.com/office/drawing/2014/main" id="{EDCB1EB4-292C-D158-4992-5530665012D1}"/>
              </a:ext>
            </a:extLst>
          </p:cNvPr>
          <p:cNvSpPr txBox="1"/>
          <p:nvPr/>
        </p:nvSpPr>
        <p:spPr>
          <a:xfrm rot="19102564">
            <a:off x="7647306" y="559123"/>
            <a:ext cx="927160" cy="369332"/>
          </a:xfrm>
          <a:prstGeom prst="rect">
            <a:avLst/>
          </a:prstGeom>
          <a:noFill/>
          <a:ln cap="flat">
            <a:noFill/>
            <a:prstDash val="solid"/>
          </a:ln>
          <a:effectLst>
            <a:softEdge rad="0"/>
          </a:effectLst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900" b="0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Date de </a:t>
            </a:r>
            <a:r>
              <a:rPr kumimoji="0" lang="fr-FR" sz="900" b="0" i="0" u="none" strike="noStrike" kern="1200" cap="none" spc="0" normalizeH="0" baseline="0" noProof="0" dirty="0" err="1">
                <a:ln>
                  <a:noFill/>
                </a:ln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MeP</a:t>
            </a:r>
            <a:r>
              <a:rPr kumimoji="0" lang="fr-FR" sz="900" b="0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 prévue</a:t>
            </a:r>
          </a:p>
        </p:txBody>
      </p:sp>
      <p:sp>
        <p:nvSpPr>
          <p:cNvPr id="222" name="Légende_Date2">
            <a:extLst>
              <a:ext uri="{FF2B5EF4-FFF2-40B4-BE49-F238E27FC236}">
                <a16:creationId xmlns:a16="http://schemas.microsoft.com/office/drawing/2014/main" id="{9DB40AD5-87A4-8E10-C217-E383A700AF6F}"/>
              </a:ext>
            </a:extLst>
          </p:cNvPr>
          <p:cNvSpPr txBox="1"/>
          <p:nvPr/>
        </p:nvSpPr>
        <p:spPr>
          <a:xfrm rot="19102564">
            <a:off x="8343008" y="568799"/>
            <a:ext cx="927160" cy="369332"/>
          </a:xfrm>
          <a:prstGeom prst="rect">
            <a:avLst/>
          </a:prstGeom>
          <a:noFill/>
          <a:ln cap="flat">
            <a:noFill/>
            <a:prstDash val="solid"/>
          </a:ln>
          <a:effectLst>
            <a:softEdge rad="0"/>
          </a:effectLst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900" b="0" i="0" u="none" strike="noStrike" kern="1200" cap="none" spc="0" normalizeH="0" baseline="0" noProof="0" dirty="0">
                <a:ln>
                  <a:noFill/>
                </a:ln>
                <a:solidFill>
                  <a:srgbClr val="70AD4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Date de </a:t>
            </a:r>
            <a:r>
              <a:rPr kumimoji="0" lang="fr-FR" sz="900" b="0" i="0" u="none" strike="noStrike" kern="1200" cap="none" spc="0" normalizeH="0" baseline="0" noProof="0" dirty="0" err="1">
                <a:ln>
                  <a:noFill/>
                </a:ln>
                <a:solidFill>
                  <a:srgbClr val="70AD4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MeP</a:t>
            </a:r>
            <a:r>
              <a:rPr kumimoji="0" lang="fr-FR" sz="900" b="0" i="0" u="none" strike="noStrike" kern="1200" cap="none" spc="0" normalizeH="0" baseline="0" noProof="0" dirty="0">
                <a:ln>
                  <a:noFill/>
                </a:ln>
                <a:solidFill>
                  <a:srgbClr val="70AD4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 effective</a:t>
            </a:r>
          </a:p>
        </p:txBody>
      </p:sp>
      <p:sp>
        <p:nvSpPr>
          <p:cNvPr id="223" name="Gr_CATS">
            <a:extLst>
              <a:ext uri="{FF2B5EF4-FFF2-40B4-BE49-F238E27FC236}">
                <a16:creationId xmlns:a16="http://schemas.microsoft.com/office/drawing/2014/main" id="{BA430E5D-4051-59A6-9FB3-CE175FF6669A}"/>
              </a:ext>
            </a:extLst>
          </p:cNvPr>
          <p:cNvSpPr/>
          <p:nvPr/>
        </p:nvSpPr>
        <p:spPr>
          <a:xfrm>
            <a:off x="447324" y="5119889"/>
            <a:ext cx="5579420" cy="1254012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4" name="ZT_CATS">
            <a:extLst>
              <a:ext uri="{FF2B5EF4-FFF2-40B4-BE49-F238E27FC236}">
                <a16:creationId xmlns:a16="http://schemas.microsoft.com/office/drawing/2014/main" id="{28627660-8B75-B73D-BDAD-228342221C97}"/>
              </a:ext>
            </a:extLst>
          </p:cNvPr>
          <p:cNvSpPr txBox="1"/>
          <p:nvPr/>
        </p:nvSpPr>
        <p:spPr>
          <a:xfrm>
            <a:off x="370835" y="5083258"/>
            <a:ext cx="5409144" cy="246221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CA-TS</a:t>
            </a:r>
            <a:endParaRPr kumimoji="0" lang="fr-FR" sz="1000" b="1" i="1" u="none" strike="noStrike" kern="1200" cap="none" spc="0" normalizeH="0" baseline="0" noProof="0" dirty="0">
              <a:ln>
                <a:noFill/>
              </a:ln>
              <a:solidFill>
                <a:srgbClr val="7030A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5" name="BA_PDI9">
            <a:extLst>
              <a:ext uri="{FF2B5EF4-FFF2-40B4-BE49-F238E27FC236}">
                <a16:creationId xmlns:a16="http://schemas.microsoft.com/office/drawing/2014/main" id="{88E33158-CA8B-C0BD-C753-3DDEDBA4BFD9}"/>
              </a:ext>
            </a:extLst>
          </p:cNvPr>
          <p:cNvSpPr/>
          <p:nvPr/>
        </p:nvSpPr>
        <p:spPr>
          <a:xfrm>
            <a:off x="506780" y="5666800"/>
            <a:ext cx="648000" cy="288000"/>
          </a:xfrm>
          <a:prstGeom prst="roundRect">
            <a:avLst/>
          </a:prstGeom>
          <a:solidFill>
            <a:srgbClr val="B6D3EC"/>
          </a:solidFill>
          <a:ln w="6350"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PDI9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6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/>
              </a:rPr>
              <a:t>-</a:t>
            </a:r>
            <a:endParaRPr kumimoji="0" lang="fr-FR" sz="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6" name="BA_XConnect">
            <a:extLst>
              <a:ext uri="{FF2B5EF4-FFF2-40B4-BE49-F238E27FC236}">
                <a16:creationId xmlns:a16="http://schemas.microsoft.com/office/drawing/2014/main" id="{F5E905A3-538F-27B9-C1CE-7836D414552A}"/>
              </a:ext>
            </a:extLst>
          </p:cNvPr>
          <p:cNvSpPr/>
          <p:nvPr/>
        </p:nvSpPr>
        <p:spPr>
          <a:xfrm>
            <a:off x="1189563" y="5663009"/>
            <a:ext cx="648000" cy="288000"/>
          </a:xfrm>
          <a:prstGeom prst="roundRect">
            <a:avLst/>
          </a:prstGeom>
          <a:solidFill>
            <a:srgbClr val="B6D3EC"/>
          </a:solidFill>
          <a:ln w="6350"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Xconnect</a:t>
            </a:r>
            <a:endParaRPr kumimoji="0" lang="fr-FR" sz="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6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/>
              </a:rPr>
              <a:t>-</a:t>
            </a:r>
            <a:endParaRPr kumimoji="0" lang="fr-FR" sz="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7" name="BA_SIMM">
            <a:extLst>
              <a:ext uri="{FF2B5EF4-FFF2-40B4-BE49-F238E27FC236}">
                <a16:creationId xmlns:a16="http://schemas.microsoft.com/office/drawing/2014/main" id="{6DB4F333-8C8A-DA39-D508-D1CF0C479F2B}"/>
              </a:ext>
            </a:extLst>
          </p:cNvPr>
          <p:cNvSpPr/>
          <p:nvPr/>
        </p:nvSpPr>
        <p:spPr>
          <a:xfrm>
            <a:off x="2557693" y="5660385"/>
            <a:ext cx="648000" cy="288000"/>
          </a:xfrm>
          <a:prstGeom prst="roundRect">
            <a:avLst/>
          </a:prstGeom>
          <a:solidFill>
            <a:srgbClr val="B6D3EC"/>
          </a:solidFill>
          <a:ln w="6350"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SIMM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6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/>
              </a:rPr>
              <a:t>-</a:t>
            </a:r>
            <a:endParaRPr kumimoji="0" lang="fr-FR" sz="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8" name="BA_BAM">
            <a:extLst>
              <a:ext uri="{FF2B5EF4-FFF2-40B4-BE49-F238E27FC236}">
                <a16:creationId xmlns:a16="http://schemas.microsoft.com/office/drawing/2014/main" id="{39892154-7A87-EE6D-7946-9CAFD14EC685}"/>
              </a:ext>
            </a:extLst>
          </p:cNvPr>
          <p:cNvSpPr/>
          <p:nvPr/>
        </p:nvSpPr>
        <p:spPr>
          <a:xfrm>
            <a:off x="2833493" y="5340532"/>
            <a:ext cx="648000" cy="288000"/>
          </a:xfrm>
          <a:prstGeom prst="roundRect">
            <a:avLst/>
          </a:prstGeom>
          <a:solidFill>
            <a:srgbClr val="B6D3EC"/>
          </a:solidFill>
          <a:ln w="6350"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BAM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6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/>
              </a:rPr>
              <a:t>-</a:t>
            </a:r>
            <a:endParaRPr kumimoji="0" lang="fr-FR" sz="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9" name="BA_RAC">
            <a:extLst>
              <a:ext uri="{FF2B5EF4-FFF2-40B4-BE49-F238E27FC236}">
                <a16:creationId xmlns:a16="http://schemas.microsoft.com/office/drawing/2014/main" id="{A17DEE09-C105-2A32-6732-D18E81C7866E}"/>
              </a:ext>
            </a:extLst>
          </p:cNvPr>
          <p:cNvSpPr/>
          <p:nvPr/>
        </p:nvSpPr>
        <p:spPr>
          <a:xfrm>
            <a:off x="4892893" y="5338051"/>
            <a:ext cx="648000" cy="288000"/>
          </a:xfrm>
          <a:prstGeom prst="roundRect">
            <a:avLst/>
          </a:prstGeom>
          <a:solidFill>
            <a:srgbClr val="B6D3EC"/>
          </a:solidFill>
          <a:ln w="6350"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RAC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6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/>
              </a:rPr>
              <a:t>-</a:t>
            </a:r>
            <a:endParaRPr kumimoji="0" lang="fr-FR" sz="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0" name="BA_DétContratNatifMB">
            <a:extLst>
              <a:ext uri="{FF2B5EF4-FFF2-40B4-BE49-F238E27FC236}">
                <a16:creationId xmlns:a16="http://schemas.microsoft.com/office/drawing/2014/main" id="{8CDD566C-8829-897E-D949-C49C1C8F7BA0}"/>
              </a:ext>
            </a:extLst>
          </p:cNvPr>
          <p:cNvSpPr/>
          <p:nvPr/>
        </p:nvSpPr>
        <p:spPr>
          <a:xfrm>
            <a:off x="506780" y="5329301"/>
            <a:ext cx="1326281" cy="288000"/>
          </a:xfrm>
          <a:prstGeom prst="roundRect">
            <a:avLst/>
          </a:prstGeom>
          <a:solidFill>
            <a:srgbClr val="B6D3EC"/>
          </a:solidFill>
          <a:ln w="6350"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Dét</a:t>
            </a: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. Contrat natif MB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6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/>
              </a:rPr>
              <a:t>-</a:t>
            </a:r>
            <a:endParaRPr kumimoji="0" lang="fr-FR" sz="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1" name="BA_BPM">
            <a:extLst>
              <a:ext uri="{FF2B5EF4-FFF2-40B4-BE49-F238E27FC236}">
                <a16:creationId xmlns:a16="http://schemas.microsoft.com/office/drawing/2014/main" id="{56781AC5-45A6-4119-315B-D97C2DBB6828}"/>
              </a:ext>
            </a:extLst>
          </p:cNvPr>
          <p:cNvSpPr/>
          <p:nvPr/>
        </p:nvSpPr>
        <p:spPr>
          <a:xfrm>
            <a:off x="1875772" y="5663009"/>
            <a:ext cx="648000" cy="288000"/>
          </a:xfrm>
          <a:prstGeom prst="roundRect">
            <a:avLst/>
          </a:prstGeom>
          <a:solidFill>
            <a:srgbClr val="B6D3EC"/>
          </a:solidFill>
          <a:ln w="6350"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BPM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6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/>
              </a:rPr>
              <a:t>-</a:t>
            </a:r>
            <a:endParaRPr kumimoji="0" lang="fr-FR" sz="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2" name="BA_APX9">
            <a:extLst>
              <a:ext uri="{FF2B5EF4-FFF2-40B4-BE49-F238E27FC236}">
                <a16:creationId xmlns:a16="http://schemas.microsoft.com/office/drawing/2014/main" id="{85E4A1F1-494A-93C0-AD82-A1B1E1866D71}"/>
              </a:ext>
            </a:extLst>
          </p:cNvPr>
          <p:cNvSpPr/>
          <p:nvPr/>
        </p:nvSpPr>
        <p:spPr>
          <a:xfrm>
            <a:off x="511818" y="6003252"/>
            <a:ext cx="648000" cy="288000"/>
          </a:xfrm>
          <a:prstGeom prst="roundRect">
            <a:avLst/>
          </a:prstGeom>
          <a:solidFill>
            <a:srgbClr val="B6D3EC"/>
          </a:solidFill>
          <a:ln w="6350"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APX9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6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/>
              </a:rPr>
              <a:t>-</a:t>
            </a:r>
            <a:endParaRPr kumimoji="0" lang="fr-FR" sz="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3" name="BA_HUB">
            <a:extLst>
              <a:ext uri="{FF2B5EF4-FFF2-40B4-BE49-F238E27FC236}">
                <a16:creationId xmlns:a16="http://schemas.microsoft.com/office/drawing/2014/main" id="{9ACE758B-4F80-7932-E0D9-28B0515849DE}"/>
              </a:ext>
            </a:extLst>
          </p:cNvPr>
          <p:cNvSpPr/>
          <p:nvPr/>
        </p:nvSpPr>
        <p:spPr>
          <a:xfrm>
            <a:off x="3242082" y="5660385"/>
            <a:ext cx="648000" cy="288000"/>
          </a:xfrm>
          <a:prstGeom prst="roundRect">
            <a:avLst/>
          </a:prstGeom>
          <a:solidFill>
            <a:srgbClr val="B6D3EC"/>
          </a:solidFill>
          <a:ln w="6350"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HUB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6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/>
              </a:rPr>
              <a:t>-</a:t>
            </a:r>
            <a:endParaRPr kumimoji="0" lang="fr-FR" sz="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4" name="BA_NPC">
            <a:extLst>
              <a:ext uri="{FF2B5EF4-FFF2-40B4-BE49-F238E27FC236}">
                <a16:creationId xmlns:a16="http://schemas.microsoft.com/office/drawing/2014/main" id="{610242E8-FCE2-B79B-CE2B-DE289553160C}"/>
              </a:ext>
            </a:extLst>
          </p:cNvPr>
          <p:cNvSpPr/>
          <p:nvPr/>
        </p:nvSpPr>
        <p:spPr>
          <a:xfrm>
            <a:off x="3515693" y="5337169"/>
            <a:ext cx="648000" cy="288000"/>
          </a:xfrm>
          <a:prstGeom prst="roundRect">
            <a:avLst/>
          </a:prstGeom>
          <a:solidFill>
            <a:srgbClr val="B6D3EC"/>
          </a:solidFill>
          <a:ln w="6350"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NPC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6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/>
              </a:rPr>
              <a:t>-</a:t>
            </a:r>
            <a:endParaRPr kumimoji="0" lang="fr-FR" sz="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5" name="BA_Microservices">
            <a:extLst>
              <a:ext uri="{FF2B5EF4-FFF2-40B4-BE49-F238E27FC236}">
                <a16:creationId xmlns:a16="http://schemas.microsoft.com/office/drawing/2014/main" id="{4CA44B52-3A86-E3A9-C382-5CB51FB5F9A8}"/>
              </a:ext>
            </a:extLst>
          </p:cNvPr>
          <p:cNvSpPr/>
          <p:nvPr/>
        </p:nvSpPr>
        <p:spPr>
          <a:xfrm>
            <a:off x="1867224" y="5336000"/>
            <a:ext cx="925408" cy="288000"/>
          </a:xfrm>
          <a:prstGeom prst="roundRect">
            <a:avLst/>
          </a:prstGeom>
          <a:solidFill>
            <a:srgbClr val="B6D3EC"/>
          </a:solidFill>
          <a:ln w="6350"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Microservices</a:t>
            </a:r>
            <a:endParaRPr kumimoji="0" lang="fr-FR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6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/>
              </a:rPr>
              <a:t>-</a:t>
            </a:r>
            <a:endParaRPr kumimoji="0" lang="fr-FR" sz="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6" name="BA_SIG9">
            <a:extLst>
              <a:ext uri="{FF2B5EF4-FFF2-40B4-BE49-F238E27FC236}">
                <a16:creationId xmlns:a16="http://schemas.microsoft.com/office/drawing/2014/main" id="{F04A3969-0743-64A7-F6A9-4D14C05211B7}"/>
              </a:ext>
            </a:extLst>
          </p:cNvPr>
          <p:cNvSpPr/>
          <p:nvPr/>
        </p:nvSpPr>
        <p:spPr>
          <a:xfrm>
            <a:off x="4203138" y="5331299"/>
            <a:ext cx="648000" cy="288000"/>
          </a:xfrm>
          <a:prstGeom prst="roundRect">
            <a:avLst/>
          </a:prstGeom>
          <a:solidFill>
            <a:srgbClr val="B6D3EC"/>
          </a:solidFill>
          <a:ln w="6350"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SIG9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6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/>
              </a:rPr>
              <a:t>-</a:t>
            </a:r>
            <a:endParaRPr kumimoji="0" lang="fr-FR" sz="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7" name="Gr_MVS">
            <a:extLst>
              <a:ext uri="{FF2B5EF4-FFF2-40B4-BE49-F238E27FC236}">
                <a16:creationId xmlns:a16="http://schemas.microsoft.com/office/drawing/2014/main" id="{90C239B7-F2E3-6BC5-A94F-73FC4983F936}"/>
              </a:ext>
            </a:extLst>
          </p:cNvPr>
          <p:cNvSpPr/>
          <p:nvPr/>
        </p:nvSpPr>
        <p:spPr>
          <a:xfrm>
            <a:off x="560497" y="1111645"/>
            <a:ext cx="2901105" cy="1661382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  <a:effectLst>
            <a:outerShdw blurRad="50800" dist="38100" dir="2700000" algn="ctr" rotWithShape="0">
              <a:schemeClr val="tx1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/>
            </a:endParaRPr>
          </a:p>
        </p:txBody>
      </p:sp>
      <p:sp>
        <p:nvSpPr>
          <p:cNvPr id="238" name="BA_CICS_LCL">
            <a:extLst>
              <a:ext uri="{FF2B5EF4-FFF2-40B4-BE49-F238E27FC236}">
                <a16:creationId xmlns:a16="http://schemas.microsoft.com/office/drawing/2014/main" id="{97CA7152-E343-F604-FAE9-4E48261F83A4}"/>
              </a:ext>
            </a:extLst>
          </p:cNvPr>
          <p:cNvSpPr/>
          <p:nvPr/>
        </p:nvSpPr>
        <p:spPr>
          <a:xfrm>
            <a:off x="623669" y="1641943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CICS</a:t>
            </a:r>
          </a:p>
        </p:txBody>
      </p:sp>
      <p:sp>
        <p:nvSpPr>
          <p:cNvPr id="239" name="BA_DB2_LCL">
            <a:extLst>
              <a:ext uri="{FF2B5EF4-FFF2-40B4-BE49-F238E27FC236}">
                <a16:creationId xmlns:a16="http://schemas.microsoft.com/office/drawing/2014/main" id="{7F0EEA6B-1122-AFE1-B77E-F40FFFC10598}"/>
              </a:ext>
            </a:extLst>
          </p:cNvPr>
          <p:cNvSpPr/>
          <p:nvPr/>
        </p:nvSpPr>
        <p:spPr>
          <a:xfrm>
            <a:off x="1307275" y="1641222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DB2</a:t>
            </a:r>
          </a:p>
        </p:txBody>
      </p:sp>
      <p:sp>
        <p:nvSpPr>
          <p:cNvPr id="240" name="ZT_MVS">
            <a:extLst>
              <a:ext uri="{FF2B5EF4-FFF2-40B4-BE49-F238E27FC236}">
                <a16:creationId xmlns:a16="http://schemas.microsoft.com/office/drawing/2014/main" id="{D9E91BBA-EF55-66B7-9774-EF61279014E1}"/>
              </a:ext>
            </a:extLst>
          </p:cNvPr>
          <p:cNvSpPr txBox="1"/>
          <p:nvPr/>
        </p:nvSpPr>
        <p:spPr>
          <a:xfrm>
            <a:off x="560496" y="1111645"/>
            <a:ext cx="2901106" cy="246221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MVS Z/OS (</a:t>
            </a:r>
            <a:r>
              <a:rPr kumimoji="0" lang="fr-FR" sz="1000" b="1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Ingenium</a:t>
            </a:r>
            <a:r>
              <a:rPr kumimoji="0" lang="fr-FR" sz="1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)</a:t>
            </a:r>
            <a:endParaRPr kumimoji="0" lang="fr-FR" sz="1000" b="1" i="1" u="none" strike="noStrike" kern="1200" cap="none" spc="0" normalizeH="0" baseline="0" noProof="0" dirty="0">
              <a:ln>
                <a:noFill/>
              </a:ln>
              <a:solidFill>
                <a:srgbClr val="ED7D3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1" name="BA_ING_CA">
            <a:extLst>
              <a:ext uri="{FF2B5EF4-FFF2-40B4-BE49-F238E27FC236}">
                <a16:creationId xmlns:a16="http://schemas.microsoft.com/office/drawing/2014/main" id="{C1056626-6B00-7AF4-8E3D-9F1D58DDD9E2}"/>
              </a:ext>
            </a:extLst>
          </p:cNvPr>
          <p:cNvSpPr/>
          <p:nvPr/>
        </p:nvSpPr>
        <p:spPr>
          <a:xfrm>
            <a:off x="2043446" y="1970146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INVI/VC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Ingenium</a:t>
            </a: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 CA</a:t>
            </a:r>
          </a:p>
        </p:txBody>
      </p:sp>
      <p:sp>
        <p:nvSpPr>
          <p:cNvPr id="242" name="BA_PE_CA">
            <a:extLst>
              <a:ext uri="{FF2B5EF4-FFF2-40B4-BE49-F238E27FC236}">
                <a16:creationId xmlns:a16="http://schemas.microsoft.com/office/drawing/2014/main" id="{0B02E40D-6464-8359-2AC7-DD86E42F8433}"/>
              </a:ext>
            </a:extLst>
          </p:cNvPr>
          <p:cNvSpPr/>
          <p:nvPr/>
        </p:nvSpPr>
        <p:spPr>
          <a:xfrm>
            <a:off x="2716487" y="1971824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PE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Base Pers CA</a:t>
            </a:r>
          </a:p>
        </p:txBody>
      </p:sp>
      <p:sp>
        <p:nvSpPr>
          <p:cNvPr id="243" name="BA_Autre_CA">
            <a:extLst>
              <a:ext uri="{FF2B5EF4-FFF2-40B4-BE49-F238E27FC236}">
                <a16:creationId xmlns:a16="http://schemas.microsoft.com/office/drawing/2014/main" id="{1D73144E-A47A-2E35-685E-68C976385CAC}"/>
              </a:ext>
            </a:extLst>
          </p:cNvPr>
          <p:cNvSpPr/>
          <p:nvPr/>
        </p:nvSpPr>
        <p:spPr>
          <a:xfrm>
            <a:off x="2377796" y="2309491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…</a:t>
            </a:r>
          </a:p>
        </p:txBody>
      </p:sp>
      <p:sp>
        <p:nvSpPr>
          <p:cNvPr id="244" name="BA_ING_LCL">
            <a:extLst>
              <a:ext uri="{FF2B5EF4-FFF2-40B4-BE49-F238E27FC236}">
                <a16:creationId xmlns:a16="http://schemas.microsoft.com/office/drawing/2014/main" id="{E6778108-0F16-87EA-DC88-E605B47A8E4D}"/>
              </a:ext>
            </a:extLst>
          </p:cNvPr>
          <p:cNvSpPr/>
          <p:nvPr/>
        </p:nvSpPr>
        <p:spPr>
          <a:xfrm>
            <a:off x="619469" y="1964817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INVI/VC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Ingenium</a:t>
            </a: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 LCL</a:t>
            </a:r>
          </a:p>
        </p:txBody>
      </p:sp>
      <p:sp>
        <p:nvSpPr>
          <p:cNvPr id="245" name="BA_PE_LCL">
            <a:extLst>
              <a:ext uri="{FF2B5EF4-FFF2-40B4-BE49-F238E27FC236}">
                <a16:creationId xmlns:a16="http://schemas.microsoft.com/office/drawing/2014/main" id="{F2D67F4E-210C-FF6E-DC00-C8D0C7C9DFB5}"/>
              </a:ext>
            </a:extLst>
          </p:cNvPr>
          <p:cNvSpPr/>
          <p:nvPr/>
        </p:nvSpPr>
        <p:spPr>
          <a:xfrm>
            <a:off x="1305439" y="1963152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PE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Base Pers LCL</a:t>
            </a:r>
          </a:p>
        </p:txBody>
      </p:sp>
      <p:sp>
        <p:nvSpPr>
          <p:cNvPr id="246" name="BA_Autre_LCL">
            <a:extLst>
              <a:ext uri="{FF2B5EF4-FFF2-40B4-BE49-F238E27FC236}">
                <a16:creationId xmlns:a16="http://schemas.microsoft.com/office/drawing/2014/main" id="{DCED5383-A6F5-87F8-F8FE-C3FB055B388A}"/>
              </a:ext>
            </a:extLst>
          </p:cNvPr>
          <p:cNvSpPr/>
          <p:nvPr/>
        </p:nvSpPr>
        <p:spPr>
          <a:xfrm>
            <a:off x="1010215" y="2285082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…</a:t>
            </a:r>
          </a:p>
        </p:txBody>
      </p:sp>
      <p:cxnSp>
        <p:nvCxnSpPr>
          <p:cNvPr id="247" name="Connecteur droit">
            <a:extLst>
              <a:ext uri="{FF2B5EF4-FFF2-40B4-BE49-F238E27FC236}">
                <a16:creationId xmlns:a16="http://schemas.microsoft.com/office/drawing/2014/main" id="{E7149586-DA9B-92CC-EFB6-6E6244C859F5}"/>
              </a:ext>
            </a:extLst>
          </p:cNvPr>
          <p:cNvCxnSpPr/>
          <p:nvPr/>
        </p:nvCxnSpPr>
        <p:spPr>
          <a:xfrm>
            <a:off x="1984365" y="1430388"/>
            <a:ext cx="4993" cy="1220450"/>
          </a:xfrm>
          <a:prstGeom prst="line">
            <a:avLst/>
          </a:prstGeom>
          <a:ln w="9525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8" name="ZT_CA">
            <a:extLst>
              <a:ext uri="{FF2B5EF4-FFF2-40B4-BE49-F238E27FC236}">
                <a16:creationId xmlns:a16="http://schemas.microsoft.com/office/drawing/2014/main" id="{4CA41F9D-6AE8-9528-5044-834AB7AEA661}"/>
              </a:ext>
            </a:extLst>
          </p:cNvPr>
          <p:cNvSpPr txBox="1"/>
          <p:nvPr/>
        </p:nvSpPr>
        <p:spPr>
          <a:xfrm>
            <a:off x="2418813" y="1371697"/>
            <a:ext cx="551086" cy="246221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CA</a:t>
            </a:r>
            <a:endParaRPr kumimoji="0" lang="fr-FR" sz="1000" b="1" i="1" u="none" strike="noStrike" kern="1200" cap="none" spc="0" normalizeH="0" baseline="0" noProof="0" dirty="0">
              <a:ln>
                <a:noFill/>
              </a:ln>
              <a:solidFill>
                <a:srgbClr val="ED7D3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9" name="ZT_LCL">
            <a:extLst>
              <a:ext uri="{FF2B5EF4-FFF2-40B4-BE49-F238E27FC236}">
                <a16:creationId xmlns:a16="http://schemas.microsoft.com/office/drawing/2014/main" id="{EF294C6E-494A-A421-2C12-7D23E7F45E33}"/>
              </a:ext>
            </a:extLst>
          </p:cNvPr>
          <p:cNvSpPr txBox="1"/>
          <p:nvPr/>
        </p:nvSpPr>
        <p:spPr>
          <a:xfrm>
            <a:off x="1032399" y="1378099"/>
            <a:ext cx="551086" cy="246221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LCL</a:t>
            </a:r>
            <a:endParaRPr kumimoji="0" lang="fr-FR" sz="1000" b="1" i="1" u="none" strike="noStrike" kern="1200" cap="none" spc="0" normalizeH="0" baseline="0" noProof="0" dirty="0">
              <a:ln>
                <a:noFill/>
              </a:ln>
              <a:solidFill>
                <a:srgbClr val="ED7D3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0" name="BA_CICS_CA">
            <a:extLst>
              <a:ext uri="{FF2B5EF4-FFF2-40B4-BE49-F238E27FC236}">
                <a16:creationId xmlns:a16="http://schemas.microsoft.com/office/drawing/2014/main" id="{1BD2C8C0-E13F-C237-18CF-6F16403A5329}"/>
              </a:ext>
            </a:extLst>
          </p:cNvPr>
          <p:cNvSpPr/>
          <p:nvPr/>
        </p:nvSpPr>
        <p:spPr>
          <a:xfrm>
            <a:off x="2021573" y="1646459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CICS</a:t>
            </a:r>
          </a:p>
        </p:txBody>
      </p:sp>
      <p:sp>
        <p:nvSpPr>
          <p:cNvPr id="251" name="BA_DB2_CA">
            <a:extLst>
              <a:ext uri="{FF2B5EF4-FFF2-40B4-BE49-F238E27FC236}">
                <a16:creationId xmlns:a16="http://schemas.microsoft.com/office/drawing/2014/main" id="{1D9F16D4-248C-99E5-1F4A-E4306A680997}"/>
              </a:ext>
            </a:extLst>
          </p:cNvPr>
          <p:cNvSpPr/>
          <p:nvPr/>
        </p:nvSpPr>
        <p:spPr>
          <a:xfrm>
            <a:off x="2717879" y="1645738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DB2</a:t>
            </a:r>
          </a:p>
        </p:txBody>
      </p:sp>
      <p:sp>
        <p:nvSpPr>
          <p:cNvPr id="252" name="BA_GG">
            <a:extLst>
              <a:ext uri="{FF2B5EF4-FFF2-40B4-BE49-F238E27FC236}">
                <a16:creationId xmlns:a16="http://schemas.microsoft.com/office/drawing/2014/main" id="{905F81C7-8F73-A8E0-B94E-603696F4133B}"/>
              </a:ext>
            </a:extLst>
          </p:cNvPr>
          <p:cNvSpPr/>
          <p:nvPr/>
        </p:nvSpPr>
        <p:spPr>
          <a:xfrm>
            <a:off x="5540187" y="2498620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GG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Sim.Prév</a:t>
            </a: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. Décès</a:t>
            </a:r>
          </a:p>
        </p:txBody>
      </p:sp>
      <p:sp>
        <p:nvSpPr>
          <p:cNvPr id="253" name="BA_GH">
            <a:extLst>
              <a:ext uri="{FF2B5EF4-FFF2-40B4-BE49-F238E27FC236}">
                <a16:creationId xmlns:a16="http://schemas.microsoft.com/office/drawing/2014/main" id="{880B6479-AEAA-03BA-B76C-28B5BE1004AE}"/>
              </a:ext>
            </a:extLst>
          </p:cNvPr>
          <p:cNvSpPr/>
          <p:nvPr/>
        </p:nvSpPr>
        <p:spPr>
          <a:xfrm>
            <a:off x="6247379" y="2507699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GH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Moteur </a:t>
            </a:r>
            <a:r>
              <a:rPr kumimoji="0" lang="fr-FR" sz="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Epicaste</a:t>
            </a:r>
            <a:endParaRPr kumimoji="0" lang="fr-FR" sz="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4" name="Gr_Editique">
            <a:extLst>
              <a:ext uri="{FF2B5EF4-FFF2-40B4-BE49-F238E27FC236}">
                <a16:creationId xmlns:a16="http://schemas.microsoft.com/office/drawing/2014/main" id="{1078A7AB-6C76-E52B-0039-28577BBF5FA4}"/>
              </a:ext>
            </a:extLst>
          </p:cNvPr>
          <p:cNvSpPr/>
          <p:nvPr/>
        </p:nvSpPr>
        <p:spPr>
          <a:xfrm>
            <a:off x="6994566" y="3106138"/>
            <a:ext cx="754043" cy="61200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  <a:effectLst>
            <a:outerShdw blurRad="50800" dist="38100" dir="2700000" algn="ctr" rotWithShape="0">
              <a:schemeClr val="tx1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/>
            </a:endParaRPr>
          </a:p>
        </p:txBody>
      </p:sp>
      <p:sp>
        <p:nvSpPr>
          <p:cNvPr id="255" name="ZT_Editique">
            <a:extLst>
              <a:ext uri="{FF2B5EF4-FFF2-40B4-BE49-F238E27FC236}">
                <a16:creationId xmlns:a16="http://schemas.microsoft.com/office/drawing/2014/main" id="{7455B73F-834E-5E2E-4BAB-D188916CE679}"/>
              </a:ext>
            </a:extLst>
          </p:cNvPr>
          <p:cNvSpPr txBox="1"/>
          <p:nvPr/>
        </p:nvSpPr>
        <p:spPr>
          <a:xfrm>
            <a:off x="6967388" y="3133723"/>
            <a:ext cx="781221" cy="246221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Editique</a:t>
            </a:r>
          </a:p>
        </p:txBody>
      </p:sp>
      <p:sp>
        <p:nvSpPr>
          <p:cNvPr id="256" name="BA_ONDM">
            <a:extLst>
              <a:ext uri="{FF2B5EF4-FFF2-40B4-BE49-F238E27FC236}">
                <a16:creationId xmlns:a16="http://schemas.microsoft.com/office/drawing/2014/main" id="{482F2BE3-27C9-1842-8B04-05139B601F73}"/>
              </a:ext>
            </a:extLst>
          </p:cNvPr>
          <p:cNvSpPr/>
          <p:nvPr/>
        </p:nvSpPr>
        <p:spPr>
          <a:xfrm>
            <a:off x="7053165" y="3363079"/>
            <a:ext cx="648000" cy="276281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ONDM</a:t>
            </a:r>
            <a:endParaRPr kumimoji="0" lang="fr-FR" sz="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On </a:t>
            </a:r>
            <a:r>
              <a:rPr kumimoji="0" lang="fr-FR" sz="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Demand</a:t>
            </a:r>
            <a:endParaRPr kumimoji="0" lang="fr-FR" sz="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257" name="Groupe_Retour">
            <a:extLst>
              <a:ext uri="{FF2B5EF4-FFF2-40B4-BE49-F238E27FC236}">
                <a16:creationId xmlns:a16="http://schemas.microsoft.com/office/drawing/2014/main" id="{DA0D5717-905C-9981-0AB6-23CFA1A732C0}"/>
              </a:ext>
            </a:extLst>
          </p:cNvPr>
          <p:cNvGrpSpPr/>
          <p:nvPr/>
        </p:nvGrpSpPr>
        <p:grpSpPr>
          <a:xfrm>
            <a:off x="0" y="0"/>
            <a:ext cx="1417975" cy="461665"/>
            <a:chOff x="0" y="0"/>
            <a:chExt cx="1417975" cy="461665"/>
          </a:xfrm>
        </p:grpSpPr>
        <p:sp>
          <p:nvSpPr>
            <p:cNvPr id="258" name="Rectangle 257">
              <a:hlinkClick r:id="rId3" action="ppaction://hlinksldjump"/>
              <a:extLst>
                <a:ext uri="{FF2B5EF4-FFF2-40B4-BE49-F238E27FC236}">
                  <a16:creationId xmlns:a16="http://schemas.microsoft.com/office/drawing/2014/main" id="{2D5D7C83-AA36-38FD-0138-D47457D8AC86}"/>
                </a:ext>
              </a:extLst>
            </p:cNvPr>
            <p:cNvSpPr/>
            <p:nvPr/>
          </p:nvSpPr>
          <p:spPr>
            <a:xfrm>
              <a:off x="0" y="0"/>
              <a:ext cx="768479" cy="461665"/>
            </a:xfrm>
            <a:prstGeom prst="rect">
              <a:avLst/>
            </a:prstGeom>
            <a:noFill/>
          </p:spPr>
          <p:txBody>
            <a:bodyPr wrap="square" lIns="91440" tIns="45720" rIns="91440" bIns="45720" anchor="ctr">
              <a:spAutoFit/>
            </a:bodyPr>
            <a:lstStyle/>
            <a:p>
              <a:pPr algn="ctr"/>
              <a:r>
                <a:rPr lang="fr-FR" sz="2400" b="1" spc="50" dirty="0">
                  <a:ln w="9525" cmpd="sng">
                    <a:solidFill>
                      <a:schemeClr val="accent1"/>
                    </a:solidFill>
                    <a:prstDash val="solid"/>
                  </a:ln>
                  <a:solidFill>
                    <a:srgbClr val="70AD47">
                      <a:tint val="1000"/>
                    </a:srgbClr>
                  </a:solidFill>
                  <a:effectLst>
                    <a:glow rad="38100">
                      <a:schemeClr val="accent1">
                        <a:alpha val="40000"/>
                      </a:schemeClr>
                    </a:glow>
                  </a:effectLst>
                  <a:latin typeface="HoloLens MDL2 Assets" panose="050A0102010101010101" pitchFamily="18" charset="0"/>
                </a:rPr>
                <a:t></a:t>
              </a:r>
              <a:endParaRPr lang="fr-FR" sz="1400" dirty="0">
                <a:solidFill>
                  <a:srgbClr val="5B9BD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/>
              </a:endParaRPr>
            </a:p>
          </p:txBody>
        </p:sp>
        <p:sp>
          <p:nvSpPr>
            <p:cNvPr id="259" name="ZoneTexte 258">
              <a:extLst>
                <a:ext uri="{FF2B5EF4-FFF2-40B4-BE49-F238E27FC236}">
                  <a16:creationId xmlns:a16="http://schemas.microsoft.com/office/drawing/2014/main" id="{A16D70F3-9498-BFF7-88A3-3610869AB95F}"/>
                </a:ext>
              </a:extLst>
            </p:cNvPr>
            <p:cNvSpPr txBox="1"/>
            <p:nvPr/>
          </p:nvSpPr>
          <p:spPr>
            <a:xfrm>
              <a:off x="525450" y="71273"/>
              <a:ext cx="89252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1400" dirty="0">
                  <a:solidFill>
                    <a:srgbClr val="5B9BD5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libri" panose="020F0502020204030204"/>
                </a:rPr>
                <a:t>Retour</a:t>
              </a:r>
              <a:endParaRPr lang="fr-FR" sz="1400" dirty="0"/>
            </a:p>
          </p:txBody>
        </p:sp>
      </p:grpSp>
      <p:sp>
        <p:nvSpPr>
          <p:cNvPr id="260" name="BA_PW">
            <a:extLst>
              <a:ext uri="{FF2B5EF4-FFF2-40B4-BE49-F238E27FC236}">
                <a16:creationId xmlns:a16="http://schemas.microsoft.com/office/drawing/2014/main" id="{26B57DFA-E59F-8922-E537-1E08F5B11B49}"/>
              </a:ext>
            </a:extLst>
          </p:cNvPr>
          <p:cNvSpPr/>
          <p:nvPr/>
        </p:nvSpPr>
        <p:spPr>
          <a:xfrm>
            <a:off x="4517645" y="1819606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PW</a:t>
            </a:r>
            <a:br>
              <a:rPr lang="fr-FR" sz="10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/>
              </a:rPr>
            </a:b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SFC</a:t>
            </a:r>
          </a:p>
        </p:txBody>
      </p:sp>
      <p:sp>
        <p:nvSpPr>
          <p:cNvPr id="2" name="Étoile à 5 branches">
            <a:extLst>
              <a:ext uri="{FF2B5EF4-FFF2-40B4-BE49-F238E27FC236}">
                <a16:creationId xmlns:a16="http://schemas.microsoft.com/office/drawing/2014/main" id="{2C30DCF4-3F9C-5DBD-A31E-7153B35D4656}"/>
              </a:ext>
            </a:extLst>
          </p:cNvPr>
          <p:cNvSpPr/>
          <p:nvPr/>
        </p:nvSpPr>
        <p:spPr>
          <a:xfrm>
            <a:off x="9368151" y="554532"/>
            <a:ext cx="108000" cy="108000"/>
          </a:xfrm>
          <a:prstGeom prst="star5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Légende_Nouveau_Bloc">
            <a:extLst>
              <a:ext uri="{FF2B5EF4-FFF2-40B4-BE49-F238E27FC236}">
                <a16:creationId xmlns:a16="http://schemas.microsoft.com/office/drawing/2014/main" id="{28A5F826-2558-EF4C-65D3-13B451C00D41}"/>
              </a:ext>
            </a:extLst>
          </p:cNvPr>
          <p:cNvSpPr txBox="1"/>
          <p:nvPr/>
        </p:nvSpPr>
        <p:spPr>
          <a:xfrm>
            <a:off x="9464720" y="491658"/>
            <a:ext cx="934871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Nouveau bloc</a:t>
            </a:r>
          </a:p>
        </p:txBody>
      </p:sp>
      <p:sp>
        <p:nvSpPr>
          <p:cNvPr id="4" name="Légende_Nouveau_Bloc">
            <a:extLst>
              <a:ext uri="{FF2B5EF4-FFF2-40B4-BE49-F238E27FC236}">
                <a16:creationId xmlns:a16="http://schemas.microsoft.com/office/drawing/2014/main" id="{31C560A3-BAE8-EEC2-C3ED-D522CFBFF3CE}"/>
              </a:ext>
            </a:extLst>
          </p:cNvPr>
          <p:cNvSpPr txBox="1"/>
          <p:nvPr/>
        </p:nvSpPr>
        <p:spPr>
          <a:xfrm>
            <a:off x="9467926" y="723619"/>
            <a:ext cx="963725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Bloc supprimé</a:t>
            </a:r>
          </a:p>
        </p:txBody>
      </p:sp>
      <p:sp>
        <p:nvSpPr>
          <p:cNvPr id="5" name="Croix 4">
            <a:extLst>
              <a:ext uri="{FF2B5EF4-FFF2-40B4-BE49-F238E27FC236}">
                <a16:creationId xmlns:a16="http://schemas.microsoft.com/office/drawing/2014/main" id="{7473618D-04A3-29DE-EEF5-EF5C9CE2B5D4}"/>
              </a:ext>
            </a:extLst>
          </p:cNvPr>
          <p:cNvSpPr/>
          <p:nvPr/>
        </p:nvSpPr>
        <p:spPr>
          <a:xfrm rot="2700000">
            <a:off x="9371629" y="785103"/>
            <a:ext cx="108000" cy="108000"/>
          </a:xfrm>
          <a:prstGeom prst="plus">
            <a:avLst>
              <a:gd name="adj" fmla="val 45756"/>
            </a:avLst>
          </a:prstGeom>
          <a:solidFill>
            <a:schemeClr val="tx1"/>
          </a:solidFill>
          <a:ln>
            <a:solidFill>
              <a:srgbClr val="FF0000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BA_GH">
            <a:extLst>
              <a:ext uri="{FF2B5EF4-FFF2-40B4-BE49-F238E27FC236}">
                <a16:creationId xmlns:a16="http://schemas.microsoft.com/office/drawing/2014/main" id="{1E20E985-4A3E-4B63-AE5E-5724AC8AE693}"/>
              </a:ext>
            </a:extLst>
          </p:cNvPr>
          <p:cNvSpPr/>
          <p:nvPr/>
        </p:nvSpPr>
        <p:spPr>
          <a:xfrm>
            <a:off x="6247379" y="1786384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HJ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Contenus statiques</a:t>
            </a:r>
          </a:p>
        </p:txBody>
      </p:sp>
      <p:sp>
        <p:nvSpPr>
          <p:cNvPr id="16" name="BA_H4">
            <a:extLst>
              <a:ext uri="{FF2B5EF4-FFF2-40B4-BE49-F238E27FC236}">
                <a16:creationId xmlns:a16="http://schemas.microsoft.com/office/drawing/2014/main" id="{68F7A951-7504-EE74-296C-380632EF232C}"/>
              </a:ext>
            </a:extLst>
          </p:cNvPr>
          <p:cNvSpPr/>
          <p:nvPr/>
        </p:nvSpPr>
        <p:spPr>
          <a:xfrm>
            <a:off x="9490384" y="2374473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H4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API VR </a:t>
            </a:r>
            <a:r>
              <a:rPr kumimoji="0" lang="fr-FR" sz="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Selfcare</a:t>
            </a:r>
            <a:endParaRPr kumimoji="0" lang="fr-FR" sz="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BA_HH">
            <a:extLst>
              <a:ext uri="{FF2B5EF4-FFF2-40B4-BE49-F238E27FC236}">
                <a16:creationId xmlns:a16="http://schemas.microsoft.com/office/drawing/2014/main" id="{4CD322C0-CC27-1E99-E360-FAF7A3F297D8}"/>
              </a:ext>
            </a:extLst>
          </p:cNvPr>
          <p:cNvSpPr/>
          <p:nvPr/>
        </p:nvSpPr>
        <p:spPr>
          <a:xfrm>
            <a:off x="10160477" y="2374473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HH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API Sim. épargne</a:t>
            </a:r>
          </a:p>
        </p:txBody>
      </p:sp>
      <p:sp>
        <p:nvSpPr>
          <p:cNvPr id="23" name="Gr_LCL">
            <a:extLst>
              <a:ext uri="{FF2B5EF4-FFF2-40B4-BE49-F238E27FC236}">
                <a16:creationId xmlns:a16="http://schemas.microsoft.com/office/drawing/2014/main" id="{677AEE56-118A-DEA4-8B88-C4F25EDF63A4}"/>
              </a:ext>
            </a:extLst>
          </p:cNvPr>
          <p:cNvSpPr/>
          <p:nvPr/>
        </p:nvSpPr>
        <p:spPr>
          <a:xfrm>
            <a:off x="6075866" y="5122749"/>
            <a:ext cx="5632947" cy="1248594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/>
            </a:endParaRPr>
          </a:p>
        </p:txBody>
      </p:sp>
      <p:sp>
        <p:nvSpPr>
          <p:cNvPr id="24" name="ZT_CATS">
            <a:extLst>
              <a:ext uri="{FF2B5EF4-FFF2-40B4-BE49-F238E27FC236}">
                <a16:creationId xmlns:a16="http://schemas.microsoft.com/office/drawing/2014/main" id="{57230453-6C1C-2373-6275-6C3572CC7FAB}"/>
              </a:ext>
            </a:extLst>
          </p:cNvPr>
          <p:cNvSpPr txBox="1"/>
          <p:nvPr/>
        </p:nvSpPr>
        <p:spPr>
          <a:xfrm>
            <a:off x="6122619" y="5107819"/>
            <a:ext cx="5399528" cy="246221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LCL</a:t>
            </a:r>
            <a:endParaRPr kumimoji="0" lang="fr-FR" sz="1000" b="1" i="1" u="none" strike="noStrike" kern="1200" cap="none" spc="0" normalizeH="0" baseline="0" noProof="0" dirty="0">
              <a:ln>
                <a:noFill/>
              </a:ln>
              <a:solidFill>
                <a:srgbClr val="7030A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BA_BEL">
            <a:extLst>
              <a:ext uri="{FF2B5EF4-FFF2-40B4-BE49-F238E27FC236}">
                <a16:creationId xmlns:a16="http://schemas.microsoft.com/office/drawing/2014/main" id="{8EF14E09-A345-EA5A-7E5D-9B63AD83FE50}"/>
              </a:ext>
            </a:extLst>
          </p:cNvPr>
          <p:cNvSpPr/>
          <p:nvPr/>
        </p:nvSpPr>
        <p:spPr>
          <a:xfrm>
            <a:off x="6135322" y="5643027"/>
            <a:ext cx="648000" cy="288000"/>
          </a:xfrm>
          <a:prstGeom prst="roundRect">
            <a:avLst/>
          </a:prstGeom>
          <a:solidFill>
            <a:srgbClr val="70AD47"/>
          </a:solidFill>
          <a:ln w="6350">
            <a:solidFill>
              <a:schemeClr val="accent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8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/>
              </a:rPr>
              <a:t>BEL</a:t>
            </a:r>
          </a:p>
          <a:p>
            <a:pPr algn="ctr"/>
            <a:r>
              <a:rPr lang="fr-FR" sz="8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/>
              </a:rPr>
              <a:t>-</a:t>
            </a:r>
          </a:p>
        </p:txBody>
      </p:sp>
      <p:sp>
        <p:nvSpPr>
          <p:cNvPr id="26" name="BA_Docapost">
            <a:extLst>
              <a:ext uri="{FF2B5EF4-FFF2-40B4-BE49-F238E27FC236}">
                <a16:creationId xmlns:a16="http://schemas.microsoft.com/office/drawing/2014/main" id="{264DD7B4-372E-AF04-1F6C-311229524DC6}"/>
              </a:ext>
            </a:extLst>
          </p:cNvPr>
          <p:cNvSpPr/>
          <p:nvPr/>
        </p:nvSpPr>
        <p:spPr>
          <a:xfrm>
            <a:off x="6145849" y="5987729"/>
            <a:ext cx="648000" cy="288000"/>
          </a:xfrm>
          <a:prstGeom prst="roundRect">
            <a:avLst/>
          </a:prstGeom>
          <a:solidFill>
            <a:srgbClr val="70AD47"/>
          </a:solidFill>
          <a:ln w="6350">
            <a:solidFill>
              <a:schemeClr val="accent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Docapost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6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/>
              </a:rPr>
              <a:t>-</a:t>
            </a:r>
            <a:endParaRPr kumimoji="0" lang="fr-FR" sz="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BA_Mescomptes">
            <a:extLst>
              <a:ext uri="{FF2B5EF4-FFF2-40B4-BE49-F238E27FC236}">
                <a16:creationId xmlns:a16="http://schemas.microsoft.com/office/drawing/2014/main" id="{58A201DF-AA15-8B20-D04F-C98D49CCA4FF}"/>
              </a:ext>
            </a:extLst>
          </p:cNvPr>
          <p:cNvSpPr/>
          <p:nvPr/>
        </p:nvSpPr>
        <p:spPr>
          <a:xfrm>
            <a:off x="6135322" y="5323284"/>
            <a:ext cx="1326281" cy="288000"/>
          </a:xfrm>
          <a:prstGeom prst="roundRect">
            <a:avLst/>
          </a:prstGeom>
          <a:solidFill>
            <a:srgbClr val="70AD47"/>
          </a:solidFill>
          <a:ln w="6350">
            <a:solidFill>
              <a:schemeClr val="accent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800" dirty="0" err="1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/>
              </a:rPr>
              <a:t>MesComptes</a:t>
            </a:r>
            <a:endParaRPr lang="fr-FR" sz="800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/>
            </a:endParaRPr>
          </a:p>
        </p:txBody>
      </p:sp>
      <p:sp>
        <p:nvSpPr>
          <p:cNvPr id="6" name="Gr_SimulAssur">
            <a:extLst>
              <a:ext uri="{FF2B5EF4-FFF2-40B4-BE49-F238E27FC236}">
                <a16:creationId xmlns:a16="http://schemas.microsoft.com/office/drawing/2014/main" id="{4FB81BCF-3312-E627-A93C-66838887035C}"/>
              </a:ext>
            </a:extLst>
          </p:cNvPr>
          <p:cNvSpPr/>
          <p:nvPr/>
        </p:nvSpPr>
        <p:spPr>
          <a:xfrm>
            <a:off x="4476637" y="3792663"/>
            <a:ext cx="1627675" cy="1021008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  <a:effectLst>
            <a:outerShdw blurRad="50800" dist="38100" dir="2700000" algn="ctr" rotWithShape="0">
              <a:schemeClr val="tx1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/>
            </a:endParaRPr>
          </a:p>
        </p:txBody>
      </p:sp>
      <p:sp>
        <p:nvSpPr>
          <p:cNvPr id="8" name="ZT_SimulAssur">
            <a:extLst>
              <a:ext uri="{FF2B5EF4-FFF2-40B4-BE49-F238E27FC236}">
                <a16:creationId xmlns:a16="http://schemas.microsoft.com/office/drawing/2014/main" id="{FA9097AC-2043-5A83-3232-22F554C22190}"/>
              </a:ext>
            </a:extLst>
          </p:cNvPr>
          <p:cNvSpPr txBox="1"/>
          <p:nvPr/>
        </p:nvSpPr>
        <p:spPr>
          <a:xfrm>
            <a:off x="4500323" y="3819978"/>
            <a:ext cx="1714025" cy="246221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1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SimulAssur</a:t>
            </a:r>
            <a:endParaRPr kumimoji="0" lang="fr-FR" sz="1000" b="1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BA_VS">
            <a:extLst>
              <a:ext uri="{FF2B5EF4-FFF2-40B4-BE49-F238E27FC236}">
                <a16:creationId xmlns:a16="http://schemas.microsoft.com/office/drawing/2014/main" id="{6A133D91-4042-41E2-2F9B-9BAD0B5183BC}"/>
              </a:ext>
            </a:extLst>
          </p:cNvPr>
          <p:cNvSpPr/>
          <p:nvPr/>
        </p:nvSpPr>
        <p:spPr>
          <a:xfrm>
            <a:off x="4611474" y="4115819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0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/>
              </a:rPr>
              <a:t>VS</a:t>
            </a:r>
            <a:endParaRPr kumimoji="0" lang="fr-FR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Sim, </a:t>
            </a:r>
            <a:r>
              <a:rPr kumimoji="0" lang="fr-FR" sz="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Ass.V</a:t>
            </a: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 pour LCL</a:t>
            </a:r>
          </a:p>
        </p:txBody>
      </p:sp>
      <p:sp>
        <p:nvSpPr>
          <p:cNvPr id="10" name="BA_RS">
            <a:extLst>
              <a:ext uri="{FF2B5EF4-FFF2-40B4-BE49-F238E27FC236}">
                <a16:creationId xmlns:a16="http://schemas.microsoft.com/office/drawing/2014/main" id="{44AB189F-09C1-E20C-E96F-0AE6096056FF}"/>
              </a:ext>
            </a:extLst>
          </p:cNvPr>
          <p:cNvSpPr/>
          <p:nvPr/>
        </p:nvSpPr>
        <p:spPr>
          <a:xfrm>
            <a:off x="5363789" y="4119805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SR</a:t>
            </a:r>
          </a:p>
          <a:p>
            <a:pPr lvl="0" algn="ctr">
              <a:defRPr/>
            </a:pPr>
            <a:r>
              <a:rPr lang="fr-FR" sz="6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Sim, </a:t>
            </a:r>
            <a:r>
              <a:rPr lang="fr-FR" sz="600" dirty="0" err="1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Ass.V</a:t>
            </a:r>
            <a:r>
              <a:rPr lang="fr-FR" sz="6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pour CA</a:t>
            </a:r>
          </a:p>
        </p:txBody>
      </p:sp>
      <p:sp>
        <p:nvSpPr>
          <p:cNvPr id="11" name="BA_EP">
            <a:extLst>
              <a:ext uri="{FF2B5EF4-FFF2-40B4-BE49-F238E27FC236}">
                <a16:creationId xmlns:a16="http://schemas.microsoft.com/office/drawing/2014/main" id="{9E9651E7-4C9E-3077-44CB-8209346EB243}"/>
              </a:ext>
            </a:extLst>
          </p:cNvPr>
          <p:cNvSpPr/>
          <p:nvPr/>
        </p:nvSpPr>
        <p:spPr>
          <a:xfrm>
            <a:off x="4611474" y="4500624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0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/>
              </a:rPr>
              <a:t>EP</a:t>
            </a:r>
            <a:endParaRPr kumimoji="0" lang="fr-FR" sz="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Sim, EPICASTE</a:t>
            </a:r>
          </a:p>
        </p:txBody>
      </p:sp>
      <p:sp>
        <p:nvSpPr>
          <p:cNvPr id="12" name="BA_Autre_PFD">
            <a:extLst>
              <a:ext uri="{FF2B5EF4-FFF2-40B4-BE49-F238E27FC236}">
                <a16:creationId xmlns:a16="http://schemas.microsoft.com/office/drawing/2014/main" id="{3B12F950-ADB2-2CA2-6577-0D0226A1EA2B}"/>
              </a:ext>
            </a:extLst>
          </p:cNvPr>
          <p:cNvSpPr/>
          <p:nvPr/>
        </p:nvSpPr>
        <p:spPr>
          <a:xfrm>
            <a:off x="5363789" y="4472097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…</a:t>
            </a:r>
          </a:p>
        </p:txBody>
      </p:sp>
      <p:sp>
        <p:nvSpPr>
          <p:cNvPr id="14" name="Date_EBX">
            <a:extLst>
              <a:ext uri="{FF2B5EF4-FFF2-40B4-BE49-F238E27FC236}">
                <a16:creationId xmlns:a16="http://schemas.microsoft.com/office/drawing/2014/main" id="{B0A80A12-C98E-40F9-5EC1-93CD93D1EB10}"/>
              </a:ext>
            </a:extLst>
          </p:cNvPr>
          <p:cNvSpPr txBox="1"/>
          <p:nvPr/>
        </p:nvSpPr>
        <p:spPr>
          <a:xfrm rot="19102564">
            <a:off x="3809403" y="3362800"/>
            <a:ext cx="927160" cy="230832"/>
          </a:xfrm>
          <a:prstGeom prst="rect">
            <a:avLst/>
          </a:prstGeom>
          <a:noFill/>
          <a:ln cap="flat">
            <a:noFill/>
            <a:prstDash val="solid"/>
          </a:ln>
          <a:effectLst>
            <a:softEdge rad="0"/>
          </a:effectLst>
        </p:spPr>
        <p:txBody>
          <a:bodyPr wrap="square" rtlCol="0">
            <a:spAutoFit/>
          </a:bodyPr>
          <a:lstStyle>
            <a:defPPr>
              <a:defRPr lang="fr-FR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900" b="0" i="0" u="none" strike="noStrike" cap="none" spc="0" normalizeH="0" baseline="0">
                <a:ln>
                  <a:noFill/>
                </a:ln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</a:defRPr>
            </a:lvl1pPr>
          </a:lstStyle>
          <a:p>
            <a:r>
              <a:rPr lang="fr-FR" dirty="0"/>
              <a:t>V26.1</a:t>
            </a:r>
          </a:p>
        </p:txBody>
      </p:sp>
      <p:sp>
        <p:nvSpPr>
          <p:cNvPr id="15" name="Date_APPE">
            <a:extLst>
              <a:ext uri="{FF2B5EF4-FFF2-40B4-BE49-F238E27FC236}">
                <a16:creationId xmlns:a16="http://schemas.microsoft.com/office/drawing/2014/main" id="{62949223-46C4-18B3-6490-48D80E4274A7}"/>
              </a:ext>
            </a:extLst>
          </p:cNvPr>
          <p:cNvSpPr txBox="1"/>
          <p:nvPr/>
        </p:nvSpPr>
        <p:spPr>
          <a:xfrm rot="19102564">
            <a:off x="7751184" y="1324888"/>
            <a:ext cx="927160" cy="230832"/>
          </a:xfrm>
          <a:prstGeom prst="rect">
            <a:avLst/>
          </a:prstGeom>
          <a:noFill/>
          <a:ln cap="flat">
            <a:noFill/>
            <a:prstDash val="solid"/>
          </a:ln>
          <a:effectLst>
            <a:softEdge rad="0"/>
          </a:effectLst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900" b="0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V26.1</a:t>
            </a:r>
          </a:p>
        </p:txBody>
      </p:sp>
      <p:sp>
        <p:nvSpPr>
          <p:cNvPr id="18" name="Date_F6">
            <a:extLst>
              <a:ext uri="{FF2B5EF4-FFF2-40B4-BE49-F238E27FC236}">
                <a16:creationId xmlns:a16="http://schemas.microsoft.com/office/drawing/2014/main" id="{B0CA570B-B268-5F96-C619-0DAC576F2D25}"/>
              </a:ext>
            </a:extLst>
          </p:cNvPr>
          <p:cNvSpPr txBox="1"/>
          <p:nvPr/>
        </p:nvSpPr>
        <p:spPr>
          <a:xfrm rot="19102564">
            <a:off x="10426932" y="1658859"/>
            <a:ext cx="927160" cy="369332"/>
          </a:xfrm>
          <a:prstGeom prst="rect">
            <a:avLst/>
          </a:prstGeom>
          <a:noFill/>
          <a:ln cap="flat">
            <a:noFill/>
            <a:prstDash val="solid"/>
          </a:ln>
          <a:effectLst>
            <a:softEdge rad="0"/>
          </a:effectLst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900" b="0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V26.1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900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/>
              </a:rPr>
              <a:t>Et R1/R2 ?</a:t>
            </a:r>
            <a:endParaRPr kumimoji="0" lang="fr-FR" sz="900" b="0" i="0" u="none" strike="noStrike" kern="1200" cap="none" spc="0" normalizeH="0" baseline="0" noProof="0" dirty="0">
              <a:ln>
                <a:noFill/>
              </a:ln>
              <a:solidFill>
                <a:srgbClr val="7030A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Date_P8">
            <a:extLst>
              <a:ext uri="{FF2B5EF4-FFF2-40B4-BE49-F238E27FC236}">
                <a16:creationId xmlns:a16="http://schemas.microsoft.com/office/drawing/2014/main" id="{D976FC59-3C01-DEDD-8692-FC8855550207}"/>
              </a:ext>
            </a:extLst>
          </p:cNvPr>
          <p:cNvSpPr txBox="1"/>
          <p:nvPr/>
        </p:nvSpPr>
        <p:spPr>
          <a:xfrm rot="19102564">
            <a:off x="7672368" y="3684170"/>
            <a:ext cx="927160" cy="230832"/>
          </a:xfrm>
          <a:prstGeom prst="rect">
            <a:avLst/>
          </a:prstGeom>
          <a:noFill/>
          <a:ln cap="flat">
            <a:noFill/>
            <a:prstDash val="solid"/>
          </a:ln>
          <a:effectLst>
            <a:softEdge rad="0"/>
          </a:effectLst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900" b="0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V26.1</a:t>
            </a:r>
          </a:p>
        </p:txBody>
      </p:sp>
      <p:sp>
        <p:nvSpPr>
          <p:cNvPr id="22" name="Date_Q1">
            <a:extLst>
              <a:ext uri="{FF2B5EF4-FFF2-40B4-BE49-F238E27FC236}">
                <a16:creationId xmlns:a16="http://schemas.microsoft.com/office/drawing/2014/main" id="{E6ED2629-00E7-25F4-D36B-6EC647E52155}"/>
              </a:ext>
            </a:extLst>
          </p:cNvPr>
          <p:cNvSpPr txBox="1"/>
          <p:nvPr/>
        </p:nvSpPr>
        <p:spPr>
          <a:xfrm rot="19102564">
            <a:off x="8936500" y="3630220"/>
            <a:ext cx="927160" cy="230832"/>
          </a:xfrm>
          <a:prstGeom prst="rect">
            <a:avLst/>
          </a:prstGeom>
          <a:noFill/>
          <a:ln cap="flat">
            <a:noFill/>
            <a:prstDash val="solid"/>
          </a:ln>
          <a:effectLst>
            <a:softEdge rad="0"/>
          </a:effectLst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900" b="0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V26.1</a:t>
            </a:r>
          </a:p>
        </p:txBody>
      </p:sp>
      <p:sp>
        <p:nvSpPr>
          <p:cNvPr id="27" name="Date_W1">
            <a:extLst>
              <a:ext uri="{FF2B5EF4-FFF2-40B4-BE49-F238E27FC236}">
                <a16:creationId xmlns:a16="http://schemas.microsoft.com/office/drawing/2014/main" id="{1D004F05-A9A7-5BBE-9C9F-438B191D9241}"/>
              </a:ext>
            </a:extLst>
          </p:cNvPr>
          <p:cNvSpPr txBox="1"/>
          <p:nvPr/>
        </p:nvSpPr>
        <p:spPr>
          <a:xfrm rot="19102564">
            <a:off x="7697531" y="4063584"/>
            <a:ext cx="927160" cy="230832"/>
          </a:xfrm>
          <a:prstGeom prst="rect">
            <a:avLst/>
          </a:prstGeom>
          <a:noFill/>
          <a:ln cap="flat">
            <a:noFill/>
            <a:prstDash val="solid"/>
          </a:ln>
          <a:effectLst>
            <a:softEdge rad="0"/>
          </a:effectLst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900" b="0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V26.1</a:t>
            </a:r>
          </a:p>
        </p:txBody>
      </p:sp>
    </p:spTree>
    <p:extLst>
      <p:ext uri="{BB962C8B-B14F-4D97-AF65-F5344CB8AC3E}">
        <p14:creationId xmlns:p14="http://schemas.microsoft.com/office/powerpoint/2010/main" val="36206098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1D9B8A-A2CB-8229-B452-AE3D7CA6B0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r_Global">
            <a:extLst>
              <a:ext uri="{FF2B5EF4-FFF2-40B4-BE49-F238E27FC236}">
                <a16:creationId xmlns:a16="http://schemas.microsoft.com/office/drawing/2014/main" id="{A9FF238C-7916-5602-C19D-FEE515CFA4F6}"/>
              </a:ext>
            </a:extLst>
          </p:cNvPr>
          <p:cNvSpPr/>
          <p:nvPr/>
        </p:nvSpPr>
        <p:spPr>
          <a:xfrm>
            <a:off x="165716" y="1001476"/>
            <a:ext cx="11860567" cy="5512742"/>
          </a:xfrm>
          <a:prstGeom prst="roundRect">
            <a:avLst/>
          </a:prstGeom>
          <a:solidFill>
            <a:schemeClr val="bg1"/>
          </a:solidFill>
          <a:ln>
            <a:solidFill>
              <a:schemeClr val="accent1"/>
            </a:solidFill>
          </a:ln>
          <a:effectLst>
            <a:outerShdw blurRad="50800" dist="38100" dir="2700000" algn="tl" rotWithShape="0">
              <a:schemeClr val="tx1"/>
            </a:outerShdw>
          </a:effectLst>
        </p:spPr>
        <p:txBody>
          <a:bodyPr wrap="none" lIns="0" rIns="0" rtlCol="0" anchor="ctr">
            <a:noAutofit/>
          </a:bodyPr>
          <a:lstStyle/>
          <a:p>
            <a:pPr algn="ctr"/>
            <a:endParaRPr lang="fr-FR" sz="1600" b="1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1" name="Gr_NOVA">
            <a:extLst>
              <a:ext uri="{FF2B5EF4-FFF2-40B4-BE49-F238E27FC236}">
                <a16:creationId xmlns:a16="http://schemas.microsoft.com/office/drawing/2014/main" id="{C067A5D1-0279-1C70-4A68-3CDBBB6DA95A}"/>
              </a:ext>
            </a:extLst>
          </p:cNvPr>
          <p:cNvSpPr/>
          <p:nvPr/>
        </p:nvSpPr>
        <p:spPr>
          <a:xfrm>
            <a:off x="5407282" y="1111645"/>
            <a:ext cx="2350211" cy="1879964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  <a:effectLst>
            <a:outerShdw blurRad="50800" dist="38100" dir="2700000" algn="ctr" rotWithShape="0">
              <a:schemeClr val="tx1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/>
            </a:endParaRPr>
          </a:p>
        </p:txBody>
      </p:sp>
      <p:sp>
        <p:nvSpPr>
          <p:cNvPr id="92" name="ZT_NOVA">
            <a:extLst>
              <a:ext uri="{FF2B5EF4-FFF2-40B4-BE49-F238E27FC236}">
                <a16:creationId xmlns:a16="http://schemas.microsoft.com/office/drawing/2014/main" id="{497A9AFE-1770-062E-E5FD-AB07508A31DB}"/>
              </a:ext>
            </a:extLst>
          </p:cNvPr>
          <p:cNvSpPr txBox="1"/>
          <p:nvPr/>
        </p:nvSpPr>
        <p:spPr>
          <a:xfrm>
            <a:off x="5402982" y="1138960"/>
            <a:ext cx="2354511" cy="246221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NOVA</a:t>
            </a:r>
            <a:endParaRPr kumimoji="0" lang="fr-FR" sz="1000" b="1" i="1" u="none" strike="noStrike" kern="1200" cap="none" spc="0" normalizeH="0" baseline="0" noProof="0" dirty="0">
              <a:ln>
                <a:noFill/>
              </a:ln>
              <a:solidFill>
                <a:srgbClr val="ED7D3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8" name="BA_OX">
            <a:extLst>
              <a:ext uri="{FF2B5EF4-FFF2-40B4-BE49-F238E27FC236}">
                <a16:creationId xmlns:a16="http://schemas.microsoft.com/office/drawing/2014/main" id="{2877AD41-21F7-47D6-05FB-1450C3C566A4}"/>
              </a:ext>
            </a:extLst>
          </p:cNvPr>
          <p:cNvSpPr/>
          <p:nvPr/>
        </p:nvSpPr>
        <p:spPr>
          <a:xfrm>
            <a:off x="5540187" y="1434370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OX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Opérations </a:t>
            </a:r>
            <a:r>
              <a:rPr kumimoji="0" lang="fr-FR" sz="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Ass</a:t>
            </a: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.</a:t>
            </a:r>
          </a:p>
        </p:txBody>
      </p:sp>
      <p:sp>
        <p:nvSpPr>
          <p:cNvPr id="99" name="BA_MX">
            <a:extLst>
              <a:ext uri="{FF2B5EF4-FFF2-40B4-BE49-F238E27FC236}">
                <a16:creationId xmlns:a16="http://schemas.microsoft.com/office/drawing/2014/main" id="{599FAA9D-B6C0-5EB1-8686-5D55E11185FA}"/>
              </a:ext>
            </a:extLst>
          </p:cNvPr>
          <p:cNvSpPr/>
          <p:nvPr/>
        </p:nvSpPr>
        <p:spPr>
          <a:xfrm>
            <a:off x="6247379" y="1434370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MX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Services  internes</a:t>
            </a:r>
          </a:p>
        </p:txBody>
      </p:sp>
      <p:sp>
        <p:nvSpPr>
          <p:cNvPr id="108" name="BA_SX">
            <a:extLst>
              <a:ext uri="{FF2B5EF4-FFF2-40B4-BE49-F238E27FC236}">
                <a16:creationId xmlns:a16="http://schemas.microsoft.com/office/drawing/2014/main" id="{459437B2-E88C-5A47-83C6-1265DED15675}"/>
              </a:ext>
            </a:extLst>
          </p:cNvPr>
          <p:cNvSpPr/>
          <p:nvPr/>
        </p:nvSpPr>
        <p:spPr>
          <a:xfrm>
            <a:off x="6957409" y="1434370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SX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Socle Exposition</a:t>
            </a:r>
          </a:p>
        </p:txBody>
      </p:sp>
      <p:sp>
        <p:nvSpPr>
          <p:cNvPr id="117" name="BA_HX">
            <a:extLst>
              <a:ext uri="{FF2B5EF4-FFF2-40B4-BE49-F238E27FC236}">
                <a16:creationId xmlns:a16="http://schemas.microsoft.com/office/drawing/2014/main" id="{D4BD4775-628D-3265-530A-B3D31E53DB1F}"/>
              </a:ext>
            </a:extLst>
          </p:cNvPr>
          <p:cNvSpPr/>
          <p:nvPr/>
        </p:nvSpPr>
        <p:spPr>
          <a:xfrm>
            <a:off x="5540187" y="1791450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HX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Habilitations PCO</a:t>
            </a:r>
          </a:p>
        </p:txBody>
      </p:sp>
      <p:sp>
        <p:nvSpPr>
          <p:cNvPr id="119" name="BA_RX">
            <a:extLst>
              <a:ext uri="{FF2B5EF4-FFF2-40B4-BE49-F238E27FC236}">
                <a16:creationId xmlns:a16="http://schemas.microsoft.com/office/drawing/2014/main" id="{70940F20-EA54-A519-9CDC-0BF78D74521B}"/>
              </a:ext>
            </a:extLst>
          </p:cNvPr>
          <p:cNvSpPr/>
          <p:nvPr/>
        </p:nvSpPr>
        <p:spPr>
          <a:xfrm>
            <a:off x="6957409" y="1791450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RX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Socle Editique</a:t>
            </a:r>
          </a:p>
        </p:txBody>
      </p:sp>
      <p:sp>
        <p:nvSpPr>
          <p:cNvPr id="120" name="BA_WP">
            <a:extLst>
              <a:ext uri="{FF2B5EF4-FFF2-40B4-BE49-F238E27FC236}">
                <a16:creationId xmlns:a16="http://schemas.microsoft.com/office/drawing/2014/main" id="{72FB680B-913C-4D69-241E-7048064873DE}"/>
              </a:ext>
            </a:extLst>
          </p:cNvPr>
          <p:cNvSpPr/>
          <p:nvPr/>
        </p:nvSpPr>
        <p:spPr>
          <a:xfrm>
            <a:off x="5542712" y="2146978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WP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Lanceur PCO</a:t>
            </a:r>
          </a:p>
        </p:txBody>
      </p:sp>
      <p:sp>
        <p:nvSpPr>
          <p:cNvPr id="121" name="BA_FM">
            <a:extLst>
              <a:ext uri="{FF2B5EF4-FFF2-40B4-BE49-F238E27FC236}">
                <a16:creationId xmlns:a16="http://schemas.microsoft.com/office/drawing/2014/main" id="{C82807A5-207D-8847-C53B-3AD80CE2D935}"/>
              </a:ext>
            </a:extLst>
          </p:cNvPr>
          <p:cNvSpPr/>
          <p:nvPr/>
        </p:nvSpPr>
        <p:spPr>
          <a:xfrm>
            <a:off x="6251156" y="2146978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FM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Fonctions IHM</a:t>
            </a:r>
          </a:p>
        </p:txBody>
      </p:sp>
      <p:sp>
        <p:nvSpPr>
          <p:cNvPr id="123" name="BA_JF">
            <a:extLst>
              <a:ext uri="{FF2B5EF4-FFF2-40B4-BE49-F238E27FC236}">
                <a16:creationId xmlns:a16="http://schemas.microsoft.com/office/drawing/2014/main" id="{C88D044E-A44F-AABF-C78C-F41351625066}"/>
              </a:ext>
            </a:extLst>
          </p:cNvPr>
          <p:cNvSpPr/>
          <p:nvPr/>
        </p:nvSpPr>
        <p:spPr>
          <a:xfrm>
            <a:off x="6955140" y="2146978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JF</a:t>
            </a:r>
            <a:endParaRPr kumimoji="0" lang="fr-FR" sz="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Animation </a:t>
            </a:r>
            <a:r>
              <a:rPr kumimoji="0" lang="fr-FR" sz="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comm</a:t>
            </a: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.</a:t>
            </a:r>
          </a:p>
        </p:txBody>
      </p:sp>
      <p:sp>
        <p:nvSpPr>
          <p:cNvPr id="124" name="Gr_Avanet">
            <a:extLst>
              <a:ext uri="{FF2B5EF4-FFF2-40B4-BE49-F238E27FC236}">
                <a16:creationId xmlns:a16="http://schemas.microsoft.com/office/drawing/2014/main" id="{E611CC35-D740-FB86-1D95-A6CF8C5DEAC1}"/>
              </a:ext>
            </a:extLst>
          </p:cNvPr>
          <p:cNvSpPr/>
          <p:nvPr/>
        </p:nvSpPr>
        <p:spPr>
          <a:xfrm>
            <a:off x="3593887" y="1111645"/>
            <a:ext cx="1690030" cy="117785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  <a:effectLst>
            <a:outerShdw blurRad="50800" dist="38100" dir="2700000" algn="ctr" rotWithShape="0">
              <a:schemeClr val="tx1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/>
            </a:endParaRPr>
          </a:p>
        </p:txBody>
      </p:sp>
      <p:sp>
        <p:nvSpPr>
          <p:cNvPr id="125" name="ZT_Avanet">
            <a:extLst>
              <a:ext uri="{FF2B5EF4-FFF2-40B4-BE49-F238E27FC236}">
                <a16:creationId xmlns:a16="http://schemas.microsoft.com/office/drawing/2014/main" id="{20EC1F81-1516-3C45-EE0A-AB8F8640782E}"/>
              </a:ext>
            </a:extLst>
          </p:cNvPr>
          <p:cNvSpPr txBox="1"/>
          <p:nvPr/>
        </p:nvSpPr>
        <p:spPr>
          <a:xfrm>
            <a:off x="3603262" y="1138960"/>
            <a:ext cx="1680655" cy="246221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1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Avanet</a:t>
            </a:r>
            <a:endParaRPr kumimoji="0" lang="fr-FR" sz="1000" b="1" i="1" u="none" strike="noStrike" kern="1200" cap="none" spc="0" normalizeH="0" baseline="0" noProof="0" dirty="0">
              <a:ln>
                <a:noFill/>
              </a:ln>
              <a:solidFill>
                <a:srgbClr val="ED7D3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6" name="BA_W5">
            <a:extLst>
              <a:ext uri="{FF2B5EF4-FFF2-40B4-BE49-F238E27FC236}">
                <a16:creationId xmlns:a16="http://schemas.microsoft.com/office/drawing/2014/main" id="{A77B8240-EC17-9412-B1B5-4F310C7A6625}"/>
              </a:ext>
            </a:extLst>
          </p:cNvPr>
          <p:cNvSpPr/>
          <p:nvPr/>
        </p:nvSpPr>
        <p:spPr>
          <a:xfrm>
            <a:off x="3726791" y="1434801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W5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Av@net</a:t>
            </a:r>
            <a:endParaRPr kumimoji="0" lang="fr-FR" sz="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7" name="BA_AEDI">
            <a:extLst>
              <a:ext uri="{FF2B5EF4-FFF2-40B4-BE49-F238E27FC236}">
                <a16:creationId xmlns:a16="http://schemas.microsoft.com/office/drawing/2014/main" id="{C0A9DD97-C341-E223-192F-70263FBAACF8}"/>
              </a:ext>
            </a:extLst>
          </p:cNvPr>
          <p:cNvSpPr/>
          <p:nvPr/>
        </p:nvSpPr>
        <p:spPr>
          <a:xfrm>
            <a:off x="4521017" y="1438787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AEDI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API-EDI</a:t>
            </a:r>
          </a:p>
        </p:txBody>
      </p:sp>
      <p:sp>
        <p:nvSpPr>
          <p:cNvPr id="128" name="BA_SVOD">
            <a:extLst>
              <a:ext uri="{FF2B5EF4-FFF2-40B4-BE49-F238E27FC236}">
                <a16:creationId xmlns:a16="http://schemas.microsoft.com/office/drawing/2014/main" id="{B54D2DB4-BD75-1E21-4C31-20BFD1562A25}"/>
              </a:ext>
            </a:extLst>
          </p:cNvPr>
          <p:cNvSpPr/>
          <p:nvPr/>
        </p:nvSpPr>
        <p:spPr>
          <a:xfrm>
            <a:off x="3726791" y="1819606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SVOD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SAS </a:t>
            </a:r>
            <a:r>
              <a:rPr kumimoji="0" lang="fr-FR" sz="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Valid</a:t>
            </a: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.</a:t>
            </a:r>
          </a:p>
        </p:txBody>
      </p:sp>
      <p:sp>
        <p:nvSpPr>
          <p:cNvPr id="129" name="Gr_PFD">
            <a:extLst>
              <a:ext uri="{FF2B5EF4-FFF2-40B4-BE49-F238E27FC236}">
                <a16:creationId xmlns:a16="http://schemas.microsoft.com/office/drawing/2014/main" id="{1592C7B6-E1D8-5626-2A77-C73FD5E52D91}"/>
              </a:ext>
            </a:extLst>
          </p:cNvPr>
          <p:cNvSpPr/>
          <p:nvPr/>
        </p:nvSpPr>
        <p:spPr>
          <a:xfrm>
            <a:off x="6161552" y="3780520"/>
            <a:ext cx="1627675" cy="1021008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  <a:effectLst>
            <a:outerShdw blurRad="50800" dist="38100" dir="2700000" algn="ctr" rotWithShape="0">
              <a:schemeClr val="tx1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/>
            </a:endParaRPr>
          </a:p>
        </p:txBody>
      </p:sp>
      <p:sp>
        <p:nvSpPr>
          <p:cNvPr id="130" name="ZT_PFD">
            <a:extLst>
              <a:ext uri="{FF2B5EF4-FFF2-40B4-BE49-F238E27FC236}">
                <a16:creationId xmlns:a16="http://schemas.microsoft.com/office/drawing/2014/main" id="{3FF6C1CA-8224-C701-9BF8-346A722B5BF1}"/>
              </a:ext>
            </a:extLst>
          </p:cNvPr>
          <p:cNvSpPr txBox="1"/>
          <p:nvPr/>
        </p:nvSpPr>
        <p:spPr>
          <a:xfrm>
            <a:off x="6185238" y="3807835"/>
            <a:ext cx="1714025" cy="246221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Plateforme Data (PFD)</a:t>
            </a:r>
          </a:p>
        </p:txBody>
      </p:sp>
      <p:sp>
        <p:nvSpPr>
          <p:cNvPr id="131" name="BA_J2">
            <a:extLst>
              <a:ext uri="{FF2B5EF4-FFF2-40B4-BE49-F238E27FC236}">
                <a16:creationId xmlns:a16="http://schemas.microsoft.com/office/drawing/2014/main" id="{E3943D3A-FC9D-C5F2-A662-FFB63CC8C316}"/>
              </a:ext>
            </a:extLst>
          </p:cNvPr>
          <p:cNvSpPr/>
          <p:nvPr/>
        </p:nvSpPr>
        <p:spPr>
          <a:xfrm>
            <a:off x="6296389" y="4103676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J2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Exposition PFD</a:t>
            </a:r>
          </a:p>
        </p:txBody>
      </p:sp>
      <p:sp>
        <p:nvSpPr>
          <p:cNvPr id="136" name="BA_J6">
            <a:extLst>
              <a:ext uri="{FF2B5EF4-FFF2-40B4-BE49-F238E27FC236}">
                <a16:creationId xmlns:a16="http://schemas.microsoft.com/office/drawing/2014/main" id="{812D85F2-A1E2-3C3E-C9E4-0EE3F65523A3}"/>
              </a:ext>
            </a:extLst>
          </p:cNvPr>
          <p:cNvSpPr/>
          <p:nvPr/>
        </p:nvSpPr>
        <p:spPr>
          <a:xfrm>
            <a:off x="7048704" y="4107662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J6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Restit</a:t>
            </a: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. </a:t>
            </a:r>
            <a:r>
              <a:rPr kumimoji="0" lang="fr-FR" sz="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Régl</a:t>
            </a: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.</a:t>
            </a:r>
          </a:p>
        </p:txBody>
      </p:sp>
      <p:sp>
        <p:nvSpPr>
          <p:cNvPr id="147" name="BA_J8">
            <a:extLst>
              <a:ext uri="{FF2B5EF4-FFF2-40B4-BE49-F238E27FC236}">
                <a16:creationId xmlns:a16="http://schemas.microsoft.com/office/drawing/2014/main" id="{6686F008-BEE6-4611-E275-B9BAA6FCE576}"/>
              </a:ext>
            </a:extLst>
          </p:cNvPr>
          <p:cNvSpPr/>
          <p:nvPr/>
        </p:nvSpPr>
        <p:spPr>
          <a:xfrm>
            <a:off x="6296389" y="4488481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J8</a:t>
            </a:r>
            <a:endParaRPr kumimoji="0" lang="fr-FR" sz="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Données Contrats</a:t>
            </a:r>
          </a:p>
        </p:txBody>
      </p:sp>
      <p:sp>
        <p:nvSpPr>
          <p:cNvPr id="149" name="Gr_Prediweb1">
            <a:extLst>
              <a:ext uri="{FF2B5EF4-FFF2-40B4-BE49-F238E27FC236}">
                <a16:creationId xmlns:a16="http://schemas.microsoft.com/office/drawing/2014/main" id="{D0FDABF5-88C7-67CF-2984-B5364067DE87}"/>
              </a:ext>
            </a:extLst>
          </p:cNvPr>
          <p:cNvSpPr/>
          <p:nvPr/>
        </p:nvSpPr>
        <p:spPr>
          <a:xfrm>
            <a:off x="3588010" y="2368814"/>
            <a:ext cx="1695907" cy="671739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  <a:effectLst>
            <a:outerShdw blurRad="50800" dist="38100" dir="2700000" algn="ctr" rotWithShape="0">
              <a:schemeClr val="tx1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/>
            </a:endParaRPr>
          </a:p>
        </p:txBody>
      </p:sp>
      <p:sp>
        <p:nvSpPr>
          <p:cNvPr id="151" name="ZT_Prediweb1">
            <a:extLst>
              <a:ext uri="{FF2B5EF4-FFF2-40B4-BE49-F238E27FC236}">
                <a16:creationId xmlns:a16="http://schemas.microsoft.com/office/drawing/2014/main" id="{4F80F425-B132-D1EE-53F0-5FCA644603FC}"/>
              </a:ext>
            </a:extLst>
          </p:cNvPr>
          <p:cNvSpPr txBox="1"/>
          <p:nvPr/>
        </p:nvSpPr>
        <p:spPr>
          <a:xfrm>
            <a:off x="3595208" y="2396399"/>
            <a:ext cx="1688709" cy="246221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1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Prediweb</a:t>
            </a:r>
            <a:r>
              <a:rPr kumimoji="0" lang="fr-FR" sz="1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 1</a:t>
            </a:r>
            <a:endParaRPr kumimoji="0" lang="fr-FR" sz="1000" b="1" i="1" u="none" strike="noStrike" kern="1200" cap="none" spc="0" normalizeH="0" baseline="0" noProof="0" dirty="0">
              <a:ln>
                <a:noFill/>
              </a:ln>
              <a:solidFill>
                <a:srgbClr val="ED7D3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3" name="BA_BD">
            <a:extLst>
              <a:ext uri="{FF2B5EF4-FFF2-40B4-BE49-F238E27FC236}">
                <a16:creationId xmlns:a16="http://schemas.microsoft.com/office/drawing/2014/main" id="{38BFFA9D-8D24-762B-B66E-D39BABBEDC4F}"/>
              </a:ext>
            </a:extLst>
          </p:cNvPr>
          <p:cNvSpPr/>
          <p:nvPr/>
        </p:nvSpPr>
        <p:spPr>
          <a:xfrm>
            <a:off x="3720914" y="2691969"/>
            <a:ext cx="648000" cy="288000"/>
          </a:xfrm>
          <a:prstGeom prst="roundRect">
            <a:avLst/>
          </a:prstGeom>
          <a:solidFill>
            <a:srgbClr val="70AD4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BD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Prediweb</a:t>
            </a:r>
            <a:endParaRPr kumimoji="0" lang="fr-FR" sz="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6" name="BA_SGR">
            <a:extLst>
              <a:ext uri="{FF2B5EF4-FFF2-40B4-BE49-F238E27FC236}">
                <a16:creationId xmlns:a16="http://schemas.microsoft.com/office/drawing/2014/main" id="{8DC59EC5-9823-AD23-B4CA-12DFD26F276B}"/>
              </a:ext>
            </a:extLst>
          </p:cNvPr>
          <p:cNvSpPr/>
          <p:nvPr/>
        </p:nvSpPr>
        <p:spPr>
          <a:xfrm>
            <a:off x="4496225" y="2696226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SGR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Lanceur SGR</a:t>
            </a:r>
          </a:p>
        </p:txBody>
      </p:sp>
      <p:sp>
        <p:nvSpPr>
          <p:cNvPr id="158" name="BA_Autre_PFD">
            <a:extLst>
              <a:ext uri="{FF2B5EF4-FFF2-40B4-BE49-F238E27FC236}">
                <a16:creationId xmlns:a16="http://schemas.microsoft.com/office/drawing/2014/main" id="{BDA25FB2-7955-C827-9E2D-117B2D479E52}"/>
              </a:ext>
            </a:extLst>
          </p:cNvPr>
          <p:cNvSpPr/>
          <p:nvPr/>
        </p:nvSpPr>
        <p:spPr>
          <a:xfrm>
            <a:off x="7048704" y="4459954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…</a:t>
            </a:r>
          </a:p>
        </p:txBody>
      </p:sp>
      <p:sp>
        <p:nvSpPr>
          <p:cNvPr id="159" name="Gr_AIA">
            <a:extLst>
              <a:ext uri="{FF2B5EF4-FFF2-40B4-BE49-F238E27FC236}">
                <a16:creationId xmlns:a16="http://schemas.microsoft.com/office/drawing/2014/main" id="{B65299B4-C39D-797B-2121-A93FE020EB9F}"/>
              </a:ext>
            </a:extLst>
          </p:cNvPr>
          <p:cNvSpPr/>
          <p:nvPr/>
        </p:nvSpPr>
        <p:spPr>
          <a:xfrm>
            <a:off x="600429" y="2842718"/>
            <a:ext cx="927635" cy="550924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  <a:effectLst>
            <a:outerShdw blurRad="50800" dist="38100" dir="2700000" algn="ctr" rotWithShape="0">
              <a:schemeClr val="tx1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/>
            </a:endParaRPr>
          </a:p>
        </p:txBody>
      </p:sp>
      <p:sp>
        <p:nvSpPr>
          <p:cNvPr id="160" name="ZT_AIA">
            <a:extLst>
              <a:ext uri="{FF2B5EF4-FFF2-40B4-BE49-F238E27FC236}">
                <a16:creationId xmlns:a16="http://schemas.microsoft.com/office/drawing/2014/main" id="{92F0FA81-447A-F0C3-CDD0-6479806DB939}"/>
              </a:ext>
            </a:extLst>
          </p:cNvPr>
          <p:cNvSpPr txBox="1"/>
          <p:nvPr/>
        </p:nvSpPr>
        <p:spPr>
          <a:xfrm>
            <a:off x="520497" y="2870168"/>
            <a:ext cx="1080000" cy="246221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AIA V4 (Sinistres)</a:t>
            </a:r>
          </a:p>
        </p:txBody>
      </p:sp>
      <p:sp>
        <p:nvSpPr>
          <p:cNvPr id="161" name="BA_AJ">
            <a:extLst>
              <a:ext uri="{FF2B5EF4-FFF2-40B4-BE49-F238E27FC236}">
                <a16:creationId xmlns:a16="http://schemas.microsoft.com/office/drawing/2014/main" id="{5ED3DA8E-02A2-D6E3-7CB6-14EBDD2E0446}"/>
              </a:ext>
            </a:extLst>
          </p:cNvPr>
          <p:cNvSpPr/>
          <p:nvPr/>
        </p:nvSpPr>
        <p:spPr>
          <a:xfrm>
            <a:off x="741487" y="3087886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AJ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AIA </a:t>
            </a:r>
            <a:r>
              <a:rPr kumimoji="0" lang="fr-FR" sz="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Sinitres</a:t>
            </a:r>
            <a:endParaRPr kumimoji="0" lang="fr-FR" sz="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2" name="Gr_Prediweb2">
            <a:extLst>
              <a:ext uri="{FF2B5EF4-FFF2-40B4-BE49-F238E27FC236}">
                <a16:creationId xmlns:a16="http://schemas.microsoft.com/office/drawing/2014/main" id="{FDC2F83D-AABD-822E-E7E1-68E9A07DAC3D}"/>
              </a:ext>
            </a:extLst>
          </p:cNvPr>
          <p:cNvSpPr/>
          <p:nvPr/>
        </p:nvSpPr>
        <p:spPr>
          <a:xfrm>
            <a:off x="6172824" y="3106138"/>
            <a:ext cx="754043" cy="61200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  <a:effectLst>
            <a:outerShdw blurRad="50800" dist="38100" dir="2700000" algn="ctr" rotWithShape="0">
              <a:schemeClr val="tx1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/>
            </a:endParaRPr>
          </a:p>
        </p:txBody>
      </p:sp>
      <p:sp>
        <p:nvSpPr>
          <p:cNvPr id="163" name="ZT_Prediweb2">
            <a:extLst>
              <a:ext uri="{FF2B5EF4-FFF2-40B4-BE49-F238E27FC236}">
                <a16:creationId xmlns:a16="http://schemas.microsoft.com/office/drawing/2014/main" id="{57F93DD4-C0FE-8B41-9E05-F6A0465898E7}"/>
              </a:ext>
            </a:extLst>
          </p:cNvPr>
          <p:cNvSpPr txBox="1"/>
          <p:nvPr/>
        </p:nvSpPr>
        <p:spPr>
          <a:xfrm>
            <a:off x="6145849" y="3133723"/>
            <a:ext cx="774251" cy="246221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1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Prediweb</a:t>
            </a:r>
            <a:r>
              <a:rPr kumimoji="0" lang="fr-FR" sz="1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 2</a:t>
            </a:r>
            <a:endParaRPr kumimoji="0" lang="fr-FR" sz="1000" b="1" i="1" u="none" strike="noStrike" kern="1200" cap="none" spc="0" normalizeH="0" baseline="0" noProof="0" dirty="0">
              <a:ln>
                <a:noFill/>
              </a:ln>
              <a:solidFill>
                <a:srgbClr val="ED7D3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4" name="BA_PY">
            <a:extLst>
              <a:ext uri="{FF2B5EF4-FFF2-40B4-BE49-F238E27FC236}">
                <a16:creationId xmlns:a16="http://schemas.microsoft.com/office/drawing/2014/main" id="{E50337F7-A3B1-6BE7-3376-28CF9FE99A52}"/>
              </a:ext>
            </a:extLst>
          </p:cNvPr>
          <p:cNvSpPr/>
          <p:nvPr/>
        </p:nvSpPr>
        <p:spPr>
          <a:xfrm>
            <a:off x="6219320" y="3376340"/>
            <a:ext cx="648000" cy="288000"/>
          </a:xfrm>
          <a:prstGeom prst="roundRect">
            <a:avLst/>
          </a:prstGeom>
          <a:solidFill>
            <a:srgbClr val="ED7D31"/>
          </a:solidFill>
          <a:ln>
            <a:noFill/>
          </a:ln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PY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Prediweb</a:t>
            </a: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 2</a:t>
            </a:r>
          </a:p>
        </p:txBody>
      </p:sp>
      <p:sp>
        <p:nvSpPr>
          <p:cNvPr id="165" name="Gr_NewNOVA">
            <a:extLst>
              <a:ext uri="{FF2B5EF4-FFF2-40B4-BE49-F238E27FC236}">
                <a16:creationId xmlns:a16="http://schemas.microsoft.com/office/drawing/2014/main" id="{DEAD2B28-DE80-CD62-51B6-EDAABED0DD8C}"/>
              </a:ext>
            </a:extLst>
          </p:cNvPr>
          <p:cNvSpPr/>
          <p:nvPr/>
        </p:nvSpPr>
        <p:spPr>
          <a:xfrm>
            <a:off x="7894317" y="1093890"/>
            <a:ext cx="3975128" cy="3939748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  <a:effectLst>
            <a:outerShdw blurRad="50800" dist="38100" dir="2700000" algn="ctr" rotWithShape="0">
              <a:schemeClr val="tx1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/>
            </a:endParaRPr>
          </a:p>
        </p:txBody>
      </p:sp>
      <p:sp>
        <p:nvSpPr>
          <p:cNvPr id="166" name="ZT_NewNOVA">
            <a:extLst>
              <a:ext uri="{FF2B5EF4-FFF2-40B4-BE49-F238E27FC236}">
                <a16:creationId xmlns:a16="http://schemas.microsoft.com/office/drawing/2014/main" id="{2673424F-820F-BF63-08C3-31CB5CAF8CC0}"/>
              </a:ext>
            </a:extLst>
          </p:cNvPr>
          <p:cNvSpPr txBox="1"/>
          <p:nvPr/>
        </p:nvSpPr>
        <p:spPr>
          <a:xfrm>
            <a:off x="7959719" y="1121206"/>
            <a:ext cx="2930793" cy="246221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New NOVA (K8S+AWS)</a:t>
            </a:r>
            <a:endParaRPr kumimoji="0" lang="fr-FR" sz="1000" b="1" i="1" u="none" strike="noStrike" kern="1200" cap="none" spc="0" normalizeH="0" baseline="0" noProof="0" dirty="0">
              <a:ln>
                <a:noFill/>
              </a:ln>
              <a:solidFill>
                <a:srgbClr val="ED7D3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7" name="BA_APPE">
            <a:extLst>
              <a:ext uri="{FF2B5EF4-FFF2-40B4-BE49-F238E27FC236}">
                <a16:creationId xmlns:a16="http://schemas.microsoft.com/office/drawing/2014/main" id="{F2060E0F-57E0-EFAA-FC6F-78104972E81B}"/>
              </a:ext>
            </a:extLst>
          </p:cNvPr>
          <p:cNvSpPr/>
          <p:nvPr/>
        </p:nvSpPr>
        <p:spPr>
          <a:xfrm>
            <a:off x="8114072" y="1417047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APPE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API Personne</a:t>
            </a:r>
          </a:p>
        </p:txBody>
      </p:sp>
      <p:sp>
        <p:nvSpPr>
          <p:cNvPr id="168" name="BA_CJNI">
            <a:extLst>
              <a:ext uri="{FF2B5EF4-FFF2-40B4-BE49-F238E27FC236}">
                <a16:creationId xmlns:a16="http://schemas.microsoft.com/office/drawing/2014/main" id="{8BC849D8-3311-2C5D-30D1-20EBA8B7590C}"/>
              </a:ext>
            </a:extLst>
          </p:cNvPr>
          <p:cNvSpPr/>
          <p:nvPr/>
        </p:nvSpPr>
        <p:spPr>
          <a:xfrm>
            <a:off x="8803280" y="1417047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CJNI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Jeton SSO</a:t>
            </a:r>
          </a:p>
        </p:txBody>
      </p:sp>
      <p:sp>
        <p:nvSpPr>
          <p:cNvPr id="169" name="BA_C8">
            <a:extLst>
              <a:ext uri="{FF2B5EF4-FFF2-40B4-BE49-F238E27FC236}">
                <a16:creationId xmlns:a16="http://schemas.microsoft.com/office/drawing/2014/main" id="{813085CF-241C-1AD0-D433-AC9221814F8F}"/>
              </a:ext>
            </a:extLst>
          </p:cNvPr>
          <p:cNvSpPr/>
          <p:nvPr/>
        </p:nvSpPr>
        <p:spPr>
          <a:xfrm>
            <a:off x="9490384" y="1417047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C8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Consentements</a:t>
            </a:r>
          </a:p>
        </p:txBody>
      </p:sp>
      <p:sp>
        <p:nvSpPr>
          <p:cNvPr id="170" name="BA_D9">
            <a:extLst>
              <a:ext uri="{FF2B5EF4-FFF2-40B4-BE49-F238E27FC236}">
                <a16:creationId xmlns:a16="http://schemas.microsoft.com/office/drawing/2014/main" id="{471BA4BF-E597-71BE-93A0-F066AC30C838}"/>
              </a:ext>
            </a:extLst>
          </p:cNvPr>
          <p:cNvSpPr/>
          <p:nvPr/>
        </p:nvSpPr>
        <p:spPr>
          <a:xfrm>
            <a:off x="10160477" y="1417047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D9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Base Doc AWS</a:t>
            </a:r>
          </a:p>
        </p:txBody>
      </p:sp>
      <p:sp>
        <p:nvSpPr>
          <p:cNvPr id="171" name="BA_F3">
            <a:extLst>
              <a:ext uri="{FF2B5EF4-FFF2-40B4-BE49-F238E27FC236}">
                <a16:creationId xmlns:a16="http://schemas.microsoft.com/office/drawing/2014/main" id="{2B9DC0F8-B200-5780-2AA7-2EE7B310AC8D}"/>
              </a:ext>
            </a:extLst>
          </p:cNvPr>
          <p:cNvSpPr/>
          <p:nvPr/>
        </p:nvSpPr>
        <p:spPr>
          <a:xfrm>
            <a:off x="8114072" y="1734468"/>
            <a:ext cx="648000" cy="288000"/>
          </a:xfrm>
          <a:prstGeom prst="roundRect">
            <a:avLst/>
          </a:prstGeom>
          <a:solidFill>
            <a:srgbClr val="ED7D3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F3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Versement Libre</a:t>
            </a:r>
          </a:p>
        </p:txBody>
      </p:sp>
      <p:sp>
        <p:nvSpPr>
          <p:cNvPr id="172" name="BA_F4">
            <a:extLst>
              <a:ext uri="{FF2B5EF4-FFF2-40B4-BE49-F238E27FC236}">
                <a16:creationId xmlns:a16="http://schemas.microsoft.com/office/drawing/2014/main" id="{07F734B5-CFD0-C865-C187-66E8B027C242}"/>
              </a:ext>
            </a:extLst>
          </p:cNvPr>
          <p:cNvSpPr/>
          <p:nvPr/>
        </p:nvSpPr>
        <p:spPr>
          <a:xfrm>
            <a:off x="8803280" y="1734468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F4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Synthèse </a:t>
            </a:r>
            <a:r>
              <a:rPr kumimoji="0" lang="fr-FR" sz="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Opér</a:t>
            </a: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.</a:t>
            </a:r>
          </a:p>
        </p:txBody>
      </p:sp>
      <p:sp>
        <p:nvSpPr>
          <p:cNvPr id="173" name="BA_F5">
            <a:extLst>
              <a:ext uri="{FF2B5EF4-FFF2-40B4-BE49-F238E27FC236}">
                <a16:creationId xmlns:a16="http://schemas.microsoft.com/office/drawing/2014/main" id="{06E2F9DE-B6D8-F235-D0D7-4B0905667849}"/>
              </a:ext>
            </a:extLst>
          </p:cNvPr>
          <p:cNvSpPr/>
          <p:nvPr/>
        </p:nvSpPr>
        <p:spPr>
          <a:xfrm>
            <a:off x="9490384" y="1734468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F5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Conf</a:t>
            </a: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. New Nova</a:t>
            </a:r>
          </a:p>
        </p:txBody>
      </p:sp>
      <p:sp>
        <p:nvSpPr>
          <p:cNvPr id="174" name="BA_F6">
            <a:extLst>
              <a:ext uri="{FF2B5EF4-FFF2-40B4-BE49-F238E27FC236}">
                <a16:creationId xmlns:a16="http://schemas.microsoft.com/office/drawing/2014/main" id="{88263B18-C2F8-36D8-D2B1-C0B2858F3ED1}"/>
              </a:ext>
            </a:extLst>
          </p:cNvPr>
          <p:cNvSpPr/>
          <p:nvPr/>
        </p:nvSpPr>
        <p:spPr>
          <a:xfrm>
            <a:off x="10160477" y="1734468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F6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API Adhésion</a:t>
            </a:r>
          </a:p>
        </p:txBody>
      </p:sp>
      <p:sp>
        <p:nvSpPr>
          <p:cNvPr id="175" name="BA_F7">
            <a:extLst>
              <a:ext uri="{FF2B5EF4-FFF2-40B4-BE49-F238E27FC236}">
                <a16:creationId xmlns:a16="http://schemas.microsoft.com/office/drawing/2014/main" id="{D99FB6D0-6446-D61C-D613-FE416FFB7BC7}"/>
              </a:ext>
            </a:extLst>
          </p:cNvPr>
          <p:cNvSpPr/>
          <p:nvPr/>
        </p:nvSpPr>
        <p:spPr>
          <a:xfrm>
            <a:off x="8114072" y="2047150"/>
            <a:ext cx="648000" cy="288000"/>
          </a:xfrm>
          <a:prstGeom prst="round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F7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Arbitrage</a:t>
            </a:r>
          </a:p>
        </p:txBody>
      </p:sp>
      <p:sp>
        <p:nvSpPr>
          <p:cNvPr id="176" name="BA_G3">
            <a:extLst>
              <a:ext uri="{FF2B5EF4-FFF2-40B4-BE49-F238E27FC236}">
                <a16:creationId xmlns:a16="http://schemas.microsoft.com/office/drawing/2014/main" id="{30510096-F4C4-91C4-E567-35EAB8062B7F}"/>
              </a:ext>
            </a:extLst>
          </p:cNvPr>
          <p:cNvSpPr/>
          <p:nvPr/>
        </p:nvSpPr>
        <p:spPr>
          <a:xfrm>
            <a:off x="9490384" y="2047150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G3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Pièces médicales</a:t>
            </a:r>
          </a:p>
        </p:txBody>
      </p:sp>
      <p:sp>
        <p:nvSpPr>
          <p:cNvPr id="177" name="BA_G4">
            <a:extLst>
              <a:ext uri="{FF2B5EF4-FFF2-40B4-BE49-F238E27FC236}">
                <a16:creationId xmlns:a16="http://schemas.microsoft.com/office/drawing/2014/main" id="{AF719272-35DA-9026-CC86-ABB975A04DA8}"/>
              </a:ext>
            </a:extLst>
          </p:cNvPr>
          <p:cNvSpPr/>
          <p:nvPr/>
        </p:nvSpPr>
        <p:spPr>
          <a:xfrm>
            <a:off x="10160477" y="2047150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G4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API FRC</a:t>
            </a:r>
          </a:p>
        </p:txBody>
      </p:sp>
      <p:sp>
        <p:nvSpPr>
          <p:cNvPr id="178" name="BA_G6">
            <a:extLst>
              <a:ext uri="{FF2B5EF4-FFF2-40B4-BE49-F238E27FC236}">
                <a16:creationId xmlns:a16="http://schemas.microsoft.com/office/drawing/2014/main" id="{EAC34318-F8A3-F8E5-303F-4D871697CAE6}"/>
              </a:ext>
            </a:extLst>
          </p:cNvPr>
          <p:cNvSpPr/>
          <p:nvPr/>
        </p:nvSpPr>
        <p:spPr>
          <a:xfrm>
            <a:off x="8114072" y="2368438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G6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API </a:t>
            </a:r>
            <a:r>
              <a:rPr kumimoji="0" lang="fr-FR" sz="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Passport</a:t>
            </a:r>
            <a:endParaRPr kumimoji="0" lang="fr-FR" sz="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9" name="BA_GQ">
            <a:extLst>
              <a:ext uri="{FF2B5EF4-FFF2-40B4-BE49-F238E27FC236}">
                <a16:creationId xmlns:a16="http://schemas.microsoft.com/office/drawing/2014/main" id="{FB26A1C5-47F0-22FA-CB8D-D666FD601F4A}"/>
              </a:ext>
            </a:extLst>
          </p:cNvPr>
          <p:cNvSpPr/>
          <p:nvPr/>
        </p:nvSpPr>
        <p:spPr>
          <a:xfrm>
            <a:off x="8803280" y="2368438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GQ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GED Prévoyance</a:t>
            </a:r>
          </a:p>
        </p:txBody>
      </p:sp>
      <p:sp>
        <p:nvSpPr>
          <p:cNvPr id="180" name="BA_I5">
            <a:extLst>
              <a:ext uri="{FF2B5EF4-FFF2-40B4-BE49-F238E27FC236}">
                <a16:creationId xmlns:a16="http://schemas.microsoft.com/office/drawing/2014/main" id="{C567E6E3-E96F-A459-E575-E556CCCC7507}"/>
              </a:ext>
            </a:extLst>
          </p:cNvPr>
          <p:cNvSpPr/>
          <p:nvPr/>
        </p:nvSpPr>
        <p:spPr>
          <a:xfrm>
            <a:off x="8114072" y="2696076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I5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Lanceur New Nova</a:t>
            </a:r>
          </a:p>
        </p:txBody>
      </p:sp>
      <p:sp>
        <p:nvSpPr>
          <p:cNvPr id="181" name="BA_I9">
            <a:extLst>
              <a:ext uri="{FF2B5EF4-FFF2-40B4-BE49-F238E27FC236}">
                <a16:creationId xmlns:a16="http://schemas.microsoft.com/office/drawing/2014/main" id="{9296A349-A5CD-C40C-6B0A-B78C409A52AF}"/>
              </a:ext>
            </a:extLst>
          </p:cNvPr>
          <p:cNvSpPr/>
          <p:nvPr/>
        </p:nvSpPr>
        <p:spPr>
          <a:xfrm>
            <a:off x="8803280" y="2696076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I9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Keycloak</a:t>
            </a: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 Intranet</a:t>
            </a:r>
          </a:p>
        </p:txBody>
      </p:sp>
      <p:sp>
        <p:nvSpPr>
          <p:cNvPr id="182" name="BA_K7">
            <a:extLst>
              <a:ext uri="{FF2B5EF4-FFF2-40B4-BE49-F238E27FC236}">
                <a16:creationId xmlns:a16="http://schemas.microsoft.com/office/drawing/2014/main" id="{FAE9EF43-2250-DD7B-B586-3300814E0B77}"/>
              </a:ext>
            </a:extLst>
          </p:cNvPr>
          <p:cNvSpPr/>
          <p:nvPr/>
        </p:nvSpPr>
        <p:spPr>
          <a:xfrm>
            <a:off x="9490384" y="2696076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K7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Aiguilleur</a:t>
            </a:r>
          </a:p>
        </p:txBody>
      </p:sp>
      <p:sp>
        <p:nvSpPr>
          <p:cNvPr id="183" name="BA_K9">
            <a:extLst>
              <a:ext uri="{FF2B5EF4-FFF2-40B4-BE49-F238E27FC236}">
                <a16:creationId xmlns:a16="http://schemas.microsoft.com/office/drawing/2014/main" id="{4BCA33CD-12AA-2BD9-208B-701CBD06F272}"/>
              </a:ext>
            </a:extLst>
          </p:cNvPr>
          <p:cNvSpPr/>
          <p:nvPr/>
        </p:nvSpPr>
        <p:spPr>
          <a:xfrm>
            <a:off x="10160477" y="2696076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K9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Keycloak</a:t>
            </a: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 Internet</a:t>
            </a:r>
          </a:p>
        </p:txBody>
      </p:sp>
      <p:sp>
        <p:nvSpPr>
          <p:cNvPr id="184" name="BA_L8">
            <a:extLst>
              <a:ext uri="{FF2B5EF4-FFF2-40B4-BE49-F238E27FC236}">
                <a16:creationId xmlns:a16="http://schemas.microsoft.com/office/drawing/2014/main" id="{25D2D3A2-059E-3594-0C92-93DE6A3B61B4}"/>
              </a:ext>
            </a:extLst>
          </p:cNvPr>
          <p:cNvSpPr/>
          <p:nvPr/>
        </p:nvSpPr>
        <p:spPr>
          <a:xfrm>
            <a:off x="8114072" y="3027052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L8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API Archivage</a:t>
            </a:r>
          </a:p>
        </p:txBody>
      </p:sp>
      <p:sp>
        <p:nvSpPr>
          <p:cNvPr id="185" name="BA_L9">
            <a:extLst>
              <a:ext uri="{FF2B5EF4-FFF2-40B4-BE49-F238E27FC236}">
                <a16:creationId xmlns:a16="http://schemas.microsoft.com/office/drawing/2014/main" id="{799649C8-4097-F10C-426F-769F97E58982}"/>
              </a:ext>
            </a:extLst>
          </p:cNvPr>
          <p:cNvSpPr/>
          <p:nvPr/>
        </p:nvSpPr>
        <p:spPr>
          <a:xfrm>
            <a:off x="8803280" y="3027052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L9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API Structure</a:t>
            </a:r>
          </a:p>
        </p:txBody>
      </p:sp>
      <p:sp>
        <p:nvSpPr>
          <p:cNvPr id="186" name="BA_N6">
            <a:extLst>
              <a:ext uri="{FF2B5EF4-FFF2-40B4-BE49-F238E27FC236}">
                <a16:creationId xmlns:a16="http://schemas.microsoft.com/office/drawing/2014/main" id="{9B6F72BB-48E7-FB98-67C0-28C11C9F1D47}"/>
              </a:ext>
            </a:extLst>
          </p:cNvPr>
          <p:cNvSpPr/>
          <p:nvPr/>
        </p:nvSpPr>
        <p:spPr>
          <a:xfrm>
            <a:off x="9490384" y="3034498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N6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API produit</a:t>
            </a:r>
          </a:p>
        </p:txBody>
      </p:sp>
      <p:sp>
        <p:nvSpPr>
          <p:cNvPr id="187" name="BA_N8">
            <a:extLst>
              <a:ext uri="{FF2B5EF4-FFF2-40B4-BE49-F238E27FC236}">
                <a16:creationId xmlns:a16="http://schemas.microsoft.com/office/drawing/2014/main" id="{5B10278F-A141-1A80-A95F-455B79788710}"/>
              </a:ext>
            </a:extLst>
          </p:cNvPr>
          <p:cNvSpPr/>
          <p:nvPr/>
        </p:nvSpPr>
        <p:spPr>
          <a:xfrm>
            <a:off x="10160477" y="3034498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N8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Notif</a:t>
            </a: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. Distributeur</a:t>
            </a:r>
          </a:p>
        </p:txBody>
      </p:sp>
      <p:sp>
        <p:nvSpPr>
          <p:cNvPr id="188" name="BA_P4">
            <a:extLst>
              <a:ext uri="{FF2B5EF4-FFF2-40B4-BE49-F238E27FC236}">
                <a16:creationId xmlns:a16="http://schemas.microsoft.com/office/drawing/2014/main" id="{859E4D43-DA1A-5680-9933-8C32A1AC90E6}"/>
              </a:ext>
            </a:extLst>
          </p:cNvPr>
          <p:cNvSpPr/>
          <p:nvPr/>
        </p:nvSpPr>
        <p:spPr>
          <a:xfrm>
            <a:off x="8114072" y="3354466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P4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Services Editique</a:t>
            </a:r>
          </a:p>
        </p:txBody>
      </p:sp>
      <p:sp>
        <p:nvSpPr>
          <p:cNvPr id="189" name="BA_P5">
            <a:extLst>
              <a:ext uri="{FF2B5EF4-FFF2-40B4-BE49-F238E27FC236}">
                <a16:creationId xmlns:a16="http://schemas.microsoft.com/office/drawing/2014/main" id="{98F84FAC-52FB-2609-427A-7834473C17C5}"/>
              </a:ext>
            </a:extLst>
          </p:cNvPr>
          <p:cNvSpPr/>
          <p:nvPr/>
        </p:nvSpPr>
        <p:spPr>
          <a:xfrm>
            <a:off x="8803280" y="3354466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P5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API Contrat</a:t>
            </a:r>
          </a:p>
        </p:txBody>
      </p:sp>
      <p:sp>
        <p:nvSpPr>
          <p:cNvPr id="190" name="BA_P6">
            <a:extLst>
              <a:ext uri="{FF2B5EF4-FFF2-40B4-BE49-F238E27FC236}">
                <a16:creationId xmlns:a16="http://schemas.microsoft.com/office/drawing/2014/main" id="{68B61D78-435D-2685-9EFF-B1387A214744}"/>
              </a:ext>
            </a:extLst>
          </p:cNvPr>
          <p:cNvSpPr/>
          <p:nvPr/>
        </p:nvSpPr>
        <p:spPr>
          <a:xfrm>
            <a:off x="9490384" y="3369007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P6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API Support</a:t>
            </a:r>
          </a:p>
        </p:txBody>
      </p:sp>
      <p:sp>
        <p:nvSpPr>
          <p:cNvPr id="191" name="BA_P7">
            <a:extLst>
              <a:ext uri="{FF2B5EF4-FFF2-40B4-BE49-F238E27FC236}">
                <a16:creationId xmlns:a16="http://schemas.microsoft.com/office/drawing/2014/main" id="{7D3402DB-5548-CF66-090C-4F906258C145}"/>
              </a:ext>
            </a:extLst>
          </p:cNvPr>
          <p:cNvSpPr/>
          <p:nvPr/>
        </p:nvSpPr>
        <p:spPr>
          <a:xfrm>
            <a:off x="10160477" y="3369007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P7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Campagnes et Frais</a:t>
            </a:r>
          </a:p>
        </p:txBody>
      </p:sp>
      <p:sp>
        <p:nvSpPr>
          <p:cNvPr id="192" name="BA_P8">
            <a:extLst>
              <a:ext uri="{FF2B5EF4-FFF2-40B4-BE49-F238E27FC236}">
                <a16:creationId xmlns:a16="http://schemas.microsoft.com/office/drawing/2014/main" id="{1397151C-B4F6-F28F-9BA0-EAB7E92EDAF8}"/>
              </a:ext>
            </a:extLst>
          </p:cNvPr>
          <p:cNvSpPr/>
          <p:nvPr/>
        </p:nvSpPr>
        <p:spPr>
          <a:xfrm>
            <a:off x="8114072" y="3698914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P8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Habilit</a:t>
            </a: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. &amp;  </a:t>
            </a:r>
            <a:r>
              <a:rPr kumimoji="0" lang="fr-FR" sz="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Délég</a:t>
            </a: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.</a:t>
            </a:r>
          </a:p>
        </p:txBody>
      </p:sp>
      <p:sp>
        <p:nvSpPr>
          <p:cNvPr id="193" name="BA_Q1">
            <a:extLst>
              <a:ext uri="{FF2B5EF4-FFF2-40B4-BE49-F238E27FC236}">
                <a16:creationId xmlns:a16="http://schemas.microsoft.com/office/drawing/2014/main" id="{3F7FA471-BB74-C124-55B7-231965AFE107}"/>
              </a:ext>
            </a:extLst>
          </p:cNvPr>
          <p:cNvSpPr/>
          <p:nvPr/>
        </p:nvSpPr>
        <p:spPr>
          <a:xfrm>
            <a:off x="8803280" y="3698914"/>
            <a:ext cx="648000" cy="288000"/>
          </a:xfrm>
          <a:prstGeom prst="roundRect">
            <a:avLst/>
          </a:prstGeom>
          <a:solidFill>
            <a:srgbClr val="ED7D3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Q1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API </a:t>
            </a:r>
            <a:r>
              <a:rPr kumimoji="0" lang="fr-FR" sz="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Déciséo</a:t>
            </a:r>
            <a:endParaRPr kumimoji="0" lang="fr-FR" sz="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4" name="BA_W1">
            <a:extLst>
              <a:ext uri="{FF2B5EF4-FFF2-40B4-BE49-F238E27FC236}">
                <a16:creationId xmlns:a16="http://schemas.microsoft.com/office/drawing/2014/main" id="{85E97BF3-C4A4-1A3A-8287-3AF35AE1C46B}"/>
              </a:ext>
            </a:extLst>
          </p:cNvPr>
          <p:cNvSpPr/>
          <p:nvPr/>
        </p:nvSpPr>
        <p:spPr>
          <a:xfrm>
            <a:off x="8114072" y="4023294"/>
            <a:ext cx="648000" cy="288000"/>
          </a:xfrm>
          <a:prstGeom prst="roundRect">
            <a:avLst/>
          </a:prstGeom>
          <a:solidFill>
            <a:srgbClr val="ED7D31"/>
          </a:solidFill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W1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API Signature</a:t>
            </a:r>
          </a:p>
        </p:txBody>
      </p:sp>
      <p:sp>
        <p:nvSpPr>
          <p:cNvPr id="195" name="BA_W2">
            <a:extLst>
              <a:ext uri="{FF2B5EF4-FFF2-40B4-BE49-F238E27FC236}">
                <a16:creationId xmlns:a16="http://schemas.microsoft.com/office/drawing/2014/main" id="{DE66C7CF-3F5B-C75A-2506-7B2FC040DCA7}"/>
              </a:ext>
            </a:extLst>
          </p:cNvPr>
          <p:cNvSpPr/>
          <p:nvPr/>
        </p:nvSpPr>
        <p:spPr>
          <a:xfrm>
            <a:off x="8803280" y="4023294"/>
            <a:ext cx="648000" cy="288000"/>
          </a:xfrm>
          <a:prstGeom prst="roundRect">
            <a:avLst/>
          </a:prstGeom>
          <a:solidFill>
            <a:srgbClr val="70AD4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W2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Clause </a:t>
            </a:r>
            <a:r>
              <a:rPr kumimoji="0" lang="fr-FR" sz="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Bénéf</a:t>
            </a: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.</a:t>
            </a:r>
          </a:p>
        </p:txBody>
      </p:sp>
      <p:sp>
        <p:nvSpPr>
          <p:cNvPr id="196" name="BA_W4">
            <a:extLst>
              <a:ext uri="{FF2B5EF4-FFF2-40B4-BE49-F238E27FC236}">
                <a16:creationId xmlns:a16="http://schemas.microsoft.com/office/drawing/2014/main" id="{38DA72E1-A35D-E650-7795-71BDE2A144BC}"/>
              </a:ext>
            </a:extLst>
          </p:cNvPr>
          <p:cNvSpPr/>
          <p:nvPr/>
        </p:nvSpPr>
        <p:spPr>
          <a:xfrm>
            <a:off x="9490384" y="4047213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W4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Modif</a:t>
            </a: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. </a:t>
            </a:r>
            <a:r>
              <a:rPr kumimoji="0" lang="fr-FR" sz="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Gar</a:t>
            </a: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. </a:t>
            </a:r>
            <a:r>
              <a:rPr kumimoji="0" lang="fr-FR" sz="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Prév</a:t>
            </a: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.</a:t>
            </a:r>
          </a:p>
        </p:txBody>
      </p:sp>
      <p:sp>
        <p:nvSpPr>
          <p:cNvPr id="197" name="Gr_REFUC">
            <a:extLst>
              <a:ext uri="{FF2B5EF4-FFF2-40B4-BE49-F238E27FC236}">
                <a16:creationId xmlns:a16="http://schemas.microsoft.com/office/drawing/2014/main" id="{3DD5B652-EAD0-39E9-70C0-B85C642D8C01}"/>
              </a:ext>
            </a:extLst>
          </p:cNvPr>
          <p:cNvSpPr/>
          <p:nvPr/>
        </p:nvSpPr>
        <p:spPr>
          <a:xfrm>
            <a:off x="4497472" y="3115682"/>
            <a:ext cx="769204" cy="591273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  <a:effectLst>
            <a:outerShdw blurRad="50800" dist="38100" dir="2700000" algn="ctr" rotWithShape="0">
              <a:schemeClr val="tx1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/>
            </a:endParaRPr>
          </a:p>
        </p:txBody>
      </p:sp>
      <p:sp>
        <p:nvSpPr>
          <p:cNvPr id="198" name="ZT_REFUC">
            <a:extLst>
              <a:ext uri="{FF2B5EF4-FFF2-40B4-BE49-F238E27FC236}">
                <a16:creationId xmlns:a16="http://schemas.microsoft.com/office/drawing/2014/main" id="{545273DC-0D64-C9F6-D47C-8C2DF4AB9F93}"/>
              </a:ext>
            </a:extLst>
          </p:cNvPr>
          <p:cNvSpPr txBox="1"/>
          <p:nvPr/>
        </p:nvSpPr>
        <p:spPr>
          <a:xfrm>
            <a:off x="4585812" y="3143267"/>
            <a:ext cx="664123" cy="246221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REFUC</a:t>
            </a:r>
          </a:p>
        </p:txBody>
      </p:sp>
      <p:sp>
        <p:nvSpPr>
          <p:cNvPr id="199" name="BA_VL">
            <a:extLst>
              <a:ext uri="{FF2B5EF4-FFF2-40B4-BE49-F238E27FC236}">
                <a16:creationId xmlns:a16="http://schemas.microsoft.com/office/drawing/2014/main" id="{EA7F805B-04C6-2BC1-B1C1-5611CDFAD08F}"/>
              </a:ext>
            </a:extLst>
          </p:cNvPr>
          <p:cNvSpPr/>
          <p:nvPr/>
        </p:nvSpPr>
        <p:spPr>
          <a:xfrm>
            <a:off x="4562134" y="3360904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VL</a:t>
            </a:r>
            <a:endParaRPr kumimoji="0" lang="fr-FR" sz="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Référ</a:t>
            </a: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. UC</a:t>
            </a:r>
          </a:p>
        </p:txBody>
      </p:sp>
      <p:sp>
        <p:nvSpPr>
          <p:cNvPr id="200" name="Gr_EBX">
            <a:extLst>
              <a:ext uri="{FF2B5EF4-FFF2-40B4-BE49-F238E27FC236}">
                <a16:creationId xmlns:a16="http://schemas.microsoft.com/office/drawing/2014/main" id="{59A24568-C7A0-2DDD-920F-05441E3E9708}"/>
              </a:ext>
            </a:extLst>
          </p:cNvPr>
          <p:cNvSpPr/>
          <p:nvPr/>
        </p:nvSpPr>
        <p:spPr>
          <a:xfrm>
            <a:off x="3593887" y="3113812"/>
            <a:ext cx="834318" cy="61200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  <a:effectLst>
            <a:outerShdw blurRad="50800" dist="38100" dir="2700000" algn="ctr" rotWithShape="0">
              <a:schemeClr val="tx1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/>
            </a:endParaRPr>
          </a:p>
        </p:txBody>
      </p:sp>
      <p:sp>
        <p:nvSpPr>
          <p:cNvPr id="201" name="ZT_EBX">
            <a:extLst>
              <a:ext uri="{FF2B5EF4-FFF2-40B4-BE49-F238E27FC236}">
                <a16:creationId xmlns:a16="http://schemas.microsoft.com/office/drawing/2014/main" id="{E8C02D53-02C9-8737-3758-FE93406DFB75}"/>
              </a:ext>
            </a:extLst>
          </p:cNvPr>
          <p:cNvSpPr txBox="1"/>
          <p:nvPr/>
        </p:nvSpPr>
        <p:spPr>
          <a:xfrm>
            <a:off x="3603261" y="3141397"/>
            <a:ext cx="824943" cy="246221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EBX</a:t>
            </a:r>
          </a:p>
        </p:txBody>
      </p:sp>
      <p:sp>
        <p:nvSpPr>
          <p:cNvPr id="202" name="BA_EBX">
            <a:extLst>
              <a:ext uri="{FF2B5EF4-FFF2-40B4-BE49-F238E27FC236}">
                <a16:creationId xmlns:a16="http://schemas.microsoft.com/office/drawing/2014/main" id="{EBD62E59-A129-9BC7-FE97-4F091175943A}"/>
              </a:ext>
            </a:extLst>
          </p:cNvPr>
          <p:cNvSpPr/>
          <p:nvPr/>
        </p:nvSpPr>
        <p:spPr>
          <a:xfrm>
            <a:off x="3697255" y="3370753"/>
            <a:ext cx="648000" cy="276281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EBX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EBX-Platform</a:t>
            </a:r>
          </a:p>
        </p:txBody>
      </p:sp>
      <p:sp>
        <p:nvSpPr>
          <p:cNvPr id="203" name="ZoneProjet">
            <a:extLst>
              <a:ext uri="{FF2B5EF4-FFF2-40B4-BE49-F238E27FC236}">
                <a16:creationId xmlns:a16="http://schemas.microsoft.com/office/drawing/2014/main" id="{96ED5B63-CBCD-23C5-4F60-81109AE23197}"/>
              </a:ext>
            </a:extLst>
          </p:cNvPr>
          <p:cNvSpPr txBox="1"/>
          <p:nvPr/>
        </p:nvSpPr>
        <p:spPr>
          <a:xfrm>
            <a:off x="1052461" y="524643"/>
            <a:ext cx="1540486" cy="253916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>
            <a:defPPr>
              <a:defRPr lang="fr-FR"/>
            </a:defPPr>
            <a:lvl1pPr lvl="0" algn="ctr">
              <a:defRPr b="1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fr-FR" dirty="0"/>
              <a:t>Accessibilité ERI Audits</a:t>
            </a:r>
          </a:p>
        </p:txBody>
      </p:sp>
      <p:sp>
        <p:nvSpPr>
          <p:cNvPr id="204" name="ZT_Titre">
            <a:extLst>
              <a:ext uri="{FF2B5EF4-FFF2-40B4-BE49-F238E27FC236}">
                <a16:creationId xmlns:a16="http://schemas.microsoft.com/office/drawing/2014/main" id="{5052F844-9D07-8AA4-E787-136F913CE2D9}"/>
              </a:ext>
            </a:extLst>
          </p:cNvPr>
          <p:cNvSpPr txBox="1"/>
          <p:nvPr/>
        </p:nvSpPr>
        <p:spPr>
          <a:xfrm>
            <a:off x="0" y="-124544"/>
            <a:ext cx="12192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800" b="0" i="0" u="none" strike="noStrike" kern="1200" cap="none" spc="0" normalizeH="0" baseline="0" noProof="0" dirty="0">
                <a:ln>
                  <a:noFill/>
                </a:ln>
                <a:solidFill>
                  <a:srgbClr val="5B9BD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Identification des composants applicatifs</a:t>
            </a:r>
          </a:p>
        </p:txBody>
      </p:sp>
      <p:sp>
        <p:nvSpPr>
          <p:cNvPr id="205" name="Gr_BDOC">
            <a:extLst>
              <a:ext uri="{FF2B5EF4-FFF2-40B4-BE49-F238E27FC236}">
                <a16:creationId xmlns:a16="http://schemas.microsoft.com/office/drawing/2014/main" id="{1D60C100-F70B-04C4-BC3D-A7DD4CB31366}"/>
              </a:ext>
            </a:extLst>
          </p:cNvPr>
          <p:cNvSpPr/>
          <p:nvPr/>
        </p:nvSpPr>
        <p:spPr>
          <a:xfrm>
            <a:off x="5353697" y="3111592"/>
            <a:ext cx="744111" cy="61200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  <a:effectLst>
            <a:outerShdw blurRad="50800" dist="38100" dir="2700000" algn="ctr" rotWithShape="0">
              <a:schemeClr val="tx1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/>
            </a:endParaRPr>
          </a:p>
        </p:txBody>
      </p:sp>
      <p:sp>
        <p:nvSpPr>
          <p:cNvPr id="206" name="ZT_BDOC">
            <a:extLst>
              <a:ext uri="{FF2B5EF4-FFF2-40B4-BE49-F238E27FC236}">
                <a16:creationId xmlns:a16="http://schemas.microsoft.com/office/drawing/2014/main" id="{A65C2A20-3458-4298-D378-92CAAF8C7AF6}"/>
              </a:ext>
            </a:extLst>
          </p:cNvPr>
          <p:cNvSpPr txBox="1"/>
          <p:nvPr/>
        </p:nvSpPr>
        <p:spPr>
          <a:xfrm>
            <a:off x="5429887" y="3139177"/>
            <a:ext cx="623531" cy="246221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BDOC</a:t>
            </a:r>
          </a:p>
        </p:txBody>
      </p:sp>
      <p:sp>
        <p:nvSpPr>
          <p:cNvPr id="207" name="BA_BX">
            <a:extLst>
              <a:ext uri="{FF2B5EF4-FFF2-40B4-BE49-F238E27FC236}">
                <a16:creationId xmlns:a16="http://schemas.microsoft.com/office/drawing/2014/main" id="{CADAECFA-E0E7-AEBA-B860-9D461ECFE737}"/>
              </a:ext>
            </a:extLst>
          </p:cNvPr>
          <p:cNvSpPr/>
          <p:nvPr/>
        </p:nvSpPr>
        <p:spPr>
          <a:xfrm>
            <a:off x="5405378" y="3393901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BX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BDOC WEB</a:t>
            </a:r>
          </a:p>
        </p:txBody>
      </p:sp>
      <p:sp>
        <p:nvSpPr>
          <p:cNvPr id="208" name="ZT_MàJ">
            <a:extLst>
              <a:ext uri="{FF2B5EF4-FFF2-40B4-BE49-F238E27FC236}">
                <a16:creationId xmlns:a16="http://schemas.microsoft.com/office/drawing/2014/main" id="{A61EA57C-2F4D-DC4C-168C-74A0DC6AB781}"/>
              </a:ext>
            </a:extLst>
          </p:cNvPr>
          <p:cNvSpPr txBox="1"/>
          <p:nvPr/>
        </p:nvSpPr>
        <p:spPr>
          <a:xfrm>
            <a:off x="390525" y="6491355"/>
            <a:ext cx="169950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Mise à jour : xx/xx/2026</a:t>
            </a:r>
          </a:p>
        </p:txBody>
      </p:sp>
      <p:sp>
        <p:nvSpPr>
          <p:cNvPr id="209" name="ZT_Validité">
            <a:extLst>
              <a:ext uri="{FF2B5EF4-FFF2-40B4-BE49-F238E27FC236}">
                <a16:creationId xmlns:a16="http://schemas.microsoft.com/office/drawing/2014/main" id="{31753DEE-C9F7-8045-CD56-DD5AA2CBD0A8}"/>
              </a:ext>
            </a:extLst>
          </p:cNvPr>
          <p:cNvSpPr txBox="1"/>
          <p:nvPr/>
        </p:nvSpPr>
        <p:spPr>
          <a:xfrm>
            <a:off x="10479876" y="6501427"/>
            <a:ext cx="126444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Validité : T2 2026</a:t>
            </a:r>
          </a:p>
        </p:txBody>
      </p:sp>
      <p:sp>
        <p:nvSpPr>
          <p:cNvPr id="210" name="Légende_Comp3">
            <a:extLst>
              <a:ext uri="{FF2B5EF4-FFF2-40B4-BE49-F238E27FC236}">
                <a16:creationId xmlns:a16="http://schemas.microsoft.com/office/drawing/2014/main" id="{DF95950F-7CC4-1D0E-9C97-15CB991D980B}"/>
              </a:ext>
            </a:extLst>
          </p:cNvPr>
          <p:cNvSpPr/>
          <p:nvPr/>
        </p:nvSpPr>
        <p:spPr>
          <a:xfrm>
            <a:off x="6567797" y="549933"/>
            <a:ext cx="1080000" cy="360000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Composant </a:t>
            </a:r>
            <a:b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créé ou modifié</a:t>
            </a:r>
          </a:p>
        </p:txBody>
      </p:sp>
      <p:sp>
        <p:nvSpPr>
          <p:cNvPr id="211" name="Légende_Comp2">
            <a:extLst>
              <a:ext uri="{FF2B5EF4-FFF2-40B4-BE49-F238E27FC236}">
                <a16:creationId xmlns:a16="http://schemas.microsoft.com/office/drawing/2014/main" id="{9E7BFEC2-B608-0BC9-46AC-2541B071BD7B}"/>
              </a:ext>
            </a:extLst>
          </p:cNvPr>
          <p:cNvSpPr/>
          <p:nvPr/>
        </p:nvSpPr>
        <p:spPr>
          <a:xfrm>
            <a:off x="5383906" y="547517"/>
            <a:ext cx="1080000" cy="360000"/>
          </a:xfrm>
          <a:prstGeom prst="round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Composant utilisé</a:t>
            </a:r>
          </a:p>
        </p:txBody>
      </p:sp>
      <p:sp>
        <p:nvSpPr>
          <p:cNvPr id="212" name="Légende_Comp1">
            <a:extLst>
              <a:ext uri="{FF2B5EF4-FFF2-40B4-BE49-F238E27FC236}">
                <a16:creationId xmlns:a16="http://schemas.microsoft.com/office/drawing/2014/main" id="{EF4C1CE3-3ACC-95E7-4237-9F412550C350}"/>
              </a:ext>
            </a:extLst>
          </p:cNvPr>
          <p:cNvSpPr/>
          <p:nvPr/>
        </p:nvSpPr>
        <p:spPr>
          <a:xfrm>
            <a:off x="4200015" y="542942"/>
            <a:ext cx="1080000" cy="360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Composant non exploité</a:t>
            </a:r>
          </a:p>
        </p:txBody>
      </p:sp>
      <p:sp>
        <p:nvSpPr>
          <p:cNvPr id="213" name="BA_T2">
            <a:extLst>
              <a:ext uri="{FF2B5EF4-FFF2-40B4-BE49-F238E27FC236}">
                <a16:creationId xmlns:a16="http://schemas.microsoft.com/office/drawing/2014/main" id="{FB55866F-0B4A-102F-DF8D-FC9A0E13DA1B}"/>
              </a:ext>
            </a:extLst>
          </p:cNvPr>
          <p:cNvSpPr/>
          <p:nvPr/>
        </p:nvSpPr>
        <p:spPr>
          <a:xfrm>
            <a:off x="9490384" y="3696185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T2</a:t>
            </a:r>
            <a:endParaRPr kumimoji="0" lang="fr-FR" sz="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KConnect</a:t>
            </a: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 MUTU</a:t>
            </a:r>
          </a:p>
        </p:txBody>
      </p:sp>
      <p:sp>
        <p:nvSpPr>
          <p:cNvPr id="214" name="BA_T3">
            <a:extLst>
              <a:ext uri="{FF2B5EF4-FFF2-40B4-BE49-F238E27FC236}">
                <a16:creationId xmlns:a16="http://schemas.microsoft.com/office/drawing/2014/main" id="{11ABE0E5-B474-D182-1579-BA3934931239}"/>
              </a:ext>
            </a:extLst>
          </p:cNvPr>
          <p:cNvSpPr/>
          <p:nvPr/>
        </p:nvSpPr>
        <p:spPr>
          <a:xfrm>
            <a:off x="10160477" y="3696185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T3</a:t>
            </a:r>
            <a:endParaRPr kumimoji="0" lang="fr-FR" sz="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KConnect</a:t>
            </a: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 CAA</a:t>
            </a:r>
          </a:p>
        </p:txBody>
      </p:sp>
      <p:sp>
        <p:nvSpPr>
          <p:cNvPr id="215" name="BA_F8">
            <a:extLst>
              <a:ext uri="{FF2B5EF4-FFF2-40B4-BE49-F238E27FC236}">
                <a16:creationId xmlns:a16="http://schemas.microsoft.com/office/drawing/2014/main" id="{D8308331-99BC-4118-EFA9-0ED5311DBC9A}"/>
              </a:ext>
            </a:extLst>
          </p:cNvPr>
          <p:cNvSpPr/>
          <p:nvPr/>
        </p:nvSpPr>
        <p:spPr>
          <a:xfrm>
            <a:off x="8803280" y="2047150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F8</a:t>
            </a:r>
            <a:endParaRPr kumimoji="0" lang="fr-FR" sz="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API MOOP</a:t>
            </a:r>
          </a:p>
        </p:txBody>
      </p:sp>
      <p:sp>
        <p:nvSpPr>
          <p:cNvPr id="216" name="Gr_ETL">
            <a:extLst>
              <a:ext uri="{FF2B5EF4-FFF2-40B4-BE49-F238E27FC236}">
                <a16:creationId xmlns:a16="http://schemas.microsoft.com/office/drawing/2014/main" id="{0E220957-BF0F-72A5-64F3-D3A62F181948}"/>
              </a:ext>
            </a:extLst>
          </p:cNvPr>
          <p:cNvSpPr/>
          <p:nvPr/>
        </p:nvSpPr>
        <p:spPr>
          <a:xfrm>
            <a:off x="1617823" y="2849127"/>
            <a:ext cx="862923" cy="561929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  <a:effectLst>
            <a:outerShdw blurRad="50800" dist="38100" dir="2700000" algn="ctr" rotWithShape="0">
              <a:schemeClr val="tx1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/>
            </a:endParaRPr>
          </a:p>
        </p:txBody>
      </p:sp>
      <p:sp>
        <p:nvSpPr>
          <p:cNvPr id="217" name="ZT_ETL">
            <a:extLst>
              <a:ext uri="{FF2B5EF4-FFF2-40B4-BE49-F238E27FC236}">
                <a16:creationId xmlns:a16="http://schemas.microsoft.com/office/drawing/2014/main" id="{E8F31D4E-CE62-AE8F-E4D5-B716DCAB2C11}"/>
              </a:ext>
            </a:extLst>
          </p:cNvPr>
          <p:cNvSpPr txBox="1"/>
          <p:nvPr/>
        </p:nvSpPr>
        <p:spPr>
          <a:xfrm>
            <a:off x="1611935" y="2858784"/>
            <a:ext cx="898650" cy="246221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ETL</a:t>
            </a:r>
          </a:p>
        </p:txBody>
      </p:sp>
      <p:sp>
        <p:nvSpPr>
          <p:cNvPr id="218" name="BA_PWC2">
            <a:extLst>
              <a:ext uri="{FF2B5EF4-FFF2-40B4-BE49-F238E27FC236}">
                <a16:creationId xmlns:a16="http://schemas.microsoft.com/office/drawing/2014/main" id="{C913A8E6-687F-D1C5-4EF9-07168CC72F2A}"/>
              </a:ext>
            </a:extLst>
          </p:cNvPr>
          <p:cNvSpPr/>
          <p:nvPr/>
        </p:nvSpPr>
        <p:spPr>
          <a:xfrm>
            <a:off x="1715817" y="3076593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PWC2</a:t>
            </a:r>
            <a:endParaRPr kumimoji="0" lang="fr-FR" sz="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ETL PREDICA</a:t>
            </a:r>
          </a:p>
        </p:txBody>
      </p:sp>
      <p:sp>
        <p:nvSpPr>
          <p:cNvPr id="219" name="Légende_Date1">
            <a:extLst>
              <a:ext uri="{FF2B5EF4-FFF2-40B4-BE49-F238E27FC236}">
                <a16:creationId xmlns:a16="http://schemas.microsoft.com/office/drawing/2014/main" id="{53574BE6-E454-BFBC-CAA6-48F269138A25}"/>
              </a:ext>
            </a:extLst>
          </p:cNvPr>
          <p:cNvSpPr txBox="1"/>
          <p:nvPr/>
        </p:nvSpPr>
        <p:spPr>
          <a:xfrm rot="19102564">
            <a:off x="7647306" y="559123"/>
            <a:ext cx="927160" cy="369332"/>
          </a:xfrm>
          <a:prstGeom prst="rect">
            <a:avLst/>
          </a:prstGeom>
          <a:noFill/>
          <a:ln cap="flat">
            <a:noFill/>
            <a:prstDash val="solid"/>
          </a:ln>
          <a:effectLst>
            <a:softEdge rad="0"/>
          </a:effectLst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900" b="0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Date de </a:t>
            </a:r>
            <a:r>
              <a:rPr kumimoji="0" lang="fr-FR" sz="900" b="0" i="0" u="none" strike="noStrike" kern="1200" cap="none" spc="0" normalizeH="0" baseline="0" noProof="0" dirty="0" err="1">
                <a:ln>
                  <a:noFill/>
                </a:ln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MeP</a:t>
            </a:r>
            <a:r>
              <a:rPr kumimoji="0" lang="fr-FR" sz="900" b="0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 prévue</a:t>
            </a:r>
          </a:p>
        </p:txBody>
      </p:sp>
      <p:sp>
        <p:nvSpPr>
          <p:cNvPr id="222" name="Légende_Date2">
            <a:extLst>
              <a:ext uri="{FF2B5EF4-FFF2-40B4-BE49-F238E27FC236}">
                <a16:creationId xmlns:a16="http://schemas.microsoft.com/office/drawing/2014/main" id="{F2D1CC5A-1BD6-F1FE-7E48-7E5967854458}"/>
              </a:ext>
            </a:extLst>
          </p:cNvPr>
          <p:cNvSpPr txBox="1"/>
          <p:nvPr/>
        </p:nvSpPr>
        <p:spPr>
          <a:xfrm rot="19102564">
            <a:off x="8343008" y="568799"/>
            <a:ext cx="927160" cy="369332"/>
          </a:xfrm>
          <a:prstGeom prst="rect">
            <a:avLst/>
          </a:prstGeom>
          <a:noFill/>
          <a:ln cap="flat">
            <a:noFill/>
            <a:prstDash val="solid"/>
          </a:ln>
          <a:effectLst>
            <a:softEdge rad="0"/>
          </a:effectLst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900" b="0" i="0" u="none" strike="noStrike" kern="1200" cap="none" spc="0" normalizeH="0" baseline="0" noProof="0" dirty="0">
                <a:ln>
                  <a:noFill/>
                </a:ln>
                <a:solidFill>
                  <a:srgbClr val="70AD4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Date de </a:t>
            </a:r>
            <a:r>
              <a:rPr kumimoji="0" lang="fr-FR" sz="900" b="0" i="0" u="none" strike="noStrike" kern="1200" cap="none" spc="0" normalizeH="0" baseline="0" noProof="0" dirty="0" err="1">
                <a:ln>
                  <a:noFill/>
                </a:ln>
                <a:solidFill>
                  <a:srgbClr val="70AD4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MeP</a:t>
            </a:r>
            <a:r>
              <a:rPr kumimoji="0" lang="fr-FR" sz="900" b="0" i="0" u="none" strike="noStrike" kern="1200" cap="none" spc="0" normalizeH="0" baseline="0" noProof="0" dirty="0">
                <a:ln>
                  <a:noFill/>
                </a:ln>
                <a:solidFill>
                  <a:srgbClr val="70AD4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 effective</a:t>
            </a:r>
          </a:p>
        </p:txBody>
      </p:sp>
      <p:sp>
        <p:nvSpPr>
          <p:cNvPr id="223" name="Gr_CATS">
            <a:extLst>
              <a:ext uri="{FF2B5EF4-FFF2-40B4-BE49-F238E27FC236}">
                <a16:creationId xmlns:a16="http://schemas.microsoft.com/office/drawing/2014/main" id="{A0D35195-A85C-73BE-2590-F41C18DD990E}"/>
              </a:ext>
            </a:extLst>
          </p:cNvPr>
          <p:cNvSpPr/>
          <p:nvPr/>
        </p:nvSpPr>
        <p:spPr>
          <a:xfrm>
            <a:off x="447324" y="5119889"/>
            <a:ext cx="5579420" cy="1254012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4" name="ZT_CATS">
            <a:extLst>
              <a:ext uri="{FF2B5EF4-FFF2-40B4-BE49-F238E27FC236}">
                <a16:creationId xmlns:a16="http://schemas.microsoft.com/office/drawing/2014/main" id="{A5F3D63A-ED84-067D-70A0-DB5DF5CC5DBA}"/>
              </a:ext>
            </a:extLst>
          </p:cNvPr>
          <p:cNvSpPr txBox="1"/>
          <p:nvPr/>
        </p:nvSpPr>
        <p:spPr>
          <a:xfrm>
            <a:off x="370835" y="5083258"/>
            <a:ext cx="5409144" cy="246221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CA-TS</a:t>
            </a:r>
            <a:endParaRPr kumimoji="0" lang="fr-FR" sz="1000" b="1" i="1" u="none" strike="noStrike" kern="1200" cap="none" spc="0" normalizeH="0" baseline="0" noProof="0" dirty="0">
              <a:ln>
                <a:noFill/>
              </a:ln>
              <a:solidFill>
                <a:srgbClr val="7030A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5" name="BA_PDI9">
            <a:extLst>
              <a:ext uri="{FF2B5EF4-FFF2-40B4-BE49-F238E27FC236}">
                <a16:creationId xmlns:a16="http://schemas.microsoft.com/office/drawing/2014/main" id="{4976E97D-0168-7F15-3186-65B4FCF05E52}"/>
              </a:ext>
            </a:extLst>
          </p:cNvPr>
          <p:cNvSpPr/>
          <p:nvPr/>
        </p:nvSpPr>
        <p:spPr>
          <a:xfrm>
            <a:off x="506780" y="5666800"/>
            <a:ext cx="648000" cy="288000"/>
          </a:xfrm>
          <a:prstGeom prst="roundRect">
            <a:avLst/>
          </a:prstGeom>
          <a:solidFill>
            <a:srgbClr val="B6D3EC"/>
          </a:solidFill>
          <a:ln w="6350"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PDI9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6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/>
              </a:rPr>
              <a:t>-</a:t>
            </a:r>
            <a:endParaRPr kumimoji="0" lang="fr-FR" sz="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6" name="BA_XConnect">
            <a:extLst>
              <a:ext uri="{FF2B5EF4-FFF2-40B4-BE49-F238E27FC236}">
                <a16:creationId xmlns:a16="http://schemas.microsoft.com/office/drawing/2014/main" id="{BC972217-4700-59B9-A530-A9FA847F7F0C}"/>
              </a:ext>
            </a:extLst>
          </p:cNvPr>
          <p:cNvSpPr/>
          <p:nvPr/>
        </p:nvSpPr>
        <p:spPr>
          <a:xfrm>
            <a:off x="1189563" y="5663009"/>
            <a:ext cx="648000" cy="288000"/>
          </a:xfrm>
          <a:prstGeom prst="roundRect">
            <a:avLst/>
          </a:prstGeom>
          <a:solidFill>
            <a:srgbClr val="B6D3EC"/>
          </a:solidFill>
          <a:ln w="6350"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Xconnect</a:t>
            </a:r>
            <a:endParaRPr kumimoji="0" lang="fr-FR" sz="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6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/>
              </a:rPr>
              <a:t>-</a:t>
            </a:r>
            <a:endParaRPr kumimoji="0" lang="fr-FR" sz="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7" name="BA_SIMM">
            <a:extLst>
              <a:ext uri="{FF2B5EF4-FFF2-40B4-BE49-F238E27FC236}">
                <a16:creationId xmlns:a16="http://schemas.microsoft.com/office/drawing/2014/main" id="{589F65E7-A43A-C115-19EC-84F5BAC4EF47}"/>
              </a:ext>
            </a:extLst>
          </p:cNvPr>
          <p:cNvSpPr/>
          <p:nvPr/>
        </p:nvSpPr>
        <p:spPr>
          <a:xfrm>
            <a:off x="2557693" y="5660385"/>
            <a:ext cx="648000" cy="288000"/>
          </a:xfrm>
          <a:prstGeom prst="roundRect">
            <a:avLst/>
          </a:prstGeom>
          <a:solidFill>
            <a:srgbClr val="B6D3EC"/>
          </a:solidFill>
          <a:ln w="6350"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SIMM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6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/>
              </a:rPr>
              <a:t>-</a:t>
            </a:r>
            <a:endParaRPr kumimoji="0" lang="fr-FR" sz="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8" name="BA_BAM">
            <a:extLst>
              <a:ext uri="{FF2B5EF4-FFF2-40B4-BE49-F238E27FC236}">
                <a16:creationId xmlns:a16="http://schemas.microsoft.com/office/drawing/2014/main" id="{788C0EA8-37F6-7D21-A133-03FC520417B0}"/>
              </a:ext>
            </a:extLst>
          </p:cNvPr>
          <p:cNvSpPr/>
          <p:nvPr/>
        </p:nvSpPr>
        <p:spPr>
          <a:xfrm>
            <a:off x="2833493" y="5340532"/>
            <a:ext cx="648000" cy="288000"/>
          </a:xfrm>
          <a:prstGeom prst="roundRect">
            <a:avLst/>
          </a:prstGeom>
          <a:solidFill>
            <a:srgbClr val="B6D3EC"/>
          </a:solidFill>
          <a:ln w="6350"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BAM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6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/>
              </a:rPr>
              <a:t>-</a:t>
            </a:r>
            <a:endParaRPr kumimoji="0" lang="fr-FR" sz="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9" name="BA_RAC">
            <a:extLst>
              <a:ext uri="{FF2B5EF4-FFF2-40B4-BE49-F238E27FC236}">
                <a16:creationId xmlns:a16="http://schemas.microsoft.com/office/drawing/2014/main" id="{C3D88EE9-4AA4-1468-DD7F-45D524C37A59}"/>
              </a:ext>
            </a:extLst>
          </p:cNvPr>
          <p:cNvSpPr/>
          <p:nvPr/>
        </p:nvSpPr>
        <p:spPr>
          <a:xfrm>
            <a:off x="4892893" y="5338051"/>
            <a:ext cx="648000" cy="288000"/>
          </a:xfrm>
          <a:prstGeom prst="roundRect">
            <a:avLst/>
          </a:prstGeom>
          <a:solidFill>
            <a:srgbClr val="B6D3EC"/>
          </a:solidFill>
          <a:ln w="6350"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RAC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6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/>
              </a:rPr>
              <a:t>-</a:t>
            </a:r>
            <a:endParaRPr kumimoji="0" lang="fr-FR" sz="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0" name="BA_DétContratNatifMB">
            <a:extLst>
              <a:ext uri="{FF2B5EF4-FFF2-40B4-BE49-F238E27FC236}">
                <a16:creationId xmlns:a16="http://schemas.microsoft.com/office/drawing/2014/main" id="{791AF6BD-CA19-4262-A407-6C5086AD557D}"/>
              </a:ext>
            </a:extLst>
          </p:cNvPr>
          <p:cNvSpPr/>
          <p:nvPr/>
        </p:nvSpPr>
        <p:spPr>
          <a:xfrm>
            <a:off x="506780" y="5329301"/>
            <a:ext cx="1326281" cy="288000"/>
          </a:xfrm>
          <a:prstGeom prst="roundRect">
            <a:avLst/>
          </a:prstGeom>
          <a:solidFill>
            <a:srgbClr val="B6D3EC"/>
          </a:solidFill>
          <a:ln w="6350"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Dét</a:t>
            </a: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. Contrat natif MB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6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/>
              </a:rPr>
              <a:t>-</a:t>
            </a:r>
            <a:endParaRPr kumimoji="0" lang="fr-FR" sz="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1" name="BA_BPM">
            <a:extLst>
              <a:ext uri="{FF2B5EF4-FFF2-40B4-BE49-F238E27FC236}">
                <a16:creationId xmlns:a16="http://schemas.microsoft.com/office/drawing/2014/main" id="{19934134-82F2-3F21-446E-795F9926045C}"/>
              </a:ext>
            </a:extLst>
          </p:cNvPr>
          <p:cNvSpPr/>
          <p:nvPr/>
        </p:nvSpPr>
        <p:spPr>
          <a:xfrm>
            <a:off x="1875772" y="5663009"/>
            <a:ext cx="648000" cy="288000"/>
          </a:xfrm>
          <a:prstGeom prst="roundRect">
            <a:avLst/>
          </a:prstGeom>
          <a:solidFill>
            <a:srgbClr val="B6D3EC"/>
          </a:solidFill>
          <a:ln w="6350"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BPM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6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/>
              </a:rPr>
              <a:t>-</a:t>
            </a:r>
            <a:endParaRPr kumimoji="0" lang="fr-FR" sz="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2" name="BA_APX9">
            <a:extLst>
              <a:ext uri="{FF2B5EF4-FFF2-40B4-BE49-F238E27FC236}">
                <a16:creationId xmlns:a16="http://schemas.microsoft.com/office/drawing/2014/main" id="{17B034D6-26A4-EB6A-FEDD-28D607DB6400}"/>
              </a:ext>
            </a:extLst>
          </p:cNvPr>
          <p:cNvSpPr/>
          <p:nvPr/>
        </p:nvSpPr>
        <p:spPr>
          <a:xfrm>
            <a:off x="511818" y="6003252"/>
            <a:ext cx="648000" cy="288000"/>
          </a:xfrm>
          <a:prstGeom prst="roundRect">
            <a:avLst/>
          </a:prstGeom>
          <a:solidFill>
            <a:srgbClr val="B6D3EC"/>
          </a:solidFill>
          <a:ln w="6350"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APX9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6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/>
              </a:rPr>
              <a:t>-</a:t>
            </a:r>
            <a:endParaRPr kumimoji="0" lang="fr-FR" sz="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3" name="BA_HUB">
            <a:extLst>
              <a:ext uri="{FF2B5EF4-FFF2-40B4-BE49-F238E27FC236}">
                <a16:creationId xmlns:a16="http://schemas.microsoft.com/office/drawing/2014/main" id="{D31C22D3-285D-B88C-E73C-923CA8002D6B}"/>
              </a:ext>
            </a:extLst>
          </p:cNvPr>
          <p:cNvSpPr/>
          <p:nvPr/>
        </p:nvSpPr>
        <p:spPr>
          <a:xfrm>
            <a:off x="3242082" y="5660385"/>
            <a:ext cx="648000" cy="288000"/>
          </a:xfrm>
          <a:prstGeom prst="roundRect">
            <a:avLst/>
          </a:prstGeom>
          <a:solidFill>
            <a:srgbClr val="B6D3EC"/>
          </a:solidFill>
          <a:ln w="6350"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HUB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6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/>
              </a:rPr>
              <a:t>-</a:t>
            </a:r>
            <a:endParaRPr kumimoji="0" lang="fr-FR" sz="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4" name="BA_NPC">
            <a:extLst>
              <a:ext uri="{FF2B5EF4-FFF2-40B4-BE49-F238E27FC236}">
                <a16:creationId xmlns:a16="http://schemas.microsoft.com/office/drawing/2014/main" id="{3E984379-E848-1D16-10B1-F32FFA365B36}"/>
              </a:ext>
            </a:extLst>
          </p:cNvPr>
          <p:cNvSpPr/>
          <p:nvPr/>
        </p:nvSpPr>
        <p:spPr>
          <a:xfrm>
            <a:off x="3515693" y="5337169"/>
            <a:ext cx="648000" cy="288000"/>
          </a:xfrm>
          <a:prstGeom prst="roundRect">
            <a:avLst/>
          </a:prstGeom>
          <a:solidFill>
            <a:srgbClr val="B6D3EC"/>
          </a:solidFill>
          <a:ln w="6350"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NPC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6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/>
              </a:rPr>
              <a:t>-</a:t>
            </a:r>
            <a:endParaRPr kumimoji="0" lang="fr-FR" sz="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5" name="BA_Microservices">
            <a:extLst>
              <a:ext uri="{FF2B5EF4-FFF2-40B4-BE49-F238E27FC236}">
                <a16:creationId xmlns:a16="http://schemas.microsoft.com/office/drawing/2014/main" id="{52191826-6E5A-D7D1-C625-A03CEB6FF3F3}"/>
              </a:ext>
            </a:extLst>
          </p:cNvPr>
          <p:cNvSpPr/>
          <p:nvPr/>
        </p:nvSpPr>
        <p:spPr>
          <a:xfrm>
            <a:off x="1867224" y="5336000"/>
            <a:ext cx="925408" cy="288000"/>
          </a:xfrm>
          <a:prstGeom prst="roundRect">
            <a:avLst/>
          </a:prstGeom>
          <a:solidFill>
            <a:srgbClr val="B6D3EC"/>
          </a:solidFill>
          <a:ln w="6350"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Microservices</a:t>
            </a:r>
            <a:endParaRPr kumimoji="0" lang="fr-FR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6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/>
              </a:rPr>
              <a:t>-</a:t>
            </a:r>
            <a:endParaRPr kumimoji="0" lang="fr-FR" sz="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6" name="BA_SIG9">
            <a:extLst>
              <a:ext uri="{FF2B5EF4-FFF2-40B4-BE49-F238E27FC236}">
                <a16:creationId xmlns:a16="http://schemas.microsoft.com/office/drawing/2014/main" id="{BCFF7968-739E-4CD8-8E4D-4FDB03FC5A49}"/>
              </a:ext>
            </a:extLst>
          </p:cNvPr>
          <p:cNvSpPr/>
          <p:nvPr/>
        </p:nvSpPr>
        <p:spPr>
          <a:xfrm>
            <a:off x="4203138" y="5331299"/>
            <a:ext cx="648000" cy="288000"/>
          </a:xfrm>
          <a:prstGeom prst="roundRect">
            <a:avLst/>
          </a:prstGeom>
          <a:solidFill>
            <a:srgbClr val="B6D3EC"/>
          </a:solidFill>
          <a:ln w="6350"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SIG9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6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/>
              </a:rPr>
              <a:t>-</a:t>
            </a:r>
            <a:endParaRPr kumimoji="0" lang="fr-FR" sz="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7" name="Gr_MVS">
            <a:extLst>
              <a:ext uri="{FF2B5EF4-FFF2-40B4-BE49-F238E27FC236}">
                <a16:creationId xmlns:a16="http://schemas.microsoft.com/office/drawing/2014/main" id="{86EE8EB6-B6AD-1D55-E0FB-0591249F7E09}"/>
              </a:ext>
            </a:extLst>
          </p:cNvPr>
          <p:cNvSpPr/>
          <p:nvPr/>
        </p:nvSpPr>
        <p:spPr>
          <a:xfrm>
            <a:off x="560497" y="1111645"/>
            <a:ext cx="2901105" cy="1661382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  <a:effectLst>
            <a:outerShdw blurRad="50800" dist="38100" dir="2700000" algn="ctr" rotWithShape="0">
              <a:schemeClr val="tx1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/>
            </a:endParaRPr>
          </a:p>
        </p:txBody>
      </p:sp>
      <p:sp>
        <p:nvSpPr>
          <p:cNvPr id="238" name="BA_CICS_LCL">
            <a:extLst>
              <a:ext uri="{FF2B5EF4-FFF2-40B4-BE49-F238E27FC236}">
                <a16:creationId xmlns:a16="http://schemas.microsoft.com/office/drawing/2014/main" id="{32771774-FF8A-5DCE-031A-2CBF65141B1F}"/>
              </a:ext>
            </a:extLst>
          </p:cNvPr>
          <p:cNvSpPr/>
          <p:nvPr/>
        </p:nvSpPr>
        <p:spPr>
          <a:xfrm>
            <a:off x="623669" y="1641943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CICS</a:t>
            </a:r>
          </a:p>
        </p:txBody>
      </p:sp>
      <p:sp>
        <p:nvSpPr>
          <p:cNvPr id="239" name="BA_DB2_LCL">
            <a:extLst>
              <a:ext uri="{FF2B5EF4-FFF2-40B4-BE49-F238E27FC236}">
                <a16:creationId xmlns:a16="http://schemas.microsoft.com/office/drawing/2014/main" id="{312C0A7D-F9BB-079A-3E08-FBA43D342155}"/>
              </a:ext>
            </a:extLst>
          </p:cNvPr>
          <p:cNvSpPr/>
          <p:nvPr/>
        </p:nvSpPr>
        <p:spPr>
          <a:xfrm>
            <a:off x="1307275" y="1641222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DB2</a:t>
            </a:r>
          </a:p>
        </p:txBody>
      </p:sp>
      <p:sp>
        <p:nvSpPr>
          <p:cNvPr id="240" name="ZT_MVS">
            <a:extLst>
              <a:ext uri="{FF2B5EF4-FFF2-40B4-BE49-F238E27FC236}">
                <a16:creationId xmlns:a16="http://schemas.microsoft.com/office/drawing/2014/main" id="{68498098-9A35-A782-BC73-B2ACFC2982F8}"/>
              </a:ext>
            </a:extLst>
          </p:cNvPr>
          <p:cNvSpPr txBox="1"/>
          <p:nvPr/>
        </p:nvSpPr>
        <p:spPr>
          <a:xfrm>
            <a:off x="560496" y="1111645"/>
            <a:ext cx="2901106" cy="246221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MVS Z/OS (</a:t>
            </a:r>
            <a:r>
              <a:rPr kumimoji="0" lang="fr-FR" sz="1000" b="1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Ingenium</a:t>
            </a:r>
            <a:r>
              <a:rPr kumimoji="0" lang="fr-FR" sz="1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)</a:t>
            </a:r>
            <a:endParaRPr kumimoji="0" lang="fr-FR" sz="1000" b="1" i="1" u="none" strike="noStrike" kern="1200" cap="none" spc="0" normalizeH="0" baseline="0" noProof="0" dirty="0">
              <a:ln>
                <a:noFill/>
              </a:ln>
              <a:solidFill>
                <a:srgbClr val="ED7D3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1" name="BA_ING_CA">
            <a:extLst>
              <a:ext uri="{FF2B5EF4-FFF2-40B4-BE49-F238E27FC236}">
                <a16:creationId xmlns:a16="http://schemas.microsoft.com/office/drawing/2014/main" id="{271A20B3-066A-0C36-BDFB-DF93348FBEE8}"/>
              </a:ext>
            </a:extLst>
          </p:cNvPr>
          <p:cNvSpPr/>
          <p:nvPr/>
        </p:nvSpPr>
        <p:spPr>
          <a:xfrm>
            <a:off x="2043446" y="1970146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INVI/VC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Ingenium</a:t>
            </a: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 CA</a:t>
            </a:r>
          </a:p>
        </p:txBody>
      </p:sp>
      <p:sp>
        <p:nvSpPr>
          <p:cNvPr id="242" name="BA_PE_CA">
            <a:extLst>
              <a:ext uri="{FF2B5EF4-FFF2-40B4-BE49-F238E27FC236}">
                <a16:creationId xmlns:a16="http://schemas.microsoft.com/office/drawing/2014/main" id="{82C69045-4EB2-F683-456F-3CEE69B482A8}"/>
              </a:ext>
            </a:extLst>
          </p:cNvPr>
          <p:cNvSpPr/>
          <p:nvPr/>
        </p:nvSpPr>
        <p:spPr>
          <a:xfrm>
            <a:off x="2716487" y="1971824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PE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Base Pers CA</a:t>
            </a:r>
          </a:p>
        </p:txBody>
      </p:sp>
      <p:sp>
        <p:nvSpPr>
          <p:cNvPr id="243" name="BA_Autre_CA">
            <a:extLst>
              <a:ext uri="{FF2B5EF4-FFF2-40B4-BE49-F238E27FC236}">
                <a16:creationId xmlns:a16="http://schemas.microsoft.com/office/drawing/2014/main" id="{9A50DE44-9BF4-5000-EA2A-938FD036F623}"/>
              </a:ext>
            </a:extLst>
          </p:cNvPr>
          <p:cNvSpPr/>
          <p:nvPr/>
        </p:nvSpPr>
        <p:spPr>
          <a:xfrm>
            <a:off x="2377796" y="2309491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…</a:t>
            </a:r>
          </a:p>
        </p:txBody>
      </p:sp>
      <p:sp>
        <p:nvSpPr>
          <p:cNvPr id="244" name="BA_ING_LCL">
            <a:extLst>
              <a:ext uri="{FF2B5EF4-FFF2-40B4-BE49-F238E27FC236}">
                <a16:creationId xmlns:a16="http://schemas.microsoft.com/office/drawing/2014/main" id="{C14A791E-DAC8-7663-EE39-76FA532D0BD9}"/>
              </a:ext>
            </a:extLst>
          </p:cNvPr>
          <p:cNvSpPr/>
          <p:nvPr/>
        </p:nvSpPr>
        <p:spPr>
          <a:xfrm>
            <a:off x="619469" y="1964817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INVI/VC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Ingenium</a:t>
            </a: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 LCL</a:t>
            </a:r>
          </a:p>
        </p:txBody>
      </p:sp>
      <p:sp>
        <p:nvSpPr>
          <p:cNvPr id="245" name="BA_PE_LCL">
            <a:extLst>
              <a:ext uri="{FF2B5EF4-FFF2-40B4-BE49-F238E27FC236}">
                <a16:creationId xmlns:a16="http://schemas.microsoft.com/office/drawing/2014/main" id="{84EFB76E-2961-4048-8067-6E24A821C6E3}"/>
              </a:ext>
            </a:extLst>
          </p:cNvPr>
          <p:cNvSpPr/>
          <p:nvPr/>
        </p:nvSpPr>
        <p:spPr>
          <a:xfrm>
            <a:off x="1305439" y="1963152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PE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Base Pers LCL</a:t>
            </a:r>
          </a:p>
        </p:txBody>
      </p:sp>
      <p:sp>
        <p:nvSpPr>
          <p:cNvPr id="246" name="BA_Autre_LCL">
            <a:extLst>
              <a:ext uri="{FF2B5EF4-FFF2-40B4-BE49-F238E27FC236}">
                <a16:creationId xmlns:a16="http://schemas.microsoft.com/office/drawing/2014/main" id="{28A46214-8165-65BD-C7EE-EDC82B01A504}"/>
              </a:ext>
            </a:extLst>
          </p:cNvPr>
          <p:cNvSpPr/>
          <p:nvPr/>
        </p:nvSpPr>
        <p:spPr>
          <a:xfrm>
            <a:off x="1010215" y="2285082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…</a:t>
            </a:r>
          </a:p>
        </p:txBody>
      </p:sp>
      <p:cxnSp>
        <p:nvCxnSpPr>
          <p:cNvPr id="247" name="Connecteur droit">
            <a:extLst>
              <a:ext uri="{FF2B5EF4-FFF2-40B4-BE49-F238E27FC236}">
                <a16:creationId xmlns:a16="http://schemas.microsoft.com/office/drawing/2014/main" id="{994D930A-2D17-2B4E-1950-4DFAB7511BDA}"/>
              </a:ext>
            </a:extLst>
          </p:cNvPr>
          <p:cNvCxnSpPr/>
          <p:nvPr/>
        </p:nvCxnSpPr>
        <p:spPr>
          <a:xfrm>
            <a:off x="1984365" y="1430388"/>
            <a:ext cx="4993" cy="1220450"/>
          </a:xfrm>
          <a:prstGeom prst="line">
            <a:avLst/>
          </a:prstGeom>
          <a:ln w="9525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8" name="ZT_CA">
            <a:extLst>
              <a:ext uri="{FF2B5EF4-FFF2-40B4-BE49-F238E27FC236}">
                <a16:creationId xmlns:a16="http://schemas.microsoft.com/office/drawing/2014/main" id="{B7143F22-6E78-CF7E-8750-A91507F5C782}"/>
              </a:ext>
            </a:extLst>
          </p:cNvPr>
          <p:cNvSpPr txBox="1"/>
          <p:nvPr/>
        </p:nvSpPr>
        <p:spPr>
          <a:xfrm>
            <a:off x="2418813" y="1371697"/>
            <a:ext cx="551086" cy="246221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CA</a:t>
            </a:r>
            <a:endParaRPr kumimoji="0" lang="fr-FR" sz="1000" b="1" i="1" u="none" strike="noStrike" kern="1200" cap="none" spc="0" normalizeH="0" baseline="0" noProof="0" dirty="0">
              <a:ln>
                <a:noFill/>
              </a:ln>
              <a:solidFill>
                <a:srgbClr val="ED7D3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9" name="ZT_LCL">
            <a:extLst>
              <a:ext uri="{FF2B5EF4-FFF2-40B4-BE49-F238E27FC236}">
                <a16:creationId xmlns:a16="http://schemas.microsoft.com/office/drawing/2014/main" id="{4FE05BC7-02E2-2385-D946-2A6FD06FBA89}"/>
              </a:ext>
            </a:extLst>
          </p:cNvPr>
          <p:cNvSpPr txBox="1"/>
          <p:nvPr/>
        </p:nvSpPr>
        <p:spPr>
          <a:xfrm>
            <a:off x="1032399" y="1378099"/>
            <a:ext cx="551086" cy="246221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LCL</a:t>
            </a:r>
            <a:endParaRPr kumimoji="0" lang="fr-FR" sz="1000" b="1" i="1" u="none" strike="noStrike" kern="1200" cap="none" spc="0" normalizeH="0" baseline="0" noProof="0" dirty="0">
              <a:ln>
                <a:noFill/>
              </a:ln>
              <a:solidFill>
                <a:srgbClr val="ED7D3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0" name="BA_CICS_CA">
            <a:extLst>
              <a:ext uri="{FF2B5EF4-FFF2-40B4-BE49-F238E27FC236}">
                <a16:creationId xmlns:a16="http://schemas.microsoft.com/office/drawing/2014/main" id="{B96E7FB1-320B-881D-545F-94E80C64E124}"/>
              </a:ext>
            </a:extLst>
          </p:cNvPr>
          <p:cNvSpPr/>
          <p:nvPr/>
        </p:nvSpPr>
        <p:spPr>
          <a:xfrm>
            <a:off x="2021573" y="1646459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CICS</a:t>
            </a:r>
          </a:p>
        </p:txBody>
      </p:sp>
      <p:sp>
        <p:nvSpPr>
          <p:cNvPr id="251" name="BA_DB2_CA">
            <a:extLst>
              <a:ext uri="{FF2B5EF4-FFF2-40B4-BE49-F238E27FC236}">
                <a16:creationId xmlns:a16="http://schemas.microsoft.com/office/drawing/2014/main" id="{43BD292E-AAE1-FBB6-52A1-8E5E564711BD}"/>
              </a:ext>
            </a:extLst>
          </p:cNvPr>
          <p:cNvSpPr/>
          <p:nvPr/>
        </p:nvSpPr>
        <p:spPr>
          <a:xfrm>
            <a:off x="2717879" y="1645738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DB2</a:t>
            </a:r>
          </a:p>
        </p:txBody>
      </p:sp>
      <p:sp>
        <p:nvSpPr>
          <p:cNvPr id="252" name="BA_GG">
            <a:extLst>
              <a:ext uri="{FF2B5EF4-FFF2-40B4-BE49-F238E27FC236}">
                <a16:creationId xmlns:a16="http://schemas.microsoft.com/office/drawing/2014/main" id="{B6A5DFD1-DA7F-5E70-AF0A-4362F0847630}"/>
              </a:ext>
            </a:extLst>
          </p:cNvPr>
          <p:cNvSpPr/>
          <p:nvPr/>
        </p:nvSpPr>
        <p:spPr>
          <a:xfrm>
            <a:off x="5540187" y="2498620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GG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Sim.Prév</a:t>
            </a: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. Décès</a:t>
            </a:r>
          </a:p>
        </p:txBody>
      </p:sp>
      <p:sp>
        <p:nvSpPr>
          <p:cNvPr id="253" name="BA_GH">
            <a:extLst>
              <a:ext uri="{FF2B5EF4-FFF2-40B4-BE49-F238E27FC236}">
                <a16:creationId xmlns:a16="http://schemas.microsoft.com/office/drawing/2014/main" id="{5F6DA0E6-11A8-0520-334D-0E07009DFCE5}"/>
              </a:ext>
            </a:extLst>
          </p:cNvPr>
          <p:cNvSpPr/>
          <p:nvPr/>
        </p:nvSpPr>
        <p:spPr>
          <a:xfrm>
            <a:off x="6247379" y="2507699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GH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Moteur </a:t>
            </a:r>
            <a:r>
              <a:rPr kumimoji="0" lang="fr-FR" sz="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Epicaste</a:t>
            </a:r>
            <a:endParaRPr kumimoji="0" lang="fr-FR" sz="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4" name="Gr_Editique">
            <a:extLst>
              <a:ext uri="{FF2B5EF4-FFF2-40B4-BE49-F238E27FC236}">
                <a16:creationId xmlns:a16="http://schemas.microsoft.com/office/drawing/2014/main" id="{5509DA79-E766-EAC0-76A6-CFA6DEA42FA5}"/>
              </a:ext>
            </a:extLst>
          </p:cNvPr>
          <p:cNvSpPr/>
          <p:nvPr/>
        </p:nvSpPr>
        <p:spPr>
          <a:xfrm>
            <a:off x="6994566" y="3106138"/>
            <a:ext cx="754043" cy="61200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  <a:effectLst>
            <a:outerShdw blurRad="50800" dist="38100" dir="2700000" algn="ctr" rotWithShape="0">
              <a:schemeClr val="tx1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/>
            </a:endParaRPr>
          </a:p>
        </p:txBody>
      </p:sp>
      <p:sp>
        <p:nvSpPr>
          <p:cNvPr id="255" name="ZT_Editique">
            <a:extLst>
              <a:ext uri="{FF2B5EF4-FFF2-40B4-BE49-F238E27FC236}">
                <a16:creationId xmlns:a16="http://schemas.microsoft.com/office/drawing/2014/main" id="{567872E4-2A69-6B42-55FC-F2785EF91D8D}"/>
              </a:ext>
            </a:extLst>
          </p:cNvPr>
          <p:cNvSpPr txBox="1"/>
          <p:nvPr/>
        </p:nvSpPr>
        <p:spPr>
          <a:xfrm>
            <a:off x="6967388" y="3133723"/>
            <a:ext cx="781221" cy="246221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Editique</a:t>
            </a:r>
          </a:p>
        </p:txBody>
      </p:sp>
      <p:sp>
        <p:nvSpPr>
          <p:cNvPr id="256" name="BA_ONDM">
            <a:extLst>
              <a:ext uri="{FF2B5EF4-FFF2-40B4-BE49-F238E27FC236}">
                <a16:creationId xmlns:a16="http://schemas.microsoft.com/office/drawing/2014/main" id="{7E04DAED-91C3-AF54-9186-014F0B444B0F}"/>
              </a:ext>
            </a:extLst>
          </p:cNvPr>
          <p:cNvSpPr/>
          <p:nvPr/>
        </p:nvSpPr>
        <p:spPr>
          <a:xfrm>
            <a:off x="7053165" y="3363079"/>
            <a:ext cx="648000" cy="276281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ONDM</a:t>
            </a:r>
            <a:endParaRPr kumimoji="0" lang="fr-FR" sz="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On </a:t>
            </a:r>
            <a:r>
              <a:rPr kumimoji="0" lang="fr-FR" sz="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Demand</a:t>
            </a:r>
            <a:endParaRPr kumimoji="0" lang="fr-FR" sz="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257" name="Groupe_Retour">
            <a:extLst>
              <a:ext uri="{FF2B5EF4-FFF2-40B4-BE49-F238E27FC236}">
                <a16:creationId xmlns:a16="http://schemas.microsoft.com/office/drawing/2014/main" id="{EC64F5C8-45C9-6BCE-49AD-2E03657A3CC3}"/>
              </a:ext>
            </a:extLst>
          </p:cNvPr>
          <p:cNvGrpSpPr/>
          <p:nvPr/>
        </p:nvGrpSpPr>
        <p:grpSpPr>
          <a:xfrm>
            <a:off x="0" y="0"/>
            <a:ext cx="1417975" cy="461665"/>
            <a:chOff x="0" y="0"/>
            <a:chExt cx="1417975" cy="461665"/>
          </a:xfrm>
        </p:grpSpPr>
        <p:sp>
          <p:nvSpPr>
            <p:cNvPr id="258" name="Rectangle 257">
              <a:hlinkClick r:id="rId3" action="ppaction://hlinksldjump"/>
              <a:extLst>
                <a:ext uri="{FF2B5EF4-FFF2-40B4-BE49-F238E27FC236}">
                  <a16:creationId xmlns:a16="http://schemas.microsoft.com/office/drawing/2014/main" id="{9AF5EDBB-B594-E9FB-FCB2-F849F0C8AFA5}"/>
                </a:ext>
              </a:extLst>
            </p:cNvPr>
            <p:cNvSpPr/>
            <p:nvPr/>
          </p:nvSpPr>
          <p:spPr>
            <a:xfrm>
              <a:off x="0" y="0"/>
              <a:ext cx="768479" cy="461665"/>
            </a:xfrm>
            <a:prstGeom prst="rect">
              <a:avLst/>
            </a:prstGeom>
            <a:noFill/>
          </p:spPr>
          <p:txBody>
            <a:bodyPr wrap="square" lIns="91440" tIns="45720" rIns="91440" bIns="45720" anchor="ctr">
              <a:spAutoFit/>
            </a:bodyPr>
            <a:lstStyle/>
            <a:p>
              <a:pPr algn="ctr"/>
              <a:r>
                <a:rPr lang="fr-FR" sz="2400" b="1" spc="50" dirty="0">
                  <a:ln w="9525" cmpd="sng">
                    <a:solidFill>
                      <a:schemeClr val="accent1"/>
                    </a:solidFill>
                    <a:prstDash val="solid"/>
                  </a:ln>
                  <a:solidFill>
                    <a:srgbClr val="70AD47">
                      <a:tint val="1000"/>
                    </a:srgbClr>
                  </a:solidFill>
                  <a:effectLst>
                    <a:glow rad="38100">
                      <a:schemeClr val="accent1">
                        <a:alpha val="40000"/>
                      </a:schemeClr>
                    </a:glow>
                  </a:effectLst>
                  <a:latin typeface="HoloLens MDL2 Assets" panose="050A0102010101010101" pitchFamily="18" charset="0"/>
                </a:rPr>
                <a:t></a:t>
              </a:r>
              <a:endParaRPr lang="fr-FR" sz="1400" dirty="0">
                <a:solidFill>
                  <a:srgbClr val="5B9BD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/>
              </a:endParaRPr>
            </a:p>
          </p:txBody>
        </p:sp>
        <p:sp>
          <p:nvSpPr>
            <p:cNvPr id="259" name="ZoneTexte 258">
              <a:extLst>
                <a:ext uri="{FF2B5EF4-FFF2-40B4-BE49-F238E27FC236}">
                  <a16:creationId xmlns:a16="http://schemas.microsoft.com/office/drawing/2014/main" id="{0C6888E8-445E-CDD1-F1DE-F6F461E303C5}"/>
                </a:ext>
              </a:extLst>
            </p:cNvPr>
            <p:cNvSpPr txBox="1"/>
            <p:nvPr/>
          </p:nvSpPr>
          <p:spPr>
            <a:xfrm>
              <a:off x="525450" y="71273"/>
              <a:ext cx="89252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1400" dirty="0">
                  <a:solidFill>
                    <a:srgbClr val="5B9BD5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libri" panose="020F0502020204030204"/>
                </a:rPr>
                <a:t>Retour</a:t>
              </a:r>
              <a:endParaRPr lang="fr-FR" sz="1400" dirty="0"/>
            </a:p>
          </p:txBody>
        </p:sp>
      </p:grpSp>
      <p:sp>
        <p:nvSpPr>
          <p:cNvPr id="260" name="BA_PW">
            <a:extLst>
              <a:ext uri="{FF2B5EF4-FFF2-40B4-BE49-F238E27FC236}">
                <a16:creationId xmlns:a16="http://schemas.microsoft.com/office/drawing/2014/main" id="{62F01B69-A11A-FE25-27FE-263B8DCB02EA}"/>
              </a:ext>
            </a:extLst>
          </p:cNvPr>
          <p:cNvSpPr/>
          <p:nvPr/>
        </p:nvSpPr>
        <p:spPr>
          <a:xfrm>
            <a:off x="4517645" y="1819606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PW</a:t>
            </a:r>
            <a:br>
              <a:rPr lang="fr-FR" sz="10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/>
              </a:rPr>
            </a:b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SFC</a:t>
            </a:r>
          </a:p>
        </p:txBody>
      </p:sp>
      <p:sp>
        <p:nvSpPr>
          <p:cNvPr id="2" name="Étoile à 5 branches">
            <a:extLst>
              <a:ext uri="{FF2B5EF4-FFF2-40B4-BE49-F238E27FC236}">
                <a16:creationId xmlns:a16="http://schemas.microsoft.com/office/drawing/2014/main" id="{578F5251-2FDD-118D-D7B5-C97484B12B5F}"/>
              </a:ext>
            </a:extLst>
          </p:cNvPr>
          <p:cNvSpPr/>
          <p:nvPr/>
        </p:nvSpPr>
        <p:spPr>
          <a:xfrm>
            <a:off x="9368151" y="554532"/>
            <a:ext cx="108000" cy="108000"/>
          </a:xfrm>
          <a:prstGeom prst="star5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Légende_Nouveau_Bloc">
            <a:extLst>
              <a:ext uri="{FF2B5EF4-FFF2-40B4-BE49-F238E27FC236}">
                <a16:creationId xmlns:a16="http://schemas.microsoft.com/office/drawing/2014/main" id="{62ED6536-51A9-F507-31DC-4D8128B4D6BB}"/>
              </a:ext>
            </a:extLst>
          </p:cNvPr>
          <p:cNvSpPr txBox="1"/>
          <p:nvPr/>
        </p:nvSpPr>
        <p:spPr>
          <a:xfrm>
            <a:off x="9464720" y="491658"/>
            <a:ext cx="934871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Nouveau bloc</a:t>
            </a:r>
          </a:p>
        </p:txBody>
      </p:sp>
      <p:sp>
        <p:nvSpPr>
          <p:cNvPr id="4" name="Légende_Nouveau_Bloc">
            <a:extLst>
              <a:ext uri="{FF2B5EF4-FFF2-40B4-BE49-F238E27FC236}">
                <a16:creationId xmlns:a16="http://schemas.microsoft.com/office/drawing/2014/main" id="{E8607A28-085C-C902-F8EB-3376F6561A13}"/>
              </a:ext>
            </a:extLst>
          </p:cNvPr>
          <p:cNvSpPr txBox="1"/>
          <p:nvPr/>
        </p:nvSpPr>
        <p:spPr>
          <a:xfrm>
            <a:off x="9467926" y="723619"/>
            <a:ext cx="963725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Bloc supprimé</a:t>
            </a:r>
          </a:p>
        </p:txBody>
      </p:sp>
      <p:sp>
        <p:nvSpPr>
          <p:cNvPr id="5" name="Croix 4">
            <a:extLst>
              <a:ext uri="{FF2B5EF4-FFF2-40B4-BE49-F238E27FC236}">
                <a16:creationId xmlns:a16="http://schemas.microsoft.com/office/drawing/2014/main" id="{331C83B4-6BAD-3752-9A81-31D43509F101}"/>
              </a:ext>
            </a:extLst>
          </p:cNvPr>
          <p:cNvSpPr/>
          <p:nvPr/>
        </p:nvSpPr>
        <p:spPr>
          <a:xfrm rot="2700000">
            <a:off x="9371629" y="785103"/>
            <a:ext cx="108000" cy="108000"/>
          </a:xfrm>
          <a:prstGeom prst="plus">
            <a:avLst>
              <a:gd name="adj" fmla="val 45756"/>
            </a:avLst>
          </a:prstGeom>
          <a:solidFill>
            <a:schemeClr val="tx1"/>
          </a:solidFill>
          <a:ln>
            <a:solidFill>
              <a:srgbClr val="FF0000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BA_GH">
            <a:extLst>
              <a:ext uri="{FF2B5EF4-FFF2-40B4-BE49-F238E27FC236}">
                <a16:creationId xmlns:a16="http://schemas.microsoft.com/office/drawing/2014/main" id="{B5097AC1-17FC-38EE-D154-E67757661429}"/>
              </a:ext>
            </a:extLst>
          </p:cNvPr>
          <p:cNvSpPr/>
          <p:nvPr/>
        </p:nvSpPr>
        <p:spPr>
          <a:xfrm>
            <a:off x="6247379" y="1786384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HJ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Contenus statiques</a:t>
            </a:r>
          </a:p>
        </p:txBody>
      </p:sp>
      <p:sp>
        <p:nvSpPr>
          <p:cNvPr id="16" name="BA_H4">
            <a:extLst>
              <a:ext uri="{FF2B5EF4-FFF2-40B4-BE49-F238E27FC236}">
                <a16:creationId xmlns:a16="http://schemas.microsoft.com/office/drawing/2014/main" id="{2D5D57A8-B32E-8ABB-4DDA-6E7D59E6BD52}"/>
              </a:ext>
            </a:extLst>
          </p:cNvPr>
          <p:cNvSpPr/>
          <p:nvPr/>
        </p:nvSpPr>
        <p:spPr>
          <a:xfrm>
            <a:off x="9490384" y="2374473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H4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API VR </a:t>
            </a:r>
            <a:r>
              <a:rPr kumimoji="0" lang="fr-FR" sz="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Selfcare</a:t>
            </a:r>
            <a:endParaRPr kumimoji="0" lang="fr-FR" sz="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BA_HH">
            <a:extLst>
              <a:ext uri="{FF2B5EF4-FFF2-40B4-BE49-F238E27FC236}">
                <a16:creationId xmlns:a16="http://schemas.microsoft.com/office/drawing/2014/main" id="{965C1E11-F41C-C184-E57F-D761AD16A92B}"/>
              </a:ext>
            </a:extLst>
          </p:cNvPr>
          <p:cNvSpPr/>
          <p:nvPr/>
        </p:nvSpPr>
        <p:spPr>
          <a:xfrm>
            <a:off x="10160477" y="2374473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HH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API Sim. épargne</a:t>
            </a:r>
          </a:p>
        </p:txBody>
      </p:sp>
      <p:sp>
        <p:nvSpPr>
          <p:cNvPr id="20" name="Étoile à 5 branches">
            <a:extLst>
              <a:ext uri="{FF2B5EF4-FFF2-40B4-BE49-F238E27FC236}">
                <a16:creationId xmlns:a16="http://schemas.microsoft.com/office/drawing/2014/main" id="{295632ED-CA49-0367-52B0-5ED17F825A11}"/>
              </a:ext>
            </a:extLst>
          </p:cNvPr>
          <p:cNvSpPr/>
          <p:nvPr/>
        </p:nvSpPr>
        <p:spPr>
          <a:xfrm>
            <a:off x="9507134" y="2386099"/>
            <a:ext cx="108000" cy="108000"/>
          </a:xfrm>
          <a:prstGeom prst="star5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Étoile à 5 branches">
            <a:extLst>
              <a:ext uri="{FF2B5EF4-FFF2-40B4-BE49-F238E27FC236}">
                <a16:creationId xmlns:a16="http://schemas.microsoft.com/office/drawing/2014/main" id="{96BD429D-B817-A6CE-5F99-5D565B574642}"/>
              </a:ext>
            </a:extLst>
          </p:cNvPr>
          <p:cNvSpPr/>
          <p:nvPr/>
        </p:nvSpPr>
        <p:spPr>
          <a:xfrm>
            <a:off x="10184139" y="2394900"/>
            <a:ext cx="108000" cy="108000"/>
          </a:xfrm>
          <a:prstGeom prst="star5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Gr_LCL">
            <a:extLst>
              <a:ext uri="{FF2B5EF4-FFF2-40B4-BE49-F238E27FC236}">
                <a16:creationId xmlns:a16="http://schemas.microsoft.com/office/drawing/2014/main" id="{3510B24E-DBE0-9BD5-B25E-BE0402A5A740}"/>
              </a:ext>
            </a:extLst>
          </p:cNvPr>
          <p:cNvSpPr/>
          <p:nvPr/>
        </p:nvSpPr>
        <p:spPr>
          <a:xfrm>
            <a:off x="6075866" y="5122749"/>
            <a:ext cx="5632947" cy="1248594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/>
            </a:endParaRPr>
          </a:p>
        </p:txBody>
      </p:sp>
      <p:sp>
        <p:nvSpPr>
          <p:cNvPr id="24" name="ZT_CATS">
            <a:extLst>
              <a:ext uri="{FF2B5EF4-FFF2-40B4-BE49-F238E27FC236}">
                <a16:creationId xmlns:a16="http://schemas.microsoft.com/office/drawing/2014/main" id="{91A08CBD-8529-E6DC-3241-E74ACF0F6DF0}"/>
              </a:ext>
            </a:extLst>
          </p:cNvPr>
          <p:cNvSpPr txBox="1"/>
          <p:nvPr/>
        </p:nvSpPr>
        <p:spPr>
          <a:xfrm>
            <a:off x="6122619" y="5107819"/>
            <a:ext cx="5399528" cy="246221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LCL</a:t>
            </a:r>
            <a:endParaRPr kumimoji="0" lang="fr-FR" sz="1000" b="1" i="1" u="none" strike="noStrike" kern="1200" cap="none" spc="0" normalizeH="0" baseline="0" noProof="0" dirty="0">
              <a:ln>
                <a:noFill/>
              </a:ln>
              <a:solidFill>
                <a:srgbClr val="7030A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BA_BEL">
            <a:extLst>
              <a:ext uri="{FF2B5EF4-FFF2-40B4-BE49-F238E27FC236}">
                <a16:creationId xmlns:a16="http://schemas.microsoft.com/office/drawing/2014/main" id="{ECA2FD52-323E-02C1-D474-DA1D3508AEF2}"/>
              </a:ext>
            </a:extLst>
          </p:cNvPr>
          <p:cNvSpPr/>
          <p:nvPr/>
        </p:nvSpPr>
        <p:spPr>
          <a:xfrm>
            <a:off x="6135322" y="5643027"/>
            <a:ext cx="648000" cy="288000"/>
          </a:xfrm>
          <a:prstGeom prst="roundRect">
            <a:avLst/>
          </a:prstGeom>
          <a:solidFill>
            <a:srgbClr val="B6D3EC"/>
          </a:solidFill>
          <a:ln w="6350">
            <a:solidFill>
              <a:schemeClr val="accent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0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/>
              </a:rPr>
              <a:t>BEL</a:t>
            </a:r>
          </a:p>
          <a:p>
            <a:pPr algn="ctr"/>
            <a:r>
              <a:rPr lang="fr-FR" sz="10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/>
              </a:rPr>
              <a:t>-</a:t>
            </a:r>
          </a:p>
        </p:txBody>
      </p:sp>
      <p:sp>
        <p:nvSpPr>
          <p:cNvPr id="26" name="BA_Docapost">
            <a:extLst>
              <a:ext uri="{FF2B5EF4-FFF2-40B4-BE49-F238E27FC236}">
                <a16:creationId xmlns:a16="http://schemas.microsoft.com/office/drawing/2014/main" id="{D9E99B5E-0AD0-F333-2D8B-455E06A17AD3}"/>
              </a:ext>
            </a:extLst>
          </p:cNvPr>
          <p:cNvSpPr/>
          <p:nvPr/>
        </p:nvSpPr>
        <p:spPr>
          <a:xfrm>
            <a:off x="6145849" y="5987729"/>
            <a:ext cx="648000" cy="288000"/>
          </a:xfrm>
          <a:prstGeom prst="roundRect">
            <a:avLst/>
          </a:prstGeom>
          <a:solidFill>
            <a:srgbClr val="B6D3EC"/>
          </a:solidFill>
          <a:ln w="6350">
            <a:solidFill>
              <a:schemeClr val="accent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0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/>
              </a:rPr>
              <a:t>Docapost</a:t>
            </a:r>
          </a:p>
          <a:p>
            <a:pPr algn="ctr"/>
            <a:r>
              <a:rPr lang="fr-FR" sz="10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/>
              </a:rPr>
              <a:t>-</a:t>
            </a:r>
          </a:p>
        </p:txBody>
      </p:sp>
      <p:sp>
        <p:nvSpPr>
          <p:cNvPr id="30" name="BA_Mescomptes">
            <a:extLst>
              <a:ext uri="{FF2B5EF4-FFF2-40B4-BE49-F238E27FC236}">
                <a16:creationId xmlns:a16="http://schemas.microsoft.com/office/drawing/2014/main" id="{9044C55F-8022-9490-117A-B96068CF5BE1}"/>
              </a:ext>
            </a:extLst>
          </p:cNvPr>
          <p:cNvSpPr/>
          <p:nvPr/>
        </p:nvSpPr>
        <p:spPr>
          <a:xfrm>
            <a:off x="6135322" y="5323284"/>
            <a:ext cx="1326281" cy="288000"/>
          </a:xfrm>
          <a:prstGeom prst="roundRect">
            <a:avLst/>
          </a:prstGeom>
          <a:solidFill>
            <a:srgbClr val="B6D3EC"/>
          </a:solidFill>
          <a:ln w="6350">
            <a:solidFill>
              <a:schemeClr val="accent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000" dirty="0" err="1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/>
              </a:rPr>
              <a:t>MesComptes</a:t>
            </a:r>
            <a:endParaRPr lang="fr-FR" sz="1000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/>
            </a:endParaRPr>
          </a:p>
        </p:txBody>
      </p:sp>
      <p:sp>
        <p:nvSpPr>
          <p:cNvPr id="6" name="Gr_SimulAssur">
            <a:extLst>
              <a:ext uri="{FF2B5EF4-FFF2-40B4-BE49-F238E27FC236}">
                <a16:creationId xmlns:a16="http://schemas.microsoft.com/office/drawing/2014/main" id="{2FB2B66B-F985-F032-42EB-203C9506CC68}"/>
              </a:ext>
            </a:extLst>
          </p:cNvPr>
          <p:cNvSpPr/>
          <p:nvPr/>
        </p:nvSpPr>
        <p:spPr>
          <a:xfrm>
            <a:off x="4476637" y="3792663"/>
            <a:ext cx="1627675" cy="1021008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  <a:effectLst>
            <a:outerShdw blurRad="50800" dist="38100" dir="2700000" algn="ctr" rotWithShape="0">
              <a:schemeClr val="tx1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/>
            </a:endParaRPr>
          </a:p>
        </p:txBody>
      </p:sp>
      <p:sp>
        <p:nvSpPr>
          <p:cNvPr id="8" name="ZT_SimulAssur">
            <a:extLst>
              <a:ext uri="{FF2B5EF4-FFF2-40B4-BE49-F238E27FC236}">
                <a16:creationId xmlns:a16="http://schemas.microsoft.com/office/drawing/2014/main" id="{1A0CA5E4-08BB-52CB-4552-B43B14B6B52E}"/>
              </a:ext>
            </a:extLst>
          </p:cNvPr>
          <p:cNvSpPr txBox="1"/>
          <p:nvPr/>
        </p:nvSpPr>
        <p:spPr>
          <a:xfrm>
            <a:off x="4500323" y="3819978"/>
            <a:ext cx="1714025" cy="246221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1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SimulAssur</a:t>
            </a:r>
            <a:endParaRPr kumimoji="0" lang="fr-FR" sz="1000" b="1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BA_VS">
            <a:extLst>
              <a:ext uri="{FF2B5EF4-FFF2-40B4-BE49-F238E27FC236}">
                <a16:creationId xmlns:a16="http://schemas.microsoft.com/office/drawing/2014/main" id="{9FCE9783-2A97-3AB4-E92F-63BEF94D658B}"/>
              </a:ext>
            </a:extLst>
          </p:cNvPr>
          <p:cNvSpPr/>
          <p:nvPr/>
        </p:nvSpPr>
        <p:spPr>
          <a:xfrm>
            <a:off x="4611474" y="4115819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0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/>
              </a:rPr>
              <a:t>VS</a:t>
            </a:r>
            <a:endParaRPr kumimoji="0" lang="fr-FR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Sim, </a:t>
            </a:r>
            <a:r>
              <a:rPr kumimoji="0" lang="fr-FR" sz="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Ass.V</a:t>
            </a: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 pour LCL</a:t>
            </a:r>
          </a:p>
        </p:txBody>
      </p:sp>
      <p:sp>
        <p:nvSpPr>
          <p:cNvPr id="10" name="BA_RS">
            <a:extLst>
              <a:ext uri="{FF2B5EF4-FFF2-40B4-BE49-F238E27FC236}">
                <a16:creationId xmlns:a16="http://schemas.microsoft.com/office/drawing/2014/main" id="{CC17CC29-80F7-0A85-041C-4FFA3A8D3791}"/>
              </a:ext>
            </a:extLst>
          </p:cNvPr>
          <p:cNvSpPr/>
          <p:nvPr/>
        </p:nvSpPr>
        <p:spPr>
          <a:xfrm>
            <a:off x="5363789" y="4119805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SR</a:t>
            </a:r>
          </a:p>
          <a:p>
            <a:pPr lvl="0" algn="ctr">
              <a:defRPr/>
            </a:pPr>
            <a:r>
              <a:rPr lang="fr-FR" sz="6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Sim, </a:t>
            </a:r>
            <a:r>
              <a:rPr lang="fr-FR" sz="600" dirty="0" err="1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Ass.V</a:t>
            </a:r>
            <a:r>
              <a:rPr lang="fr-FR" sz="6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pour CA</a:t>
            </a:r>
          </a:p>
        </p:txBody>
      </p:sp>
      <p:sp>
        <p:nvSpPr>
          <p:cNvPr id="11" name="BA_EP">
            <a:extLst>
              <a:ext uri="{FF2B5EF4-FFF2-40B4-BE49-F238E27FC236}">
                <a16:creationId xmlns:a16="http://schemas.microsoft.com/office/drawing/2014/main" id="{EB1B71CB-7A50-B257-E2AB-028948909076}"/>
              </a:ext>
            </a:extLst>
          </p:cNvPr>
          <p:cNvSpPr/>
          <p:nvPr/>
        </p:nvSpPr>
        <p:spPr>
          <a:xfrm>
            <a:off x="4611474" y="4500624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0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/>
              </a:rPr>
              <a:t>EP</a:t>
            </a:r>
            <a:endParaRPr kumimoji="0" lang="fr-FR" sz="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Sim, EPICASTE</a:t>
            </a:r>
          </a:p>
        </p:txBody>
      </p:sp>
      <p:sp>
        <p:nvSpPr>
          <p:cNvPr id="12" name="BA_Autre_PFD">
            <a:extLst>
              <a:ext uri="{FF2B5EF4-FFF2-40B4-BE49-F238E27FC236}">
                <a16:creationId xmlns:a16="http://schemas.microsoft.com/office/drawing/2014/main" id="{7A6FE460-8D2C-A1B1-632C-AD21B731BE85}"/>
              </a:ext>
            </a:extLst>
          </p:cNvPr>
          <p:cNvSpPr/>
          <p:nvPr/>
        </p:nvSpPr>
        <p:spPr>
          <a:xfrm>
            <a:off x="5363789" y="4472097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…</a:t>
            </a:r>
          </a:p>
        </p:txBody>
      </p:sp>
      <p:sp>
        <p:nvSpPr>
          <p:cNvPr id="13" name="Date_PY">
            <a:extLst>
              <a:ext uri="{FF2B5EF4-FFF2-40B4-BE49-F238E27FC236}">
                <a16:creationId xmlns:a16="http://schemas.microsoft.com/office/drawing/2014/main" id="{7514F492-04B1-27DB-0ECF-58C36A3021D4}"/>
              </a:ext>
            </a:extLst>
          </p:cNvPr>
          <p:cNvSpPr txBox="1"/>
          <p:nvPr/>
        </p:nvSpPr>
        <p:spPr>
          <a:xfrm rot="19102564">
            <a:off x="6248130" y="3433961"/>
            <a:ext cx="927160" cy="230832"/>
          </a:xfrm>
          <a:prstGeom prst="rect">
            <a:avLst/>
          </a:prstGeom>
          <a:noFill/>
          <a:ln cap="flat">
            <a:noFill/>
            <a:prstDash val="solid"/>
          </a:ln>
          <a:effectLst>
            <a:softEdge rad="0"/>
          </a:effectLst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900" b="0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Post V26.1</a:t>
            </a:r>
          </a:p>
        </p:txBody>
      </p:sp>
      <p:sp>
        <p:nvSpPr>
          <p:cNvPr id="14" name="Date_W1">
            <a:extLst>
              <a:ext uri="{FF2B5EF4-FFF2-40B4-BE49-F238E27FC236}">
                <a16:creationId xmlns:a16="http://schemas.microsoft.com/office/drawing/2014/main" id="{03EE1349-E2BE-32EC-8CF6-EA6D7BFE7BA2}"/>
              </a:ext>
            </a:extLst>
          </p:cNvPr>
          <p:cNvSpPr txBox="1"/>
          <p:nvPr/>
        </p:nvSpPr>
        <p:spPr>
          <a:xfrm rot="19102564">
            <a:off x="8019007" y="4175607"/>
            <a:ext cx="927160" cy="230832"/>
          </a:xfrm>
          <a:prstGeom prst="rect">
            <a:avLst/>
          </a:prstGeom>
          <a:noFill/>
          <a:ln cap="flat">
            <a:noFill/>
            <a:prstDash val="solid"/>
          </a:ln>
          <a:effectLst>
            <a:softEdge rad="0"/>
          </a:effectLst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900" b="0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Post V26.1</a:t>
            </a:r>
          </a:p>
        </p:txBody>
      </p:sp>
      <p:sp>
        <p:nvSpPr>
          <p:cNvPr id="15" name="Date_Q1">
            <a:extLst>
              <a:ext uri="{FF2B5EF4-FFF2-40B4-BE49-F238E27FC236}">
                <a16:creationId xmlns:a16="http://schemas.microsoft.com/office/drawing/2014/main" id="{30F44E76-7C93-F469-7D2C-C60D1CDDECCD}"/>
              </a:ext>
            </a:extLst>
          </p:cNvPr>
          <p:cNvSpPr txBox="1"/>
          <p:nvPr/>
        </p:nvSpPr>
        <p:spPr>
          <a:xfrm rot="19102564">
            <a:off x="8839451" y="3756683"/>
            <a:ext cx="927160" cy="230832"/>
          </a:xfrm>
          <a:prstGeom prst="rect">
            <a:avLst/>
          </a:prstGeom>
          <a:noFill/>
          <a:ln cap="flat">
            <a:noFill/>
            <a:prstDash val="solid"/>
          </a:ln>
          <a:effectLst>
            <a:softEdge rad="0"/>
          </a:effectLst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900" b="0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Post 26.1</a:t>
            </a:r>
          </a:p>
        </p:txBody>
      </p:sp>
      <p:sp>
        <p:nvSpPr>
          <p:cNvPr id="18" name="Date_F7">
            <a:extLst>
              <a:ext uri="{FF2B5EF4-FFF2-40B4-BE49-F238E27FC236}">
                <a16:creationId xmlns:a16="http://schemas.microsoft.com/office/drawing/2014/main" id="{08554073-8CD1-9F2A-5105-D3077608E84C}"/>
              </a:ext>
            </a:extLst>
          </p:cNvPr>
          <p:cNvSpPr txBox="1"/>
          <p:nvPr/>
        </p:nvSpPr>
        <p:spPr>
          <a:xfrm rot="19102564">
            <a:off x="8191654" y="2080038"/>
            <a:ext cx="927160" cy="230832"/>
          </a:xfrm>
          <a:prstGeom prst="rect">
            <a:avLst/>
          </a:prstGeom>
          <a:noFill/>
          <a:ln cap="flat">
            <a:noFill/>
            <a:prstDash val="solid"/>
          </a:ln>
          <a:effectLst>
            <a:softEdge rad="0"/>
          </a:effectLst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900" b="0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Post V26.1</a:t>
            </a:r>
          </a:p>
        </p:txBody>
      </p:sp>
      <p:sp>
        <p:nvSpPr>
          <p:cNvPr id="19" name="Date_F3">
            <a:extLst>
              <a:ext uri="{FF2B5EF4-FFF2-40B4-BE49-F238E27FC236}">
                <a16:creationId xmlns:a16="http://schemas.microsoft.com/office/drawing/2014/main" id="{55A3127C-15EE-AD2E-9581-65E3EBE4EE79}"/>
              </a:ext>
            </a:extLst>
          </p:cNvPr>
          <p:cNvSpPr txBox="1"/>
          <p:nvPr/>
        </p:nvSpPr>
        <p:spPr>
          <a:xfrm rot="19102564">
            <a:off x="8073691" y="1780566"/>
            <a:ext cx="927160" cy="230832"/>
          </a:xfrm>
          <a:prstGeom prst="rect">
            <a:avLst/>
          </a:prstGeom>
          <a:noFill/>
          <a:ln cap="flat">
            <a:noFill/>
            <a:prstDash val="solid"/>
          </a:ln>
          <a:effectLst>
            <a:softEdge rad="0"/>
          </a:effectLst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900" b="0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Post V26.1</a:t>
            </a:r>
          </a:p>
        </p:txBody>
      </p:sp>
    </p:spTree>
    <p:extLst>
      <p:ext uri="{BB962C8B-B14F-4D97-AF65-F5344CB8AC3E}">
        <p14:creationId xmlns:p14="http://schemas.microsoft.com/office/powerpoint/2010/main" val="12335943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7D542F-CE6C-DA19-B88F-40E8307520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r_Global">
            <a:extLst>
              <a:ext uri="{FF2B5EF4-FFF2-40B4-BE49-F238E27FC236}">
                <a16:creationId xmlns:a16="http://schemas.microsoft.com/office/drawing/2014/main" id="{CCB9AA68-9314-7C64-60F4-99A494281933}"/>
              </a:ext>
            </a:extLst>
          </p:cNvPr>
          <p:cNvSpPr/>
          <p:nvPr/>
        </p:nvSpPr>
        <p:spPr>
          <a:xfrm>
            <a:off x="156924" y="1028327"/>
            <a:ext cx="11860567" cy="5512742"/>
          </a:xfrm>
          <a:prstGeom prst="roundRect">
            <a:avLst/>
          </a:prstGeom>
          <a:solidFill>
            <a:schemeClr val="bg1"/>
          </a:solidFill>
          <a:ln>
            <a:solidFill>
              <a:schemeClr val="accent1"/>
            </a:solidFill>
          </a:ln>
          <a:effectLst>
            <a:outerShdw blurRad="50800" dist="38100" dir="2700000" algn="tl" rotWithShape="0">
              <a:schemeClr val="tx1"/>
            </a:outerShdw>
          </a:effectLst>
        </p:spPr>
        <p:txBody>
          <a:bodyPr wrap="none" lIns="0" rIns="0" rtlCol="0" anchor="ctr">
            <a:noAutofit/>
          </a:bodyPr>
          <a:lstStyle/>
          <a:p>
            <a:pPr algn="ctr"/>
            <a:endParaRPr lang="fr-FR" sz="1600" b="1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1" name="Gr_NOVA">
            <a:extLst>
              <a:ext uri="{FF2B5EF4-FFF2-40B4-BE49-F238E27FC236}">
                <a16:creationId xmlns:a16="http://schemas.microsoft.com/office/drawing/2014/main" id="{D7EDB64D-065A-802F-6801-EBFCEF1348A6}"/>
              </a:ext>
            </a:extLst>
          </p:cNvPr>
          <p:cNvSpPr/>
          <p:nvPr/>
        </p:nvSpPr>
        <p:spPr>
          <a:xfrm>
            <a:off x="5407282" y="1111645"/>
            <a:ext cx="2350211" cy="1879964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  <a:effectLst>
            <a:outerShdw blurRad="50800" dist="38100" dir="2700000" algn="ctr" rotWithShape="0">
              <a:schemeClr val="tx1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/>
            </a:endParaRPr>
          </a:p>
        </p:txBody>
      </p:sp>
      <p:sp>
        <p:nvSpPr>
          <p:cNvPr id="92" name="ZT_NOVA">
            <a:extLst>
              <a:ext uri="{FF2B5EF4-FFF2-40B4-BE49-F238E27FC236}">
                <a16:creationId xmlns:a16="http://schemas.microsoft.com/office/drawing/2014/main" id="{341A4508-EE3E-DBC0-3A93-B0F60AFDFBAE}"/>
              </a:ext>
            </a:extLst>
          </p:cNvPr>
          <p:cNvSpPr txBox="1"/>
          <p:nvPr/>
        </p:nvSpPr>
        <p:spPr>
          <a:xfrm>
            <a:off x="5402982" y="1138960"/>
            <a:ext cx="2354511" cy="246221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NOVA</a:t>
            </a:r>
            <a:endParaRPr kumimoji="0" lang="fr-FR" sz="1000" b="1" i="1" u="none" strike="noStrike" kern="1200" cap="none" spc="0" normalizeH="0" baseline="0" noProof="0" dirty="0">
              <a:ln>
                <a:noFill/>
              </a:ln>
              <a:solidFill>
                <a:srgbClr val="ED7D3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8" name="BA_OX">
            <a:extLst>
              <a:ext uri="{FF2B5EF4-FFF2-40B4-BE49-F238E27FC236}">
                <a16:creationId xmlns:a16="http://schemas.microsoft.com/office/drawing/2014/main" id="{89777010-23F5-F956-F8D2-D8374540F5D0}"/>
              </a:ext>
            </a:extLst>
          </p:cNvPr>
          <p:cNvSpPr/>
          <p:nvPr/>
        </p:nvSpPr>
        <p:spPr>
          <a:xfrm>
            <a:off x="5540187" y="1434370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OX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Opérations </a:t>
            </a:r>
            <a:r>
              <a:rPr kumimoji="0" lang="fr-FR" sz="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Ass</a:t>
            </a: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.</a:t>
            </a:r>
          </a:p>
        </p:txBody>
      </p:sp>
      <p:sp>
        <p:nvSpPr>
          <p:cNvPr id="99" name="BA_MX">
            <a:extLst>
              <a:ext uri="{FF2B5EF4-FFF2-40B4-BE49-F238E27FC236}">
                <a16:creationId xmlns:a16="http://schemas.microsoft.com/office/drawing/2014/main" id="{D222D726-8D57-0DB3-7800-4D8B7D002115}"/>
              </a:ext>
            </a:extLst>
          </p:cNvPr>
          <p:cNvSpPr/>
          <p:nvPr/>
        </p:nvSpPr>
        <p:spPr>
          <a:xfrm>
            <a:off x="6247379" y="1434370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MX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Services  internes</a:t>
            </a:r>
          </a:p>
        </p:txBody>
      </p:sp>
      <p:sp>
        <p:nvSpPr>
          <p:cNvPr id="108" name="BA_SX">
            <a:extLst>
              <a:ext uri="{FF2B5EF4-FFF2-40B4-BE49-F238E27FC236}">
                <a16:creationId xmlns:a16="http://schemas.microsoft.com/office/drawing/2014/main" id="{786A417B-1C67-EFBA-3F84-1049D91EC05B}"/>
              </a:ext>
            </a:extLst>
          </p:cNvPr>
          <p:cNvSpPr/>
          <p:nvPr/>
        </p:nvSpPr>
        <p:spPr>
          <a:xfrm>
            <a:off x="6957409" y="1434370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SX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Socle Exposition</a:t>
            </a:r>
          </a:p>
        </p:txBody>
      </p:sp>
      <p:sp>
        <p:nvSpPr>
          <p:cNvPr id="117" name="BA_HX">
            <a:extLst>
              <a:ext uri="{FF2B5EF4-FFF2-40B4-BE49-F238E27FC236}">
                <a16:creationId xmlns:a16="http://schemas.microsoft.com/office/drawing/2014/main" id="{C47B7BA9-A0B1-E0E2-79D8-A0D78F48EC82}"/>
              </a:ext>
            </a:extLst>
          </p:cNvPr>
          <p:cNvSpPr/>
          <p:nvPr/>
        </p:nvSpPr>
        <p:spPr>
          <a:xfrm>
            <a:off x="5540187" y="1791450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HX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Habilitations PCO</a:t>
            </a:r>
          </a:p>
        </p:txBody>
      </p:sp>
      <p:sp>
        <p:nvSpPr>
          <p:cNvPr id="119" name="BA_RX">
            <a:extLst>
              <a:ext uri="{FF2B5EF4-FFF2-40B4-BE49-F238E27FC236}">
                <a16:creationId xmlns:a16="http://schemas.microsoft.com/office/drawing/2014/main" id="{29ADBA6D-5458-D735-D5B3-7882E18D01EC}"/>
              </a:ext>
            </a:extLst>
          </p:cNvPr>
          <p:cNvSpPr/>
          <p:nvPr/>
        </p:nvSpPr>
        <p:spPr>
          <a:xfrm>
            <a:off x="6957409" y="1791450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RX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Socle Editique</a:t>
            </a:r>
          </a:p>
        </p:txBody>
      </p:sp>
      <p:sp>
        <p:nvSpPr>
          <p:cNvPr id="120" name="BA_WP">
            <a:extLst>
              <a:ext uri="{FF2B5EF4-FFF2-40B4-BE49-F238E27FC236}">
                <a16:creationId xmlns:a16="http://schemas.microsoft.com/office/drawing/2014/main" id="{3B844EA0-DB32-7571-C04A-0FC169FE3F29}"/>
              </a:ext>
            </a:extLst>
          </p:cNvPr>
          <p:cNvSpPr/>
          <p:nvPr/>
        </p:nvSpPr>
        <p:spPr>
          <a:xfrm>
            <a:off x="5542712" y="2146978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WP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Lanceur PCO</a:t>
            </a:r>
          </a:p>
        </p:txBody>
      </p:sp>
      <p:sp>
        <p:nvSpPr>
          <p:cNvPr id="121" name="BA_FM">
            <a:extLst>
              <a:ext uri="{FF2B5EF4-FFF2-40B4-BE49-F238E27FC236}">
                <a16:creationId xmlns:a16="http://schemas.microsoft.com/office/drawing/2014/main" id="{A51036E9-D031-1F77-554B-5D502FD6F39D}"/>
              </a:ext>
            </a:extLst>
          </p:cNvPr>
          <p:cNvSpPr/>
          <p:nvPr/>
        </p:nvSpPr>
        <p:spPr>
          <a:xfrm>
            <a:off x="6251156" y="2146978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FM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Fonctions IHM</a:t>
            </a:r>
          </a:p>
        </p:txBody>
      </p:sp>
      <p:sp>
        <p:nvSpPr>
          <p:cNvPr id="123" name="BA_JF">
            <a:extLst>
              <a:ext uri="{FF2B5EF4-FFF2-40B4-BE49-F238E27FC236}">
                <a16:creationId xmlns:a16="http://schemas.microsoft.com/office/drawing/2014/main" id="{8303CDC2-490A-F1F0-F9C8-E8661F238AE5}"/>
              </a:ext>
            </a:extLst>
          </p:cNvPr>
          <p:cNvSpPr/>
          <p:nvPr/>
        </p:nvSpPr>
        <p:spPr>
          <a:xfrm>
            <a:off x="6955140" y="2146978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JF</a:t>
            </a:r>
            <a:endParaRPr kumimoji="0" lang="fr-FR" sz="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Animation </a:t>
            </a:r>
            <a:r>
              <a:rPr kumimoji="0" lang="fr-FR" sz="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comm</a:t>
            </a: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.</a:t>
            </a:r>
          </a:p>
        </p:txBody>
      </p:sp>
      <p:sp>
        <p:nvSpPr>
          <p:cNvPr id="124" name="Gr_Avanet">
            <a:extLst>
              <a:ext uri="{FF2B5EF4-FFF2-40B4-BE49-F238E27FC236}">
                <a16:creationId xmlns:a16="http://schemas.microsoft.com/office/drawing/2014/main" id="{C9000CB2-BF4D-C87B-9E5C-4BF613FF9125}"/>
              </a:ext>
            </a:extLst>
          </p:cNvPr>
          <p:cNvSpPr/>
          <p:nvPr/>
        </p:nvSpPr>
        <p:spPr>
          <a:xfrm>
            <a:off x="3593887" y="1111645"/>
            <a:ext cx="1690030" cy="117785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  <a:effectLst>
            <a:outerShdw blurRad="50800" dist="38100" dir="2700000" algn="ctr" rotWithShape="0">
              <a:schemeClr val="tx1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/>
            </a:endParaRPr>
          </a:p>
        </p:txBody>
      </p:sp>
      <p:sp>
        <p:nvSpPr>
          <p:cNvPr id="125" name="ZT_Avanet">
            <a:extLst>
              <a:ext uri="{FF2B5EF4-FFF2-40B4-BE49-F238E27FC236}">
                <a16:creationId xmlns:a16="http://schemas.microsoft.com/office/drawing/2014/main" id="{3D02C060-47C3-2787-31A5-DD92C3BDE680}"/>
              </a:ext>
            </a:extLst>
          </p:cNvPr>
          <p:cNvSpPr txBox="1"/>
          <p:nvPr/>
        </p:nvSpPr>
        <p:spPr>
          <a:xfrm>
            <a:off x="3603262" y="1138960"/>
            <a:ext cx="1680655" cy="246221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1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Avanet</a:t>
            </a:r>
            <a:endParaRPr kumimoji="0" lang="fr-FR" sz="1000" b="1" i="1" u="none" strike="noStrike" kern="1200" cap="none" spc="0" normalizeH="0" baseline="0" noProof="0" dirty="0">
              <a:ln>
                <a:noFill/>
              </a:ln>
              <a:solidFill>
                <a:srgbClr val="ED7D3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6" name="BA_W5">
            <a:extLst>
              <a:ext uri="{FF2B5EF4-FFF2-40B4-BE49-F238E27FC236}">
                <a16:creationId xmlns:a16="http://schemas.microsoft.com/office/drawing/2014/main" id="{7A13D51C-D4B5-6DAF-85F1-A6FE16DF54B3}"/>
              </a:ext>
            </a:extLst>
          </p:cNvPr>
          <p:cNvSpPr/>
          <p:nvPr/>
        </p:nvSpPr>
        <p:spPr>
          <a:xfrm>
            <a:off x="3726791" y="1434801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W5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Av@net</a:t>
            </a:r>
            <a:endParaRPr kumimoji="0" lang="fr-FR" sz="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7" name="BA_AEDI">
            <a:extLst>
              <a:ext uri="{FF2B5EF4-FFF2-40B4-BE49-F238E27FC236}">
                <a16:creationId xmlns:a16="http://schemas.microsoft.com/office/drawing/2014/main" id="{EDF3343F-36F4-E48F-EF17-15FDAC08F066}"/>
              </a:ext>
            </a:extLst>
          </p:cNvPr>
          <p:cNvSpPr/>
          <p:nvPr/>
        </p:nvSpPr>
        <p:spPr>
          <a:xfrm>
            <a:off x="4521017" y="1438787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AEDI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API-EDI</a:t>
            </a:r>
          </a:p>
        </p:txBody>
      </p:sp>
      <p:sp>
        <p:nvSpPr>
          <p:cNvPr id="128" name="BA_SVOD">
            <a:extLst>
              <a:ext uri="{FF2B5EF4-FFF2-40B4-BE49-F238E27FC236}">
                <a16:creationId xmlns:a16="http://schemas.microsoft.com/office/drawing/2014/main" id="{39754757-0065-E90C-B87A-DD8314AB8759}"/>
              </a:ext>
            </a:extLst>
          </p:cNvPr>
          <p:cNvSpPr/>
          <p:nvPr/>
        </p:nvSpPr>
        <p:spPr>
          <a:xfrm>
            <a:off x="3726791" y="1819606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SVOD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SAS </a:t>
            </a:r>
            <a:r>
              <a:rPr kumimoji="0" lang="fr-FR" sz="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Valid</a:t>
            </a: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.</a:t>
            </a:r>
          </a:p>
        </p:txBody>
      </p:sp>
      <p:sp>
        <p:nvSpPr>
          <p:cNvPr id="129" name="Gr_PFD">
            <a:extLst>
              <a:ext uri="{FF2B5EF4-FFF2-40B4-BE49-F238E27FC236}">
                <a16:creationId xmlns:a16="http://schemas.microsoft.com/office/drawing/2014/main" id="{89C90664-3F2C-45A7-BD36-98D28326CC73}"/>
              </a:ext>
            </a:extLst>
          </p:cNvPr>
          <p:cNvSpPr/>
          <p:nvPr/>
        </p:nvSpPr>
        <p:spPr>
          <a:xfrm>
            <a:off x="6161552" y="3780520"/>
            <a:ext cx="1627675" cy="1021008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  <a:effectLst>
            <a:outerShdw blurRad="50800" dist="38100" dir="2700000" algn="ctr" rotWithShape="0">
              <a:schemeClr val="tx1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/>
            </a:endParaRPr>
          </a:p>
        </p:txBody>
      </p:sp>
      <p:sp>
        <p:nvSpPr>
          <p:cNvPr id="130" name="ZT_PFD">
            <a:extLst>
              <a:ext uri="{FF2B5EF4-FFF2-40B4-BE49-F238E27FC236}">
                <a16:creationId xmlns:a16="http://schemas.microsoft.com/office/drawing/2014/main" id="{7B14C804-1A7B-414C-EC1B-5F534AD73284}"/>
              </a:ext>
            </a:extLst>
          </p:cNvPr>
          <p:cNvSpPr txBox="1"/>
          <p:nvPr/>
        </p:nvSpPr>
        <p:spPr>
          <a:xfrm>
            <a:off x="6185238" y="3807835"/>
            <a:ext cx="1714025" cy="246221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Plateforme Data (PFD)</a:t>
            </a:r>
          </a:p>
        </p:txBody>
      </p:sp>
      <p:sp>
        <p:nvSpPr>
          <p:cNvPr id="131" name="BA_J2">
            <a:extLst>
              <a:ext uri="{FF2B5EF4-FFF2-40B4-BE49-F238E27FC236}">
                <a16:creationId xmlns:a16="http://schemas.microsoft.com/office/drawing/2014/main" id="{A0A770DB-587A-47F9-DBE5-21B2229C1C1B}"/>
              </a:ext>
            </a:extLst>
          </p:cNvPr>
          <p:cNvSpPr/>
          <p:nvPr/>
        </p:nvSpPr>
        <p:spPr>
          <a:xfrm>
            <a:off x="6296389" y="4103676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J2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Exposition PFD</a:t>
            </a:r>
          </a:p>
        </p:txBody>
      </p:sp>
      <p:sp>
        <p:nvSpPr>
          <p:cNvPr id="136" name="BA_J6">
            <a:extLst>
              <a:ext uri="{FF2B5EF4-FFF2-40B4-BE49-F238E27FC236}">
                <a16:creationId xmlns:a16="http://schemas.microsoft.com/office/drawing/2014/main" id="{DA93A010-C90D-C139-36AA-8F64347AD771}"/>
              </a:ext>
            </a:extLst>
          </p:cNvPr>
          <p:cNvSpPr/>
          <p:nvPr/>
        </p:nvSpPr>
        <p:spPr>
          <a:xfrm>
            <a:off x="7048704" y="4107662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J6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Restit</a:t>
            </a: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. </a:t>
            </a:r>
            <a:r>
              <a:rPr kumimoji="0" lang="fr-FR" sz="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Régl</a:t>
            </a: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.</a:t>
            </a:r>
          </a:p>
        </p:txBody>
      </p:sp>
      <p:sp>
        <p:nvSpPr>
          <p:cNvPr id="147" name="BA_J8">
            <a:extLst>
              <a:ext uri="{FF2B5EF4-FFF2-40B4-BE49-F238E27FC236}">
                <a16:creationId xmlns:a16="http://schemas.microsoft.com/office/drawing/2014/main" id="{3025CE59-40CA-298F-C965-EC8E9034B931}"/>
              </a:ext>
            </a:extLst>
          </p:cNvPr>
          <p:cNvSpPr/>
          <p:nvPr/>
        </p:nvSpPr>
        <p:spPr>
          <a:xfrm>
            <a:off x="6296389" y="4488481"/>
            <a:ext cx="648000" cy="288000"/>
          </a:xfrm>
          <a:prstGeom prst="roundRect">
            <a:avLst/>
          </a:prstGeom>
          <a:solidFill>
            <a:srgbClr val="70AD47"/>
          </a:solidFill>
          <a:ln>
            <a:noFill/>
          </a:ln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J8</a:t>
            </a:r>
            <a:endParaRPr kumimoji="0" lang="fr-FR" sz="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Données Contrats</a:t>
            </a:r>
          </a:p>
        </p:txBody>
      </p:sp>
      <p:sp>
        <p:nvSpPr>
          <p:cNvPr id="149" name="Gr_Prediweb1">
            <a:extLst>
              <a:ext uri="{FF2B5EF4-FFF2-40B4-BE49-F238E27FC236}">
                <a16:creationId xmlns:a16="http://schemas.microsoft.com/office/drawing/2014/main" id="{71440ADB-4BD9-B941-77F0-7C8D054C48D6}"/>
              </a:ext>
            </a:extLst>
          </p:cNvPr>
          <p:cNvSpPr/>
          <p:nvPr/>
        </p:nvSpPr>
        <p:spPr>
          <a:xfrm>
            <a:off x="3588010" y="2368814"/>
            <a:ext cx="1695907" cy="671739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  <a:effectLst>
            <a:outerShdw blurRad="50800" dist="38100" dir="2700000" algn="ctr" rotWithShape="0">
              <a:schemeClr val="tx1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/>
            </a:endParaRPr>
          </a:p>
        </p:txBody>
      </p:sp>
      <p:sp>
        <p:nvSpPr>
          <p:cNvPr id="151" name="ZT_Prediweb1">
            <a:extLst>
              <a:ext uri="{FF2B5EF4-FFF2-40B4-BE49-F238E27FC236}">
                <a16:creationId xmlns:a16="http://schemas.microsoft.com/office/drawing/2014/main" id="{B853B9EB-D528-A098-EBE1-58FFE6B31301}"/>
              </a:ext>
            </a:extLst>
          </p:cNvPr>
          <p:cNvSpPr txBox="1"/>
          <p:nvPr/>
        </p:nvSpPr>
        <p:spPr>
          <a:xfrm>
            <a:off x="3595208" y="2396399"/>
            <a:ext cx="1688709" cy="246221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1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Prediweb</a:t>
            </a:r>
            <a:r>
              <a:rPr kumimoji="0" lang="fr-FR" sz="1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 1</a:t>
            </a:r>
            <a:endParaRPr kumimoji="0" lang="fr-FR" sz="1000" b="1" i="1" u="none" strike="noStrike" kern="1200" cap="none" spc="0" normalizeH="0" baseline="0" noProof="0" dirty="0">
              <a:ln>
                <a:noFill/>
              </a:ln>
              <a:solidFill>
                <a:srgbClr val="ED7D3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3" name="BA_BD">
            <a:extLst>
              <a:ext uri="{FF2B5EF4-FFF2-40B4-BE49-F238E27FC236}">
                <a16:creationId xmlns:a16="http://schemas.microsoft.com/office/drawing/2014/main" id="{93F2E341-0269-E70F-169F-98725D235AB0}"/>
              </a:ext>
            </a:extLst>
          </p:cNvPr>
          <p:cNvSpPr/>
          <p:nvPr/>
        </p:nvSpPr>
        <p:spPr>
          <a:xfrm>
            <a:off x="3720914" y="2691969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BD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Prediweb</a:t>
            </a:r>
            <a:endParaRPr kumimoji="0" lang="fr-FR" sz="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6" name="BA_SGR">
            <a:extLst>
              <a:ext uri="{FF2B5EF4-FFF2-40B4-BE49-F238E27FC236}">
                <a16:creationId xmlns:a16="http://schemas.microsoft.com/office/drawing/2014/main" id="{9587ABA6-FF77-A65D-67F4-BD5D05DC5B3E}"/>
              </a:ext>
            </a:extLst>
          </p:cNvPr>
          <p:cNvSpPr/>
          <p:nvPr/>
        </p:nvSpPr>
        <p:spPr>
          <a:xfrm>
            <a:off x="4496225" y="2696226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SGR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Lanceur SGR</a:t>
            </a:r>
          </a:p>
        </p:txBody>
      </p:sp>
      <p:sp>
        <p:nvSpPr>
          <p:cNvPr id="158" name="BA_Autre_PFD">
            <a:extLst>
              <a:ext uri="{FF2B5EF4-FFF2-40B4-BE49-F238E27FC236}">
                <a16:creationId xmlns:a16="http://schemas.microsoft.com/office/drawing/2014/main" id="{B037A1DF-3B73-BE28-4F77-67DA22619E24}"/>
              </a:ext>
            </a:extLst>
          </p:cNvPr>
          <p:cNvSpPr/>
          <p:nvPr/>
        </p:nvSpPr>
        <p:spPr>
          <a:xfrm>
            <a:off x="7048704" y="4459954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…</a:t>
            </a:r>
          </a:p>
        </p:txBody>
      </p:sp>
      <p:sp>
        <p:nvSpPr>
          <p:cNvPr id="159" name="Gr_AIA">
            <a:extLst>
              <a:ext uri="{FF2B5EF4-FFF2-40B4-BE49-F238E27FC236}">
                <a16:creationId xmlns:a16="http://schemas.microsoft.com/office/drawing/2014/main" id="{7564978A-9E1E-1A00-2B1E-8F7DD3BD26BB}"/>
              </a:ext>
            </a:extLst>
          </p:cNvPr>
          <p:cNvSpPr/>
          <p:nvPr/>
        </p:nvSpPr>
        <p:spPr>
          <a:xfrm>
            <a:off x="600429" y="2842718"/>
            <a:ext cx="927635" cy="550924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  <a:effectLst>
            <a:outerShdw blurRad="50800" dist="38100" dir="2700000" algn="ctr" rotWithShape="0">
              <a:schemeClr val="tx1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/>
            </a:endParaRPr>
          </a:p>
        </p:txBody>
      </p:sp>
      <p:sp>
        <p:nvSpPr>
          <p:cNvPr id="160" name="ZT_AIA">
            <a:extLst>
              <a:ext uri="{FF2B5EF4-FFF2-40B4-BE49-F238E27FC236}">
                <a16:creationId xmlns:a16="http://schemas.microsoft.com/office/drawing/2014/main" id="{64342B68-59A8-D690-85EF-5891C2CDF67F}"/>
              </a:ext>
            </a:extLst>
          </p:cNvPr>
          <p:cNvSpPr txBox="1"/>
          <p:nvPr/>
        </p:nvSpPr>
        <p:spPr>
          <a:xfrm>
            <a:off x="520497" y="2870168"/>
            <a:ext cx="1080000" cy="246221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AIA V4 (Sinistres)</a:t>
            </a:r>
          </a:p>
        </p:txBody>
      </p:sp>
      <p:sp>
        <p:nvSpPr>
          <p:cNvPr id="161" name="BA_AJ">
            <a:extLst>
              <a:ext uri="{FF2B5EF4-FFF2-40B4-BE49-F238E27FC236}">
                <a16:creationId xmlns:a16="http://schemas.microsoft.com/office/drawing/2014/main" id="{72FA1D15-7222-2BD9-5DE3-F92B511802C6}"/>
              </a:ext>
            </a:extLst>
          </p:cNvPr>
          <p:cNvSpPr/>
          <p:nvPr/>
        </p:nvSpPr>
        <p:spPr>
          <a:xfrm>
            <a:off x="741487" y="3087886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AJ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AIA </a:t>
            </a:r>
            <a:r>
              <a:rPr kumimoji="0" lang="fr-FR" sz="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Sinitres</a:t>
            </a:r>
            <a:endParaRPr kumimoji="0" lang="fr-FR" sz="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2" name="Gr_Prediweb2">
            <a:extLst>
              <a:ext uri="{FF2B5EF4-FFF2-40B4-BE49-F238E27FC236}">
                <a16:creationId xmlns:a16="http://schemas.microsoft.com/office/drawing/2014/main" id="{33321BFF-A6BC-BC1B-9180-5BC989E635C0}"/>
              </a:ext>
            </a:extLst>
          </p:cNvPr>
          <p:cNvSpPr/>
          <p:nvPr/>
        </p:nvSpPr>
        <p:spPr>
          <a:xfrm>
            <a:off x="6172824" y="3106138"/>
            <a:ext cx="754043" cy="61200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  <a:effectLst>
            <a:outerShdw blurRad="50800" dist="38100" dir="2700000" algn="ctr" rotWithShape="0">
              <a:schemeClr val="tx1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/>
            </a:endParaRPr>
          </a:p>
        </p:txBody>
      </p:sp>
      <p:sp>
        <p:nvSpPr>
          <p:cNvPr id="163" name="ZT_Prediweb2">
            <a:extLst>
              <a:ext uri="{FF2B5EF4-FFF2-40B4-BE49-F238E27FC236}">
                <a16:creationId xmlns:a16="http://schemas.microsoft.com/office/drawing/2014/main" id="{EC924E14-4B39-9344-E9F8-D77012EEBD05}"/>
              </a:ext>
            </a:extLst>
          </p:cNvPr>
          <p:cNvSpPr txBox="1"/>
          <p:nvPr/>
        </p:nvSpPr>
        <p:spPr>
          <a:xfrm>
            <a:off x="6145849" y="3133723"/>
            <a:ext cx="774251" cy="246221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1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Prediweb</a:t>
            </a:r>
            <a:r>
              <a:rPr kumimoji="0" lang="fr-FR" sz="1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 2</a:t>
            </a:r>
            <a:endParaRPr kumimoji="0" lang="fr-FR" sz="1000" b="1" i="1" u="none" strike="noStrike" kern="1200" cap="none" spc="0" normalizeH="0" baseline="0" noProof="0" dirty="0">
              <a:ln>
                <a:noFill/>
              </a:ln>
              <a:solidFill>
                <a:srgbClr val="ED7D3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4" name="BA_PY">
            <a:extLst>
              <a:ext uri="{FF2B5EF4-FFF2-40B4-BE49-F238E27FC236}">
                <a16:creationId xmlns:a16="http://schemas.microsoft.com/office/drawing/2014/main" id="{BD533115-BBBE-0B31-5838-F81F610FBC52}"/>
              </a:ext>
            </a:extLst>
          </p:cNvPr>
          <p:cNvSpPr/>
          <p:nvPr/>
        </p:nvSpPr>
        <p:spPr>
          <a:xfrm>
            <a:off x="6219320" y="3376340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PY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Prediweb</a:t>
            </a: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 2</a:t>
            </a:r>
          </a:p>
        </p:txBody>
      </p:sp>
      <p:sp>
        <p:nvSpPr>
          <p:cNvPr id="165" name="Gr_NewNOVA">
            <a:extLst>
              <a:ext uri="{FF2B5EF4-FFF2-40B4-BE49-F238E27FC236}">
                <a16:creationId xmlns:a16="http://schemas.microsoft.com/office/drawing/2014/main" id="{34ECAE84-E1A7-C29A-E3C6-6E12F5827809}"/>
              </a:ext>
            </a:extLst>
          </p:cNvPr>
          <p:cNvSpPr/>
          <p:nvPr/>
        </p:nvSpPr>
        <p:spPr>
          <a:xfrm>
            <a:off x="7894317" y="1093890"/>
            <a:ext cx="3975128" cy="3939748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  <a:effectLst>
            <a:outerShdw blurRad="50800" dist="38100" dir="2700000" algn="ctr" rotWithShape="0">
              <a:schemeClr val="tx1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/>
            </a:endParaRPr>
          </a:p>
        </p:txBody>
      </p:sp>
      <p:sp>
        <p:nvSpPr>
          <p:cNvPr id="166" name="ZT_NewNOVA">
            <a:extLst>
              <a:ext uri="{FF2B5EF4-FFF2-40B4-BE49-F238E27FC236}">
                <a16:creationId xmlns:a16="http://schemas.microsoft.com/office/drawing/2014/main" id="{F1473319-6F23-D4B6-5855-0C04CB1BF6D7}"/>
              </a:ext>
            </a:extLst>
          </p:cNvPr>
          <p:cNvSpPr txBox="1"/>
          <p:nvPr/>
        </p:nvSpPr>
        <p:spPr>
          <a:xfrm>
            <a:off x="7959719" y="1121206"/>
            <a:ext cx="2930793" cy="246221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New NOVA (K8S+AWS)</a:t>
            </a:r>
            <a:endParaRPr kumimoji="0" lang="fr-FR" sz="1000" b="1" i="1" u="none" strike="noStrike" kern="1200" cap="none" spc="0" normalizeH="0" baseline="0" noProof="0" dirty="0">
              <a:ln>
                <a:noFill/>
              </a:ln>
              <a:solidFill>
                <a:srgbClr val="ED7D3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7" name="BA_APPE">
            <a:extLst>
              <a:ext uri="{FF2B5EF4-FFF2-40B4-BE49-F238E27FC236}">
                <a16:creationId xmlns:a16="http://schemas.microsoft.com/office/drawing/2014/main" id="{1624557C-1B59-E266-48C5-FD8496119BC7}"/>
              </a:ext>
            </a:extLst>
          </p:cNvPr>
          <p:cNvSpPr/>
          <p:nvPr/>
        </p:nvSpPr>
        <p:spPr>
          <a:xfrm>
            <a:off x="8114072" y="1417047"/>
            <a:ext cx="648000" cy="288000"/>
          </a:xfrm>
          <a:prstGeom prst="roundRect">
            <a:avLst/>
          </a:prstGeom>
          <a:solidFill>
            <a:srgbClr val="70AD4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APPE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API Personne</a:t>
            </a:r>
          </a:p>
        </p:txBody>
      </p:sp>
      <p:sp>
        <p:nvSpPr>
          <p:cNvPr id="168" name="BA_CJNI">
            <a:extLst>
              <a:ext uri="{FF2B5EF4-FFF2-40B4-BE49-F238E27FC236}">
                <a16:creationId xmlns:a16="http://schemas.microsoft.com/office/drawing/2014/main" id="{11E06428-89E8-EF73-E395-12653E928183}"/>
              </a:ext>
            </a:extLst>
          </p:cNvPr>
          <p:cNvSpPr/>
          <p:nvPr/>
        </p:nvSpPr>
        <p:spPr>
          <a:xfrm>
            <a:off x="8803280" y="1417047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CJNI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Jeton SSO</a:t>
            </a:r>
          </a:p>
        </p:txBody>
      </p:sp>
      <p:sp>
        <p:nvSpPr>
          <p:cNvPr id="169" name="BA_C8">
            <a:extLst>
              <a:ext uri="{FF2B5EF4-FFF2-40B4-BE49-F238E27FC236}">
                <a16:creationId xmlns:a16="http://schemas.microsoft.com/office/drawing/2014/main" id="{6BBD60B3-07F2-054A-2E2A-C538DD003BD1}"/>
              </a:ext>
            </a:extLst>
          </p:cNvPr>
          <p:cNvSpPr/>
          <p:nvPr/>
        </p:nvSpPr>
        <p:spPr>
          <a:xfrm>
            <a:off x="9490384" y="1417047"/>
            <a:ext cx="648000" cy="288000"/>
          </a:xfrm>
          <a:prstGeom prst="roundRect">
            <a:avLst/>
          </a:prstGeom>
          <a:solidFill>
            <a:srgbClr val="70AD4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C8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Consentements</a:t>
            </a:r>
          </a:p>
        </p:txBody>
      </p:sp>
      <p:sp>
        <p:nvSpPr>
          <p:cNvPr id="170" name="BA_D9">
            <a:extLst>
              <a:ext uri="{FF2B5EF4-FFF2-40B4-BE49-F238E27FC236}">
                <a16:creationId xmlns:a16="http://schemas.microsoft.com/office/drawing/2014/main" id="{FFDFA181-39CD-6953-CC2F-8F611A7CC930}"/>
              </a:ext>
            </a:extLst>
          </p:cNvPr>
          <p:cNvSpPr/>
          <p:nvPr/>
        </p:nvSpPr>
        <p:spPr>
          <a:xfrm>
            <a:off x="10160477" y="1417047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D9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Base Doc AWS</a:t>
            </a:r>
          </a:p>
        </p:txBody>
      </p:sp>
      <p:sp>
        <p:nvSpPr>
          <p:cNvPr id="171" name="BA_F3">
            <a:extLst>
              <a:ext uri="{FF2B5EF4-FFF2-40B4-BE49-F238E27FC236}">
                <a16:creationId xmlns:a16="http://schemas.microsoft.com/office/drawing/2014/main" id="{845E66FB-E543-49C8-D0DD-76EAF241F7C1}"/>
              </a:ext>
            </a:extLst>
          </p:cNvPr>
          <p:cNvSpPr/>
          <p:nvPr/>
        </p:nvSpPr>
        <p:spPr>
          <a:xfrm>
            <a:off x="8114072" y="1734468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F3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Versement Libre</a:t>
            </a:r>
          </a:p>
        </p:txBody>
      </p:sp>
      <p:sp>
        <p:nvSpPr>
          <p:cNvPr id="172" name="BA_F4">
            <a:extLst>
              <a:ext uri="{FF2B5EF4-FFF2-40B4-BE49-F238E27FC236}">
                <a16:creationId xmlns:a16="http://schemas.microsoft.com/office/drawing/2014/main" id="{D7F30825-D782-8C27-9AC6-4C0E013BBD23}"/>
              </a:ext>
            </a:extLst>
          </p:cNvPr>
          <p:cNvSpPr/>
          <p:nvPr/>
        </p:nvSpPr>
        <p:spPr>
          <a:xfrm>
            <a:off x="8803280" y="1734468"/>
            <a:ext cx="648000" cy="288000"/>
          </a:xfrm>
          <a:prstGeom prst="roundRect">
            <a:avLst/>
          </a:prstGeom>
          <a:solidFill>
            <a:srgbClr val="70AD47"/>
          </a:solidFill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F4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Synthèse </a:t>
            </a:r>
            <a:r>
              <a:rPr kumimoji="0" lang="fr-FR" sz="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Opér</a:t>
            </a: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.</a:t>
            </a:r>
          </a:p>
        </p:txBody>
      </p:sp>
      <p:sp>
        <p:nvSpPr>
          <p:cNvPr id="173" name="BA_F5">
            <a:extLst>
              <a:ext uri="{FF2B5EF4-FFF2-40B4-BE49-F238E27FC236}">
                <a16:creationId xmlns:a16="http://schemas.microsoft.com/office/drawing/2014/main" id="{A178F00B-19CC-CB44-A579-47C4D754463A}"/>
              </a:ext>
            </a:extLst>
          </p:cNvPr>
          <p:cNvSpPr/>
          <p:nvPr/>
        </p:nvSpPr>
        <p:spPr>
          <a:xfrm>
            <a:off x="9490384" y="1734468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F5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Conf</a:t>
            </a: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. New Nova</a:t>
            </a:r>
          </a:p>
        </p:txBody>
      </p:sp>
      <p:sp>
        <p:nvSpPr>
          <p:cNvPr id="174" name="BA_F6">
            <a:extLst>
              <a:ext uri="{FF2B5EF4-FFF2-40B4-BE49-F238E27FC236}">
                <a16:creationId xmlns:a16="http://schemas.microsoft.com/office/drawing/2014/main" id="{C93D9FDB-E35F-9465-F84A-2B862CDFE151}"/>
              </a:ext>
            </a:extLst>
          </p:cNvPr>
          <p:cNvSpPr/>
          <p:nvPr/>
        </p:nvSpPr>
        <p:spPr>
          <a:xfrm>
            <a:off x="10160477" y="1734468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F6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API Adhésion</a:t>
            </a:r>
          </a:p>
        </p:txBody>
      </p:sp>
      <p:sp>
        <p:nvSpPr>
          <p:cNvPr id="175" name="BA_F7">
            <a:extLst>
              <a:ext uri="{FF2B5EF4-FFF2-40B4-BE49-F238E27FC236}">
                <a16:creationId xmlns:a16="http://schemas.microsoft.com/office/drawing/2014/main" id="{C016B5EF-2351-65C9-89C1-F3901CBA0B24}"/>
              </a:ext>
            </a:extLst>
          </p:cNvPr>
          <p:cNvSpPr/>
          <p:nvPr/>
        </p:nvSpPr>
        <p:spPr>
          <a:xfrm>
            <a:off x="8114072" y="2047150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F7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Arbitrage</a:t>
            </a:r>
          </a:p>
        </p:txBody>
      </p:sp>
      <p:sp>
        <p:nvSpPr>
          <p:cNvPr id="176" name="BA_G3">
            <a:extLst>
              <a:ext uri="{FF2B5EF4-FFF2-40B4-BE49-F238E27FC236}">
                <a16:creationId xmlns:a16="http://schemas.microsoft.com/office/drawing/2014/main" id="{DAE00623-6FC7-FAF7-65EC-C9D060735AEA}"/>
              </a:ext>
            </a:extLst>
          </p:cNvPr>
          <p:cNvSpPr/>
          <p:nvPr/>
        </p:nvSpPr>
        <p:spPr>
          <a:xfrm>
            <a:off x="9490384" y="2047150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G3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Pièces médicales</a:t>
            </a:r>
          </a:p>
        </p:txBody>
      </p:sp>
      <p:sp>
        <p:nvSpPr>
          <p:cNvPr id="177" name="BA_G4">
            <a:extLst>
              <a:ext uri="{FF2B5EF4-FFF2-40B4-BE49-F238E27FC236}">
                <a16:creationId xmlns:a16="http://schemas.microsoft.com/office/drawing/2014/main" id="{B493FB37-AD0F-D090-0E8E-5936DFD63DE2}"/>
              </a:ext>
            </a:extLst>
          </p:cNvPr>
          <p:cNvSpPr/>
          <p:nvPr/>
        </p:nvSpPr>
        <p:spPr>
          <a:xfrm>
            <a:off x="10160477" y="2047150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G4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API FRC</a:t>
            </a:r>
          </a:p>
        </p:txBody>
      </p:sp>
      <p:sp>
        <p:nvSpPr>
          <p:cNvPr id="178" name="BA_G6">
            <a:extLst>
              <a:ext uri="{FF2B5EF4-FFF2-40B4-BE49-F238E27FC236}">
                <a16:creationId xmlns:a16="http://schemas.microsoft.com/office/drawing/2014/main" id="{CA96B6C2-E204-CB01-D27A-5DB7B42D3441}"/>
              </a:ext>
            </a:extLst>
          </p:cNvPr>
          <p:cNvSpPr/>
          <p:nvPr/>
        </p:nvSpPr>
        <p:spPr>
          <a:xfrm>
            <a:off x="8114072" y="2368438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G6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API </a:t>
            </a:r>
            <a:r>
              <a:rPr kumimoji="0" lang="fr-FR" sz="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Passport</a:t>
            </a:r>
            <a:endParaRPr kumimoji="0" lang="fr-FR" sz="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9" name="BA_GQ">
            <a:extLst>
              <a:ext uri="{FF2B5EF4-FFF2-40B4-BE49-F238E27FC236}">
                <a16:creationId xmlns:a16="http://schemas.microsoft.com/office/drawing/2014/main" id="{FD40B868-0425-05C4-9928-C0198BB21DF0}"/>
              </a:ext>
            </a:extLst>
          </p:cNvPr>
          <p:cNvSpPr/>
          <p:nvPr/>
        </p:nvSpPr>
        <p:spPr>
          <a:xfrm>
            <a:off x="8803280" y="2368438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GQ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GED Prévoyance</a:t>
            </a:r>
          </a:p>
        </p:txBody>
      </p:sp>
      <p:sp>
        <p:nvSpPr>
          <p:cNvPr id="180" name="BA_I5">
            <a:extLst>
              <a:ext uri="{FF2B5EF4-FFF2-40B4-BE49-F238E27FC236}">
                <a16:creationId xmlns:a16="http://schemas.microsoft.com/office/drawing/2014/main" id="{4D02F36A-DE3C-744E-7E0D-A32AE1700878}"/>
              </a:ext>
            </a:extLst>
          </p:cNvPr>
          <p:cNvSpPr/>
          <p:nvPr/>
        </p:nvSpPr>
        <p:spPr>
          <a:xfrm>
            <a:off x="8114072" y="2696076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I5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Lanceur New Nova</a:t>
            </a:r>
          </a:p>
        </p:txBody>
      </p:sp>
      <p:sp>
        <p:nvSpPr>
          <p:cNvPr id="181" name="BA_I9">
            <a:extLst>
              <a:ext uri="{FF2B5EF4-FFF2-40B4-BE49-F238E27FC236}">
                <a16:creationId xmlns:a16="http://schemas.microsoft.com/office/drawing/2014/main" id="{D2F3CD73-6A2E-1CC0-1CB5-1F233661AEBA}"/>
              </a:ext>
            </a:extLst>
          </p:cNvPr>
          <p:cNvSpPr/>
          <p:nvPr/>
        </p:nvSpPr>
        <p:spPr>
          <a:xfrm>
            <a:off x="8803280" y="2696076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I9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Keycloak</a:t>
            </a: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 Intranet</a:t>
            </a:r>
          </a:p>
        </p:txBody>
      </p:sp>
      <p:sp>
        <p:nvSpPr>
          <p:cNvPr id="182" name="BA_K7">
            <a:extLst>
              <a:ext uri="{FF2B5EF4-FFF2-40B4-BE49-F238E27FC236}">
                <a16:creationId xmlns:a16="http://schemas.microsoft.com/office/drawing/2014/main" id="{481E9EB9-F395-C1C4-6AAF-17CFA2C19573}"/>
              </a:ext>
            </a:extLst>
          </p:cNvPr>
          <p:cNvSpPr/>
          <p:nvPr/>
        </p:nvSpPr>
        <p:spPr>
          <a:xfrm>
            <a:off x="9490384" y="2696076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K7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Aiguilleur</a:t>
            </a:r>
          </a:p>
        </p:txBody>
      </p:sp>
      <p:sp>
        <p:nvSpPr>
          <p:cNvPr id="183" name="BA_K9">
            <a:extLst>
              <a:ext uri="{FF2B5EF4-FFF2-40B4-BE49-F238E27FC236}">
                <a16:creationId xmlns:a16="http://schemas.microsoft.com/office/drawing/2014/main" id="{33EE1C1B-7581-0B10-E63C-033BB8E5106E}"/>
              </a:ext>
            </a:extLst>
          </p:cNvPr>
          <p:cNvSpPr/>
          <p:nvPr/>
        </p:nvSpPr>
        <p:spPr>
          <a:xfrm>
            <a:off x="10160477" y="2696076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K9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Keycloak</a:t>
            </a: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 Internet</a:t>
            </a:r>
          </a:p>
        </p:txBody>
      </p:sp>
      <p:sp>
        <p:nvSpPr>
          <p:cNvPr id="184" name="BA_L8">
            <a:extLst>
              <a:ext uri="{FF2B5EF4-FFF2-40B4-BE49-F238E27FC236}">
                <a16:creationId xmlns:a16="http://schemas.microsoft.com/office/drawing/2014/main" id="{416C9EFA-285F-F8A0-2FA6-7D2F3CD09E80}"/>
              </a:ext>
            </a:extLst>
          </p:cNvPr>
          <p:cNvSpPr/>
          <p:nvPr/>
        </p:nvSpPr>
        <p:spPr>
          <a:xfrm>
            <a:off x="8114072" y="3027052"/>
            <a:ext cx="648000" cy="288000"/>
          </a:xfrm>
          <a:prstGeom prst="roundRect">
            <a:avLst/>
          </a:prstGeom>
          <a:solidFill>
            <a:srgbClr val="70AD4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L8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API Archivage</a:t>
            </a:r>
          </a:p>
        </p:txBody>
      </p:sp>
      <p:sp>
        <p:nvSpPr>
          <p:cNvPr id="185" name="BA_L9">
            <a:extLst>
              <a:ext uri="{FF2B5EF4-FFF2-40B4-BE49-F238E27FC236}">
                <a16:creationId xmlns:a16="http://schemas.microsoft.com/office/drawing/2014/main" id="{53E7328F-D613-1D25-C0EE-A1EC0DACE306}"/>
              </a:ext>
            </a:extLst>
          </p:cNvPr>
          <p:cNvSpPr/>
          <p:nvPr/>
        </p:nvSpPr>
        <p:spPr>
          <a:xfrm>
            <a:off x="8803280" y="3027052"/>
            <a:ext cx="648000" cy="288000"/>
          </a:xfrm>
          <a:prstGeom prst="roundRect">
            <a:avLst/>
          </a:prstGeom>
          <a:solidFill>
            <a:srgbClr val="70AD4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L9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API Structure</a:t>
            </a:r>
          </a:p>
        </p:txBody>
      </p:sp>
      <p:sp>
        <p:nvSpPr>
          <p:cNvPr id="186" name="BA_N6">
            <a:extLst>
              <a:ext uri="{FF2B5EF4-FFF2-40B4-BE49-F238E27FC236}">
                <a16:creationId xmlns:a16="http://schemas.microsoft.com/office/drawing/2014/main" id="{D3FDC340-6CC5-749E-2EB1-8ACCAA4B44BF}"/>
              </a:ext>
            </a:extLst>
          </p:cNvPr>
          <p:cNvSpPr/>
          <p:nvPr/>
        </p:nvSpPr>
        <p:spPr>
          <a:xfrm>
            <a:off x="9490384" y="3034498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N6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API produit</a:t>
            </a:r>
          </a:p>
        </p:txBody>
      </p:sp>
      <p:sp>
        <p:nvSpPr>
          <p:cNvPr id="187" name="BA_N8">
            <a:extLst>
              <a:ext uri="{FF2B5EF4-FFF2-40B4-BE49-F238E27FC236}">
                <a16:creationId xmlns:a16="http://schemas.microsoft.com/office/drawing/2014/main" id="{382F76E0-6526-A37C-2F2F-D09D397A207A}"/>
              </a:ext>
            </a:extLst>
          </p:cNvPr>
          <p:cNvSpPr/>
          <p:nvPr/>
        </p:nvSpPr>
        <p:spPr>
          <a:xfrm>
            <a:off x="10160477" y="3034498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N8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Notif</a:t>
            </a: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. Distributeur</a:t>
            </a:r>
          </a:p>
        </p:txBody>
      </p:sp>
      <p:sp>
        <p:nvSpPr>
          <p:cNvPr id="188" name="BA_P4">
            <a:extLst>
              <a:ext uri="{FF2B5EF4-FFF2-40B4-BE49-F238E27FC236}">
                <a16:creationId xmlns:a16="http://schemas.microsoft.com/office/drawing/2014/main" id="{45FD7066-451F-BD2B-2ECC-DD4544078FE8}"/>
              </a:ext>
            </a:extLst>
          </p:cNvPr>
          <p:cNvSpPr/>
          <p:nvPr/>
        </p:nvSpPr>
        <p:spPr>
          <a:xfrm>
            <a:off x="8114072" y="3354466"/>
            <a:ext cx="648000" cy="288000"/>
          </a:xfrm>
          <a:prstGeom prst="roundRect">
            <a:avLst/>
          </a:prstGeom>
          <a:solidFill>
            <a:srgbClr val="ED7D31"/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P4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Services Editique</a:t>
            </a:r>
          </a:p>
        </p:txBody>
      </p:sp>
      <p:sp>
        <p:nvSpPr>
          <p:cNvPr id="189" name="BA_P5">
            <a:extLst>
              <a:ext uri="{FF2B5EF4-FFF2-40B4-BE49-F238E27FC236}">
                <a16:creationId xmlns:a16="http://schemas.microsoft.com/office/drawing/2014/main" id="{2C392860-CA70-94D0-BECB-797DA678314B}"/>
              </a:ext>
            </a:extLst>
          </p:cNvPr>
          <p:cNvSpPr/>
          <p:nvPr/>
        </p:nvSpPr>
        <p:spPr>
          <a:xfrm>
            <a:off x="8803280" y="3354466"/>
            <a:ext cx="648000" cy="288000"/>
          </a:xfrm>
          <a:prstGeom prst="roundRect">
            <a:avLst/>
          </a:prstGeom>
          <a:solidFill>
            <a:srgbClr val="70AD47"/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P5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API Contrat</a:t>
            </a:r>
          </a:p>
        </p:txBody>
      </p:sp>
      <p:sp>
        <p:nvSpPr>
          <p:cNvPr id="190" name="BA_P6">
            <a:extLst>
              <a:ext uri="{FF2B5EF4-FFF2-40B4-BE49-F238E27FC236}">
                <a16:creationId xmlns:a16="http://schemas.microsoft.com/office/drawing/2014/main" id="{FC4D8140-B8DD-E39B-5EFE-443B2F0AD784}"/>
              </a:ext>
            </a:extLst>
          </p:cNvPr>
          <p:cNvSpPr/>
          <p:nvPr/>
        </p:nvSpPr>
        <p:spPr>
          <a:xfrm>
            <a:off x="9490384" y="3369007"/>
            <a:ext cx="648000" cy="288000"/>
          </a:xfrm>
          <a:prstGeom prst="round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P6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API Support</a:t>
            </a:r>
          </a:p>
        </p:txBody>
      </p:sp>
      <p:sp>
        <p:nvSpPr>
          <p:cNvPr id="191" name="BA_P7">
            <a:extLst>
              <a:ext uri="{FF2B5EF4-FFF2-40B4-BE49-F238E27FC236}">
                <a16:creationId xmlns:a16="http://schemas.microsoft.com/office/drawing/2014/main" id="{E156C857-9E1F-D4E3-36A5-7F7C334232C9}"/>
              </a:ext>
            </a:extLst>
          </p:cNvPr>
          <p:cNvSpPr/>
          <p:nvPr/>
        </p:nvSpPr>
        <p:spPr>
          <a:xfrm>
            <a:off x="10160477" y="3369007"/>
            <a:ext cx="648000" cy="288000"/>
          </a:xfrm>
          <a:prstGeom prst="roundRect">
            <a:avLst/>
          </a:prstGeom>
          <a:solidFill>
            <a:srgbClr val="70AD47"/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P7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Campagnes et Frais</a:t>
            </a:r>
          </a:p>
        </p:txBody>
      </p:sp>
      <p:sp>
        <p:nvSpPr>
          <p:cNvPr id="192" name="BA_P8">
            <a:extLst>
              <a:ext uri="{FF2B5EF4-FFF2-40B4-BE49-F238E27FC236}">
                <a16:creationId xmlns:a16="http://schemas.microsoft.com/office/drawing/2014/main" id="{8F318810-131A-74BC-D8DA-48C5944BC319}"/>
              </a:ext>
            </a:extLst>
          </p:cNvPr>
          <p:cNvSpPr/>
          <p:nvPr/>
        </p:nvSpPr>
        <p:spPr>
          <a:xfrm>
            <a:off x="8114072" y="3698914"/>
            <a:ext cx="648000" cy="288000"/>
          </a:xfrm>
          <a:prstGeom prst="round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P8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Habilit</a:t>
            </a: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. &amp;  </a:t>
            </a:r>
            <a:r>
              <a:rPr kumimoji="0" lang="fr-FR" sz="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Délég</a:t>
            </a: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.</a:t>
            </a:r>
          </a:p>
        </p:txBody>
      </p:sp>
      <p:sp>
        <p:nvSpPr>
          <p:cNvPr id="193" name="BA_Q1">
            <a:extLst>
              <a:ext uri="{FF2B5EF4-FFF2-40B4-BE49-F238E27FC236}">
                <a16:creationId xmlns:a16="http://schemas.microsoft.com/office/drawing/2014/main" id="{EBAF699F-D1D8-9891-E56D-B94DB804FDF0}"/>
              </a:ext>
            </a:extLst>
          </p:cNvPr>
          <p:cNvSpPr/>
          <p:nvPr/>
        </p:nvSpPr>
        <p:spPr>
          <a:xfrm>
            <a:off x="8803280" y="3698914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Q1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API </a:t>
            </a:r>
            <a:r>
              <a:rPr kumimoji="0" lang="fr-FR" sz="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Déciséo</a:t>
            </a:r>
            <a:endParaRPr kumimoji="0" lang="fr-FR" sz="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4" name="BA_W1">
            <a:extLst>
              <a:ext uri="{FF2B5EF4-FFF2-40B4-BE49-F238E27FC236}">
                <a16:creationId xmlns:a16="http://schemas.microsoft.com/office/drawing/2014/main" id="{7C04BD05-F6AC-1691-5B98-26994405F229}"/>
              </a:ext>
            </a:extLst>
          </p:cNvPr>
          <p:cNvSpPr/>
          <p:nvPr/>
        </p:nvSpPr>
        <p:spPr>
          <a:xfrm>
            <a:off x="8114072" y="4023294"/>
            <a:ext cx="648000" cy="288000"/>
          </a:xfrm>
          <a:prstGeom prst="roundRect">
            <a:avLst/>
          </a:prstGeom>
          <a:solidFill>
            <a:srgbClr val="ED7D31"/>
          </a:solidFill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W1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API Signature</a:t>
            </a:r>
          </a:p>
        </p:txBody>
      </p:sp>
      <p:sp>
        <p:nvSpPr>
          <p:cNvPr id="195" name="BA_W2">
            <a:extLst>
              <a:ext uri="{FF2B5EF4-FFF2-40B4-BE49-F238E27FC236}">
                <a16:creationId xmlns:a16="http://schemas.microsoft.com/office/drawing/2014/main" id="{25B03255-7594-3C9E-1D92-A6D71F90D706}"/>
              </a:ext>
            </a:extLst>
          </p:cNvPr>
          <p:cNvSpPr/>
          <p:nvPr/>
        </p:nvSpPr>
        <p:spPr>
          <a:xfrm>
            <a:off x="8803280" y="4023294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W2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Clause </a:t>
            </a:r>
            <a:r>
              <a:rPr kumimoji="0" lang="fr-FR" sz="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Bénéf</a:t>
            </a: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.</a:t>
            </a:r>
          </a:p>
        </p:txBody>
      </p:sp>
      <p:sp>
        <p:nvSpPr>
          <p:cNvPr id="196" name="BA_W4">
            <a:extLst>
              <a:ext uri="{FF2B5EF4-FFF2-40B4-BE49-F238E27FC236}">
                <a16:creationId xmlns:a16="http://schemas.microsoft.com/office/drawing/2014/main" id="{ACFC7B81-9D27-4989-472E-DD0C49690AD4}"/>
              </a:ext>
            </a:extLst>
          </p:cNvPr>
          <p:cNvSpPr/>
          <p:nvPr/>
        </p:nvSpPr>
        <p:spPr>
          <a:xfrm>
            <a:off x="9490384" y="4047213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W4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Modif</a:t>
            </a: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. </a:t>
            </a:r>
            <a:r>
              <a:rPr kumimoji="0" lang="fr-FR" sz="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Gar</a:t>
            </a: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. </a:t>
            </a:r>
            <a:r>
              <a:rPr kumimoji="0" lang="fr-FR" sz="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Prév</a:t>
            </a: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.</a:t>
            </a:r>
          </a:p>
        </p:txBody>
      </p:sp>
      <p:sp>
        <p:nvSpPr>
          <p:cNvPr id="197" name="Gr_REFUC">
            <a:extLst>
              <a:ext uri="{FF2B5EF4-FFF2-40B4-BE49-F238E27FC236}">
                <a16:creationId xmlns:a16="http://schemas.microsoft.com/office/drawing/2014/main" id="{1B22088F-D18C-B503-0DCB-54B29239A5DC}"/>
              </a:ext>
            </a:extLst>
          </p:cNvPr>
          <p:cNvSpPr/>
          <p:nvPr/>
        </p:nvSpPr>
        <p:spPr>
          <a:xfrm>
            <a:off x="4497472" y="3115682"/>
            <a:ext cx="769204" cy="591273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  <a:effectLst>
            <a:outerShdw blurRad="50800" dist="38100" dir="2700000" algn="ctr" rotWithShape="0">
              <a:schemeClr val="tx1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/>
            </a:endParaRPr>
          </a:p>
        </p:txBody>
      </p:sp>
      <p:sp>
        <p:nvSpPr>
          <p:cNvPr id="198" name="ZT_REFUC">
            <a:extLst>
              <a:ext uri="{FF2B5EF4-FFF2-40B4-BE49-F238E27FC236}">
                <a16:creationId xmlns:a16="http://schemas.microsoft.com/office/drawing/2014/main" id="{9281A708-EC61-B875-5EF6-B1244933A1A2}"/>
              </a:ext>
            </a:extLst>
          </p:cNvPr>
          <p:cNvSpPr txBox="1"/>
          <p:nvPr/>
        </p:nvSpPr>
        <p:spPr>
          <a:xfrm>
            <a:off x="4585812" y="3143267"/>
            <a:ext cx="664123" cy="246221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REFUC</a:t>
            </a:r>
          </a:p>
        </p:txBody>
      </p:sp>
      <p:sp>
        <p:nvSpPr>
          <p:cNvPr id="199" name="BA_VL">
            <a:extLst>
              <a:ext uri="{FF2B5EF4-FFF2-40B4-BE49-F238E27FC236}">
                <a16:creationId xmlns:a16="http://schemas.microsoft.com/office/drawing/2014/main" id="{07B311E8-232A-1F8E-F875-717DA3562F91}"/>
              </a:ext>
            </a:extLst>
          </p:cNvPr>
          <p:cNvSpPr/>
          <p:nvPr/>
        </p:nvSpPr>
        <p:spPr>
          <a:xfrm>
            <a:off x="4562134" y="3360904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VL</a:t>
            </a:r>
            <a:endParaRPr kumimoji="0" lang="fr-FR" sz="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Référ</a:t>
            </a: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. UC</a:t>
            </a:r>
          </a:p>
        </p:txBody>
      </p:sp>
      <p:sp>
        <p:nvSpPr>
          <p:cNvPr id="200" name="Gr_EBX">
            <a:extLst>
              <a:ext uri="{FF2B5EF4-FFF2-40B4-BE49-F238E27FC236}">
                <a16:creationId xmlns:a16="http://schemas.microsoft.com/office/drawing/2014/main" id="{2471B12A-96D2-D204-B2CB-0474F5A824A2}"/>
              </a:ext>
            </a:extLst>
          </p:cNvPr>
          <p:cNvSpPr/>
          <p:nvPr/>
        </p:nvSpPr>
        <p:spPr>
          <a:xfrm>
            <a:off x="3593887" y="3113812"/>
            <a:ext cx="834318" cy="61200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  <a:effectLst>
            <a:outerShdw blurRad="50800" dist="38100" dir="2700000" algn="ctr" rotWithShape="0">
              <a:schemeClr val="tx1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/>
            </a:endParaRPr>
          </a:p>
        </p:txBody>
      </p:sp>
      <p:sp>
        <p:nvSpPr>
          <p:cNvPr id="201" name="ZT_EBX">
            <a:extLst>
              <a:ext uri="{FF2B5EF4-FFF2-40B4-BE49-F238E27FC236}">
                <a16:creationId xmlns:a16="http://schemas.microsoft.com/office/drawing/2014/main" id="{127705DC-60F5-D9DE-2725-57E8A3691C0B}"/>
              </a:ext>
            </a:extLst>
          </p:cNvPr>
          <p:cNvSpPr txBox="1"/>
          <p:nvPr/>
        </p:nvSpPr>
        <p:spPr>
          <a:xfrm>
            <a:off x="3603261" y="3141397"/>
            <a:ext cx="824943" cy="246221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EBX</a:t>
            </a:r>
          </a:p>
        </p:txBody>
      </p:sp>
      <p:sp>
        <p:nvSpPr>
          <p:cNvPr id="202" name="BA_EBX">
            <a:extLst>
              <a:ext uri="{FF2B5EF4-FFF2-40B4-BE49-F238E27FC236}">
                <a16:creationId xmlns:a16="http://schemas.microsoft.com/office/drawing/2014/main" id="{7436F295-1D7B-0937-EF24-C90F86654DEA}"/>
              </a:ext>
            </a:extLst>
          </p:cNvPr>
          <p:cNvSpPr/>
          <p:nvPr/>
        </p:nvSpPr>
        <p:spPr>
          <a:xfrm>
            <a:off x="3697255" y="3370753"/>
            <a:ext cx="648000" cy="276281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EBX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EBX-Platform</a:t>
            </a:r>
          </a:p>
        </p:txBody>
      </p:sp>
      <p:sp>
        <p:nvSpPr>
          <p:cNvPr id="203" name="ZoneProjet">
            <a:extLst>
              <a:ext uri="{FF2B5EF4-FFF2-40B4-BE49-F238E27FC236}">
                <a16:creationId xmlns:a16="http://schemas.microsoft.com/office/drawing/2014/main" id="{B58D85D3-5E2B-4D13-0444-1A0326E02183}"/>
              </a:ext>
            </a:extLst>
          </p:cNvPr>
          <p:cNvSpPr txBox="1"/>
          <p:nvPr/>
        </p:nvSpPr>
        <p:spPr>
          <a:xfrm>
            <a:off x="1181503" y="524643"/>
            <a:ext cx="1282402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>
            <a:defPPr>
              <a:defRPr lang="fr-FR"/>
            </a:defPPr>
            <a:lvl1pPr lvl="0" algn="ctr">
              <a:defRPr b="1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fr-FR" dirty="0"/>
              <a:t>VR </a:t>
            </a:r>
            <a:r>
              <a:rPr lang="fr-FR" dirty="0" err="1"/>
              <a:t>Selfcare</a:t>
            </a:r>
            <a:endParaRPr lang="fr-FR" dirty="0"/>
          </a:p>
        </p:txBody>
      </p:sp>
      <p:sp>
        <p:nvSpPr>
          <p:cNvPr id="204" name="ZT_Titre">
            <a:extLst>
              <a:ext uri="{FF2B5EF4-FFF2-40B4-BE49-F238E27FC236}">
                <a16:creationId xmlns:a16="http://schemas.microsoft.com/office/drawing/2014/main" id="{A8725865-787C-D643-A080-377FB455CC2E}"/>
              </a:ext>
            </a:extLst>
          </p:cNvPr>
          <p:cNvSpPr txBox="1"/>
          <p:nvPr/>
        </p:nvSpPr>
        <p:spPr>
          <a:xfrm>
            <a:off x="0" y="-124544"/>
            <a:ext cx="12192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800" b="0" i="0" u="none" strike="noStrike" kern="1200" cap="none" spc="0" normalizeH="0" baseline="0" noProof="0" dirty="0">
                <a:ln>
                  <a:noFill/>
                </a:ln>
                <a:solidFill>
                  <a:srgbClr val="5B9BD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Identification des composants applicatifs</a:t>
            </a:r>
          </a:p>
        </p:txBody>
      </p:sp>
      <p:sp>
        <p:nvSpPr>
          <p:cNvPr id="205" name="Gr_BDOC">
            <a:extLst>
              <a:ext uri="{FF2B5EF4-FFF2-40B4-BE49-F238E27FC236}">
                <a16:creationId xmlns:a16="http://schemas.microsoft.com/office/drawing/2014/main" id="{8ED57495-0080-D32F-3308-07915147928D}"/>
              </a:ext>
            </a:extLst>
          </p:cNvPr>
          <p:cNvSpPr/>
          <p:nvPr/>
        </p:nvSpPr>
        <p:spPr>
          <a:xfrm>
            <a:off x="5353697" y="3111592"/>
            <a:ext cx="744111" cy="61200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  <a:effectLst>
            <a:outerShdw blurRad="50800" dist="38100" dir="2700000" algn="ctr" rotWithShape="0">
              <a:schemeClr val="tx1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/>
            </a:endParaRPr>
          </a:p>
        </p:txBody>
      </p:sp>
      <p:sp>
        <p:nvSpPr>
          <p:cNvPr id="206" name="ZT_BDOC">
            <a:extLst>
              <a:ext uri="{FF2B5EF4-FFF2-40B4-BE49-F238E27FC236}">
                <a16:creationId xmlns:a16="http://schemas.microsoft.com/office/drawing/2014/main" id="{F9A029B1-135E-4898-93DE-AF49610AD66F}"/>
              </a:ext>
            </a:extLst>
          </p:cNvPr>
          <p:cNvSpPr txBox="1"/>
          <p:nvPr/>
        </p:nvSpPr>
        <p:spPr>
          <a:xfrm>
            <a:off x="5429887" y="3139177"/>
            <a:ext cx="623531" cy="246221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BDOC</a:t>
            </a:r>
          </a:p>
        </p:txBody>
      </p:sp>
      <p:sp>
        <p:nvSpPr>
          <p:cNvPr id="207" name="BA_BX">
            <a:extLst>
              <a:ext uri="{FF2B5EF4-FFF2-40B4-BE49-F238E27FC236}">
                <a16:creationId xmlns:a16="http://schemas.microsoft.com/office/drawing/2014/main" id="{99384A46-BF61-C71F-FBA7-AE8B9A6935E5}"/>
              </a:ext>
            </a:extLst>
          </p:cNvPr>
          <p:cNvSpPr/>
          <p:nvPr/>
        </p:nvSpPr>
        <p:spPr>
          <a:xfrm>
            <a:off x="5405378" y="3393901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BX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BDOC WEB</a:t>
            </a:r>
          </a:p>
        </p:txBody>
      </p:sp>
      <p:sp>
        <p:nvSpPr>
          <p:cNvPr id="208" name="ZT_MàJ">
            <a:extLst>
              <a:ext uri="{FF2B5EF4-FFF2-40B4-BE49-F238E27FC236}">
                <a16:creationId xmlns:a16="http://schemas.microsoft.com/office/drawing/2014/main" id="{292A4EA3-338E-0349-BFD0-CEDDDA40F823}"/>
              </a:ext>
            </a:extLst>
          </p:cNvPr>
          <p:cNvSpPr txBox="1"/>
          <p:nvPr/>
        </p:nvSpPr>
        <p:spPr>
          <a:xfrm>
            <a:off x="390525" y="6491355"/>
            <a:ext cx="169950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Mise à jour : xx/xx/2026</a:t>
            </a:r>
          </a:p>
        </p:txBody>
      </p:sp>
      <p:sp>
        <p:nvSpPr>
          <p:cNvPr id="209" name="ZT_Validité">
            <a:extLst>
              <a:ext uri="{FF2B5EF4-FFF2-40B4-BE49-F238E27FC236}">
                <a16:creationId xmlns:a16="http://schemas.microsoft.com/office/drawing/2014/main" id="{1B4DA883-8771-B266-C76A-E5996E4B6D83}"/>
              </a:ext>
            </a:extLst>
          </p:cNvPr>
          <p:cNvSpPr txBox="1"/>
          <p:nvPr/>
        </p:nvSpPr>
        <p:spPr>
          <a:xfrm>
            <a:off x="10479876" y="6501427"/>
            <a:ext cx="126444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Validité : T2 2026</a:t>
            </a:r>
          </a:p>
        </p:txBody>
      </p:sp>
      <p:sp>
        <p:nvSpPr>
          <p:cNvPr id="210" name="Légende_Comp3">
            <a:extLst>
              <a:ext uri="{FF2B5EF4-FFF2-40B4-BE49-F238E27FC236}">
                <a16:creationId xmlns:a16="http://schemas.microsoft.com/office/drawing/2014/main" id="{D70EA425-49D2-B441-9B66-DC0F6BB7CDED}"/>
              </a:ext>
            </a:extLst>
          </p:cNvPr>
          <p:cNvSpPr/>
          <p:nvPr/>
        </p:nvSpPr>
        <p:spPr>
          <a:xfrm>
            <a:off x="6567797" y="549933"/>
            <a:ext cx="1080000" cy="360000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Composant </a:t>
            </a:r>
            <a:b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créé ou modifié</a:t>
            </a:r>
          </a:p>
        </p:txBody>
      </p:sp>
      <p:sp>
        <p:nvSpPr>
          <p:cNvPr id="211" name="Légende_Comp2">
            <a:extLst>
              <a:ext uri="{FF2B5EF4-FFF2-40B4-BE49-F238E27FC236}">
                <a16:creationId xmlns:a16="http://schemas.microsoft.com/office/drawing/2014/main" id="{2CAFDFBA-582E-42B9-5C3A-6BFF6449B566}"/>
              </a:ext>
            </a:extLst>
          </p:cNvPr>
          <p:cNvSpPr/>
          <p:nvPr/>
        </p:nvSpPr>
        <p:spPr>
          <a:xfrm>
            <a:off x="5383906" y="547517"/>
            <a:ext cx="1080000" cy="360000"/>
          </a:xfrm>
          <a:prstGeom prst="round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Composant utilisé</a:t>
            </a:r>
          </a:p>
        </p:txBody>
      </p:sp>
      <p:sp>
        <p:nvSpPr>
          <p:cNvPr id="212" name="Légende_Comp1">
            <a:extLst>
              <a:ext uri="{FF2B5EF4-FFF2-40B4-BE49-F238E27FC236}">
                <a16:creationId xmlns:a16="http://schemas.microsoft.com/office/drawing/2014/main" id="{CFCFD006-2E73-A0E7-6618-45B51FAD1B1E}"/>
              </a:ext>
            </a:extLst>
          </p:cNvPr>
          <p:cNvSpPr/>
          <p:nvPr/>
        </p:nvSpPr>
        <p:spPr>
          <a:xfrm>
            <a:off x="4200015" y="542942"/>
            <a:ext cx="1080000" cy="360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Composant non exploité</a:t>
            </a:r>
          </a:p>
        </p:txBody>
      </p:sp>
      <p:sp>
        <p:nvSpPr>
          <p:cNvPr id="213" name="BA_T2">
            <a:extLst>
              <a:ext uri="{FF2B5EF4-FFF2-40B4-BE49-F238E27FC236}">
                <a16:creationId xmlns:a16="http://schemas.microsoft.com/office/drawing/2014/main" id="{EE2BAE40-3EBD-7596-940A-82402F715554}"/>
              </a:ext>
            </a:extLst>
          </p:cNvPr>
          <p:cNvSpPr/>
          <p:nvPr/>
        </p:nvSpPr>
        <p:spPr>
          <a:xfrm>
            <a:off x="9490384" y="3696185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T2</a:t>
            </a:r>
            <a:endParaRPr kumimoji="0" lang="fr-FR" sz="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KConnect</a:t>
            </a: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 MUTU</a:t>
            </a:r>
          </a:p>
        </p:txBody>
      </p:sp>
      <p:sp>
        <p:nvSpPr>
          <p:cNvPr id="214" name="BA_T3">
            <a:extLst>
              <a:ext uri="{FF2B5EF4-FFF2-40B4-BE49-F238E27FC236}">
                <a16:creationId xmlns:a16="http://schemas.microsoft.com/office/drawing/2014/main" id="{6204200C-3D36-02B8-A1EA-30AF713697A4}"/>
              </a:ext>
            </a:extLst>
          </p:cNvPr>
          <p:cNvSpPr/>
          <p:nvPr/>
        </p:nvSpPr>
        <p:spPr>
          <a:xfrm>
            <a:off x="10160477" y="3696185"/>
            <a:ext cx="648000" cy="288000"/>
          </a:xfrm>
          <a:prstGeom prst="roundRect">
            <a:avLst/>
          </a:prstGeom>
          <a:solidFill>
            <a:srgbClr val="ED7D3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T3</a:t>
            </a:r>
            <a:endParaRPr kumimoji="0" lang="fr-FR" sz="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KConnect</a:t>
            </a: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 CAA</a:t>
            </a:r>
          </a:p>
        </p:txBody>
      </p:sp>
      <p:sp>
        <p:nvSpPr>
          <p:cNvPr id="215" name="BA_F8">
            <a:extLst>
              <a:ext uri="{FF2B5EF4-FFF2-40B4-BE49-F238E27FC236}">
                <a16:creationId xmlns:a16="http://schemas.microsoft.com/office/drawing/2014/main" id="{A448E5B7-2616-B686-3AF8-06069F82B38A}"/>
              </a:ext>
            </a:extLst>
          </p:cNvPr>
          <p:cNvSpPr/>
          <p:nvPr/>
        </p:nvSpPr>
        <p:spPr>
          <a:xfrm>
            <a:off x="8803280" y="2047150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F8</a:t>
            </a:r>
            <a:endParaRPr kumimoji="0" lang="fr-FR" sz="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API MOOP</a:t>
            </a:r>
          </a:p>
        </p:txBody>
      </p:sp>
      <p:sp>
        <p:nvSpPr>
          <p:cNvPr id="216" name="Gr_ETL">
            <a:extLst>
              <a:ext uri="{FF2B5EF4-FFF2-40B4-BE49-F238E27FC236}">
                <a16:creationId xmlns:a16="http://schemas.microsoft.com/office/drawing/2014/main" id="{90AF228D-8E15-848C-F7AB-B23A23EAA5BA}"/>
              </a:ext>
            </a:extLst>
          </p:cNvPr>
          <p:cNvSpPr/>
          <p:nvPr/>
        </p:nvSpPr>
        <p:spPr>
          <a:xfrm>
            <a:off x="1617823" y="2849127"/>
            <a:ext cx="862923" cy="561929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  <a:effectLst>
            <a:outerShdw blurRad="50800" dist="38100" dir="2700000" algn="ctr" rotWithShape="0">
              <a:schemeClr val="tx1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/>
            </a:endParaRPr>
          </a:p>
        </p:txBody>
      </p:sp>
      <p:sp>
        <p:nvSpPr>
          <p:cNvPr id="217" name="ZT_ETL">
            <a:extLst>
              <a:ext uri="{FF2B5EF4-FFF2-40B4-BE49-F238E27FC236}">
                <a16:creationId xmlns:a16="http://schemas.microsoft.com/office/drawing/2014/main" id="{4F7A0704-1553-8D73-3013-439C8676803A}"/>
              </a:ext>
            </a:extLst>
          </p:cNvPr>
          <p:cNvSpPr txBox="1"/>
          <p:nvPr/>
        </p:nvSpPr>
        <p:spPr>
          <a:xfrm>
            <a:off x="1611935" y="2858784"/>
            <a:ext cx="898650" cy="246221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ETL</a:t>
            </a:r>
          </a:p>
        </p:txBody>
      </p:sp>
      <p:sp>
        <p:nvSpPr>
          <p:cNvPr id="218" name="BA_PWC2">
            <a:extLst>
              <a:ext uri="{FF2B5EF4-FFF2-40B4-BE49-F238E27FC236}">
                <a16:creationId xmlns:a16="http://schemas.microsoft.com/office/drawing/2014/main" id="{260249DF-2B7F-0E01-ED5F-A3F61ED467C8}"/>
              </a:ext>
            </a:extLst>
          </p:cNvPr>
          <p:cNvSpPr/>
          <p:nvPr/>
        </p:nvSpPr>
        <p:spPr>
          <a:xfrm>
            <a:off x="1715817" y="3076593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PWC2</a:t>
            </a:r>
            <a:endParaRPr kumimoji="0" lang="fr-FR" sz="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ETL PREDICA</a:t>
            </a:r>
          </a:p>
        </p:txBody>
      </p:sp>
      <p:sp>
        <p:nvSpPr>
          <p:cNvPr id="219" name="Légende_Date1">
            <a:extLst>
              <a:ext uri="{FF2B5EF4-FFF2-40B4-BE49-F238E27FC236}">
                <a16:creationId xmlns:a16="http://schemas.microsoft.com/office/drawing/2014/main" id="{02E13D4A-2229-CAEE-CDEA-1ED90A5349D2}"/>
              </a:ext>
            </a:extLst>
          </p:cNvPr>
          <p:cNvSpPr txBox="1"/>
          <p:nvPr/>
        </p:nvSpPr>
        <p:spPr>
          <a:xfrm rot="19102564">
            <a:off x="7647306" y="559123"/>
            <a:ext cx="927160" cy="369332"/>
          </a:xfrm>
          <a:prstGeom prst="rect">
            <a:avLst/>
          </a:prstGeom>
          <a:noFill/>
          <a:ln cap="flat">
            <a:noFill/>
            <a:prstDash val="solid"/>
          </a:ln>
          <a:effectLst>
            <a:softEdge rad="0"/>
          </a:effectLst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900" b="0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Date de </a:t>
            </a:r>
            <a:r>
              <a:rPr kumimoji="0" lang="fr-FR" sz="900" b="0" i="0" u="none" strike="noStrike" kern="1200" cap="none" spc="0" normalizeH="0" baseline="0" noProof="0" dirty="0" err="1">
                <a:ln>
                  <a:noFill/>
                </a:ln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MeP</a:t>
            </a:r>
            <a:r>
              <a:rPr kumimoji="0" lang="fr-FR" sz="900" b="0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 prévue</a:t>
            </a:r>
          </a:p>
        </p:txBody>
      </p:sp>
      <p:sp>
        <p:nvSpPr>
          <p:cNvPr id="222" name="Légende_Date2">
            <a:extLst>
              <a:ext uri="{FF2B5EF4-FFF2-40B4-BE49-F238E27FC236}">
                <a16:creationId xmlns:a16="http://schemas.microsoft.com/office/drawing/2014/main" id="{46AC3732-412E-3B31-7AC2-9DD4051EB318}"/>
              </a:ext>
            </a:extLst>
          </p:cNvPr>
          <p:cNvSpPr txBox="1"/>
          <p:nvPr/>
        </p:nvSpPr>
        <p:spPr>
          <a:xfrm rot="19102564">
            <a:off x="8343008" y="568799"/>
            <a:ext cx="927160" cy="369332"/>
          </a:xfrm>
          <a:prstGeom prst="rect">
            <a:avLst/>
          </a:prstGeom>
          <a:noFill/>
          <a:ln cap="flat">
            <a:noFill/>
            <a:prstDash val="solid"/>
          </a:ln>
          <a:effectLst>
            <a:softEdge rad="0"/>
          </a:effectLst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900" b="0" i="0" u="none" strike="noStrike" kern="1200" cap="none" spc="0" normalizeH="0" baseline="0" noProof="0" dirty="0">
                <a:ln>
                  <a:noFill/>
                </a:ln>
                <a:solidFill>
                  <a:srgbClr val="70AD4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Date de </a:t>
            </a:r>
            <a:r>
              <a:rPr kumimoji="0" lang="fr-FR" sz="900" b="0" i="0" u="none" strike="noStrike" kern="1200" cap="none" spc="0" normalizeH="0" baseline="0" noProof="0" dirty="0" err="1">
                <a:ln>
                  <a:noFill/>
                </a:ln>
                <a:solidFill>
                  <a:srgbClr val="70AD4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MeP</a:t>
            </a:r>
            <a:r>
              <a:rPr kumimoji="0" lang="fr-FR" sz="900" b="0" i="0" u="none" strike="noStrike" kern="1200" cap="none" spc="0" normalizeH="0" baseline="0" noProof="0" dirty="0">
                <a:ln>
                  <a:noFill/>
                </a:ln>
                <a:solidFill>
                  <a:srgbClr val="70AD4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 effective</a:t>
            </a:r>
          </a:p>
        </p:txBody>
      </p:sp>
      <p:sp>
        <p:nvSpPr>
          <p:cNvPr id="223" name="Gr_CATS">
            <a:extLst>
              <a:ext uri="{FF2B5EF4-FFF2-40B4-BE49-F238E27FC236}">
                <a16:creationId xmlns:a16="http://schemas.microsoft.com/office/drawing/2014/main" id="{617E571F-DCCF-0430-2FB5-254C10D5CDF1}"/>
              </a:ext>
            </a:extLst>
          </p:cNvPr>
          <p:cNvSpPr/>
          <p:nvPr/>
        </p:nvSpPr>
        <p:spPr>
          <a:xfrm>
            <a:off x="447324" y="5119889"/>
            <a:ext cx="5579420" cy="1254012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4" name="ZT_CATS">
            <a:extLst>
              <a:ext uri="{FF2B5EF4-FFF2-40B4-BE49-F238E27FC236}">
                <a16:creationId xmlns:a16="http://schemas.microsoft.com/office/drawing/2014/main" id="{869AAB2E-C33F-743E-FA97-256B37ED9AF2}"/>
              </a:ext>
            </a:extLst>
          </p:cNvPr>
          <p:cNvSpPr txBox="1"/>
          <p:nvPr/>
        </p:nvSpPr>
        <p:spPr>
          <a:xfrm>
            <a:off x="370835" y="5083258"/>
            <a:ext cx="5409144" cy="246221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CA-TS</a:t>
            </a:r>
            <a:endParaRPr kumimoji="0" lang="fr-FR" sz="1000" b="1" i="1" u="none" strike="noStrike" kern="1200" cap="none" spc="0" normalizeH="0" baseline="0" noProof="0" dirty="0">
              <a:ln>
                <a:noFill/>
              </a:ln>
              <a:solidFill>
                <a:srgbClr val="7030A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5" name="BA_PDI9">
            <a:extLst>
              <a:ext uri="{FF2B5EF4-FFF2-40B4-BE49-F238E27FC236}">
                <a16:creationId xmlns:a16="http://schemas.microsoft.com/office/drawing/2014/main" id="{3ABC7047-C78E-A940-3285-F477FDB2546B}"/>
              </a:ext>
            </a:extLst>
          </p:cNvPr>
          <p:cNvSpPr/>
          <p:nvPr/>
        </p:nvSpPr>
        <p:spPr>
          <a:xfrm>
            <a:off x="506780" y="5666800"/>
            <a:ext cx="648000" cy="288000"/>
          </a:xfrm>
          <a:prstGeom prst="roundRect">
            <a:avLst/>
          </a:prstGeom>
          <a:solidFill>
            <a:srgbClr val="B6D3EC"/>
          </a:solidFill>
          <a:ln w="6350"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PDI9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6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/>
              </a:rPr>
              <a:t>-</a:t>
            </a:r>
            <a:endParaRPr kumimoji="0" lang="fr-FR" sz="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6" name="BA_XConnect">
            <a:extLst>
              <a:ext uri="{FF2B5EF4-FFF2-40B4-BE49-F238E27FC236}">
                <a16:creationId xmlns:a16="http://schemas.microsoft.com/office/drawing/2014/main" id="{58F8527C-4AC9-041C-A9BC-30DF379FAC7D}"/>
              </a:ext>
            </a:extLst>
          </p:cNvPr>
          <p:cNvSpPr/>
          <p:nvPr/>
        </p:nvSpPr>
        <p:spPr>
          <a:xfrm>
            <a:off x="1189563" y="5663009"/>
            <a:ext cx="648000" cy="288000"/>
          </a:xfrm>
          <a:prstGeom prst="roundRect">
            <a:avLst/>
          </a:prstGeom>
          <a:solidFill>
            <a:srgbClr val="B6D3EC"/>
          </a:solidFill>
          <a:ln w="6350"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Xconnect</a:t>
            </a:r>
            <a:endParaRPr kumimoji="0" lang="fr-FR" sz="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6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/>
              </a:rPr>
              <a:t>-</a:t>
            </a:r>
            <a:endParaRPr kumimoji="0" lang="fr-FR" sz="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7" name="BA_SIMM">
            <a:extLst>
              <a:ext uri="{FF2B5EF4-FFF2-40B4-BE49-F238E27FC236}">
                <a16:creationId xmlns:a16="http://schemas.microsoft.com/office/drawing/2014/main" id="{2D4065A9-69F8-BF25-753C-30C311D97DE1}"/>
              </a:ext>
            </a:extLst>
          </p:cNvPr>
          <p:cNvSpPr/>
          <p:nvPr/>
        </p:nvSpPr>
        <p:spPr>
          <a:xfrm>
            <a:off x="2557693" y="5660385"/>
            <a:ext cx="648000" cy="288000"/>
          </a:xfrm>
          <a:prstGeom prst="roundRect">
            <a:avLst/>
          </a:prstGeom>
          <a:solidFill>
            <a:srgbClr val="B6D3EC"/>
          </a:solidFill>
          <a:ln w="6350"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SIMM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6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/>
              </a:rPr>
              <a:t>-</a:t>
            </a:r>
            <a:endParaRPr kumimoji="0" lang="fr-FR" sz="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8" name="BA_BAM">
            <a:extLst>
              <a:ext uri="{FF2B5EF4-FFF2-40B4-BE49-F238E27FC236}">
                <a16:creationId xmlns:a16="http://schemas.microsoft.com/office/drawing/2014/main" id="{297E6F23-B765-A627-E148-E6F5EE54CA15}"/>
              </a:ext>
            </a:extLst>
          </p:cNvPr>
          <p:cNvSpPr/>
          <p:nvPr/>
        </p:nvSpPr>
        <p:spPr>
          <a:xfrm>
            <a:off x="2833493" y="5340532"/>
            <a:ext cx="648000" cy="288000"/>
          </a:xfrm>
          <a:prstGeom prst="roundRect">
            <a:avLst/>
          </a:prstGeom>
          <a:solidFill>
            <a:srgbClr val="B6D3EC"/>
          </a:solidFill>
          <a:ln w="6350"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BAM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6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/>
              </a:rPr>
              <a:t>-</a:t>
            </a:r>
            <a:endParaRPr kumimoji="0" lang="fr-FR" sz="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9" name="BA_RAC">
            <a:extLst>
              <a:ext uri="{FF2B5EF4-FFF2-40B4-BE49-F238E27FC236}">
                <a16:creationId xmlns:a16="http://schemas.microsoft.com/office/drawing/2014/main" id="{C62FF476-7F6A-AA68-47E4-7B894037D7BF}"/>
              </a:ext>
            </a:extLst>
          </p:cNvPr>
          <p:cNvSpPr/>
          <p:nvPr/>
        </p:nvSpPr>
        <p:spPr>
          <a:xfrm>
            <a:off x="4892893" y="5338051"/>
            <a:ext cx="648000" cy="288000"/>
          </a:xfrm>
          <a:prstGeom prst="roundRect">
            <a:avLst/>
          </a:prstGeom>
          <a:solidFill>
            <a:srgbClr val="B6D3EC"/>
          </a:solidFill>
          <a:ln w="6350"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RAC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6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/>
              </a:rPr>
              <a:t>-</a:t>
            </a:r>
            <a:endParaRPr kumimoji="0" lang="fr-FR" sz="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0" name="BA_DétContratNatifMB">
            <a:extLst>
              <a:ext uri="{FF2B5EF4-FFF2-40B4-BE49-F238E27FC236}">
                <a16:creationId xmlns:a16="http://schemas.microsoft.com/office/drawing/2014/main" id="{B7B788FA-AD51-F894-1FA2-3DC18227C195}"/>
              </a:ext>
            </a:extLst>
          </p:cNvPr>
          <p:cNvSpPr/>
          <p:nvPr/>
        </p:nvSpPr>
        <p:spPr>
          <a:xfrm>
            <a:off x="506780" y="5329301"/>
            <a:ext cx="1326281" cy="288000"/>
          </a:xfrm>
          <a:prstGeom prst="roundRect">
            <a:avLst/>
          </a:prstGeom>
          <a:solidFill>
            <a:srgbClr val="B6D3EC"/>
          </a:solidFill>
          <a:ln w="6350"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Dét</a:t>
            </a: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. Contrat natif MB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6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/>
              </a:rPr>
              <a:t>-</a:t>
            </a:r>
            <a:endParaRPr kumimoji="0" lang="fr-FR" sz="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1" name="BA_BPM">
            <a:extLst>
              <a:ext uri="{FF2B5EF4-FFF2-40B4-BE49-F238E27FC236}">
                <a16:creationId xmlns:a16="http://schemas.microsoft.com/office/drawing/2014/main" id="{46D1CAC3-8A34-9BA8-A762-5475F660C38B}"/>
              </a:ext>
            </a:extLst>
          </p:cNvPr>
          <p:cNvSpPr/>
          <p:nvPr/>
        </p:nvSpPr>
        <p:spPr>
          <a:xfrm>
            <a:off x="1875772" y="5663009"/>
            <a:ext cx="648000" cy="288000"/>
          </a:xfrm>
          <a:prstGeom prst="roundRect">
            <a:avLst/>
          </a:prstGeom>
          <a:solidFill>
            <a:srgbClr val="B6D3EC"/>
          </a:solidFill>
          <a:ln w="6350"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BPM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6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/>
              </a:rPr>
              <a:t>-</a:t>
            </a:r>
            <a:endParaRPr kumimoji="0" lang="fr-FR" sz="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2" name="BA_APX9">
            <a:extLst>
              <a:ext uri="{FF2B5EF4-FFF2-40B4-BE49-F238E27FC236}">
                <a16:creationId xmlns:a16="http://schemas.microsoft.com/office/drawing/2014/main" id="{9DE678B7-5D04-A1BD-E272-182A70323E55}"/>
              </a:ext>
            </a:extLst>
          </p:cNvPr>
          <p:cNvSpPr/>
          <p:nvPr/>
        </p:nvSpPr>
        <p:spPr>
          <a:xfrm>
            <a:off x="511818" y="6003252"/>
            <a:ext cx="648000" cy="288000"/>
          </a:xfrm>
          <a:prstGeom prst="roundRect">
            <a:avLst/>
          </a:prstGeom>
          <a:solidFill>
            <a:srgbClr val="B6D3EC"/>
          </a:solidFill>
          <a:ln w="6350"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APX9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6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/>
              </a:rPr>
              <a:t>-</a:t>
            </a:r>
            <a:endParaRPr kumimoji="0" lang="fr-FR" sz="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3" name="BA_HUB">
            <a:extLst>
              <a:ext uri="{FF2B5EF4-FFF2-40B4-BE49-F238E27FC236}">
                <a16:creationId xmlns:a16="http://schemas.microsoft.com/office/drawing/2014/main" id="{660A682F-8296-8F30-5909-AFB6FE6E478F}"/>
              </a:ext>
            </a:extLst>
          </p:cNvPr>
          <p:cNvSpPr/>
          <p:nvPr/>
        </p:nvSpPr>
        <p:spPr>
          <a:xfrm>
            <a:off x="3242082" y="5660385"/>
            <a:ext cx="648000" cy="288000"/>
          </a:xfrm>
          <a:prstGeom prst="roundRect">
            <a:avLst/>
          </a:prstGeom>
          <a:solidFill>
            <a:srgbClr val="B6D3EC"/>
          </a:solidFill>
          <a:ln w="6350"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HUB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6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/>
              </a:rPr>
              <a:t>-</a:t>
            </a:r>
            <a:endParaRPr kumimoji="0" lang="fr-FR" sz="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4" name="BA_NPC">
            <a:extLst>
              <a:ext uri="{FF2B5EF4-FFF2-40B4-BE49-F238E27FC236}">
                <a16:creationId xmlns:a16="http://schemas.microsoft.com/office/drawing/2014/main" id="{DED6EAB0-5C2A-8DEB-44F0-1D3E6198969C}"/>
              </a:ext>
            </a:extLst>
          </p:cNvPr>
          <p:cNvSpPr/>
          <p:nvPr/>
        </p:nvSpPr>
        <p:spPr>
          <a:xfrm>
            <a:off x="3515693" y="5337169"/>
            <a:ext cx="648000" cy="288000"/>
          </a:xfrm>
          <a:prstGeom prst="roundRect">
            <a:avLst/>
          </a:prstGeom>
          <a:solidFill>
            <a:srgbClr val="B6D3EC"/>
          </a:solidFill>
          <a:ln w="6350"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NPC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6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/>
              </a:rPr>
              <a:t>-</a:t>
            </a:r>
            <a:endParaRPr kumimoji="0" lang="fr-FR" sz="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5" name="BA_Microservices">
            <a:extLst>
              <a:ext uri="{FF2B5EF4-FFF2-40B4-BE49-F238E27FC236}">
                <a16:creationId xmlns:a16="http://schemas.microsoft.com/office/drawing/2014/main" id="{C0C9FEEB-482C-FC8A-E366-35DE70B7B83C}"/>
              </a:ext>
            </a:extLst>
          </p:cNvPr>
          <p:cNvSpPr/>
          <p:nvPr/>
        </p:nvSpPr>
        <p:spPr>
          <a:xfrm>
            <a:off x="1867224" y="5336000"/>
            <a:ext cx="925408" cy="288000"/>
          </a:xfrm>
          <a:prstGeom prst="roundRect">
            <a:avLst/>
          </a:prstGeom>
          <a:solidFill>
            <a:srgbClr val="B6D3EC"/>
          </a:solidFill>
          <a:ln w="6350"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Microservices</a:t>
            </a:r>
            <a:endParaRPr kumimoji="0" lang="fr-FR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6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/>
              </a:rPr>
              <a:t>-</a:t>
            </a:r>
            <a:endParaRPr kumimoji="0" lang="fr-FR" sz="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6" name="BA_SIG9">
            <a:extLst>
              <a:ext uri="{FF2B5EF4-FFF2-40B4-BE49-F238E27FC236}">
                <a16:creationId xmlns:a16="http://schemas.microsoft.com/office/drawing/2014/main" id="{89ECBF62-0188-1A03-A2D1-FB2D2F4714D3}"/>
              </a:ext>
            </a:extLst>
          </p:cNvPr>
          <p:cNvSpPr/>
          <p:nvPr/>
        </p:nvSpPr>
        <p:spPr>
          <a:xfrm>
            <a:off x="4203138" y="5331299"/>
            <a:ext cx="648000" cy="288000"/>
          </a:xfrm>
          <a:prstGeom prst="roundRect">
            <a:avLst/>
          </a:prstGeom>
          <a:solidFill>
            <a:srgbClr val="B6D3EC"/>
          </a:solidFill>
          <a:ln w="6350"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SIG9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6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/>
              </a:rPr>
              <a:t>-</a:t>
            </a:r>
            <a:endParaRPr kumimoji="0" lang="fr-FR" sz="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7" name="Gr_MVS">
            <a:extLst>
              <a:ext uri="{FF2B5EF4-FFF2-40B4-BE49-F238E27FC236}">
                <a16:creationId xmlns:a16="http://schemas.microsoft.com/office/drawing/2014/main" id="{DE1CB5FB-E2B7-2631-91B2-A3834CC409B5}"/>
              </a:ext>
            </a:extLst>
          </p:cNvPr>
          <p:cNvSpPr/>
          <p:nvPr/>
        </p:nvSpPr>
        <p:spPr>
          <a:xfrm>
            <a:off x="560497" y="1111645"/>
            <a:ext cx="2901105" cy="1661382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  <a:effectLst>
            <a:outerShdw blurRad="50800" dist="38100" dir="2700000" algn="ctr" rotWithShape="0">
              <a:schemeClr val="tx1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/>
            </a:endParaRPr>
          </a:p>
        </p:txBody>
      </p:sp>
      <p:sp>
        <p:nvSpPr>
          <p:cNvPr id="238" name="BA_CICS_LCL">
            <a:extLst>
              <a:ext uri="{FF2B5EF4-FFF2-40B4-BE49-F238E27FC236}">
                <a16:creationId xmlns:a16="http://schemas.microsoft.com/office/drawing/2014/main" id="{130C7AB6-6FC2-D446-436E-72120FD10303}"/>
              </a:ext>
            </a:extLst>
          </p:cNvPr>
          <p:cNvSpPr/>
          <p:nvPr/>
        </p:nvSpPr>
        <p:spPr>
          <a:xfrm>
            <a:off x="623669" y="1641943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CICS</a:t>
            </a:r>
          </a:p>
        </p:txBody>
      </p:sp>
      <p:sp>
        <p:nvSpPr>
          <p:cNvPr id="239" name="BA_DB2_LCL">
            <a:extLst>
              <a:ext uri="{FF2B5EF4-FFF2-40B4-BE49-F238E27FC236}">
                <a16:creationId xmlns:a16="http://schemas.microsoft.com/office/drawing/2014/main" id="{91FF24E6-F101-5E2B-638A-A4E7BE7878E7}"/>
              </a:ext>
            </a:extLst>
          </p:cNvPr>
          <p:cNvSpPr/>
          <p:nvPr/>
        </p:nvSpPr>
        <p:spPr>
          <a:xfrm>
            <a:off x="1307275" y="1641222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DB2</a:t>
            </a:r>
          </a:p>
        </p:txBody>
      </p:sp>
      <p:sp>
        <p:nvSpPr>
          <p:cNvPr id="240" name="ZT_MVS">
            <a:extLst>
              <a:ext uri="{FF2B5EF4-FFF2-40B4-BE49-F238E27FC236}">
                <a16:creationId xmlns:a16="http://schemas.microsoft.com/office/drawing/2014/main" id="{E67C698E-BB42-AA25-7307-1D10DAE97F33}"/>
              </a:ext>
            </a:extLst>
          </p:cNvPr>
          <p:cNvSpPr txBox="1"/>
          <p:nvPr/>
        </p:nvSpPr>
        <p:spPr>
          <a:xfrm>
            <a:off x="560496" y="1111645"/>
            <a:ext cx="2901106" cy="246221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MVS Z/OS (</a:t>
            </a:r>
            <a:r>
              <a:rPr kumimoji="0" lang="fr-FR" sz="1000" b="1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Ingenium</a:t>
            </a:r>
            <a:r>
              <a:rPr kumimoji="0" lang="fr-FR" sz="1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)</a:t>
            </a:r>
            <a:endParaRPr kumimoji="0" lang="fr-FR" sz="1000" b="1" i="1" u="none" strike="noStrike" kern="1200" cap="none" spc="0" normalizeH="0" baseline="0" noProof="0" dirty="0">
              <a:ln>
                <a:noFill/>
              </a:ln>
              <a:solidFill>
                <a:srgbClr val="ED7D3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1" name="BA_ING_CA">
            <a:extLst>
              <a:ext uri="{FF2B5EF4-FFF2-40B4-BE49-F238E27FC236}">
                <a16:creationId xmlns:a16="http://schemas.microsoft.com/office/drawing/2014/main" id="{3FCC6DE8-42BA-7E0F-414A-EC093FC396E2}"/>
              </a:ext>
            </a:extLst>
          </p:cNvPr>
          <p:cNvSpPr/>
          <p:nvPr/>
        </p:nvSpPr>
        <p:spPr>
          <a:xfrm>
            <a:off x="2043446" y="1970146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INVI/VC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Ingenium</a:t>
            </a: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 CA</a:t>
            </a:r>
          </a:p>
        </p:txBody>
      </p:sp>
      <p:sp>
        <p:nvSpPr>
          <p:cNvPr id="242" name="BA_PE_CA">
            <a:extLst>
              <a:ext uri="{FF2B5EF4-FFF2-40B4-BE49-F238E27FC236}">
                <a16:creationId xmlns:a16="http://schemas.microsoft.com/office/drawing/2014/main" id="{6FBC61B3-422E-5141-9561-F5A497939DE1}"/>
              </a:ext>
            </a:extLst>
          </p:cNvPr>
          <p:cNvSpPr/>
          <p:nvPr/>
        </p:nvSpPr>
        <p:spPr>
          <a:xfrm>
            <a:off x="2716487" y="1971824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PE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Base Pers CA</a:t>
            </a:r>
          </a:p>
        </p:txBody>
      </p:sp>
      <p:sp>
        <p:nvSpPr>
          <p:cNvPr id="243" name="BA_Autre_CA">
            <a:extLst>
              <a:ext uri="{FF2B5EF4-FFF2-40B4-BE49-F238E27FC236}">
                <a16:creationId xmlns:a16="http://schemas.microsoft.com/office/drawing/2014/main" id="{78F52792-828B-75AB-B772-87BA1EDED585}"/>
              </a:ext>
            </a:extLst>
          </p:cNvPr>
          <p:cNvSpPr/>
          <p:nvPr/>
        </p:nvSpPr>
        <p:spPr>
          <a:xfrm>
            <a:off x="2377796" y="2309491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…</a:t>
            </a:r>
          </a:p>
        </p:txBody>
      </p:sp>
      <p:sp>
        <p:nvSpPr>
          <p:cNvPr id="244" name="BA_ING_LCL">
            <a:extLst>
              <a:ext uri="{FF2B5EF4-FFF2-40B4-BE49-F238E27FC236}">
                <a16:creationId xmlns:a16="http://schemas.microsoft.com/office/drawing/2014/main" id="{6F0249CE-827C-9983-9089-72BDFA7CB1DD}"/>
              </a:ext>
            </a:extLst>
          </p:cNvPr>
          <p:cNvSpPr/>
          <p:nvPr/>
        </p:nvSpPr>
        <p:spPr>
          <a:xfrm>
            <a:off x="619469" y="1964817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INVI/VC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Ingenium</a:t>
            </a: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 LCL</a:t>
            </a:r>
          </a:p>
        </p:txBody>
      </p:sp>
      <p:sp>
        <p:nvSpPr>
          <p:cNvPr id="245" name="BA_PE_LCL">
            <a:extLst>
              <a:ext uri="{FF2B5EF4-FFF2-40B4-BE49-F238E27FC236}">
                <a16:creationId xmlns:a16="http://schemas.microsoft.com/office/drawing/2014/main" id="{AA2AF30B-9DD6-D929-B15E-A2E3AF6E73BF}"/>
              </a:ext>
            </a:extLst>
          </p:cNvPr>
          <p:cNvSpPr/>
          <p:nvPr/>
        </p:nvSpPr>
        <p:spPr>
          <a:xfrm>
            <a:off x="1305439" y="1963152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PE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Base Pers LCL</a:t>
            </a:r>
          </a:p>
        </p:txBody>
      </p:sp>
      <p:sp>
        <p:nvSpPr>
          <p:cNvPr id="246" name="BA_Autre_LCL">
            <a:extLst>
              <a:ext uri="{FF2B5EF4-FFF2-40B4-BE49-F238E27FC236}">
                <a16:creationId xmlns:a16="http://schemas.microsoft.com/office/drawing/2014/main" id="{7EFF8A06-9695-9DDE-1E72-8A3ECC5445C8}"/>
              </a:ext>
            </a:extLst>
          </p:cNvPr>
          <p:cNvSpPr/>
          <p:nvPr/>
        </p:nvSpPr>
        <p:spPr>
          <a:xfrm>
            <a:off x="1010215" y="2285082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…</a:t>
            </a:r>
          </a:p>
        </p:txBody>
      </p:sp>
      <p:cxnSp>
        <p:nvCxnSpPr>
          <p:cNvPr id="247" name="Connecteur droit">
            <a:extLst>
              <a:ext uri="{FF2B5EF4-FFF2-40B4-BE49-F238E27FC236}">
                <a16:creationId xmlns:a16="http://schemas.microsoft.com/office/drawing/2014/main" id="{0F72AEE3-2270-5473-A1E5-BFB8E8E9FAAF}"/>
              </a:ext>
            </a:extLst>
          </p:cNvPr>
          <p:cNvCxnSpPr/>
          <p:nvPr/>
        </p:nvCxnSpPr>
        <p:spPr>
          <a:xfrm>
            <a:off x="1984365" y="1430388"/>
            <a:ext cx="4993" cy="1220450"/>
          </a:xfrm>
          <a:prstGeom prst="line">
            <a:avLst/>
          </a:prstGeom>
          <a:ln w="9525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8" name="ZT_CA">
            <a:extLst>
              <a:ext uri="{FF2B5EF4-FFF2-40B4-BE49-F238E27FC236}">
                <a16:creationId xmlns:a16="http://schemas.microsoft.com/office/drawing/2014/main" id="{F835F128-C2B2-4A63-16B9-6BAD50EFA831}"/>
              </a:ext>
            </a:extLst>
          </p:cNvPr>
          <p:cNvSpPr txBox="1"/>
          <p:nvPr/>
        </p:nvSpPr>
        <p:spPr>
          <a:xfrm>
            <a:off x="2418813" y="1371697"/>
            <a:ext cx="551086" cy="246221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CA</a:t>
            </a:r>
            <a:endParaRPr kumimoji="0" lang="fr-FR" sz="1000" b="1" i="1" u="none" strike="noStrike" kern="1200" cap="none" spc="0" normalizeH="0" baseline="0" noProof="0" dirty="0">
              <a:ln>
                <a:noFill/>
              </a:ln>
              <a:solidFill>
                <a:srgbClr val="ED7D3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9" name="ZT_LCL">
            <a:extLst>
              <a:ext uri="{FF2B5EF4-FFF2-40B4-BE49-F238E27FC236}">
                <a16:creationId xmlns:a16="http://schemas.microsoft.com/office/drawing/2014/main" id="{8BED3DDA-1EEE-F886-FDE6-79E3730485D9}"/>
              </a:ext>
            </a:extLst>
          </p:cNvPr>
          <p:cNvSpPr txBox="1"/>
          <p:nvPr/>
        </p:nvSpPr>
        <p:spPr>
          <a:xfrm>
            <a:off x="1032399" y="1378099"/>
            <a:ext cx="551086" cy="246221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LCL</a:t>
            </a:r>
            <a:endParaRPr kumimoji="0" lang="fr-FR" sz="1000" b="1" i="1" u="none" strike="noStrike" kern="1200" cap="none" spc="0" normalizeH="0" baseline="0" noProof="0" dirty="0">
              <a:ln>
                <a:noFill/>
              </a:ln>
              <a:solidFill>
                <a:srgbClr val="ED7D3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0" name="BA_CICS_CA">
            <a:extLst>
              <a:ext uri="{FF2B5EF4-FFF2-40B4-BE49-F238E27FC236}">
                <a16:creationId xmlns:a16="http://schemas.microsoft.com/office/drawing/2014/main" id="{49269DFD-F216-D709-517F-B3069CB46C1C}"/>
              </a:ext>
            </a:extLst>
          </p:cNvPr>
          <p:cNvSpPr/>
          <p:nvPr/>
        </p:nvSpPr>
        <p:spPr>
          <a:xfrm>
            <a:off x="2021573" y="1646459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CICS</a:t>
            </a:r>
          </a:p>
        </p:txBody>
      </p:sp>
      <p:sp>
        <p:nvSpPr>
          <p:cNvPr id="251" name="BA_DB2_CA">
            <a:extLst>
              <a:ext uri="{FF2B5EF4-FFF2-40B4-BE49-F238E27FC236}">
                <a16:creationId xmlns:a16="http://schemas.microsoft.com/office/drawing/2014/main" id="{8123F47C-0011-9C0E-1E99-4BDD7FF701C5}"/>
              </a:ext>
            </a:extLst>
          </p:cNvPr>
          <p:cNvSpPr/>
          <p:nvPr/>
        </p:nvSpPr>
        <p:spPr>
          <a:xfrm>
            <a:off x="2717879" y="1645738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DB2</a:t>
            </a:r>
          </a:p>
        </p:txBody>
      </p:sp>
      <p:sp>
        <p:nvSpPr>
          <p:cNvPr id="252" name="BA_GG">
            <a:extLst>
              <a:ext uri="{FF2B5EF4-FFF2-40B4-BE49-F238E27FC236}">
                <a16:creationId xmlns:a16="http://schemas.microsoft.com/office/drawing/2014/main" id="{7BF1A330-15E8-5370-7253-F70AFD5B6EAD}"/>
              </a:ext>
            </a:extLst>
          </p:cNvPr>
          <p:cNvSpPr/>
          <p:nvPr/>
        </p:nvSpPr>
        <p:spPr>
          <a:xfrm>
            <a:off x="5540187" y="2498620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GG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Sim.Prév</a:t>
            </a: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. Décès</a:t>
            </a:r>
          </a:p>
        </p:txBody>
      </p:sp>
      <p:sp>
        <p:nvSpPr>
          <p:cNvPr id="253" name="BA_GH">
            <a:extLst>
              <a:ext uri="{FF2B5EF4-FFF2-40B4-BE49-F238E27FC236}">
                <a16:creationId xmlns:a16="http://schemas.microsoft.com/office/drawing/2014/main" id="{C39BE3C5-E92B-0C0F-A1C6-6FAF1874F586}"/>
              </a:ext>
            </a:extLst>
          </p:cNvPr>
          <p:cNvSpPr/>
          <p:nvPr/>
        </p:nvSpPr>
        <p:spPr>
          <a:xfrm>
            <a:off x="6247379" y="2507699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GH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Moteur </a:t>
            </a:r>
            <a:r>
              <a:rPr kumimoji="0" lang="fr-FR" sz="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Epicaste</a:t>
            </a:r>
            <a:endParaRPr kumimoji="0" lang="fr-FR" sz="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4" name="Gr_Editique">
            <a:extLst>
              <a:ext uri="{FF2B5EF4-FFF2-40B4-BE49-F238E27FC236}">
                <a16:creationId xmlns:a16="http://schemas.microsoft.com/office/drawing/2014/main" id="{7434281A-8234-EAC1-46E4-99840579B0F5}"/>
              </a:ext>
            </a:extLst>
          </p:cNvPr>
          <p:cNvSpPr/>
          <p:nvPr/>
        </p:nvSpPr>
        <p:spPr>
          <a:xfrm>
            <a:off x="6994566" y="3106138"/>
            <a:ext cx="754043" cy="61200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  <a:effectLst>
            <a:outerShdw blurRad="50800" dist="38100" dir="2700000" algn="ctr" rotWithShape="0">
              <a:schemeClr val="tx1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/>
            </a:endParaRPr>
          </a:p>
        </p:txBody>
      </p:sp>
      <p:sp>
        <p:nvSpPr>
          <p:cNvPr id="255" name="ZT_Editique">
            <a:extLst>
              <a:ext uri="{FF2B5EF4-FFF2-40B4-BE49-F238E27FC236}">
                <a16:creationId xmlns:a16="http://schemas.microsoft.com/office/drawing/2014/main" id="{C8F83E01-5BED-3280-611A-E5AFEEDE70C2}"/>
              </a:ext>
            </a:extLst>
          </p:cNvPr>
          <p:cNvSpPr txBox="1"/>
          <p:nvPr/>
        </p:nvSpPr>
        <p:spPr>
          <a:xfrm>
            <a:off x="6967388" y="3133723"/>
            <a:ext cx="781221" cy="246221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Editique</a:t>
            </a:r>
          </a:p>
        </p:txBody>
      </p:sp>
      <p:sp>
        <p:nvSpPr>
          <p:cNvPr id="256" name="BA_ONDM">
            <a:extLst>
              <a:ext uri="{FF2B5EF4-FFF2-40B4-BE49-F238E27FC236}">
                <a16:creationId xmlns:a16="http://schemas.microsoft.com/office/drawing/2014/main" id="{C2BA1F97-FFE2-23A6-DDE9-D32C994DD42C}"/>
              </a:ext>
            </a:extLst>
          </p:cNvPr>
          <p:cNvSpPr/>
          <p:nvPr/>
        </p:nvSpPr>
        <p:spPr>
          <a:xfrm>
            <a:off x="7053165" y="3363079"/>
            <a:ext cx="648000" cy="276281"/>
          </a:xfrm>
          <a:prstGeom prst="roundRect">
            <a:avLst/>
          </a:prstGeom>
          <a:solidFill>
            <a:srgbClr val="70AD4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ONDM</a:t>
            </a:r>
            <a:endParaRPr kumimoji="0" lang="fr-FR" sz="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On </a:t>
            </a:r>
            <a:r>
              <a:rPr kumimoji="0" lang="fr-FR" sz="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Demand</a:t>
            </a:r>
            <a:endParaRPr kumimoji="0" lang="fr-FR" sz="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257" name="Groupe_Retour">
            <a:extLst>
              <a:ext uri="{FF2B5EF4-FFF2-40B4-BE49-F238E27FC236}">
                <a16:creationId xmlns:a16="http://schemas.microsoft.com/office/drawing/2014/main" id="{122AFE7C-45D5-74EE-3915-6F27EF326CB2}"/>
              </a:ext>
            </a:extLst>
          </p:cNvPr>
          <p:cNvGrpSpPr/>
          <p:nvPr/>
        </p:nvGrpSpPr>
        <p:grpSpPr>
          <a:xfrm>
            <a:off x="0" y="0"/>
            <a:ext cx="1417975" cy="461665"/>
            <a:chOff x="0" y="0"/>
            <a:chExt cx="1417975" cy="461665"/>
          </a:xfrm>
        </p:grpSpPr>
        <p:sp>
          <p:nvSpPr>
            <p:cNvPr id="258" name="Rectangle 257">
              <a:hlinkClick r:id="rId3" action="ppaction://hlinksldjump"/>
              <a:extLst>
                <a:ext uri="{FF2B5EF4-FFF2-40B4-BE49-F238E27FC236}">
                  <a16:creationId xmlns:a16="http://schemas.microsoft.com/office/drawing/2014/main" id="{9D9B1CCC-5EC8-2301-F61D-5CA754F3302D}"/>
                </a:ext>
              </a:extLst>
            </p:cNvPr>
            <p:cNvSpPr/>
            <p:nvPr/>
          </p:nvSpPr>
          <p:spPr>
            <a:xfrm>
              <a:off x="0" y="0"/>
              <a:ext cx="768479" cy="461665"/>
            </a:xfrm>
            <a:prstGeom prst="rect">
              <a:avLst/>
            </a:prstGeom>
            <a:noFill/>
          </p:spPr>
          <p:txBody>
            <a:bodyPr wrap="square" lIns="91440" tIns="45720" rIns="91440" bIns="45720" anchor="ctr">
              <a:spAutoFit/>
            </a:bodyPr>
            <a:lstStyle/>
            <a:p>
              <a:pPr algn="ctr"/>
              <a:r>
                <a:rPr lang="fr-FR" sz="2400" b="1" spc="50" dirty="0">
                  <a:ln w="9525" cmpd="sng">
                    <a:solidFill>
                      <a:schemeClr val="accent1"/>
                    </a:solidFill>
                    <a:prstDash val="solid"/>
                  </a:ln>
                  <a:solidFill>
                    <a:srgbClr val="70AD47">
                      <a:tint val="1000"/>
                    </a:srgbClr>
                  </a:solidFill>
                  <a:effectLst>
                    <a:glow rad="38100">
                      <a:schemeClr val="accent1">
                        <a:alpha val="40000"/>
                      </a:schemeClr>
                    </a:glow>
                  </a:effectLst>
                  <a:latin typeface="HoloLens MDL2 Assets" panose="050A0102010101010101" pitchFamily="18" charset="0"/>
                </a:rPr>
                <a:t></a:t>
              </a:r>
              <a:endParaRPr lang="fr-FR" sz="1400" dirty="0">
                <a:solidFill>
                  <a:srgbClr val="5B9BD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/>
              </a:endParaRPr>
            </a:p>
          </p:txBody>
        </p:sp>
        <p:sp>
          <p:nvSpPr>
            <p:cNvPr id="259" name="ZoneTexte 258">
              <a:extLst>
                <a:ext uri="{FF2B5EF4-FFF2-40B4-BE49-F238E27FC236}">
                  <a16:creationId xmlns:a16="http://schemas.microsoft.com/office/drawing/2014/main" id="{3E6CFB27-0D00-1200-1C65-5AB906CF8EBF}"/>
                </a:ext>
              </a:extLst>
            </p:cNvPr>
            <p:cNvSpPr txBox="1"/>
            <p:nvPr/>
          </p:nvSpPr>
          <p:spPr>
            <a:xfrm>
              <a:off x="525450" y="71273"/>
              <a:ext cx="89252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1400" dirty="0">
                  <a:solidFill>
                    <a:srgbClr val="5B9BD5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libri" panose="020F0502020204030204"/>
                </a:rPr>
                <a:t>Retour</a:t>
              </a:r>
              <a:endParaRPr lang="fr-FR" sz="1400" dirty="0"/>
            </a:p>
          </p:txBody>
        </p:sp>
      </p:grpSp>
      <p:sp>
        <p:nvSpPr>
          <p:cNvPr id="260" name="BA_PW">
            <a:extLst>
              <a:ext uri="{FF2B5EF4-FFF2-40B4-BE49-F238E27FC236}">
                <a16:creationId xmlns:a16="http://schemas.microsoft.com/office/drawing/2014/main" id="{C1B267F0-46BB-159F-C2C4-689CF322DCC6}"/>
              </a:ext>
            </a:extLst>
          </p:cNvPr>
          <p:cNvSpPr/>
          <p:nvPr/>
        </p:nvSpPr>
        <p:spPr>
          <a:xfrm>
            <a:off x="4517645" y="1819606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PW</a:t>
            </a:r>
            <a:br>
              <a:rPr lang="fr-FR" sz="10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/>
              </a:rPr>
            </a:b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SFC</a:t>
            </a:r>
          </a:p>
        </p:txBody>
      </p:sp>
      <p:sp>
        <p:nvSpPr>
          <p:cNvPr id="2" name="Étoile à 5 branches">
            <a:extLst>
              <a:ext uri="{FF2B5EF4-FFF2-40B4-BE49-F238E27FC236}">
                <a16:creationId xmlns:a16="http://schemas.microsoft.com/office/drawing/2014/main" id="{97CF5D70-D155-6A80-D471-07FBC2544AA2}"/>
              </a:ext>
            </a:extLst>
          </p:cNvPr>
          <p:cNvSpPr/>
          <p:nvPr/>
        </p:nvSpPr>
        <p:spPr>
          <a:xfrm>
            <a:off x="9368151" y="554532"/>
            <a:ext cx="108000" cy="108000"/>
          </a:xfrm>
          <a:prstGeom prst="star5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Légende_Nouveau_Bloc">
            <a:extLst>
              <a:ext uri="{FF2B5EF4-FFF2-40B4-BE49-F238E27FC236}">
                <a16:creationId xmlns:a16="http://schemas.microsoft.com/office/drawing/2014/main" id="{8AC95BDD-0605-991D-7BAA-BA33FBA6732B}"/>
              </a:ext>
            </a:extLst>
          </p:cNvPr>
          <p:cNvSpPr txBox="1"/>
          <p:nvPr/>
        </p:nvSpPr>
        <p:spPr>
          <a:xfrm>
            <a:off x="9464720" y="491658"/>
            <a:ext cx="934871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Nouveau bloc</a:t>
            </a:r>
          </a:p>
        </p:txBody>
      </p:sp>
      <p:sp>
        <p:nvSpPr>
          <p:cNvPr id="4" name="Légende_Nouveau_Bloc">
            <a:extLst>
              <a:ext uri="{FF2B5EF4-FFF2-40B4-BE49-F238E27FC236}">
                <a16:creationId xmlns:a16="http://schemas.microsoft.com/office/drawing/2014/main" id="{CB8FAB4E-C9AF-F814-DF3A-D9FE37ACDA7D}"/>
              </a:ext>
            </a:extLst>
          </p:cNvPr>
          <p:cNvSpPr txBox="1"/>
          <p:nvPr/>
        </p:nvSpPr>
        <p:spPr>
          <a:xfrm>
            <a:off x="9467926" y="723619"/>
            <a:ext cx="963725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Bloc supprimé</a:t>
            </a:r>
          </a:p>
        </p:txBody>
      </p:sp>
      <p:sp>
        <p:nvSpPr>
          <p:cNvPr id="5" name="Croix 4">
            <a:extLst>
              <a:ext uri="{FF2B5EF4-FFF2-40B4-BE49-F238E27FC236}">
                <a16:creationId xmlns:a16="http://schemas.microsoft.com/office/drawing/2014/main" id="{94367A8D-B3FB-F510-1294-66B739DAD3B8}"/>
              </a:ext>
            </a:extLst>
          </p:cNvPr>
          <p:cNvSpPr/>
          <p:nvPr/>
        </p:nvSpPr>
        <p:spPr>
          <a:xfrm rot="2700000">
            <a:off x="9371629" y="785103"/>
            <a:ext cx="108000" cy="108000"/>
          </a:xfrm>
          <a:prstGeom prst="plus">
            <a:avLst>
              <a:gd name="adj" fmla="val 45756"/>
            </a:avLst>
          </a:prstGeom>
          <a:solidFill>
            <a:schemeClr val="tx1"/>
          </a:solidFill>
          <a:ln>
            <a:solidFill>
              <a:srgbClr val="FF0000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BA_GH">
            <a:extLst>
              <a:ext uri="{FF2B5EF4-FFF2-40B4-BE49-F238E27FC236}">
                <a16:creationId xmlns:a16="http://schemas.microsoft.com/office/drawing/2014/main" id="{FFC305BA-6024-EF37-525F-BEAF2334C935}"/>
              </a:ext>
            </a:extLst>
          </p:cNvPr>
          <p:cNvSpPr/>
          <p:nvPr/>
        </p:nvSpPr>
        <p:spPr>
          <a:xfrm>
            <a:off x="6247379" y="1786384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HJ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Contenus statiques</a:t>
            </a:r>
          </a:p>
        </p:txBody>
      </p:sp>
      <p:sp>
        <p:nvSpPr>
          <p:cNvPr id="16" name="BA_H4">
            <a:extLst>
              <a:ext uri="{FF2B5EF4-FFF2-40B4-BE49-F238E27FC236}">
                <a16:creationId xmlns:a16="http://schemas.microsoft.com/office/drawing/2014/main" id="{7FE644A5-3051-E32E-C43C-C4245B445F58}"/>
              </a:ext>
            </a:extLst>
          </p:cNvPr>
          <p:cNvSpPr/>
          <p:nvPr/>
        </p:nvSpPr>
        <p:spPr>
          <a:xfrm>
            <a:off x="9490384" y="2374473"/>
            <a:ext cx="648000" cy="288000"/>
          </a:xfrm>
          <a:prstGeom prst="round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H4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API VR </a:t>
            </a:r>
            <a:r>
              <a:rPr kumimoji="0" lang="fr-FR" sz="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Selfcare</a:t>
            </a:r>
            <a:endParaRPr kumimoji="0" lang="fr-FR" sz="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BA_HH">
            <a:extLst>
              <a:ext uri="{FF2B5EF4-FFF2-40B4-BE49-F238E27FC236}">
                <a16:creationId xmlns:a16="http://schemas.microsoft.com/office/drawing/2014/main" id="{E1C57CC0-0538-444F-0D7E-41D0641DDB6F}"/>
              </a:ext>
            </a:extLst>
          </p:cNvPr>
          <p:cNvSpPr/>
          <p:nvPr/>
        </p:nvSpPr>
        <p:spPr>
          <a:xfrm>
            <a:off x="10160477" y="2374473"/>
            <a:ext cx="648000" cy="288000"/>
          </a:xfrm>
          <a:prstGeom prst="round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HH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API Sim. épargne</a:t>
            </a:r>
          </a:p>
        </p:txBody>
      </p:sp>
      <p:sp>
        <p:nvSpPr>
          <p:cNvPr id="23" name="Gr_LCL">
            <a:extLst>
              <a:ext uri="{FF2B5EF4-FFF2-40B4-BE49-F238E27FC236}">
                <a16:creationId xmlns:a16="http://schemas.microsoft.com/office/drawing/2014/main" id="{FB8D5D37-A827-160F-4B77-C3BA53FEEBBE}"/>
              </a:ext>
            </a:extLst>
          </p:cNvPr>
          <p:cNvSpPr/>
          <p:nvPr/>
        </p:nvSpPr>
        <p:spPr>
          <a:xfrm>
            <a:off x="6075866" y="5122749"/>
            <a:ext cx="5632947" cy="1248594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/>
            </a:endParaRPr>
          </a:p>
        </p:txBody>
      </p:sp>
      <p:sp>
        <p:nvSpPr>
          <p:cNvPr id="24" name="ZT_CATS">
            <a:extLst>
              <a:ext uri="{FF2B5EF4-FFF2-40B4-BE49-F238E27FC236}">
                <a16:creationId xmlns:a16="http://schemas.microsoft.com/office/drawing/2014/main" id="{BACE62D0-D47C-0770-8348-D8A70D853AC0}"/>
              </a:ext>
            </a:extLst>
          </p:cNvPr>
          <p:cNvSpPr txBox="1"/>
          <p:nvPr/>
        </p:nvSpPr>
        <p:spPr>
          <a:xfrm>
            <a:off x="6122619" y="5107819"/>
            <a:ext cx="5399528" cy="246221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LCL</a:t>
            </a:r>
            <a:endParaRPr kumimoji="0" lang="fr-FR" sz="1000" b="1" i="1" u="none" strike="noStrike" kern="1200" cap="none" spc="0" normalizeH="0" baseline="0" noProof="0" dirty="0">
              <a:ln>
                <a:noFill/>
              </a:ln>
              <a:solidFill>
                <a:srgbClr val="7030A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BA_BEL">
            <a:extLst>
              <a:ext uri="{FF2B5EF4-FFF2-40B4-BE49-F238E27FC236}">
                <a16:creationId xmlns:a16="http://schemas.microsoft.com/office/drawing/2014/main" id="{9A283455-0CB2-32EB-7FBA-5018EB6AC554}"/>
              </a:ext>
            </a:extLst>
          </p:cNvPr>
          <p:cNvSpPr/>
          <p:nvPr/>
        </p:nvSpPr>
        <p:spPr>
          <a:xfrm>
            <a:off x="6135322" y="5643027"/>
            <a:ext cx="648000" cy="288000"/>
          </a:xfrm>
          <a:prstGeom prst="roundRect">
            <a:avLst/>
          </a:prstGeom>
          <a:solidFill>
            <a:srgbClr val="B6D3EC"/>
          </a:solidFill>
          <a:ln w="6350">
            <a:solidFill>
              <a:schemeClr val="accent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0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/>
              </a:rPr>
              <a:t>BEL</a:t>
            </a:r>
          </a:p>
          <a:p>
            <a:pPr algn="ctr"/>
            <a:r>
              <a:rPr lang="fr-FR" sz="10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/>
              </a:rPr>
              <a:t>-</a:t>
            </a:r>
          </a:p>
        </p:txBody>
      </p:sp>
      <p:sp>
        <p:nvSpPr>
          <p:cNvPr id="26" name="BA_Docapost">
            <a:extLst>
              <a:ext uri="{FF2B5EF4-FFF2-40B4-BE49-F238E27FC236}">
                <a16:creationId xmlns:a16="http://schemas.microsoft.com/office/drawing/2014/main" id="{19C51506-10C9-D968-21C7-2F4A2CCF1EF9}"/>
              </a:ext>
            </a:extLst>
          </p:cNvPr>
          <p:cNvSpPr/>
          <p:nvPr/>
        </p:nvSpPr>
        <p:spPr>
          <a:xfrm>
            <a:off x="6145849" y="5987729"/>
            <a:ext cx="648000" cy="288000"/>
          </a:xfrm>
          <a:prstGeom prst="roundRect">
            <a:avLst/>
          </a:prstGeom>
          <a:solidFill>
            <a:srgbClr val="B6D3EC"/>
          </a:solidFill>
          <a:ln w="6350">
            <a:solidFill>
              <a:schemeClr val="accent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0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/>
              </a:rPr>
              <a:t>Docapost</a:t>
            </a:r>
          </a:p>
          <a:p>
            <a:pPr algn="ctr"/>
            <a:r>
              <a:rPr lang="fr-FR" sz="10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/>
              </a:rPr>
              <a:t>-</a:t>
            </a:r>
          </a:p>
        </p:txBody>
      </p:sp>
      <p:sp>
        <p:nvSpPr>
          <p:cNvPr id="30" name="BA_Mescomptes">
            <a:extLst>
              <a:ext uri="{FF2B5EF4-FFF2-40B4-BE49-F238E27FC236}">
                <a16:creationId xmlns:a16="http://schemas.microsoft.com/office/drawing/2014/main" id="{6F11B382-65C3-29E6-967B-F512024D2C30}"/>
              </a:ext>
            </a:extLst>
          </p:cNvPr>
          <p:cNvSpPr/>
          <p:nvPr/>
        </p:nvSpPr>
        <p:spPr>
          <a:xfrm>
            <a:off x="6135322" y="5323284"/>
            <a:ext cx="1326281" cy="288000"/>
          </a:xfrm>
          <a:prstGeom prst="roundRect">
            <a:avLst/>
          </a:prstGeom>
          <a:solidFill>
            <a:srgbClr val="B6D3EC"/>
          </a:solidFill>
          <a:ln w="6350">
            <a:solidFill>
              <a:schemeClr val="accent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000" dirty="0" err="1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/>
              </a:rPr>
              <a:t>MesComptes</a:t>
            </a:r>
            <a:endParaRPr lang="fr-FR" sz="1000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/>
            </a:endParaRPr>
          </a:p>
        </p:txBody>
      </p:sp>
      <p:sp>
        <p:nvSpPr>
          <p:cNvPr id="6" name="Gr_SimulAssur">
            <a:extLst>
              <a:ext uri="{FF2B5EF4-FFF2-40B4-BE49-F238E27FC236}">
                <a16:creationId xmlns:a16="http://schemas.microsoft.com/office/drawing/2014/main" id="{30E6CB1E-850D-F162-09B2-20C50AAE3CDB}"/>
              </a:ext>
            </a:extLst>
          </p:cNvPr>
          <p:cNvSpPr/>
          <p:nvPr/>
        </p:nvSpPr>
        <p:spPr>
          <a:xfrm>
            <a:off x="4476637" y="3792663"/>
            <a:ext cx="1627675" cy="1021008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  <a:effectLst>
            <a:outerShdw blurRad="50800" dist="38100" dir="2700000" algn="ctr" rotWithShape="0">
              <a:schemeClr val="tx1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/>
            </a:endParaRPr>
          </a:p>
        </p:txBody>
      </p:sp>
      <p:sp>
        <p:nvSpPr>
          <p:cNvPr id="8" name="ZT_SimulAssur">
            <a:extLst>
              <a:ext uri="{FF2B5EF4-FFF2-40B4-BE49-F238E27FC236}">
                <a16:creationId xmlns:a16="http://schemas.microsoft.com/office/drawing/2014/main" id="{8F546D45-BCF8-26F9-3608-E4548A273F41}"/>
              </a:ext>
            </a:extLst>
          </p:cNvPr>
          <p:cNvSpPr txBox="1"/>
          <p:nvPr/>
        </p:nvSpPr>
        <p:spPr>
          <a:xfrm>
            <a:off x="4500323" y="3819978"/>
            <a:ext cx="1714025" cy="246221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1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SimulAssur</a:t>
            </a:r>
            <a:endParaRPr kumimoji="0" lang="fr-FR" sz="1000" b="1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BA_VS">
            <a:extLst>
              <a:ext uri="{FF2B5EF4-FFF2-40B4-BE49-F238E27FC236}">
                <a16:creationId xmlns:a16="http://schemas.microsoft.com/office/drawing/2014/main" id="{888A14D0-81ED-BF76-1B20-E2AA455D5049}"/>
              </a:ext>
            </a:extLst>
          </p:cNvPr>
          <p:cNvSpPr/>
          <p:nvPr/>
        </p:nvSpPr>
        <p:spPr>
          <a:xfrm>
            <a:off x="4611474" y="4115819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0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/>
              </a:rPr>
              <a:t>VS</a:t>
            </a:r>
            <a:endParaRPr kumimoji="0" lang="fr-FR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Sim, </a:t>
            </a:r>
            <a:r>
              <a:rPr kumimoji="0" lang="fr-FR" sz="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Ass.V</a:t>
            </a: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 pour LCL</a:t>
            </a:r>
          </a:p>
        </p:txBody>
      </p:sp>
      <p:sp>
        <p:nvSpPr>
          <p:cNvPr id="10" name="BA_RS">
            <a:extLst>
              <a:ext uri="{FF2B5EF4-FFF2-40B4-BE49-F238E27FC236}">
                <a16:creationId xmlns:a16="http://schemas.microsoft.com/office/drawing/2014/main" id="{29A66A8F-E3B7-64B1-1896-89BBDB748B42}"/>
              </a:ext>
            </a:extLst>
          </p:cNvPr>
          <p:cNvSpPr/>
          <p:nvPr/>
        </p:nvSpPr>
        <p:spPr>
          <a:xfrm>
            <a:off x="5363789" y="4119805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SR</a:t>
            </a:r>
          </a:p>
          <a:p>
            <a:pPr lvl="0" algn="ctr">
              <a:defRPr/>
            </a:pPr>
            <a:r>
              <a:rPr lang="fr-FR" sz="6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Sim, </a:t>
            </a:r>
            <a:r>
              <a:rPr lang="fr-FR" sz="600" dirty="0" err="1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Ass.V</a:t>
            </a:r>
            <a:r>
              <a:rPr lang="fr-FR" sz="6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pour CA</a:t>
            </a:r>
          </a:p>
        </p:txBody>
      </p:sp>
      <p:sp>
        <p:nvSpPr>
          <p:cNvPr id="11" name="BA_EP">
            <a:extLst>
              <a:ext uri="{FF2B5EF4-FFF2-40B4-BE49-F238E27FC236}">
                <a16:creationId xmlns:a16="http://schemas.microsoft.com/office/drawing/2014/main" id="{60FE82C1-8D3A-77F4-364F-BA360B6B6B1F}"/>
              </a:ext>
            </a:extLst>
          </p:cNvPr>
          <p:cNvSpPr/>
          <p:nvPr/>
        </p:nvSpPr>
        <p:spPr>
          <a:xfrm>
            <a:off x="4611474" y="4500624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0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/>
              </a:rPr>
              <a:t>EP</a:t>
            </a:r>
            <a:endParaRPr kumimoji="0" lang="fr-FR" sz="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Sim, EPICASTE</a:t>
            </a:r>
          </a:p>
        </p:txBody>
      </p:sp>
      <p:sp>
        <p:nvSpPr>
          <p:cNvPr id="12" name="BA_Autre_PFD">
            <a:extLst>
              <a:ext uri="{FF2B5EF4-FFF2-40B4-BE49-F238E27FC236}">
                <a16:creationId xmlns:a16="http://schemas.microsoft.com/office/drawing/2014/main" id="{3A588AEA-B874-A974-6473-5072A618FDBB}"/>
              </a:ext>
            </a:extLst>
          </p:cNvPr>
          <p:cNvSpPr/>
          <p:nvPr/>
        </p:nvSpPr>
        <p:spPr>
          <a:xfrm>
            <a:off x="5363789" y="4472097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…</a:t>
            </a:r>
          </a:p>
        </p:txBody>
      </p:sp>
      <p:sp>
        <p:nvSpPr>
          <p:cNvPr id="13" name="Date_W1">
            <a:extLst>
              <a:ext uri="{FF2B5EF4-FFF2-40B4-BE49-F238E27FC236}">
                <a16:creationId xmlns:a16="http://schemas.microsoft.com/office/drawing/2014/main" id="{E308A7E8-5406-E0B3-B8E5-B795B6B36380}"/>
              </a:ext>
            </a:extLst>
          </p:cNvPr>
          <p:cNvSpPr txBox="1"/>
          <p:nvPr/>
        </p:nvSpPr>
        <p:spPr>
          <a:xfrm rot="19102564">
            <a:off x="8160854" y="4048670"/>
            <a:ext cx="927160" cy="230832"/>
          </a:xfrm>
          <a:prstGeom prst="rect">
            <a:avLst/>
          </a:prstGeom>
          <a:noFill/>
          <a:ln cap="flat">
            <a:noFill/>
            <a:prstDash val="solid"/>
          </a:ln>
          <a:effectLst>
            <a:softEdge rad="0"/>
          </a:effectLst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900" b="0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V26,2</a:t>
            </a:r>
          </a:p>
        </p:txBody>
      </p:sp>
      <p:sp>
        <p:nvSpPr>
          <p:cNvPr id="14" name="Date_P4">
            <a:extLst>
              <a:ext uri="{FF2B5EF4-FFF2-40B4-BE49-F238E27FC236}">
                <a16:creationId xmlns:a16="http://schemas.microsoft.com/office/drawing/2014/main" id="{E0FDED7B-583F-C735-014E-AD95FD168B35}"/>
              </a:ext>
            </a:extLst>
          </p:cNvPr>
          <p:cNvSpPr txBox="1"/>
          <p:nvPr/>
        </p:nvSpPr>
        <p:spPr>
          <a:xfrm rot="19102564">
            <a:off x="7682088" y="3321427"/>
            <a:ext cx="927160" cy="230832"/>
          </a:xfrm>
          <a:prstGeom prst="rect">
            <a:avLst/>
          </a:prstGeom>
          <a:noFill/>
          <a:ln cap="flat">
            <a:noFill/>
            <a:prstDash val="solid"/>
          </a:ln>
          <a:effectLst>
            <a:softEdge rad="0"/>
          </a:effectLst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900" b="0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V26,2</a:t>
            </a:r>
          </a:p>
        </p:txBody>
      </p:sp>
      <p:sp>
        <p:nvSpPr>
          <p:cNvPr id="15" name="Date_T3">
            <a:extLst>
              <a:ext uri="{FF2B5EF4-FFF2-40B4-BE49-F238E27FC236}">
                <a16:creationId xmlns:a16="http://schemas.microsoft.com/office/drawing/2014/main" id="{7927C20D-8667-7933-6E73-F93D9D615D6E}"/>
              </a:ext>
            </a:extLst>
          </p:cNvPr>
          <p:cNvSpPr txBox="1"/>
          <p:nvPr/>
        </p:nvSpPr>
        <p:spPr>
          <a:xfrm rot="19102564">
            <a:off x="10258443" y="3654673"/>
            <a:ext cx="927160" cy="230832"/>
          </a:xfrm>
          <a:prstGeom prst="rect">
            <a:avLst/>
          </a:prstGeom>
          <a:noFill/>
          <a:ln cap="flat">
            <a:noFill/>
            <a:prstDash val="solid"/>
          </a:ln>
          <a:effectLst>
            <a:softEdge rad="0"/>
          </a:effectLst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900" b="0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V26,2</a:t>
            </a:r>
          </a:p>
        </p:txBody>
      </p:sp>
      <p:sp>
        <p:nvSpPr>
          <p:cNvPr id="18" name="Rectangle à coins arrondis 82">
            <a:extLst>
              <a:ext uri="{FF2B5EF4-FFF2-40B4-BE49-F238E27FC236}">
                <a16:creationId xmlns:a16="http://schemas.microsoft.com/office/drawing/2014/main" id="{6C59A5B7-B56D-ACA3-A30E-462E6A573D93}"/>
              </a:ext>
            </a:extLst>
          </p:cNvPr>
          <p:cNvSpPr/>
          <p:nvPr/>
        </p:nvSpPr>
        <p:spPr>
          <a:xfrm>
            <a:off x="8114072" y="4424314"/>
            <a:ext cx="2046153" cy="472384"/>
          </a:xfrm>
          <a:prstGeom prst="roundRect">
            <a:avLst/>
          </a:prstGeom>
          <a:solidFill>
            <a:srgbClr val="ED7D3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r>
              <a:rPr lang="fr-FR" sz="8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T347     </a:t>
            </a:r>
            <a:r>
              <a:rPr lang="fr-FR" sz="800" u="sng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TOPIC VERSEMENT REGULIER ERI</a:t>
            </a:r>
          </a:p>
          <a:p>
            <a:r>
              <a:rPr lang="fr-FR" sz="8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T348     </a:t>
            </a:r>
            <a:r>
              <a:rPr lang="fr-FR" sz="800" u="sng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TOPIC SIMULATEUR ERI</a:t>
            </a:r>
          </a:p>
        </p:txBody>
      </p:sp>
      <p:sp>
        <p:nvSpPr>
          <p:cNvPr id="19" name="Étoile à 5 branches">
            <a:extLst>
              <a:ext uri="{FF2B5EF4-FFF2-40B4-BE49-F238E27FC236}">
                <a16:creationId xmlns:a16="http://schemas.microsoft.com/office/drawing/2014/main" id="{C1AF677E-D6A3-9853-3406-5B6C218E7F40}"/>
              </a:ext>
            </a:extLst>
          </p:cNvPr>
          <p:cNvSpPr/>
          <p:nvPr/>
        </p:nvSpPr>
        <p:spPr>
          <a:xfrm>
            <a:off x="9520551" y="2395050"/>
            <a:ext cx="108000" cy="108000"/>
          </a:xfrm>
          <a:prstGeom prst="star5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Étoile à 5 branches">
            <a:extLst>
              <a:ext uri="{FF2B5EF4-FFF2-40B4-BE49-F238E27FC236}">
                <a16:creationId xmlns:a16="http://schemas.microsoft.com/office/drawing/2014/main" id="{4116309A-CDDB-BEED-2C8B-720EC6CAEB72}"/>
              </a:ext>
            </a:extLst>
          </p:cNvPr>
          <p:cNvSpPr/>
          <p:nvPr/>
        </p:nvSpPr>
        <p:spPr>
          <a:xfrm>
            <a:off x="10197562" y="2395050"/>
            <a:ext cx="108000" cy="108000"/>
          </a:xfrm>
          <a:prstGeom prst="star5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78194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C3A1D1-9DB4-0B57-5C77-567F5D29C7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r_Global">
            <a:extLst>
              <a:ext uri="{FF2B5EF4-FFF2-40B4-BE49-F238E27FC236}">
                <a16:creationId xmlns:a16="http://schemas.microsoft.com/office/drawing/2014/main" id="{63AF6385-3CBB-0E7A-ACAB-94ECCD3D2C13}"/>
              </a:ext>
            </a:extLst>
          </p:cNvPr>
          <p:cNvSpPr/>
          <p:nvPr/>
        </p:nvSpPr>
        <p:spPr>
          <a:xfrm>
            <a:off x="156924" y="1028327"/>
            <a:ext cx="11860567" cy="5512742"/>
          </a:xfrm>
          <a:prstGeom prst="roundRect">
            <a:avLst/>
          </a:prstGeom>
          <a:solidFill>
            <a:schemeClr val="bg1"/>
          </a:solidFill>
          <a:ln>
            <a:solidFill>
              <a:schemeClr val="accent1"/>
            </a:solidFill>
          </a:ln>
          <a:effectLst>
            <a:outerShdw blurRad="50800" dist="38100" dir="2700000" algn="tl" rotWithShape="0">
              <a:schemeClr val="tx1"/>
            </a:outerShdw>
          </a:effectLst>
        </p:spPr>
        <p:txBody>
          <a:bodyPr wrap="none" lIns="0" rIns="0" rtlCol="0" anchor="ctr">
            <a:noAutofit/>
          </a:bodyPr>
          <a:lstStyle/>
          <a:p>
            <a:pPr algn="ctr"/>
            <a:endParaRPr lang="fr-FR" sz="1600" b="1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1" name="Gr_NOVA">
            <a:extLst>
              <a:ext uri="{FF2B5EF4-FFF2-40B4-BE49-F238E27FC236}">
                <a16:creationId xmlns:a16="http://schemas.microsoft.com/office/drawing/2014/main" id="{4154D6CF-ECAB-E71D-4CCC-AC4E8352D6AB}"/>
              </a:ext>
            </a:extLst>
          </p:cNvPr>
          <p:cNvSpPr/>
          <p:nvPr/>
        </p:nvSpPr>
        <p:spPr>
          <a:xfrm>
            <a:off x="5407282" y="1111645"/>
            <a:ext cx="2350211" cy="1879964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  <a:effectLst>
            <a:outerShdw blurRad="50800" dist="38100" dir="2700000" algn="ctr" rotWithShape="0">
              <a:schemeClr val="tx1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/>
            </a:endParaRPr>
          </a:p>
        </p:txBody>
      </p:sp>
      <p:sp>
        <p:nvSpPr>
          <p:cNvPr id="92" name="ZT_NOVA">
            <a:extLst>
              <a:ext uri="{FF2B5EF4-FFF2-40B4-BE49-F238E27FC236}">
                <a16:creationId xmlns:a16="http://schemas.microsoft.com/office/drawing/2014/main" id="{A75B8925-DBF7-A977-0BAD-A7635E438F26}"/>
              </a:ext>
            </a:extLst>
          </p:cNvPr>
          <p:cNvSpPr txBox="1"/>
          <p:nvPr/>
        </p:nvSpPr>
        <p:spPr>
          <a:xfrm>
            <a:off x="5402982" y="1138960"/>
            <a:ext cx="2354511" cy="246221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NOVA</a:t>
            </a:r>
            <a:endParaRPr kumimoji="0" lang="fr-FR" sz="1000" b="1" i="1" u="none" strike="noStrike" kern="1200" cap="none" spc="0" normalizeH="0" baseline="0" noProof="0" dirty="0">
              <a:ln>
                <a:noFill/>
              </a:ln>
              <a:solidFill>
                <a:srgbClr val="ED7D3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8" name="BA_OX">
            <a:extLst>
              <a:ext uri="{FF2B5EF4-FFF2-40B4-BE49-F238E27FC236}">
                <a16:creationId xmlns:a16="http://schemas.microsoft.com/office/drawing/2014/main" id="{758493FF-2258-BA80-68D0-13D433B0A5CB}"/>
              </a:ext>
            </a:extLst>
          </p:cNvPr>
          <p:cNvSpPr/>
          <p:nvPr/>
        </p:nvSpPr>
        <p:spPr>
          <a:xfrm>
            <a:off x="5540187" y="1434370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OX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Opérations </a:t>
            </a:r>
            <a:r>
              <a:rPr kumimoji="0" lang="fr-FR" sz="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Ass</a:t>
            </a: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.</a:t>
            </a:r>
          </a:p>
        </p:txBody>
      </p:sp>
      <p:sp>
        <p:nvSpPr>
          <p:cNvPr id="99" name="BA_MX">
            <a:extLst>
              <a:ext uri="{FF2B5EF4-FFF2-40B4-BE49-F238E27FC236}">
                <a16:creationId xmlns:a16="http://schemas.microsoft.com/office/drawing/2014/main" id="{AA54E981-A7D2-30BB-ED0B-7AEEAD4F2F3D}"/>
              </a:ext>
            </a:extLst>
          </p:cNvPr>
          <p:cNvSpPr/>
          <p:nvPr/>
        </p:nvSpPr>
        <p:spPr>
          <a:xfrm>
            <a:off x="6247379" y="1434370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MX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Services  internes</a:t>
            </a:r>
          </a:p>
        </p:txBody>
      </p:sp>
      <p:sp>
        <p:nvSpPr>
          <p:cNvPr id="108" name="BA_SX">
            <a:extLst>
              <a:ext uri="{FF2B5EF4-FFF2-40B4-BE49-F238E27FC236}">
                <a16:creationId xmlns:a16="http://schemas.microsoft.com/office/drawing/2014/main" id="{17C1DDE8-3344-0C1E-E78B-8C6F7E8E2AE9}"/>
              </a:ext>
            </a:extLst>
          </p:cNvPr>
          <p:cNvSpPr/>
          <p:nvPr/>
        </p:nvSpPr>
        <p:spPr>
          <a:xfrm>
            <a:off x="6957409" y="1434370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SX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Socle Exposition</a:t>
            </a:r>
          </a:p>
        </p:txBody>
      </p:sp>
      <p:sp>
        <p:nvSpPr>
          <p:cNvPr id="117" name="BA_HX">
            <a:extLst>
              <a:ext uri="{FF2B5EF4-FFF2-40B4-BE49-F238E27FC236}">
                <a16:creationId xmlns:a16="http://schemas.microsoft.com/office/drawing/2014/main" id="{B2BE9ABF-8749-D333-6613-4FD8DF606CD1}"/>
              </a:ext>
            </a:extLst>
          </p:cNvPr>
          <p:cNvSpPr/>
          <p:nvPr/>
        </p:nvSpPr>
        <p:spPr>
          <a:xfrm>
            <a:off x="5540187" y="1791450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HX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Habilitations PCO</a:t>
            </a:r>
          </a:p>
        </p:txBody>
      </p:sp>
      <p:sp>
        <p:nvSpPr>
          <p:cNvPr id="119" name="BA_RX">
            <a:extLst>
              <a:ext uri="{FF2B5EF4-FFF2-40B4-BE49-F238E27FC236}">
                <a16:creationId xmlns:a16="http://schemas.microsoft.com/office/drawing/2014/main" id="{D3288161-50D1-BBC0-DD22-4AC9ADD1963B}"/>
              </a:ext>
            </a:extLst>
          </p:cNvPr>
          <p:cNvSpPr/>
          <p:nvPr/>
        </p:nvSpPr>
        <p:spPr>
          <a:xfrm>
            <a:off x="6957409" y="1791450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RX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Socle Editique</a:t>
            </a:r>
          </a:p>
        </p:txBody>
      </p:sp>
      <p:sp>
        <p:nvSpPr>
          <p:cNvPr id="120" name="BA_WP">
            <a:extLst>
              <a:ext uri="{FF2B5EF4-FFF2-40B4-BE49-F238E27FC236}">
                <a16:creationId xmlns:a16="http://schemas.microsoft.com/office/drawing/2014/main" id="{F530F75D-FD19-7B84-1FB6-DE71843FE85C}"/>
              </a:ext>
            </a:extLst>
          </p:cNvPr>
          <p:cNvSpPr/>
          <p:nvPr/>
        </p:nvSpPr>
        <p:spPr>
          <a:xfrm>
            <a:off x="5542712" y="2146978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WP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Lanceur PCO</a:t>
            </a:r>
          </a:p>
        </p:txBody>
      </p:sp>
      <p:sp>
        <p:nvSpPr>
          <p:cNvPr id="121" name="BA_FM">
            <a:extLst>
              <a:ext uri="{FF2B5EF4-FFF2-40B4-BE49-F238E27FC236}">
                <a16:creationId xmlns:a16="http://schemas.microsoft.com/office/drawing/2014/main" id="{99F9EA32-E8E4-AFBF-C9F9-5CAFEACC9D0B}"/>
              </a:ext>
            </a:extLst>
          </p:cNvPr>
          <p:cNvSpPr/>
          <p:nvPr/>
        </p:nvSpPr>
        <p:spPr>
          <a:xfrm>
            <a:off x="6251156" y="2146978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FM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Fonctions IHM</a:t>
            </a:r>
          </a:p>
        </p:txBody>
      </p:sp>
      <p:sp>
        <p:nvSpPr>
          <p:cNvPr id="123" name="BA_JF">
            <a:extLst>
              <a:ext uri="{FF2B5EF4-FFF2-40B4-BE49-F238E27FC236}">
                <a16:creationId xmlns:a16="http://schemas.microsoft.com/office/drawing/2014/main" id="{6D84C0C3-952A-A5C5-CB9D-EF1426C27B41}"/>
              </a:ext>
            </a:extLst>
          </p:cNvPr>
          <p:cNvSpPr/>
          <p:nvPr/>
        </p:nvSpPr>
        <p:spPr>
          <a:xfrm>
            <a:off x="6955140" y="2146978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JF</a:t>
            </a:r>
            <a:endParaRPr kumimoji="0" lang="fr-FR" sz="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Animation </a:t>
            </a:r>
            <a:r>
              <a:rPr kumimoji="0" lang="fr-FR" sz="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comm</a:t>
            </a: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.</a:t>
            </a:r>
          </a:p>
        </p:txBody>
      </p:sp>
      <p:sp>
        <p:nvSpPr>
          <p:cNvPr id="124" name="Gr_Avanet">
            <a:extLst>
              <a:ext uri="{FF2B5EF4-FFF2-40B4-BE49-F238E27FC236}">
                <a16:creationId xmlns:a16="http://schemas.microsoft.com/office/drawing/2014/main" id="{2971BB49-ECC4-4423-7F9C-13ED75022651}"/>
              </a:ext>
            </a:extLst>
          </p:cNvPr>
          <p:cNvSpPr/>
          <p:nvPr/>
        </p:nvSpPr>
        <p:spPr>
          <a:xfrm>
            <a:off x="3593887" y="1111645"/>
            <a:ext cx="1690030" cy="117785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  <a:effectLst>
            <a:outerShdw blurRad="50800" dist="38100" dir="2700000" algn="ctr" rotWithShape="0">
              <a:schemeClr val="tx1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/>
            </a:endParaRPr>
          </a:p>
        </p:txBody>
      </p:sp>
      <p:sp>
        <p:nvSpPr>
          <p:cNvPr id="125" name="ZT_Avanet">
            <a:extLst>
              <a:ext uri="{FF2B5EF4-FFF2-40B4-BE49-F238E27FC236}">
                <a16:creationId xmlns:a16="http://schemas.microsoft.com/office/drawing/2014/main" id="{A0745594-FFFC-1BDC-85FE-AEB243E005B2}"/>
              </a:ext>
            </a:extLst>
          </p:cNvPr>
          <p:cNvSpPr txBox="1"/>
          <p:nvPr/>
        </p:nvSpPr>
        <p:spPr>
          <a:xfrm>
            <a:off x="3603262" y="1138960"/>
            <a:ext cx="1680655" cy="246221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1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Avanet</a:t>
            </a:r>
            <a:endParaRPr kumimoji="0" lang="fr-FR" sz="1000" b="1" i="1" u="none" strike="noStrike" kern="1200" cap="none" spc="0" normalizeH="0" baseline="0" noProof="0" dirty="0">
              <a:ln>
                <a:noFill/>
              </a:ln>
              <a:solidFill>
                <a:srgbClr val="ED7D3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6" name="BA_W5">
            <a:extLst>
              <a:ext uri="{FF2B5EF4-FFF2-40B4-BE49-F238E27FC236}">
                <a16:creationId xmlns:a16="http://schemas.microsoft.com/office/drawing/2014/main" id="{A999D04F-A633-40C9-87FA-BE66A3558398}"/>
              </a:ext>
            </a:extLst>
          </p:cNvPr>
          <p:cNvSpPr/>
          <p:nvPr/>
        </p:nvSpPr>
        <p:spPr>
          <a:xfrm>
            <a:off x="3726791" y="1434801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W5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Av@net</a:t>
            </a:r>
            <a:endParaRPr kumimoji="0" lang="fr-FR" sz="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7" name="BA_AEDI">
            <a:extLst>
              <a:ext uri="{FF2B5EF4-FFF2-40B4-BE49-F238E27FC236}">
                <a16:creationId xmlns:a16="http://schemas.microsoft.com/office/drawing/2014/main" id="{BB92DEC0-8FD8-D15F-28C6-8769F6098D2B}"/>
              </a:ext>
            </a:extLst>
          </p:cNvPr>
          <p:cNvSpPr/>
          <p:nvPr/>
        </p:nvSpPr>
        <p:spPr>
          <a:xfrm>
            <a:off x="4521017" y="1438787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AEDI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API-EDI</a:t>
            </a:r>
          </a:p>
        </p:txBody>
      </p:sp>
      <p:sp>
        <p:nvSpPr>
          <p:cNvPr id="128" name="BA_SVOD">
            <a:extLst>
              <a:ext uri="{FF2B5EF4-FFF2-40B4-BE49-F238E27FC236}">
                <a16:creationId xmlns:a16="http://schemas.microsoft.com/office/drawing/2014/main" id="{C5642E26-83C4-A1F8-14E2-F6F37AAE8198}"/>
              </a:ext>
            </a:extLst>
          </p:cNvPr>
          <p:cNvSpPr/>
          <p:nvPr/>
        </p:nvSpPr>
        <p:spPr>
          <a:xfrm>
            <a:off x="3726791" y="1819606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SVOD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SAS </a:t>
            </a:r>
            <a:r>
              <a:rPr kumimoji="0" lang="fr-FR" sz="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Valid</a:t>
            </a: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.</a:t>
            </a:r>
          </a:p>
        </p:txBody>
      </p:sp>
      <p:sp>
        <p:nvSpPr>
          <p:cNvPr id="129" name="Gr_PFD">
            <a:extLst>
              <a:ext uri="{FF2B5EF4-FFF2-40B4-BE49-F238E27FC236}">
                <a16:creationId xmlns:a16="http://schemas.microsoft.com/office/drawing/2014/main" id="{62D121AE-50A5-C060-C1D6-5DFC418F30A4}"/>
              </a:ext>
            </a:extLst>
          </p:cNvPr>
          <p:cNvSpPr/>
          <p:nvPr/>
        </p:nvSpPr>
        <p:spPr>
          <a:xfrm>
            <a:off x="6161552" y="3780520"/>
            <a:ext cx="1627675" cy="1021008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  <a:effectLst>
            <a:outerShdw blurRad="50800" dist="38100" dir="2700000" algn="ctr" rotWithShape="0">
              <a:schemeClr val="tx1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/>
            </a:endParaRPr>
          </a:p>
        </p:txBody>
      </p:sp>
      <p:sp>
        <p:nvSpPr>
          <p:cNvPr id="130" name="ZT_PFD">
            <a:extLst>
              <a:ext uri="{FF2B5EF4-FFF2-40B4-BE49-F238E27FC236}">
                <a16:creationId xmlns:a16="http://schemas.microsoft.com/office/drawing/2014/main" id="{00289FB7-55EC-976B-E87C-B2E863661C4A}"/>
              </a:ext>
            </a:extLst>
          </p:cNvPr>
          <p:cNvSpPr txBox="1"/>
          <p:nvPr/>
        </p:nvSpPr>
        <p:spPr>
          <a:xfrm>
            <a:off x="6185238" y="3807835"/>
            <a:ext cx="1714025" cy="246221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Plateforme Data (PFD)</a:t>
            </a:r>
          </a:p>
        </p:txBody>
      </p:sp>
      <p:sp>
        <p:nvSpPr>
          <p:cNvPr id="131" name="BA_J2">
            <a:extLst>
              <a:ext uri="{FF2B5EF4-FFF2-40B4-BE49-F238E27FC236}">
                <a16:creationId xmlns:a16="http://schemas.microsoft.com/office/drawing/2014/main" id="{AF71E932-AAF9-E9B5-75DB-4B0B03931236}"/>
              </a:ext>
            </a:extLst>
          </p:cNvPr>
          <p:cNvSpPr/>
          <p:nvPr/>
        </p:nvSpPr>
        <p:spPr>
          <a:xfrm>
            <a:off x="6296389" y="4103676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J2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Exposition PFD</a:t>
            </a:r>
          </a:p>
        </p:txBody>
      </p:sp>
      <p:sp>
        <p:nvSpPr>
          <p:cNvPr id="136" name="BA_J6">
            <a:extLst>
              <a:ext uri="{FF2B5EF4-FFF2-40B4-BE49-F238E27FC236}">
                <a16:creationId xmlns:a16="http://schemas.microsoft.com/office/drawing/2014/main" id="{9672A2BA-3025-0067-4CB4-51287E3A0F73}"/>
              </a:ext>
            </a:extLst>
          </p:cNvPr>
          <p:cNvSpPr/>
          <p:nvPr/>
        </p:nvSpPr>
        <p:spPr>
          <a:xfrm>
            <a:off x="7048704" y="4107662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J6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Restit</a:t>
            </a: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. </a:t>
            </a:r>
            <a:r>
              <a:rPr kumimoji="0" lang="fr-FR" sz="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Régl</a:t>
            </a: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.</a:t>
            </a:r>
          </a:p>
        </p:txBody>
      </p:sp>
      <p:sp>
        <p:nvSpPr>
          <p:cNvPr id="147" name="BA_J8">
            <a:extLst>
              <a:ext uri="{FF2B5EF4-FFF2-40B4-BE49-F238E27FC236}">
                <a16:creationId xmlns:a16="http://schemas.microsoft.com/office/drawing/2014/main" id="{C9282E05-0A31-8DDD-C689-4D822AEDA3F8}"/>
              </a:ext>
            </a:extLst>
          </p:cNvPr>
          <p:cNvSpPr/>
          <p:nvPr/>
        </p:nvSpPr>
        <p:spPr>
          <a:xfrm>
            <a:off x="6296389" y="4488481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J8</a:t>
            </a:r>
            <a:endParaRPr kumimoji="0" lang="fr-FR" sz="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Données Contrats</a:t>
            </a:r>
          </a:p>
        </p:txBody>
      </p:sp>
      <p:sp>
        <p:nvSpPr>
          <p:cNvPr id="149" name="Gr_Prediweb1">
            <a:extLst>
              <a:ext uri="{FF2B5EF4-FFF2-40B4-BE49-F238E27FC236}">
                <a16:creationId xmlns:a16="http://schemas.microsoft.com/office/drawing/2014/main" id="{6173777B-1D16-F60B-8F0B-85FFC6C2D934}"/>
              </a:ext>
            </a:extLst>
          </p:cNvPr>
          <p:cNvSpPr/>
          <p:nvPr/>
        </p:nvSpPr>
        <p:spPr>
          <a:xfrm>
            <a:off x="3588010" y="2368814"/>
            <a:ext cx="1695907" cy="671739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  <a:effectLst>
            <a:outerShdw blurRad="50800" dist="38100" dir="2700000" algn="ctr" rotWithShape="0">
              <a:schemeClr val="tx1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/>
            </a:endParaRPr>
          </a:p>
        </p:txBody>
      </p:sp>
      <p:sp>
        <p:nvSpPr>
          <p:cNvPr id="151" name="ZT_Prediweb1">
            <a:extLst>
              <a:ext uri="{FF2B5EF4-FFF2-40B4-BE49-F238E27FC236}">
                <a16:creationId xmlns:a16="http://schemas.microsoft.com/office/drawing/2014/main" id="{8E005FAE-1506-1B49-E80A-13E64DCD2D44}"/>
              </a:ext>
            </a:extLst>
          </p:cNvPr>
          <p:cNvSpPr txBox="1"/>
          <p:nvPr/>
        </p:nvSpPr>
        <p:spPr>
          <a:xfrm>
            <a:off x="3595208" y="2396399"/>
            <a:ext cx="1688709" cy="246221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1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Prediweb</a:t>
            </a:r>
            <a:r>
              <a:rPr kumimoji="0" lang="fr-FR" sz="1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 1</a:t>
            </a:r>
            <a:endParaRPr kumimoji="0" lang="fr-FR" sz="1000" b="1" i="1" u="none" strike="noStrike" kern="1200" cap="none" spc="0" normalizeH="0" baseline="0" noProof="0" dirty="0">
              <a:ln>
                <a:noFill/>
              </a:ln>
              <a:solidFill>
                <a:srgbClr val="ED7D3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3" name="BA_BD">
            <a:extLst>
              <a:ext uri="{FF2B5EF4-FFF2-40B4-BE49-F238E27FC236}">
                <a16:creationId xmlns:a16="http://schemas.microsoft.com/office/drawing/2014/main" id="{51E59A9D-12D8-FFA1-B0BC-BDD80C426C87}"/>
              </a:ext>
            </a:extLst>
          </p:cNvPr>
          <p:cNvSpPr/>
          <p:nvPr/>
        </p:nvSpPr>
        <p:spPr>
          <a:xfrm>
            <a:off x="3720914" y="2691969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BD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Prediweb</a:t>
            </a:r>
            <a:endParaRPr kumimoji="0" lang="fr-FR" sz="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6" name="BA_SGR">
            <a:extLst>
              <a:ext uri="{FF2B5EF4-FFF2-40B4-BE49-F238E27FC236}">
                <a16:creationId xmlns:a16="http://schemas.microsoft.com/office/drawing/2014/main" id="{851BAC33-48C1-87A3-3916-293CE254F162}"/>
              </a:ext>
            </a:extLst>
          </p:cNvPr>
          <p:cNvSpPr/>
          <p:nvPr/>
        </p:nvSpPr>
        <p:spPr>
          <a:xfrm>
            <a:off x="4496225" y="2696226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SGR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Lanceur SGR</a:t>
            </a:r>
          </a:p>
        </p:txBody>
      </p:sp>
      <p:sp>
        <p:nvSpPr>
          <p:cNvPr id="158" name="BA_Autre_PFD">
            <a:extLst>
              <a:ext uri="{FF2B5EF4-FFF2-40B4-BE49-F238E27FC236}">
                <a16:creationId xmlns:a16="http://schemas.microsoft.com/office/drawing/2014/main" id="{FB3B92B2-FE22-F3A0-5AF8-C629A28E6FC0}"/>
              </a:ext>
            </a:extLst>
          </p:cNvPr>
          <p:cNvSpPr/>
          <p:nvPr/>
        </p:nvSpPr>
        <p:spPr>
          <a:xfrm>
            <a:off x="7048704" y="4459954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…</a:t>
            </a:r>
          </a:p>
        </p:txBody>
      </p:sp>
      <p:sp>
        <p:nvSpPr>
          <p:cNvPr id="159" name="Gr_AIA">
            <a:extLst>
              <a:ext uri="{FF2B5EF4-FFF2-40B4-BE49-F238E27FC236}">
                <a16:creationId xmlns:a16="http://schemas.microsoft.com/office/drawing/2014/main" id="{3B197718-2A21-3FCA-D8E6-D616C516DB1E}"/>
              </a:ext>
            </a:extLst>
          </p:cNvPr>
          <p:cNvSpPr/>
          <p:nvPr/>
        </p:nvSpPr>
        <p:spPr>
          <a:xfrm>
            <a:off x="600429" y="2842718"/>
            <a:ext cx="927635" cy="550924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  <a:effectLst>
            <a:outerShdw blurRad="50800" dist="38100" dir="2700000" algn="ctr" rotWithShape="0">
              <a:schemeClr val="tx1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/>
            </a:endParaRPr>
          </a:p>
        </p:txBody>
      </p:sp>
      <p:sp>
        <p:nvSpPr>
          <p:cNvPr id="160" name="ZT_AIA">
            <a:extLst>
              <a:ext uri="{FF2B5EF4-FFF2-40B4-BE49-F238E27FC236}">
                <a16:creationId xmlns:a16="http://schemas.microsoft.com/office/drawing/2014/main" id="{BD54B647-FB5C-CC72-F24C-BE853D8D038C}"/>
              </a:ext>
            </a:extLst>
          </p:cNvPr>
          <p:cNvSpPr txBox="1"/>
          <p:nvPr/>
        </p:nvSpPr>
        <p:spPr>
          <a:xfrm>
            <a:off x="520497" y="2870168"/>
            <a:ext cx="1080000" cy="246221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AIA V4 (Sinistres)</a:t>
            </a:r>
          </a:p>
        </p:txBody>
      </p:sp>
      <p:sp>
        <p:nvSpPr>
          <p:cNvPr id="161" name="BA_AJ">
            <a:extLst>
              <a:ext uri="{FF2B5EF4-FFF2-40B4-BE49-F238E27FC236}">
                <a16:creationId xmlns:a16="http://schemas.microsoft.com/office/drawing/2014/main" id="{AB8EE4F7-B4C8-2BFE-00D1-574FE1D355B7}"/>
              </a:ext>
            </a:extLst>
          </p:cNvPr>
          <p:cNvSpPr/>
          <p:nvPr/>
        </p:nvSpPr>
        <p:spPr>
          <a:xfrm>
            <a:off x="741487" y="3087886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AJ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AIA </a:t>
            </a:r>
            <a:r>
              <a:rPr kumimoji="0" lang="fr-FR" sz="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Sinitres</a:t>
            </a:r>
            <a:endParaRPr kumimoji="0" lang="fr-FR" sz="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2" name="Gr_Prediweb2">
            <a:extLst>
              <a:ext uri="{FF2B5EF4-FFF2-40B4-BE49-F238E27FC236}">
                <a16:creationId xmlns:a16="http://schemas.microsoft.com/office/drawing/2014/main" id="{B9C53594-30CB-5E56-6577-039B1BB76245}"/>
              </a:ext>
            </a:extLst>
          </p:cNvPr>
          <p:cNvSpPr/>
          <p:nvPr/>
        </p:nvSpPr>
        <p:spPr>
          <a:xfrm>
            <a:off x="6172824" y="3106138"/>
            <a:ext cx="754043" cy="61200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  <a:effectLst>
            <a:outerShdw blurRad="50800" dist="38100" dir="2700000" algn="ctr" rotWithShape="0">
              <a:schemeClr val="tx1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/>
            </a:endParaRPr>
          </a:p>
        </p:txBody>
      </p:sp>
      <p:sp>
        <p:nvSpPr>
          <p:cNvPr id="163" name="ZT_Prediweb2">
            <a:extLst>
              <a:ext uri="{FF2B5EF4-FFF2-40B4-BE49-F238E27FC236}">
                <a16:creationId xmlns:a16="http://schemas.microsoft.com/office/drawing/2014/main" id="{B5AD2D21-3D0F-331E-C4CE-35F1C7B37F29}"/>
              </a:ext>
            </a:extLst>
          </p:cNvPr>
          <p:cNvSpPr txBox="1"/>
          <p:nvPr/>
        </p:nvSpPr>
        <p:spPr>
          <a:xfrm>
            <a:off x="6145849" y="3133723"/>
            <a:ext cx="774251" cy="246221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1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Prediweb</a:t>
            </a:r>
            <a:r>
              <a:rPr kumimoji="0" lang="fr-FR" sz="1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 2</a:t>
            </a:r>
            <a:endParaRPr kumimoji="0" lang="fr-FR" sz="1000" b="1" i="1" u="none" strike="noStrike" kern="1200" cap="none" spc="0" normalizeH="0" baseline="0" noProof="0" dirty="0">
              <a:ln>
                <a:noFill/>
              </a:ln>
              <a:solidFill>
                <a:srgbClr val="ED7D3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4" name="BA_PY">
            <a:extLst>
              <a:ext uri="{FF2B5EF4-FFF2-40B4-BE49-F238E27FC236}">
                <a16:creationId xmlns:a16="http://schemas.microsoft.com/office/drawing/2014/main" id="{0B791313-D091-70B6-7693-480D4B29BC4E}"/>
              </a:ext>
            </a:extLst>
          </p:cNvPr>
          <p:cNvSpPr/>
          <p:nvPr/>
        </p:nvSpPr>
        <p:spPr>
          <a:xfrm>
            <a:off x="6219320" y="3376340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PY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Prediweb</a:t>
            </a: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 2</a:t>
            </a:r>
          </a:p>
        </p:txBody>
      </p:sp>
      <p:sp>
        <p:nvSpPr>
          <p:cNvPr id="165" name="Gr_NewNOVA">
            <a:extLst>
              <a:ext uri="{FF2B5EF4-FFF2-40B4-BE49-F238E27FC236}">
                <a16:creationId xmlns:a16="http://schemas.microsoft.com/office/drawing/2014/main" id="{A13D3A67-60F4-C334-37A4-87A8B358A220}"/>
              </a:ext>
            </a:extLst>
          </p:cNvPr>
          <p:cNvSpPr/>
          <p:nvPr/>
        </p:nvSpPr>
        <p:spPr>
          <a:xfrm>
            <a:off x="7894317" y="1093890"/>
            <a:ext cx="3975128" cy="3939748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  <a:effectLst>
            <a:outerShdw blurRad="50800" dist="38100" dir="2700000" algn="ctr" rotWithShape="0">
              <a:schemeClr val="tx1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/>
            </a:endParaRPr>
          </a:p>
        </p:txBody>
      </p:sp>
      <p:sp>
        <p:nvSpPr>
          <p:cNvPr id="166" name="ZT_NewNOVA">
            <a:extLst>
              <a:ext uri="{FF2B5EF4-FFF2-40B4-BE49-F238E27FC236}">
                <a16:creationId xmlns:a16="http://schemas.microsoft.com/office/drawing/2014/main" id="{B09263E6-4A48-057F-B59C-232B14A3A4BB}"/>
              </a:ext>
            </a:extLst>
          </p:cNvPr>
          <p:cNvSpPr txBox="1"/>
          <p:nvPr/>
        </p:nvSpPr>
        <p:spPr>
          <a:xfrm>
            <a:off x="7959719" y="1121206"/>
            <a:ext cx="2930793" cy="246221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New NOVA (K8S+AWS)</a:t>
            </a:r>
            <a:endParaRPr kumimoji="0" lang="fr-FR" sz="1000" b="1" i="1" u="none" strike="noStrike" kern="1200" cap="none" spc="0" normalizeH="0" baseline="0" noProof="0" dirty="0">
              <a:ln>
                <a:noFill/>
              </a:ln>
              <a:solidFill>
                <a:srgbClr val="ED7D3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7" name="BA_APPE">
            <a:extLst>
              <a:ext uri="{FF2B5EF4-FFF2-40B4-BE49-F238E27FC236}">
                <a16:creationId xmlns:a16="http://schemas.microsoft.com/office/drawing/2014/main" id="{35588338-B0DE-EE48-15D5-915361C1968F}"/>
              </a:ext>
            </a:extLst>
          </p:cNvPr>
          <p:cNvSpPr/>
          <p:nvPr/>
        </p:nvSpPr>
        <p:spPr>
          <a:xfrm>
            <a:off x="8114072" y="1417047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APPE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API Personne</a:t>
            </a:r>
          </a:p>
        </p:txBody>
      </p:sp>
      <p:sp>
        <p:nvSpPr>
          <p:cNvPr id="168" name="BA_CJNI">
            <a:extLst>
              <a:ext uri="{FF2B5EF4-FFF2-40B4-BE49-F238E27FC236}">
                <a16:creationId xmlns:a16="http://schemas.microsoft.com/office/drawing/2014/main" id="{77DF36D4-2CA9-4C4E-73F8-E1300498E556}"/>
              </a:ext>
            </a:extLst>
          </p:cNvPr>
          <p:cNvSpPr/>
          <p:nvPr/>
        </p:nvSpPr>
        <p:spPr>
          <a:xfrm>
            <a:off x="8803280" y="1417047"/>
            <a:ext cx="648000" cy="288000"/>
          </a:xfrm>
          <a:prstGeom prst="round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CJNI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Jeton SSO</a:t>
            </a:r>
          </a:p>
        </p:txBody>
      </p:sp>
      <p:sp>
        <p:nvSpPr>
          <p:cNvPr id="169" name="BA_C8">
            <a:extLst>
              <a:ext uri="{FF2B5EF4-FFF2-40B4-BE49-F238E27FC236}">
                <a16:creationId xmlns:a16="http://schemas.microsoft.com/office/drawing/2014/main" id="{37E48584-B712-1C56-50A5-BD0B60B09A82}"/>
              </a:ext>
            </a:extLst>
          </p:cNvPr>
          <p:cNvSpPr/>
          <p:nvPr/>
        </p:nvSpPr>
        <p:spPr>
          <a:xfrm>
            <a:off x="9490384" y="1417047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C8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Consentements</a:t>
            </a:r>
          </a:p>
        </p:txBody>
      </p:sp>
      <p:sp>
        <p:nvSpPr>
          <p:cNvPr id="170" name="BA_D9">
            <a:extLst>
              <a:ext uri="{FF2B5EF4-FFF2-40B4-BE49-F238E27FC236}">
                <a16:creationId xmlns:a16="http://schemas.microsoft.com/office/drawing/2014/main" id="{6F7246F7-6BF9-EB64-8870-07C1874B8E70}"/>
              </a:ext>
            </a:extLst>
          </p:cNvPr>
          <p:cNvSpPr/>
          <p:nvPr/>
        </p:nvSpPr>
        <p:spPr>
          <a:xfrm>
            <a:off x="10160477" y="1417047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D9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Base Doc AWS</a:t>
            </a:r>
          </a:p>
        </p:txBody>
      </p:sp>
      <p:sp>
        <p:nvSpPr>
          <p:cNvPr id="171" name="BA_F3">
            <a:extLst>
              <a:ext uri="{FF2B5EF4-FFF2-40B4-BE49-F238E27FC236}">
                <a16:creationId xmlns:a16="http://schemas.microsoft.com/office/drawing/2014/main" id="{3464CDBA-3AEB-27B0-077B-3FAA8A0F89AD}"/>
              </a:ext>
            </a:extLst>
          </p:cNvPr>
          <p:cNvSpPr/>
          <p:nvPr/>
        </p:nvSpPr>
        <p:spPr>
          <a:xfrm>
            <a:off x="8114072" y="1734468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F3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Versement Libre</a:t>
            </a:r>
          </a:p>
        </p:txBody>
      </p:sp>
      <p:sp>
        <p:nvSpPr>
          <p:cNvPr id="172" name="BA_F4">
            <a:extLst>
              <a:ext uri="{FF2B5EF4-FFF2-40B4-BE49-F238E27FC236}">
                <a16:creationId xmlns:a16="http://schemas.microsoft.com/office/drawing/2014/main" id="{C65C8BB9-D2D9-D064-ACD6-7B94728A4B3F}"/>
              </a:ext>
            </a:extLst>
          </p:cNvPr>
          <p:cNvSpPr/>
          <p:nvPr/>
        </p:nvSpPr>
        <p:spPr>
          <a:xfrm>
            <a:off x="8803280" y="1734468"/>
            <a:ext cx="648000" cy="288000"/>
          </a:xfrm>
          <a:prstGeom prst="roundRect">
            <a:avLst/>
          </a:prstGeom>
          <a:solidFill>
            <a:srgbClr val="70AD47"/>
          </a:solidFill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F4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Synthèse </a:t>
            </a:r>
            <a:r>
              <a:rPr kumimoji="0" lang="fr-FR" sz="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Opér</a:t>
            </a: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.</a:t>
            </a:r>
          </a:p>
        </p:txBody>
      </p:sp>
      <p:sp>
        <p:nvSpPr>
          <p:cNvPr id="173" name="BA_F5">
            <a:extLst>
              <a:ext uri="{FF2B5EF4-FFF2-40B4-BE49-F238E27FC236}">
                <a16:creationId xmlns:a16="http://schemas.microsoft.com/office/drawing/2014/main" id="{68D476A9-0688-ACD8-1E42-CC9442C156B5}"/>
              </a:ext>
            </a:extLst>
          </p:cNvPr>
          <p:cNvSpPr/>
          <p:nvPr/>
        </p:nvSpPr>
        <p:spPr>
          <a:xfrm>
            <a:off x="9490384" y="1734468"/>
            <a:ext cx="648000" cy="288000"/>
          </a:xfrm>
          <a:prstGeom prst="round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F5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Conf</a:t>
            </a: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. New Nova</a:t>
            </a:r>
          </a:p>
        </p:txBody>
      </p:sp>
      <p:sp>
        <p:nvSpPr>
          <p:cNvPr id="174" name="BA_F6">
            <a:extLst>
              <a:ext uri="{FF2B5EF4-FFF2-40B4-BE49-F238E27FC236}">
                <a16:creationId xmlns:a16="http://schemas.microsoft.com/office/drawing/2014/main" id="{F0307EAF-F10F-FF3A-8A95-BA723457AC27}"/>
              </a:ext>
            </a:extLst>
          </p:cNvPr>
          <p:cNvSpPr/>
          <p:nvPr/>
        </p:nvSpPr>
        <p:spPr>
          <a:xfrm>
            <a:off x="10160477" y="1734468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F6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API Adhésion</a:t>
            </a:r>
          </a:p>
        </p:txBody>
      </p:sp>
      <p:sp>
        <p:nvSpPr>
          <p:cNvPr id="175" name="BA_F7">
            <a:extLst>
              <a:ext uri="{FF2B5EF4-FFF2-40B4-BE49-F238E27FC236}">
                <a16:creationId xmlns:a16="http://schemas.microsoft.com/office/drawing/2014/main" id="{D7A67A5C-32C1-9800-980E-81A36ED2C8DA}"/>
              </a:ext>
            </a:extLst>
          </p:cNvPr>
          <p:cNvSpPr/>
          <p:nvPr/>
        </p:nvSpPr>
        <p:spPr>
          <a:xfrm>
            <a:off x="8114072" y="2047150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F7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Arbitrage</a:t>
            </a:r>
          </a:p>
        </p:txBody>
      </p:sp>
      <p:sp>
        <p:nvSpPr>
          <p:cNvPr id="176" name="BA_G3">
            <a:extLst>
              <a:ext uri="{FF2B5EF4-FFF2-40B4-BE49-F238E27FC236}">
                <a16:creationId xmlns:a16="http://schemas.microsoft.com/office/drawing/2014/main" id="{AF7A08C4-8D9C-F493-F6E0-07757D732035}"/>
              </a:ext>
            </a:extLst>
          </p:cNvPr>
          <p:cNvSpPr/>
          <p:nvPr/>
        </p:nvSpPr>
        <p:spPr>
          <a:xfrm>
            <a:off x="9490384" y="2047150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G3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Pièces médicales</a:t>
            </a:r>
          </a:p>
        </p:txBody>
      </p:sp>
      <p:sp>
        <p:nvSpPr>
          <p:cNvPr id="177" name="BA_G4">
            <a:extLst>
              <a:ext uri="{FF2B5EF4-FFF2-40B4-BE49-F238E27FC236}">
                <a16:creationId xmlns:a16="http://schemas.microsoft.com/office/drawing/2014/main" id="{38747E8C-FE9D-75D5-AC09-80A018363A99}"/>
              </a:ext>
            </a:extLst>
          </p:cNvPr>
          <p:cNvSpPr/>
          <p:nvPr/>
        </p:nvSpPr>
        <p:spPr>
          <a:xfrm>
            <a:off x="10160477" y="2047150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G4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API FRC</a:t>
            </a:r>
          </a:p>
        </p:txBody>
      </p:sp>
      <p:sp>
        <p:nvSpPr>
          <p:cNvPr id="178" name="BA_G6">
            <a:extLst>
              <a:ext uri="{FF2B5EF4-FFF2-40B4-BE49-F238E27FC236}">
                <a16:creationId xmlns:a16="http://schemas.microsoft.com/office/drawing/2014/main" id="{486A736F-C0E3-AC06-0374-B1F9ED93F210}"/>
              </a:ext>
            </a:extLst>
          </p:cNvPr>
          <p:cNvSpPr/>
          <p:nvPr/>
        </p:nvSpPr>
        <p:spPr>
          <a:xfrm>
            <a:off x="8114072" y="2368438"/>
            <a:ext cx="648000" cy="288000"/>
          </a:xfrm>
          <a:prstGeom prst="roundRect">
            <a:avLst/>
          </a:prstGeom>
          <a:solidFill>
            <a:srgbClr val="70AD4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G6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API </a:t>
            </a:r>
            <a:r>
              <a:rPr kumimoji="0" lang="fr-FR" sz="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Passport</a:t>
            </a:r>
            <a:endParaRPr kumimoji="0" lang="fr-FR" sz="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9" name="BA_GQ">
            <a:extLst>
              <a:ext uri="{FF2B5EF4-FFF2-40B4-BE49-F238E27FC236}">
                <a16:creationId xmlns:a16="http://schemas.microsoft.com/office/drawing/2014/main" id="{39B95063-E4C6-7DD7-7C15-1906DA9F2176}"/>
              </a:ext>
            </a:extLst>
          </p:cNvPr>
          <p:cNvSpPr/>
          <p:nvPr/>
        </p:nvSpPr>
        <p:spPr>
          <a:xfrm>
            <a:off x="8803280" y="2368438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GQ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GED Prévoyance</a:t>
            </a:r>
          </a:p>
        </p:txBody>
      </p:sp>
      <p:sp>
        <p:nvSpPr>
          <p:cNvPr id="180" name="BA_I5">
            <a:extLst>
              <a:ext uri="{FF2B5EF4-FFF2-40B4-BE49-F238E27FC236}">
                <a16:creationId xmlns:a16="http://schemas.microsoft.com/office/drawing/2014/main" id="{F70237CA-E73C-6F68-3D09-7815E29180BD}"/>
              </a:ext>
            </a:extLst>
          </p:cNvPr>
          <p:cNvSpPr/>
          <p:nvPr/>
        </p:nvSpPr>
        <p:spPr>
          <a:xfrm>
            <a:off x="8114072" y="2696076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I5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Lanceur New Nova</a:t>
            </a:r>
          </a:p>
        </p:txBody>
      </p:sp>
      <p:sp>
        <p:nvSpPr>
          <p:cNvPr id="181" name="BA_I9">
            <a:extLst>
              <a:ext uri="{FF2B5EF4-FFF2-40B4-BE49-F238E27FC236}">
                <a16:creationId xmlns:a16="http://schemas.microsoft.com/office/drawing/2014/main" id="{729FA142-8863-34E1-8F29-CC8FCAB749E8}"/>
              </a:ext>
            </a:extLst>
          </p:cNvPr>
          <p:cNvSpPr/>
          <p:nvPr/>
        </p:nvSpPr>
        <p:spPr>
          <a:xfrm>
            <a:off x="8803280" y="2696076"/>
            <a:ext cx="648000" cy="288000"/>
          </a:xfrm>
          <a:prstGeom prst="round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I9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Keycloak</a:t>
            </a: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 Intranet</a:t>
            </a:r>
          </a:p>
        </p:txBody>
      </p:sp>
      <p:sp>
        <p:nvSpPr>
          <p:cNvPr id="182" name="BA_K7">
            <a:extLst>
              <a:ext uri="{FF2B5EF4-FFF2-40B4-BE49-F238E27FC236}">
                <a16:creationId xmlns:a16="http://schemas.microsoft.com/office/drawing/2014/main" id="{6F99C640-CDE1-06D9-14F7-A4D5F389030F}"/>
              </a:ext>
            </a:extLst>
          </p:cNvPr>
          <p:cNvSpPr/>
          <p:nvPr/>
        </p:nvSpPr>
        <p:spPr>
          <a:xfrm>
            <a:off x="9490384" y="2696076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K7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Aiguilleur</a:t>
            </a:r>
          </a:p>
        </p:txBody>
      </p:sp>
      <p:sp>
        <p:nvSpPr>
          <p:cNvPr id="183" name="BA_K9">
            <a:extLst>
              <a:ext uri="{FF2B5EF4-FFF2-40B4-BE49-F238E27FC236}">
                <a16:creationId xmlns:a16="http://schemas.microsoft.com/office/drawing/2014/main" id="{899D1526-7C17-2B65-A402-9CE755E5F541}"/>
              </a:ext>
            </a:extLst>
          </p:cNvPr>
          <p:cNvSpPr/>
          <p:nvPr/>
        </p:nvSpPr>
        <p:spPr>
          <a:xfrm>
            <a:off x="10160477" y="2696076"/>
            <a:ext cx="648000" cy="288000"/>
          </a:xfrm>
          <a:prstGeom prst="roundRect">
            <a:avLst/>
          </a:prstGeom>
          <a:solidFill>
            <a:srgbClr val="70AD47"/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K9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Keycloak</a:t>
            </a: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 Internet</a:t>
            </a:r>
          </a:p>
        </p:txBody>
      </p:sp>
      <p:sp>
        <p:nvSpPr>
          <p:cNvPr id="184" name="BA_L8">
            <a:extLst>
              <a:ext uri="{FF2B5EF4-FFF2-40B4-BE49-F238E27FC236}">
                <a16:creationId xmlns:a16="http://schemas.microsoft.com/office/drawing/2014/main" id="{7260A100-0E4E-3277-860F-600DF56B7CA0}"/>
              </a:ext>
            </a:extLst>
          </p:cNvPr>
          <p:cNvSpPr/>
          <p:nvPr/>
        </p:nvSpPr>
        <p:spPr>
          <a:xfrm>
            <a:off x="8114072" y="3027052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L8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API Archivage</a:t>
            </a:r>
          </a:p>
        </p:txBody>
      </p:sp>
      <p:sp>
        <p:nvSpPr>
          <p:cNvPr id="185" name="BA_L9">
            <a:extLst>
              <a:ext uri="{FF2B5EF4-FFF2-40B4-BE49-F238E27FC236}">
                <a16:creationId xmlns:a16="http://schemas.microsoft.com/office/drawing/2014/main" id="{51B41D20-09EE-F74D-EB7A-A9648A5A8BFB}"/>
              </a:ext>
            </a:extLst>
          </p:cNvPr>
          <p:cNvSpPr/>
          <p:nvPr/>
        </p:nvSpPr>
        <p:spPr>
          <a:xfrm>
            <a:off x="8803280" y="3027052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L9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API Structure</a:t>
            </a:r>
          </a:p>
        </p:txBody>
      </p:sp>
      <p:sp>
        <p:nvSpPr>
          <p:cNvPr id="186" name="BA_N6">
            <a:extLst>
              <a:ext uri="{FF2B5EF4-FFF2-40B4-BE49-F238E27FC236}">
                <a16:creationId xmlns:a16="http://schemas.microsoft.com/office/drawing/2014/main" id="{4FEB4B9C-B420-7E5B-EDCE-3DF6B719C684}"/>
              </a:ext>
            </a:extLst>
          </p:cNvPr>
          <p:cNvSpPr/>
          <p:nvPr/>
        </p:nvSpPr>
        <p:spPr>
          <a:xfrm>
            <a:off x="9490384" y="3034498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N6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API produit</a:t>
            </a:r>
          </a:p>
        </p:txBody>
      </p:sp>
      <p:sp>
        <p:nvSpPr>
          <p:cNvPr id="187" name="BA_N8">
            <a:extLst>
              <a:ext uri="{FF2B5EF4-FFF2-40B4-BE49-F238E27FC236}">
                <a16:creationId xmlns:a16="http://schemas.microsoft.com/office/drawing/2014/main" id="{1E5BFFEB-FFD1-CE73-21DC-C5D1CCDC936D}"/>
              </a:ext>
            </a:extLst>
          </p:cNvPr>
          <p:cNvSpPr/>
          <p:nvPr/>
        </p:nvSpPr>
        <p:spPr>
          <a:xfrm>
            <a:off x="10160477" y="3034498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N8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Notif</a:t>
            </a: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. Distributeur</a:t>
            </a:r>
          </a:p>
        </p:txBody>
      </p:sp>
      <p:sp>
        <p:nvSpPr>
          <p:cNvPr id="188" name="BA_P4">
            <a:extLst>
              <a:ext uri="{FF2B5EF4-FFF2-40B4-BE49-F238E27FC236}">
                <a16:creationId xmlns:a16="http://schemas.microsoft.com/office/drawing/2014/main" id="{18A66E6C-E51E-F030-50AA-A4D53E98E17F}"/>
              </a:ext>
            </a:extLst>
          </p:cNvPr>
          <p:cNvSpPr/>
          <p:nvPr/>
        </p:nvSpPr>
        <p:spPr>
          <a:xfrm>
            <a:off x="8114072" y="3354466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P4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Services Editique</a:t>
            </a:r>
          </a:p>
        </p:txBody>
      </p:sp>
      <p:sp>
        <p:nvSpPr>
          <p:cNvPr id="189" name="BA_P5">
            <a:extLst>
              <a:ext uri="{FF2B5EF4-FFF2-40B4-BE49-F238E27FC236}">
                <a16:creationId xmlns:a16="http://schemas.microsoft.com/office/drawing/2014/main" id="{F23ED18C-C179-E52A-8F36-39A7FE9A8FAE}"/>
              </a:ext>
            </a:extLst>
          </p:cNvPr>
          <p:cNvSpPr/>
          <p:nvPr/>
        </p:nvSpPr>
        <p:spPr>
          <a:xfrm>
            <a:off x="8803280" y="3354466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P5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API Contrat</a:t>
            </a:r>
          </a:p>
        </p:txBody>
      </p:sp>
      <p:sp>
        <p:nvSpPr>
          <p:cNvPr id="190" name="BA_P6">
            <a:extLst>
              <a:ext uri="{FF2B5EF4-FFF2-40B4-BE49-F238E27FC236}">
                <a16:creationId xmlns:a16="http://schemas.microsoft.com/office/drawing/2014/main" id="{D1712E29-8467-C1AA-5E87-6663320395B7}"/>
              </a:ext>
            </a:extLst>
          </p:cNvPr>
          <p:cNvSpPr/>
          <p:nvPr/>
        </p:nvSpPr>
        <p:spPr>
          <a:xfrm>
            <a:off x="9490384" y="3369007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P6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API Support</a:t>
            </a:r>
          </a:p>
        </p:txBody>
      </p:sp>
      <p:sp>
        <p:nvSpPr>
          <p:cNvPr id="191" name="BA_P7">
            <a:extLst>
              <a:ext uri="{FF2B5EF4-FFF2-40B4-BE49-F238E27FC236}">
                <a16:creationId xmlns:a16="http://schemas.microsoft.com/office/drawing/2014/main" id="{22758418-4DDD-E7F2-763A-77242ED5A12C}"/>
              </a:ext>
            </a:extLst>
          </p:cNvPr>
          <p:cNvSpPr/>
          <p:nvPr/>
        </p:nvSpPr>
        <p:spPr>
          <a:xfrm>
            <a:off x="10160477" y="3369007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P7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Campagnes et Frais</a:t>
            </a:r>
          </a:p>
        </p:txBody>
      </p:sp>
      <p:sp>
        <p:nvSpPr>
          <p:cNvPr id="192" name="BA_P8">
            <a:extLst>
              <a:ext uri="{FF2B5EF4-FFF2-40B4-BE49-F238E27FC236}">
                <a16:creationId xmlns:a16="http://schemas.microsoft.com/office/drawing/2014/main" id="{86676100-A0EB-EFC6-70AA-1E0754841C04}"/>
              </a:ext>
            </a:extLst>
          </p:cNvPr>
          <p:cNvSpPr/>
          <p:nvPr/>
        </p:nvSpPr>
        <p:spPr>
          <a:xfrm>
            <a:off x="8114072" y="3698914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P8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Habilit</a:t>
            </a: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. &amp;  </a:t>
            </a:r>
            <a:r>
              <a:rPr kumimoji="0" lang="fr-FR" sz="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Délég</a:t>
            </a: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.</a:t>
            </a:r>
          </a:p>
        </p:txBody>
      </p:sp>
      <p:sp>
        <p:nvSpPr>
          <p:cNvPr id="193" name="BA_Q1">
            <a:extLst>
              <a:ext uri="{FF2B5EF4-FFF2-40B4-BE49-F238E27FC236}">
                <a16:creationId xmlns:a16="http://schemas.microsoft.com/office/drawing/2014/main" id="{8A8CA142-F62A-BFD3-9EA8-3DB1FC924F08}"/>
              </a:ext>
            </a:extLst>
          </p:cNvPr>
          <p:cNvSpPr/>
          <p:nvPr/>
        </p:nvSpPr>
        <p:spPr>
          <a:xfrm>
            <a:off x="8803280" y="3698914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Q1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API </a:t>
            </a:r>
            <a:r>
              <a:rPr kumimoji="0" lang="fr-FR" sz="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Déciséo</a:t>
            </a:r>
            <a:endParaRPr kumimoji="0" lang="fr-FR" sz="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4" name="BA_W1">
            <a:extLst>
              <a:ext uri="{FF2B5EF4-FFF2-40B4-BE49-F238E27FC236}">
                <a16:creationId xmlns:a16="http://schemas.microsoft.com/office/drawing/2014/main" id="{A4BA9EE9-947C-70C6-0499-6F2F51D796E9}"/>
              </a:ext>
            </a:extLst>
          </p:cNvPr>
          <p:cNvSpPr/>
          <p:nvPr/>
        </p:nvSpPr>
        <p:spPr>
          <a:xfrm>
            <a:off x="8114072" y="4023294"/>
            <a:ext cx="648000" cy="288000"/>
          </a:xfrm>
          <a:prstGeom prst="roundRect">
            <a:avLst/>
          </a:prstGeom>
          <a:solidFill>
            <a:srgbClr val="ED7D31"/>
          </a:solidFill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W1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API Signature</a:t>
            </a:r>
          </a:p>
        </p:txBody>
      </p:sp>
      <p:sp>
        <p:nvSpPr>
          <p:cNvPr id="195" name="BA_W2">
            <a:extLst>
              <a:ext uri="{FF2B5EF4-FFF2-40B4-BE49-F238E27FC236}">
                <a16:creationId xmlns:a16="http://schemas.microsoft.com/office/drawing/2014/main" id="{7A78D2A3-4BA5-02A7-DCCF-6E8741063292}"/>
              </a:ext>
            </a:extLst>
          </p:cNvPr>
          <p:cNvSpPr/>
          <p:nvPr/>
        </p:nvSpPr>
        <p:spPr>
          <a:xfrm>
            <a:off x="8803280" y="4023294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W2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Clause </a:t>
            </a:r>
            <a:r>
              <a:rPr kumimoji="0" lang="fr-FR" sz="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Bénéf</a:t>
            </a: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.</a:t>
            </a:r>
          </a:p>
        </p:txBody>
      </p:sp>
      <p:sp>
        <p:nvSpPr>
          <p:cNvPr id="196" name="BA_W4">
            <a:extLst>
              <a:ext uri="{FF2B5EF4-FFF2-40B4-BE49-F238E27FC236}">
                <a16:creationId xmlns:a16="http://schemas.microsoft.com/office/drawing/2014/main" id="{760E2994-383D-E0BB-EAB5-E08462791F16}"/>
              </a:ext>
            </a:extLst>
          </p:cNvPr>
          <p:cNvSpPr/>
          <p:nvPr/>
        </p:nvSpPr>
        <p:spPr>
          <a:xfrm>
            <a:off x="9490384" y="4047213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W4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Modif</a:t>
            </a: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. </a:t>
            </a:r>
            <a:r>
              <a:rPr kumimoji="0" lang="fr-FR" sz="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Gar</a:t>
            </a: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. </a:t>
            </a:r>
            <a:r>
              <a:rPr kumimoji="0" lang="fr-FR" sz="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Prév</a:t>
            </a: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.</a:t>
            </a:r>
          </a:p>
        </p:txBody>
      </p:sp>
      <p:sp>
        <p:nvSpPr>
          <p:cNvPr id="197" name="Gr_REFUC">
            <a:extLst>
              <a:ext uri="{FF2B5EF4-FFF2-40B4-BE49-F238E27FC236}">
                <a16:creationId xmlns:a16="http://schemas.microsoft.com/office/drawing/2014/main" id="{8051A0E5-B57F-BFDC-5905-ECDA370C44D3}"/>
              </a:ext>
            </a:extLst>
          </p:cNvPr>
          <p:cNvSpPr/>
          <p:nvPr/>
        </p:nvSpPr>
        <p:spPr>
          <a:xfrm>
            <a:off x="4497472" y="3115682"/>
            <a:ext cx="769204" cy="591273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  <a:effectLst>
            <a:outerShdw blurRad="50800" dist="38100" dir="2700000" algn="ctr" rotWithShape="0">
              <a:schemeClr val="tx1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/>
            </a:endParaRPr>
          </a:p>
        </p:txBody>
      </p:sp>
      <p:sp>
        <p:nvSpPr>
          <p:cNvPr id="198" name="ZT_REFUC">
            <a:extLst>
              <a:ext uri="{FF2B5EF4-FFF2-40B4-BE49-F238E27FC236}">
                <a16:creationId xmlns:a16="http://schemas.microsoft.com/office/drawing/2014/main" id="{450F90EF-03A6-2B5B-4F36-EEBF4DAABB73}"/>
              </a:ext>
            </a:extLst>
          </p:cNvPr>
          <p:cNvSpPr txBox="1"/>
          <p:nvPr/>
        </p:nvSpPr>
        <p:spPr>
          <a:xfrm>
            <a:off x="4585812" y="3143267"/>
            <a:ext cx="664123" cy="246221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REFUC</a:t>
            </a:r>
          </a:p>
        </p:txBody>
      </p:sp>
      <p:sp>
        <p:nvSpPr>
          <p:cNvPr id="199" name="BA_VL">
            <a:extLst>
              <a:ext uri="{FF2B5EF4-FFF2-40B4-BE49-F238E27FC236}">
                <a16:creationId xmlns:a16="http://schemas.microsoft.com/office/drawing/2014/main" id="{34D872BB-8B6A-77FA-8D15-2B964F7CD321}"/>
              </a:ext>
            </a:extLst>
          </p:cNvPr>
          <p:cNvSpPr/>
          <p:nvPr/>
        </p:nvSpPr>
        <p:spPr>
          <a:xfrm>
            <a:off x="4562134" y="3360904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VL</a:t>
            </a:r>
            <a:endParaRPr kumimoji="0" lang="fr-FR" sz="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Référ</a:t>
            </a: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. UC</a:t>
            </a:r>
          </a:p>
        </p:txBody>
      </p:sp>
      <p:sp>
        <p:nvSpPr>
          <p:cNvPr id="200" name="Gr_EBX">
            <a:extLst>
              <a:ext uri="{FF2B5EF4-FFF2-40B4-BE49-F238E27FC236}">
                <a16:creationId xmlns:a16="http://schemas.microsoft.com/office/drawing/2014/main" id="{55D22DB8-C1DE-C699-4B2B-36716539B7FA}"/>
              </a:ext>
            </a:extLst>
          </p:cNvPr>
          <p:cNvSpPr/>
          <p:nvPr/>
        </p:nvSpPr>
        <p:spPr>
          <a:xfrm>
            <a:off x="3593887" y="3113812"/>
            <a:ext cx="834318" cy="61200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  <a:effectLst>
            <a:outerShdw blurRad="50800" dist="38100" dir="2700000" algn="ctr" rotWithShape="0">
              <a:schemeClr val="tx1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/>
            </a:endParaRPr>
          </a:p>
        </p:txBody>
      </p:sp>
      <p:sp>
        <p:nvSpPr>
          <p:cNvPr id="201" name="ZT_EBX">
            <a:extLst>
              <a:ext uri="{FF2B5EF4-FFF2-40B4-BE49-F238E27FC236}">
                <a16:creationId xmlns:a16="http://schemas.microsoft.com/office/drawing/2014/main" id="{1562B905-A89C-718A-1211-7648630771CE}"/>
              </a:ext>
            </a:extLst>
          </p:cNvPr>
          <p:cNvSpPr txBox="1"/>
          <p:nvPr/>
        </p:nvSpPr>
        <p:spPr>
          <a:xfrm>
            <a:off x="3603261" y="3141397"/>
            <a:ext cx="824943" cy="246221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EBX</a:t>
            </a:r>
          </a:p>
        </p:txBody>
      </p:sp>
      <p:sp>
        <p:nvSpPr>
          <p:cNvPr id="202" name="BA_EBX">
            <a:extLst>
              <a:ext uri="{FF2B5EF4-FFF2-40B4-BE49-F238E27FC236}">
                <a16:creationId xmlns:a16="http://schemas.microsoft.com/office/drawing/2014/main" id="{47A3DA23-6DCC-A23A-FCF3-944B75E0380D}"/>
              </a:ext>
            </a:extLst>
          </p:cNvPr>
          <p:cNvSpPr/>
          <p:nvPr/>
        </p:nvSpPr>
        <p:spPr>
          <a:xfrm>
            <a:off x="3697255" y="3370753"/>
            <a:ext cx="648000" cy="276281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EBX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EBX-Platform</a:t>
            </a:r>
          </a:p>
        </p:txBody>
      </p:sp>
      <p:sp>
        <p:nvSpPr>
          <p:cNvPr id="203" name="ZoneProjet">
            <a:extLst>
              <a:ext uri="{FF2B5EF4-FFF2-40B4-BE49-F238E27FC236}">
                <a16:creationId xmlns:a16="http://schemas.microsoft.com/office/drawing/2014/main" id="{51849ADF-39FC-A028-5CE7-5CD599546725}"/>
              </a:ext>
            </a:extLst>
          </p:cNvPr>
          <p:cNvSpPr txBox="1"/>
          <p:nvPr/>
        </p:nvSpPr>
        <p:spPr>
          <a:xfrm>
            <a:off x="1001967" y="524643"/>
            <a:ext cx="1641475" cy="807913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>
            <a:defPPr>
              <a:defRPr lang="fr-FR"/>
            </a:defPPr>
            <a:lvl1pPr lvl="0" algn="ctr">
              <a:defRPr b="1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fr-FR" dirty="0"/>
              <a:t>15C ADE</a:t>
            </a:r>
          </a:p>
          <a:p>
            <a:r>
              <a:rPr lang="fr-FR" sz="1050" dirty="0"/>
              <a:t>Lot 1 : Adhésion Lemoine</a:t>
            </a:r>
          </a:p>
          <a:p>
            <a:endParaRPr lang="fr-FR" dirty="0"/>
          </a:p>
        </p:txBody>
      </p:sp>
      <p:sp>
        <p:nvSpPr>
          <p:cNvPr id="204" name="ZT_Titre">
            <a:extLst>
              <a:ext uri="{FF2B5EF4-FFF2-40B4-BE49-F238E27FC236}">
                <a16:creationId xmlns:a16="http://schemas.microsoft.com/office/drawing/2014/main" id="{789436F0-4A62-B418-8C53-4B2C8391DD15}"/>
              </a:ext>
            </a:extLst>
          </p:cNvPr>
          <p:cNvSpPr txBox="1"/>
          <p:nvPr/>
        </p:nvSpPr>
        <p:spPr>
          <a:xfrm>
            <a:off x="0" y="-124544"/>
            <a:ext cx="12192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800" b="0" i="0" u="none" strike="noStrike" kern="1200" cap="none" spc="0" normalizeH="0" baseline="0" noProof="0" dirty="0">
                <a:ln>
                  <a:noFill/>
                </a:ln>
                <a:solidFill>
                  <a:srgbClr val="5B9BD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Identification des composants applicatifs</a:t>
            </a:r>
          </a:p>
        </p:txBody>
      </p:sp>
      <p:sp>
        <p:nvSpPr>
          <p:cNvPr id="205" name="Gr_BDOC">
            <a:extLst>
              <a:ext uri="{FF2B5EF4-FFF2-40B4-BE49-F238E27FC236}">
                <a16:creationId xmlns:a16="http://schemas.microsoft.com/office/drawing/2014/main" id="{7A4BFF61-6755-D0B5-4906-F24B67F14F53}"/>
              </a:ext>
            </a:extLst>
          </p:cNvPr>
          <p:cNvSpPr/>
          <p:nvPr/>
        </p:nvSpPr>
        <p:spPr>
          <a:xfrm>
            <a:off x="5353697" y="3111592"/>
            <a:ext cx="744111" cy="61200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  <a:effectLst>
            <a:outerShdw blurRad="50800" dist="38100" dir="2700000" algn="ctr" rotWithShape="0">
              <a:schemeClr val="tx1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/>
            </a:endParaRPr>
          </a:p>
        </p:txBody>
      </p:sp>
      <p:sp>
        <p:nvSpPr>
          <p:cNvPr id="206" name="ZT_BDOC">
            <a:extLst>
              <a:ext uri="{FF2B5EF4-FFF2-40B4-BE49-F238E27FC236}">
                <a16:creationId xmlns:a16="http://schemas.microsoft.com/office/drawing/2014/main" id="{E653D30E-BFAF-4E5F-57C9-2134FC656869}"/>
              </a:ext>
            </a:extLst>
          </p:cNvPr>
          <p:cNvSpPr txBox="1"/>
          <p:nvPr/>
        </p:nvSpPr>
        <p:spPr>
          <a:xfrm>
            <a:off x="5429887" y="3139177"/>
            <a:ext cx="623531" cy="246221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BDOC</a:t>
            </a:r>
          </a:p>
        </p:txBody>
      </p:sp>
      <p:sp>
        <p:nvSpPr>
          <p:cNvPr id="207" name="BA_BX">
            <a:extLst>
              <a:ext uri="{FF2B5EF4-FFF2-40B4-BE49-F238E27FC236}">
                <a16:creationId xmlns:a16="http://schemas.microsoft.com/office/drawing/2014/main" id="{51F0D781-DCEF-21C3-AE22-6FE2235B0DC6}"/>
              </a:ext>
            </a:extLst>
          </p:cNvPr>
          <p:cNvSpPr/>
          <p:nvPr/>
        </p:nvSpPr>
        <p:spPr>
          <a:xfrm>
            <a:off x="5405378" y="3393901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BX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BDOC WEB</a:t>
            </a:r>
          </a:p>
        </p:txBody>
      </p:sp>
      <p:sp>
        <p:nvSpPr>
          <p:cNvPr id="208" name="ZT_MàJ">
            <a:extLst>
              <a:ext uri="{FF2B5EF4-FFF2-40B4-BE49-F238E27FC236}">
                <a16:creationId xmlns:a16="http://schemas.microsoft.com/office/drawing/2014/main" id="{19719C26-F557-1BB1-BA61-9BF7F0D26982}"/>
              </a:ext>
            </a:extLst>
          </p:cNvPr>
          <p:cNvSpPr txBox="1"/>
          <p:nvPr/>
        </p:nvSpPr>
        <p:spPr>
          <a:xfrm>
            <a:off x="390525" y="6491355"/>
            <a:ext cx="169950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Mise à jour : xx/xx/2026</a:t>
            </a:r>
          </a:p>
        </p:txBody>
      </p:sp>
      <p:sp>
        <p:nvSpPr>
          <p:cNvPr id="209" name="ZT_Validité">
            <a:extLst>
              <a:ext uri="{FF2B5EF4-FFF2-40B4-BE49-F238E27FC236}">
                <a16:creationId xmlns:a16="http://schemas.microsoft.com/office/drawing/2014/main" id="{55C55BC7-1F4F-64E8-B76E-F457B00226B6}"/>
              </a:ext>
            </a:extLst>
          </p:cNvPr>
          <p:cNvSpPr txBox="1"/>
          <p:nvPr/>
        </p:nvSpPr>
        <p:spPr>
          <a:xfrm>
            <a:off x="10479876" y="6501427"/>
            <a:ext cx="126444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Validité : T2 2026</a:t>
            </a:r>
          </a:p>
        </p:txBody>
      </p:sp>
      <p:sp>
        <p:nvSpPr>
          <p:cNvPr id="210" name="Légende_Comp3">
            <a:extLst>
              <a:ext uri="{FF2B5EF4-FFF2-40B4-BE49-F238E27FC236}">
                <a16:creationId xmlns:a16="http://schemas.microsoft.com/office/drawing/2014/main" id="{F402F8D0-0F34-607D-2F57-D0C8C6D33673}"/>
              </a:ext>
            </a:extLst>
          </p:cNvPr>
          <p:cNvSpPr/>
          <p:nvPr/>
        </p:nvSpPr>
        <p:spPr>
          <a:xfrm>
            <a:off x="6567797" y="549933"/>
            <a:ext cx="1080000" cy="360000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Composant </a:t>
            </a:r>
            <a:b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créé ou modifié</a:t>
            </a:r>
          </a:p>
        </p:txBody>
      </p:sp>
      <p:sp>
        <p:nvSpPr>
          <p:cNvPr id="211" name="Légende_Comp2">
            <a:extLst>
              <a:ext uri="{FF2B5EF4-FFF2-40B4-BE49-F238E27FC236}">
                <a16:creationId xmlns:a16="http://schemas.microsoft.com/office/drawing/2014/main" id="{A857593E-58ED-6B25-E1E3-DB7621A3CB12}"/>
              </a:ext>
            </a:extLst>
          </p:cNvPr>
          <p:cNvSpPr/>
          <p:nvPr/>
        </p:nvSpPr>
        <p:spPr>
          <a:xfrm>
            <a:off x="5383906" y="547517"/>
            <a:ext cx="1080000" cy="360000"/>
          </a:xfrm>
          <a:prstGeom prst="round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Composant utilisé</a:t>
            </a:r>
          </a:p>
        </p:txBody>
      </p:sp>
      <p:sp>
        <p:nvSpPr>
          <p:cNvPr id="212" name="Légende_Comp1">
            <a:extLst>
              <a:ext uri="{FF2B5EF4-FFF2-40B4-BE49-F238E27FC236}">
                <a16:creationId xmlns:a16="http://schemas.microsoft.com/office/drawing/2014/main" id="{69DDE3DA-1A57-E545-7696-FE2FC8DDA7F0}"/>
              </a:ext>
            </a:extLst>
          </p:cNvPr>
          <p:cNvSpPr/>
          <p:nvPr/>
        </p:nvSpPr>
        <p:spPr>
          <a:xfrm>
            <a:off x="4200015" y="542942"/>
            <a:ext cx="1080000" cy="360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Composant non exploité</a:t>
            </a:r>
          </a:p>
        </p:txBody>
      </p:sp>
      <p:sp>
        <p:nvSpPr>
          <p:cNvPr id="213" name="BA_T2">
            <a:extLst>
              <a:ext uri="{FF2B5EF4-FFF2-40B4-BE49-F238E27FC236}">
                <a16:creationId xmlns:a16="http://schemas.microsoft.com/office/drawing/2014/main" id="{EE91B3CE-A796-7E8C-7647-8FE48BA3C50F}"/>
              </a:ext>
            </a:extLst>
          </p:cNvPr>
          <p:cNvSpPr/>
          <p:nvPr/>
        </p:nvSpPr>
        <p:spPr>
          <a:xfrm>
            <a:off x="9490384" y="3696185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T2</a:t>
            </a:r>
            <a:endParaRPr kumimoji="0" lang="fr-FR" sz="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KConnect</a:t>
            </a: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 MUTU</a:t>
            </a:r>
          </a:p>
        </p:txBody>
      </p:sp>
      <p:sp>
        <p:nvSpPr>
          <p:cNvPr id="214" name="BA_T3">
            <a:extLst>
              <a:ext uri="{FF2B5EF4-FFF2-40B4-BE49-F238E27FC236}">
                <a16:creationId xmlns:a16="http://schemas.microsoft.com/office/drawing/2014/main" id="{257A7565-C7C9-45E2-80AA-46C6F2445AE0}"/>
              </a:ext>
            </a:extLst>
          </p:cNvPr>
          <p:cNvSpPr/>
          <p:nvPr/>
        </p:nvSpPr>
        <p:spPr>
          <a:xfrm>
            <a:off x="10160477" y="3696185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T3</a:t>
            </a:r>
            <a:endParaRPr kumimoji="0" lang="fr-FR" sz="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KConnect</a:t>
            </a: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 CAA</a:t>
            </a:r>
          </a:p>
        </p:txBody>
      </p:sp>
      <p:sp>
        <p:nvSpPr>
          <p:cNvPr id="215" name="BA_F8">
            <a:extLst>
              <a:ext uri="{FF2B5EF4-FFF2-40B4-BE49-F238E27FC236}">
                <a16:creationId xmlns:a16="http://schemas.microsoft.com/office/drawing/2014/main" id="{66CF343D-846B-AF4A-9B98-926205A5A056}"/>
              </a:ext>
            </a:extLst>
          </p:cNvPr>
          <p:cNvSpPr/>
          <p:nvPr/>
        </p:nvSpPr>
        <p:spPr>
          <a:xfrm>
            <a:off x="8803280" y="2047150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F8</a:t>
            </a:r>
            <a:endParaRPr kumimoji="0" lang="fr-FR" sz="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API MOOP</a:t>
            </a:r>
          </a:p>
        </p:txBody>
      </p:sp>
      <p:sp>
        <p:nvSpPr>
          <p:cNvPr id="216" name="Gr_ETL">
            <a:extLst>
              <a:ext uri="{FF2B5EF4-FFF2-40B4-BE49-F238E27FC236}">
                <a16:creationId xmlns:a16="http://schemas.microsoft.com/office/drawing/2014/main" id="{038102E6-FA0D-C6A3-25AB-65BBC744FC9E}"/>
              </a:ext>
            </a:extLst>
          </p:cNvPr>
          <p:cNvSpPr/>
          <p:nvPr/>
        </p:nvSpPr>
        <p:spPr>
          <a:xfrm>
            <a:off x="1617823" y="2849127"/>
            <a:ext cx="862923" cy="561929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  <a:effectLst>
            <a:outerShdw blurRad="50800" dist="38100" dir="2700000" algn="ctr" rotWithShape="0">
              <a:schemeClr val="tx1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/>
            </a:endParaRPr>
          </a:p>
        </p:txBody>
      </p:sp>
      <p:sp>
        <p:nvSpPr>
          <p:cNvPr id="217" name="ZT_ETL">
            <a:extLst>
              <a:ext uri="{FF2B5EF4-FFF2-40B4-BE49-F238E27FC236}">
                <a16:creationId xmlns:a16="http://schemas.microsoft.com/office/drawing/2014/main" id="{293DA27B-3204-B1A9-E802-0F907A95874D}"/>
              </a:ext>
            </a:extLst>
          </p:cNvPr>
          <p:cNvSpPr txBox="1"/>
          <p:nvPr/>
        </p:nvSpPr>
        <p:spPr>
          <a:xfrm>
            <a:off x="1611935" y="2858784"/>
            <a:ext cx="898650" cy="246221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ETL</a:t>
            </a:r>
          </a:p>
        </p:txBody>
      </p:sp>
      <p:sp>
        <p:nvSpPr>
          <p:cNvPr id="218" name="BA_PWC2">
            <a:extLst>
              <a:ext uri="{FF2B5EF4-FFF2-40B4-BE49-F238E27FC236}">
                <a16:creationId xmlns:a16="http://schemas.microsoft.com/office/drawing/2014/main" id="{94ADEBC9-31CC-5E3E-D401-661EBD671D40}"/>
              </a:ext>
            </a:extLst>
          </p:cNvPr>
          <p:cNvSpPr/>
          <p:nvPr/>
        </p:nvSpPr>
        <p:spPr>
          <a:xfrm>
            <a:off x="1715817" y="3076593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PWC2</a:t>
            </a:r>
            <a:endParaRPr kumimoji="0" lang="fr-FR" sz="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ETL PREDICA</a:t>
            </a:r>
          </a:p>
        </p:txBody>
      </p:sp>
      <p:sp>
        <p:nvSpPr>
          <p:cNvPr id="219" name="Légende_Date1">
            <a:extLst>
              <a:ext uri="{FF2B5EF4-FFF2-40B4-BE49-F238E27FC236}">
                <a16:creationId xmlns:a16="http://schemas.microsoft.com/office/drawing/2014/main" id="{25539D72-9E34-F2E7-F877-1379B96BFE5E}"/>
              </a:ext>
            </a:extLst>
          </p:cNvPr>
          <p:cNvSpPr txBox="1"/>
          <p:nvPr/>
        </p:nvSpPr>
        <p:spPr>
          <a:xfrm rot="19102564">
            <a:off x="7647306" y="559123"/>
            <a:ext cx="927160" cy="369332"/>
          </a:xfrm>
          <a:prstGeom prst="rect">
            <a:avLst/>
          </a:prstGeom>
          <a:noFill/>
          <a:ln cap="flat">
            <a:noFill/>
            <a:prstDash val="solid"/>
          </a:ln>
          <a:effectLst>
            <a:softEdge rad="0"/>
          </a:effectLst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900" b="0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Date de </a:t>
            </a:r>
            <a:r>
              <a:rPr kumimoji="0" lang="fr-FR" sz="900" b="0" i="0" u="none" strike="noStrike" kern="1200" cap="none" spc="0" normalizeH="0" baseline="0" noProof="0" dirty="0" err="1">
                <a:ln>
                  <a:noFill/>
                </a:ln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MeP</a:t>
            </a:r>
            <a:r>
              <a:rPr kumimoji="0" lang="fr-FR" sz="900" b="0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 prévue</a:t>
            </a:r>
          </a:p>
        </p:txBody>
      </p:sp>
      <p:sp>
        <p:nvSpPr>
          <p:cNvPr id="222" name="Légende_Date2">
            <a:extLst>
              <a:ext uri="{FF2B5EF4-FFF2-40B4-BE49-F238E27FC236}">
                <a16:creationId xmlns:a16="http://schemas.microsoft.com/office/drawing/2014/main" id="{BD0AABFC-A8D5-78F4-84FA-DA2B43A7A503}"/>
              </a:ext>
            </a:extLst>
          </p:cNvPr>
          <p:cNvSpPr txBox="1"/>
          <p:nvPr/>
        </p:nvSpPr>
        <p:spPr>
          <a:xfrm rot="19102564">
            <a:off x="8343008" y="568799"/>
            <a:ext cx="927160" cy="369332"/>
          </a:xfrm>
          <a:prstGeom prst="rect">
            <a:avLst/>
          </a:prstGeom>
          <a:noFill/>
          <a:ln cap="flat">
            <a:noFill/>
            <a:prstDash val="solid"/>
          </a:ln>
          <a:effectLst>
            <a:softEdge rad="0"/>
          </a:effectLst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900" b="0" i="0" u="none" strike="noStrike" kern="1200" cap="none" spc="0" normalizeH="0" baseline="0" noProof="0" dirty="0">
                <a:ln>
                  <a:noFill/>
                </a:ln>
                <a:solidFill>
                  <a:srgbClr val="70AD4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Date de </a:t>
            </a:r>
            <a:r>
              <a:rPr kumimoji="0" lang="fr-FR" sz="900" b="0" i="0" u="none" strike="noStrike" kern="1200" cap="none" spc="0" normalizeH="0" baseline="0" noProof="0" dirty="0" err="1">
                <a:ln>
                  <a:noFill/>
                </a:ln>
                <a:solidFill>
                  <a:srgbClr val="70AD4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MeP</a:t>
            </a:r>
            <a:r>
              <a:rPr kumimoji="0" lang="fr-FR" sz="900" b="0" i="0" u="none" strike="noStrike" kern="1200" cap="none" spc="0" normalizeH="0" baseline="0" noProof="0" dirty="0">
                <a:ln>
                  <a:noFill/>
                </a:ln>
                <a:solidFill>
                  <a:srgbClr val="70AD4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 effective</a:t>
            </a:r>
          </a:p>
        </p:txBody>
      </p:sp>
      <p:sp>
        <p:nvSpPr>
          <p:cNvPr id="223" name="Gr_CATS">
            <a:extLst>
              <a:ext uri="{FF2B5EF4-FFF2-40B4-BE49-F238E27FC236}">
                <a16:creationId xmlns:a16="http://schemas.microsoft.com/office/drawing/2014/main" id="{37374A2A-262D-BA60-0194-9423E9257F13}"/>
              </a:ext>
            </a:extLst>
          </p:cNvPr>
          <p:cNvSpPr/>
          <p:nvPr/>
        </p:nvSpPr>
        <p:spPr>
          <a:xfrm>
            <a:off x="447324" y="5119889"/>
            <a:ext cx="5158346" cy="1254012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4" name="ZT_CATS">
            <a:extLst>
              <a:ext uri="{FF2B5EF4-FFF2-40B4-BE49-F238E27FC236}">
                <a16:creationId xmlns:a16="http://schemas.microsoft.com/office/drawing/2014/main" id="{A4371B61-405B-B09F-755A-86AADE0A4B73}"/>
              </a:ext>
            </a:extLst>
          </p:cNvPr>
          <p:cNvSpPr txBox="1"/>
          <p:nvPr/>
        </p:nvSpPr>
        <p:spPr>
          <a:xfrm>
            <a:off x="370835" y="5083258"/>
            <a:ext cx="5409144" cy="246221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CA-TS</a:t>
            </a:r>
            <a:endParaRPr kumimoji="0" lang="fr-FR" sz="1000" b="1" i="1" u="none" strike="noStrike" kern="1200" cap="none" spc="0" normalizeH="0" baseline="0" noProof="0" dirty="0">
              <a:ln>
                <a:noFill/>
              </a:ln>
              <a:solidFill>
                <a:srgbClr val="7030A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5" name="BA_PDI9">
            <a:extLst>
              <a:ext uri="{FF2B5EF4-FFF2-40B4-BE49-F238E27FC236}">
                <a16:creationId xmlns:a16="http://schemas.microsoft.com/office/drawing/2014/main" id="{E94BB2BF-186B-2B83-B6F0-883FF10DCD46}"/>
              </a:ext>
            </a:extLst>
          </p:cNvPr>
          <p:cNvSpPr/>
          <p:nvPr/>
        </p:nvSpPr>
        <p:spPr>
          <a:xfrm>
            <a:off x="506780" y="5666800"/>
            <a:ext cx="648000" cy="288000"/>
          </a:xfrm>
          <a:prstGeom prst="roundRect">
            <a:avLst/>
          </a:prstGeom>
          <a:solidFill>
            <a:srgbClr val="B6D3EC"/>
          </a:solidFill>
          <a:ln w="6350"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PDI9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6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/>
              </a:rPr>
              <a:t>-</a:t>
            </a:r>
            <a:endParaRPr kumimoji="0" lang="fr-FR" sz="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6" name="BA_XConnect">
            <a:extLst>
              <a:ext uri="{FF2B5EF4-FFF2-40B4-BE49-F238E27FC236}">
                <a16:creationId xmlns:a16="http://schemas.microsoft.com/office/drawing/2014/main" id="{EA07641F-E0E9-9097-B34D-318307ABA4CE}"/>
              </a:ext>
            </a:extLst>
          </p:cNvPr>
          <p:cNvSpPr/>
          <p:nvPr/>
        </p:nvSpPr>
        <p:spPr>
          <a:xfrm>
            <a:off x="1189563" y="5663009"/>
            <a:ext cx="648000" cy="288000"/>
          </a:xfrm>
          <a:prstGeom prst="roundRect">
            <a:avLst/>
          </a:prstGeom>
          <a:solidFill>
            <a:srgbClr val="B6D3EC"/>
          </a:solidFill>
          <a:ln w="6350"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Xconnect</a:t>
            </a:r>
            <a:endParaRPr kumimoji="0" lang="fr-FR" sz="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6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/>
              </a:rPr>
              <a:t>-</a:t>
            </a:r>
            <a:endParaRPr kumimoji="0" lang="fr-FR" sz="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7" name="BA_SIMM">
            <a:extLst>
              <a:ext uri="{FF2B5EF4-FFF2-40B4-BE49-F238E27FC236}">
                <a16:creationId xmlns:a16="http://schemas.microsoft.com/office/drawing/2014/main" id="{23F2B88F-3DD4-1335-78EF-2046A405FC2F}"/>
              </a:ext>
            </a:extLst>
          </p:cNvPr>
          <p:cNvSpPr/>
          <p:nvPr/>
        </p:nvSpPr>
        <p:spPr>
          <a:xfrm>
            <a:off x="2557693" y="5660385"/>
            <a:ext cx="648000" cy="288000"/>
          </a:xfrm>
          <a:prstGeom prst="roundRect">
            <a:avLst/>
          </a:prstGeom>
          <a:solidFill>
            <a:srgbClr val="B6D3EC"/>
          </a:solidFill>
          <a:ln w="6350"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SIMM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6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/>
              </a:rPr>
              <a:t>-</a:t>
            </a:r>
            <a:endParaRPr kumimoji="0" lang="fr-FR" sz="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8" name="BA_BAM">
            <a:extLst>
              <a:ext uri="{FF2B5EF4-FFF2-40B4-BE49-F238E27FC236}">
                <a16:creationId xmlns:a16="http://schemas.microsoft.com/office/drawing/2014/main" id="{A87EE613-0E32-7324-3DB6-218207A83E24}"/>
              </a:ext>
            </a:extLst>
          </p:cNvPr>
          <p:cNvSpPr/>
          <p:nvPr/>
        </p:nvSpPr>
        <p:spPr>
          <a:xfrm>
            <a:off x="2833493" y="5340532"/>
            <a:ext cx="648000" cy="288000"/>
          </a:xfrm>
          <a:prstGeom prst="roundRect">
            <a:avLst/>
          </a:prstGeom>
          <a:solidFill>
            <a:srgbClr val="B6D3EC"/>
          </a:solidFill>
          <a:ln w="6350"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BAM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6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/>
              </a:rPr>
              <a:t>-</a:t>
            </a:r>
            <a:endParaRPr kumimoji="0" lang="fr-FR" sz="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9" name="BA_RAC">
            <a:extLst>
              <a:ext uri="{FF2B5EF4-FFF2-40B4-BE49-F238E27FC236}">
                <a16:creationId xmlns:a16="http://schemas.microsoft.com/office/drawing/2014/main" id="{D80D75B5-50ED-CADE-2319-B6C1B58445D6}"/>
              </a:ext>
            </a:extLst>
          </p:cNvPr>
          <p:cNvSpPr/>
          <p:nvPr/>
        </p:nvSpPr>
        <p:spPr>
          <a:xfrm>
            <a:off x="4892893" y="5338051"/>
            <a:ext cx="648000" cy="288000"/>
          </a:xfrm>
          <a:prstGeom prst="roundRect">
            <a:avLst/>
          </a:prstGeom>
          <a:solidFill>
            <a:srgbClr val="B6D3EC"/>
          </a:solidFill>
          <a:ln w="6350"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RAC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6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/>
              </a:rPr>
              <a:t>-</a:t>
            </a:r>
            <a:endParaRPr kumimoji="0" lang="fr-FR" sz="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0" name="BA_DétContratNatifMB">
            <a:extLst>
              <a:ext uri="{FF2B5EF4-FFF2-40B4-BE49-F238E27FC236}">
                <a16:creationId xmlns:a16="http://schemas.microsoft.com/office/drawing/2014/main" id="{CE0D3F43-5861-63D1-A9AB-73FD1B5C41DF}"/>
              </a:ext>
            </a:extLst>
          </p:cNvPr>
          <p:cNvSpPr/>
          <p:nvPr/>
        </p:nvSpPr>
        <p:spPr>
          <a:xfrm>
            <a:off x="506780" y="5329301"/>
            <a:ext cx="1326281" cy="288000"/>
          </a:xfrm>
          <a:prstGeom prst="roundRect">
            <a:avLst/>
          </a:prstGeom>
          <a:solidFill>
            <a:srgbClr val="B6D3EC"/>
          </a:solidFill>
          <a:ln w="6350"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Dét</a:t>
            </a: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. Contrat natif MB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6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/>
              </a:rPr>
              <a:t>-</a:t>
            </a:r>
            <a:endParaRPr kumimoji="0" lang="fr-FR" sz="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1" name="BA_BPM">
            <a:extLst>
              <a:ext uri="{FF2B5EF4-FFF2-40B4-BE49-F238E27FC236}">
                <a16:creationId xmlns:a16="http://schemas.microsoft.com/office/drawing/2014/main" id="{3B9F43E7-97CC-AAEE-2B76-29962ADFFB08}"/>
              </a:ext>
            </a:extLst>
          </p:cNvPr>
          <p:cNvSpPr/>
          <p:nvPr/>
        </p:nvSpPr>
        <p:spPr>
          <a:xfrm>
            <a:off x="1875772" y="5663009"/>
            <a:ext cx="648000" cy="288000"/>
          </a:xfrm>
          <a:prstGeom prst="roundRect">
            <a:avLst/>
          </a:prstGeom>
          <a:solidFill>
            <a:srgbClr val="B6D3EC"/>
          </a:solidFill>
          <a:ln w="6350"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BPM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6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/>
              </a:rPr>
              <a:t>-</a:t>
            </a:r>
            <a:endParaRPr kumimoji="0" lang="fr-FR" sz="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2" name="BA_APX9">
            <a:extLst>
              <a:ext uri="{FF2B5EF4-FFF2-40B4-BE49-F238E27FC236}">
                <a16:creationId xmlns:a16="http://schemas.microsoft.com/office/drawing/2014/main" id="{34F195B3-DD41-0ED9-F6B3-D7F118C91B93}"/>
              </a:ext>
            </a:extLst>
          </p:cNvPr>
          <p:cNvSpPr/>
          <p:nvPr/>
        </p:nvSpPr>
        <p:spPr>
          <a:xfrm>
            <a:off x="511818" y="6003252"/>
            <a:ext cx="648000" cy="288000"/>
          </a:xfrm>
          <a:prstGeom prst="roundRect">
            <a:avLst/>
          </a:prstGeom>
          <a:solidFill>
            <a:srgbClr val="B6D3EC"/>
          </a:solidFill>
          <a:ln w="6350"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APX9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6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/>
              </a:rPr>
              <a:t>-</a:t>
            </a:r>
            <a:endParaRPr kumimoji="0" lang="fr-FR" sz="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3" name="BA_HUB">
            <a:extLst>
              <a:ext uri="{FF2B5EF4-FFF2-40B4-BE49-F238E27FC236}">
                <a16:creationId xmlns:a16="http://schemas.microsoft.com/office/drawing/2014/main" id="{52A32028-56D0-8AF9-E49D-CE12BDB3FB53}"/>
              </a:ext>
            </a:extLst>
          </p:cNvPr>
          <p:cNvSpPr/>
          <p:nvPr/>
        </p:nvSpPr>
        <p:spPr>
          <a:xfrm>
            <a:off x="3242082" y="5660385"/>
            <a:ext cx="648000" cy="288000"/>
          </a:xfrm>
          <a:prstGeom prst="roundRect">
            <a:avLst/>
          </a:prstGeom>
          <a:solidFill>
            <a:srgbClr val="B6D3EC"/>
          </a:solidFill>
          <a:ln w="6350"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HUB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6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/>
              </a:rPr>
              <a:t>-</a:t>
            </a:r>
            <a:endParaRPr kumimoji="0" lang="fr-FR" sz="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4" name="BA_NPC">
            <a:extLst>
              <a:ext uri="{FF2B5EF4-FFF2-40B4-BE49-F238E27FC236}">
                <a16:creationId xmlns:a16="http://schemas.microsoft.com/office/drawing/2014/main" id="{67DCF3D9-9517-0E7A-B27A-987E78D981E7}"/>
              </a:ext>
            </a:extLst>
          </p:cNvPr>
          <p:cNvSpPr/>
          <p:nvPr/>
        </p:nvSpPr>
        <p:spPr>
          <a:xfrm>
            <a:off x="3515693" y="5337169"/>
            <a:ext cx="648000" cy="288000"/>
          </a:xfrm>
          <a:prstGeom prst="roundRect">
            <a:avLst/>
          </a:prstGeom>
          <a:solidFill>
            <a:srgbClr val="B6D3EC"/>
          </a:solidFill>
          <a:ln w="6350"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NPC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6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/>
              </a:rPr>
              <a:t>-</a:t>
            </a:r>
            <a:endParaRPr kumimoji="0" lang="fr-FR" sz="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5" name="BA_Microservices">
            <a:extLst>
              <a:ext uri="{FF2B5EF4-FFF2-40B4-BE49-F238E27FC236}">
                <a16:creationId xmlns:a16="http://schemas.microsoft.com/office/drawing/2014/main" id="{66CA54FF-CDCE-CAC1-C3DC-1F1285B1EB33}"/>
              </a:ext>
            </a:extLst>
          </p:cNvPr>
          <p:cNvSpPr/>
          <p:nvPr/>
        </p:nvSpPr>
        <p:spPr>
          <a:xfrm>
            <a:off x="1867224" y="5336000"/>
            <a:ext cx="925408" cy="288000"/>
          </a:xfrm>
          <a:prstGeom prst="roundRect">
            <a:avLst/>
          </a:prstGeom>
          <a:solidFill>
            <a:srgbClr val="B6D3EC"/>
          </a:solidFill>
          <a:ln w="6350"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Microservices</a:t>
            </a:r>
            <a:endParaRPr kumimoji="0" lang="fr-FR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6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/>
              </a:rPr>
              <a:t>-</a:t>
            </a:r>
            <a:endParaRPr kumimoji="0" lang="fr-FR" sz="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6" name="BA_SIG9">
            <a:extLst>
              <a:ext uri="{FF2B5EF4-FFF2-40B4-BE49-F238E27FC236}">
                <a16:creationId xmlns:a16="http://schemas.microsoft.com/office/drawing/2014/main" id="{F5A25FB1-59AE-FB7B-FA6A-A12453FCABD5}"/>
              </a:ext>
            </a:extLst>
          </p:cNvPr>
          <p:cNvSpPr/>
          <p:nvPr/>
        </p:nvSpPr>
        <p:spPr>
          <a:xfrm>
            <a:off x="4203138" y="5331299"/>
            <a:ext cx="648000" cy="288000"/>
          </a:xfrm>
          <a:prstGeom prst="roundRect">
            <a:avLst/>
          </a:prstGeom>
          <a:solidFill>
            <a:srgbClr val="B6D3EC"/>
          </a:solidFill>
          <a:ln w="6350"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SIG9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6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/>
              </a:rPr>
              <a:t>-</a:t>
            </a:r>
            <a:endParaRPr kumimoji="0" lang="fr-FR" sz="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7" name="Gr_MVS">
            <a:extLst>
              <a:ext uri="{FF2B5EF4-FFF2-40B4-BE49-F238E27FC236}">
                <a16:creationId xmlns:a16="http://schemas.microsoft.com/office/drawing/2014/main" id="{AE375885-4B6D-5890-1D30-6866F25F5141}"/>
              </a:ext>
            </a:extLst>
          </p:cNvPr>
          <p:cNvSpPr/>
          <p:nvPr/>
        </p:nvSpPr>
        <p:spPr>
          <a:xfrm>
            <a:off x="560497" y="1111645"/>
            <a:ext cx="2901105" cy="1661382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  <a:effectLst>
            <a:outerShdw blurRad="50800" dist="38100" dir="2700000" algn="ctr" rotWithShape="0">
              <a:schemeClr val="tx1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/>
            </a:endParaRPr>
          </a:p>
        </p:txBody>
      </p:sp>
      <p:sp>
        <p:nvSpPr>
          <p:cNvPr id="238" name="BA_CICS_LCL">
            <a:extLst>
              <a:ext uri="{FF2B5EF4-FFF2-40B4-BE49-F238E27FC236}">
                <a16:creationId xmlns:a16="http://schemas.microsoft.com/office/drawing/2014/main" id="{98D882AA-0A9E-ECF7-A448-88A23EA70987}"/>
              </a:ext>
            </a:extLst>
          </p:cNvPr>
          <p:cNvSpPr/>
          <p:nvPr/>
        </p:nvSpPr>
        <p:spPr>
          <a:xfrm>
            <a:off x="623669" y="1641943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CICS</a:t>
            </a:r>
          </a:p>
        </p:txBody>
      </p:sp>
      <p:sp>
        <p:nvSpPr>
          <p:cNvPr id="239" name="BA_DB2_LCL">
            <a:extLst>
              <a:ext uri="{FF2B5EF4-FFF2-40B4-BE49-F238E27FC236}">
                <a16:creationId xmlns:a16="http://schemas.microsoft.com/office/drawing/2014/main" id="{6665B02E-A1F7-4B94-AB8D-1D6F6F8D6AED}"/>
              </a:ext>
            </a:extLst>
          </p:cNvPr>
          <p:cNvSpPr/>
          <p:nvPr/>
        </p:nvSpPr>
        <p:spPr>
          <a:xfrm>
            <a:off x="1307275" y="1641222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DB2</a:t>
            </a:r>
          </a:p>
        </p:txBody>
      </p:sp>
      <p:sp>
        <p:nvSpPr>
          <p:cNvPr id="240" name="ZT_MVS">
            <a:extLst>
              <a:ext uri="{FF2B5EF4-FFF2-40B4-BE49-F238E27FC236}">
                <a16:creationId xmlns:a16="http://schemas.microsoft.com/office/drawing/2014/main" id="{51B1649E-3454-E714-0AB6-055F5D480A07}"/>
              </a:ext>
            </a:extLst>
          </p:cNvPr>
          <p:cNvSpPr txBox="1"/>
          <p:nvPr/>
        </p:nvSpPr>
        <p:spPr>
          <a:xfrm>
            <a:off x="560496" y="1111645"/>
            <a:ext cx="2901106" cy="246221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MVS Z/OS (</a:t>
            </a:r>
            <a:r>
              <a:rPr kumimoji="0" lang="fr-FR" sz="1000" b="1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Ingenium</a:t>
            </a:r>
            <a:r>
              <a:rPr kumimoji="0" lang="fr-FR" sz="1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)</a:t>
            </a:r>
            <a:endParaRPr kumimoji="0" lang="fr-FR" sz="1000" b="1" i="1" u="none" strike="noStrike" kern="1200" cap="none" spc="0" normalizeH="0" baseline="0" noProof="0" dirty="0">
              <a:ln>
                <a:noFill/>
              </a:ln>
              <a:solidFill>
                <a:srgbClr val="ED7D3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1" name="BA_ING_CA">
            <a:extLst>
              <a:ext uri="{FF2B5EF4-FFF2-40B4-BE49-F238E27FC236}">
                <a16:creationId xmlns:a16="http://schemas.microsoft.com/office/drawing/2014/main" id="{36693046-3B5B-17A0-80FE-0CFBFF0FACF0}"/>
              </a:ext>
            </a:extLst>
          </p:cNvPr>
          <p:cNvSpPr/>
          <p:nvPr/>
        </p:nvSpPr>
        <p:spPr>
          <a:xfrm>
            <a:off x="2043446" y="1970146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INVI/VC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Ingenium</a:t>
            </a: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 CA</a:t>
            </a:r>
          </a:p>
        </p:txBody>
      </p:sp>
      <p:sp>
        <p:nvSpPr>
          <p:cNvPr id="242" name="BA_PE_CA">
            <a:extLst>
              <a:ext uri="{FF2B5EF4-FFF2-40B4-BE49-F238E27FC236}">
                <a16:creationId xmlns:a16="http://schemas.microsoft.com/office/drawing/2014/main" id="{570C3775-4D21-3A58-9F12-CE6FC210F763}"/>
              </a:ext>
            </a:extLst>
          </p:cNvPr>
          <p:cNvSpPr/>
          <p:nvPr/>
        </p:nvSpPr>
        <p:spPr>
          <a:xfrm>
            <a:off x="2716487" y="1971824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PE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Base Pers CA</a:t>
            </a:r>
          </a:p>
        </p:txBody>
      </p:sp>
      <p:sp>
        <p:nvSpPr>
          <p:cNvPr id="243" name="BA_Autre_CA">
            <a:extLst>
              <a:ext uri="{FF2B5EF4-FFF2-40B4-BE49-F238E27FC236}">
                <a16:creationId xmlns:a16="http://schemas.microsoft.com/office/drawing/2014/main" id="{F5AD0149-1590-A389-BD66-6CBBF19F8B53}"/>
              </a:ext>
            </a:extLst>
          </p:cNvPr>
          <p:cNvSpPr/>
          <p:nvPr/>
        </p:nvSpPr>
        <p:spPr>
          <a:xfrm>
            <a:off x="2377796" y="2309491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…</a:t>
            </a:r>
          </a:p>
        </p:txBody>
      </p:sp>
      <p:sp>
        <p:nvSpPr>
          <p:cNvPr id="244" name="BA_ING_LCL">
            <a:extLst>
              <a:ext uri="{FF2B5EF4-FFF2-40B4-BE49-F238E27FC236}">
                <a16:creationId xmlns:a16="http://schemas.microsoft.com/office/drawing/2014/main" id="{35EFFDDA-3FFC-D0C4-0794-6D4DBA5D9F13}"/>
              </a:ext>
            </a:extLst>
          </p:cNvPr>
          <p:cNvSpPr/>
          <p:nvPr/>
        </p:nvSpPr>
        <p:spPr>
          <a:xfrm>
            <a:off x="619469" y="1964817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INVI/VC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Ingenium</a:t>
            </a: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 LCL</a:t>
            </a:r>
          </a:p>
        </p:txBody>
      </p:sp>
      <p:sp>
        <p:nvSpPr>
          <p:cNvPr id="245" name="BA_PE_LCL">
            <a:extLst>
              <a:ext uri="{FF2B5EF4-FFF2-40B4-BE49-F238E27FC236}">
                <a16:creationId xmlns:a16="http://schemas.microsoft.com/office/drawing/2014/main" id="{574589FB-4557-4C5B-3EDD-B2079F83EA15}"/>
              </a:ext>
            </a:extLst>
          </p:cNvPr>
          <p:cNvSpPr/>
          <p:nvPr/>
        </p:nvSpPr>
        <p:spPr>
          <a:xfrm>
            <a:off x="1305439" y="1963152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PE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Base Pers LCL</a:t>
            </a:r>
          </a:p>
        </p:txBody>
      </p:sp>
      <p:sp>
        <p:nvSpPr>
          <p:cNvPr id="246" name="BA_Autre_LCL">
            <a:extLst>
              <a:ext uri="{FF2B5EF4-FFF2-40B4-BE49-F238E27FC236}">
                <a16:creationId xmlns:a16="http://schemas.microsoft.com/office/drawing/2014/main" id="{FFB1E155-F76D-175B-0ACA-14CBC5824C1D}"/>
              </a:ext>
            </a:extLst>
          </p:cNvPr>
          <p:cNvSpPr/>
          <p:nvPr/>
        </p:nvSpPr>
        <p:spPr>
          <a:xfrm>
            <a:off x="1010215" y="2285082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…</a:t>
            </a:r>
          </a:p>
        </p:txBody>
      </p:sp>
      <p:cxnSp>
        <p:nvCxnSpPr>
          <p:cNvPr id="247" name="Connecteur droit">
            <a:extLst>
              <a:ext uri="{FF2B5EF4-FFF2-40B4-BE49-F238E27FC236}">
                <a16:creationId xmlns:a16="http://schemas.microsoft.com/office/drawing/2014/main" id="{8DCC6029-3B34-ED22-30D1-53D630D4C007}"/>
              </a:ext>
            </a:extLst>
          </p:cNvPr>
          <p:cNvCxnSpPr/>
          <p:nvPr/>
        </p:nvCxnSpPr>
        <p:spPr>
          <a:xfrm>
            <a:off x="1984365" y="1430388"/>
            <a:ext cx="4993" cy="1220450"/>
          </a:xfrm>
          <a:prstGeom prst="line">
            <a:avLst/>
          </a:prstGeom>
          <a:ln w="9525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8" name="ZT_CA">
            <a:extLst>
              <a:ext uri="{FF2B5EF4-FFF2-40B4-BE49-F238E27FC236}">
                <a16:creationId xmlns:a16="http://schemas.microsoft.com/office/drawing/2014/main" id="{CAA8203A-056F-DF23-1FEB-2236349A0CFC}"/>
              </a:ext>
            </a:extLst>
          </p:cNvPr>
          <p:cNvSpPr txBox="1"/>
          <p:nvPr/>
        </p:nvSpPr>
        <p:spPr>
          <a:xfrm>
            <a:off x="2418813" y="1371697"/>
            <a:ext cx="551086" cy="246221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CA</a:t>
            </a:r>
            <a:endParaRPr kumimoji="0" lang="fr-FR" sz="1000" b="1" i="1" u="none" strike="noStrike" kern="1200" cap="none" spc="0" normalizeH="0" baseline="0" noProof="0" dirty="0">
              <a:ln>
                <a:noFill/>
              </a:ln>
              <a:solidFill>
                <a:srgbClr val="ED7D3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9" name="ZT_LCL">
            <a:extLst>
              <a:ext uri="{FF2B5EF4-FFF2-40B4-BE49-F238E27FC236}">
                <a16:creationId xmlns:a16="http://schemas.microsoft.com/office/drawing/2014/main" id="{475783A8-C541-BE26-BCAD-31C75DFB06C6}"/>
              </a:ext>
            </a:extLst>
          </p:cNvPr>
          <p:cNvSpPr txBox="1"/>
          <p:nvPr/>
        </p:nvSpPr>
        <p:spPr>
          <a:xfrm>
            <a:off x="1032399" y="1378099"/>
            <a:ext cx="551086" cy="246221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LCL</a:t>
            </a:r>
            <a:endParaRPr kumimoji="0" lang="fr-FR" sz="1000" b="1" i="1" u="none" strike="noStrike" kern="1200" cap="none" spc="0" normalizeH="0" baseline="0" noProof="0" dirty="0">
              <a:ln>
                <a:noFill/>
              </a:ln>
              <a:solidFill>
                <a:srgbClr val="ED7D3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0" name="BA_CICS_CA">
            <a:extLst>
              <a:ext uri="{FF2B5EF4-FFF2-40B4-BE49-F238E27FC236}">
                <a16:creationId xmlns:a16="http://schemas.microsoft.com/office/drawing/2014/main" id="{EA899661-6355-71F6-838C-C8FFA474A2CA}"/>
              </a:ext>
            </a:extLst>
          </p:cNvPr>
          <p:cNvSpPr/>
          <p:nvPr/>
        </p:nvSpPr>
        <p:spPr>
          <a:xfrm>
            <a:off x="2021573" y="1646459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CICS</a:t>
            </a:r>
          </a:p>
        </p:txBody>
      </p:sp>
      <p:sp>
        <p:nvSpPr>
          <p:cNvPr id="251" name="BA_DB2_CA">
            <a:extLst>
              <a:ext uri="{FF2B5EF4-FFF2-40B4-BE49-F238E27FC236}">
                <a16:creationId xmlns:a16="http://schemas.microsoft.com/office/drawing/2014/main" id="{8E17E7EB-A46B-9B15-4FD6-2802CBE90493}"/>
              </a:ext>
            </a:extLst>
          </p:cNvPr>
          <p:cNvSpPr/>
          <p:nvPr/>
        </p:nvSpPr>
        <p:spPr>
          <a:xfrm>
            <a:off x="2717879" y="1645738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DB2</a:t>
            </a:r>
          </a:p>
        </p:txBody>
      </p:sp>
      <p:sp>
        <p:nvSpPr>
          <p:cNvPr id="252" name="BA_GG">
            <a:extLst>
              <a:ext uri="{FF2B5EF4-FFF2-40B4-BE49-F238E27FC236}">
                <a16:creationId xmlns:a16="http://schemas.microsoft.com/office/drawing/2014/main" id="{EECC46B7-6132-FECE-A8BF-26CD8AB92285}"/>
              </a:ext>
            </a:extLst>
          </p:cNvPr>
          <p:cNvSpPr/>
          <p:nvPr/>
        </p:nvSpPr>
        <p:spPr>
          <a:xfrm>
            <a:off x="5540187" y="2498620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GG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Sim.Prév</a:t>
            </a: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. Décès</a:t>
            </a:r>
          </a:p>
        </p:txBody>
      </p:sp>
      <p:sp>
        <p:nvSpPr>
          <p:cNvPr id="253" name="BA_GH">
            <a:extLst>
              <a:ext uri="{FF2B5EF4-FFF2-40B4-BE49-F238E27FC236}">
                <a16:creationId xmlns:a16="http://schemas.microsoft.com/office/drawing/2014/main" id="{B62F2E99-36C7-CA5F-FA46-D050A1C84658}"/>
              </a:ext>
            </a:extLst>
          </p:cNvPr>
          <p:cNvSpPr/>
          <p:nvPr/>
        </p:nvSpPr>
        <p:spPr>
          <a:xfrm>
            <a:off x="6247379" y="2507699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GH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Moteur </a:t>
            </a:r>
            <a:r>
              <a:rPr kumimoji="0" lang="fr-FR" sz="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Epicaste</a:t>
            </a:r>
            <a:endParaRPr kumimoji="0" lang="fr-FR" sz="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4" name="Gr_Editique">
            <a:extLst>
              <a:ext uri="{FF2B5EF4-FFF2-40B4-BE49-F238E27FC236}">
                <a16:creationId xmlns:a16="http://schemas.microsoft.com/office/drawing/2014/main" id="{7615A7D5-6B44-C35C-37FB-6BE65931EDF5}"/>
              </a:ext>
            </a:extLst>
          </p:cNvPr>
          <p:cNvSpPr/>
          <p:nvPr/>
        </p:nvSpPr>
        <p:spPr>
          <a:xfrm>
            <a:off x="6994566" y="3106138"/>
            <a:ext cx="754043" cy="61200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  <a:effectLst>
            <a:outerShdw blurRad="50800" dist="38100" dir="2700000" algn="ctr" rotWithShape="0">
              <a:schemeClr val="tx1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/>
            </a:endParaRPr>
          </a:p>
        </p:txBody>
      </p:sp>
      <p:sp>
        <p:nvSpPr>
          <p:cNvPr id="255" name="ZT_Editique">
            <a:extLst>
              <a:ext uri="{FF2B5EF4-FFF2-40B4-BE49-F238E27FC236}">
                <a16:creationId xmlns:a16="http://schemas.microsoft.com/office/drawing/2014/main" id="{7CB08097-1975-0EE7-4A21-3CB5B9CA5F39}"/>
              </a:ext>
            </a:extLst>
          </p:cNvPr>
          <p:cNvSpPr txBox="1"/>
          <p:nvPr/>
        </p:nvSpPr>
        <p:spPr>
          <a:xfrm>
            <a:off x="6967388" y="3133723"/>
            <a:ext cx="781221" cy="246221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Editique</a:t>
            </a:r>
          </a:p>
        </p:txBody>
      </p:sp>
      <p:sp>
        <p:nvSpPr>
          <p:cNvPr id="256" name="BA_ONDM">
            <a:extLst>
              <a:ext uri="{FF2B5EF4-FFF2-40B4-BE49-F238E27FC236}">
                <a16:creationId xmlns:a16="http://schemas.microsoft.com/office/drawing/2014/main" id="{2BB08472-E0E2-3500-A45D-B62DF792A581}"/>
              </a:ext>
            </a:extLst>
          </p:cNvPr>
          <p:cNvSpPr/>
          <p:nvPr/>
        </p:nvSpPr>
        <p:spPr>
          <a:xfrm>
            <a:off x="7053165" y="3363079"/>
            <a:ext cx="648000" cy="276281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ONDM</a:t>
            </a:r>
            <a:endParaRPr kumimoji="0" lang="fr-FR" sz="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On </a:t>
            </a:r>
            <a:r>
              <a:rPr kumimoji="0" lang="fr-FR" sz="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Demand</a:t>
            </a:r>
            <a:endParaRPr kumimoji="0" lang="fr-FR" sz="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257" name="Groupe_Retour">
            <a:extLst>
              <a:ext uri="{FF2B5EF4-FFF2-40B4-BE49-F238E27FC236}">
                <a16:creationId xmlns:a16="http://schemas.microsoft.com/office/drawing/2014/main" id="{1212A3DA-5C74-7BCC-9FD5-A32C8992D872}"/>
              </a:ext>
            </a:extLst>
          </p:cNvPr>
          <p:cNvGrpSpPr/>
          <p:nvPr/>
        </p:nvGrpSpPr>
        <p:grpSpPr>
          <a:xfrm>
            <a:off x="0" y="0"/>
            <a:ext cx="1417975" cy="461665"/>
            <a:chOff x="0" y="0"/>
            <a:chExt cx="1417975" cy="461665"/>
          </a:xfrm>
        </p:grpSpPr>
        <p:sp>
          <p:nvSpPr>
            <p:cNvPr id="258" name="Rectangle 257">
              <a:hlinkClick r:id="rId3" action="ppaction://hlinksldjump"/>
              <a:extLst>
                <a:ext uri="{FF2B5EF4-FFF2-40B4-BE49-F238E27FC236}">
                  <a16:creationId xmlns:a16="http://schemas.microsoft.com/office/drawing/2014/main" id="{B32A592B-4507-C194-28C2-FC44C4170C6D}"/>
                </a:ext>
              </a:extLst>
            </p:cNvPr>
            <p:cNvSpPr/>
            <p:nvPr/>
          </p:nvSpPr>
          <p:spPr>
            <a:xfrm>
              <a:off x="0" y="0"/>
              <a:ext cx="768479" cy="461665"/>
            </a:xfrm>
            <a:prstGeom prst="rect">
              <a:avLst/>
            </a:prstGeom>
            <a:noFill/>
          </p:spPr>
          <p:txBody>
            <a:bodyPr wrap="square" lIns="91440" tIns="45720" rIns="91440" bIns="45720" anchor="ctr">
              <a:spAutoFit/>
            </a:bodyPr>
            <a:lstStyle/>
            <a:p>
              <a:pPr algn="ctr"/>
              <a:r>
                <a:rPr lang="fr-FR" sz="2400" b="1" spc="50" dirty="0">
                  <a:ln w="9525" cmpd="sng">
                    <a:solidFill>
                      <a:schemeClr val="accent1"/>
                    </a:solidFill>
                    <a:prstDash val="solid"/>
                  </a:ln>
                  <a:solidFill>
                    <a:srgbClr val="70AD47">
                      <a:tint val="1000"/>
                    </a:srgbClr>
                  </a:solidFill>
                  <a:effectLst>
                    <a:glow rad="38100">
                      <a:schemeClr val="accent1">
                        <a:alpha val="40000"/>
                      </a:schemeClr>
                    </a:glow>
                  </a:effectLst>
                  <a:latin typeface="HoloLens MDL2 Assets" panose="050A0102010101010101" pitchFamily="18" charset="0"/>
                </a:rPr>
                <a:t></a:t>
              </a:r>
              <a:endParaRPr lang="fr-FR" sz="1400" dirty="0">
                <a:solidFill>
                  <a:srgbClr val="5B9BD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/>
              </a:endParaRPr>
            </a:p>
          </p:txBody>
        </p:sp>
        <p:sp>
          <p:nvSpPr>
            <p:cNvPr id="259" name="ZoneTexte 258">
              <a:extLst>
                <a:ext uri="{FF2B5EF4-FFF2-40B4-BE49-F238E27FC236}">
                  <a16:creationId xmlns:a16="http://schemas.microsoft.com/office/drawing/2014/main" id="{9ED46B6F-3E69-220B-17FF-7F5D581DA08B}"/>
                </a:ext>
              </a:extLst>
            </p:cNvPr>
            <p:cNvSpPr txBox="1"/>
            <p:nvPr/>
          </p:nvSpPr>
          <p:spPr>
            <a:xfrm>
              <a:off x="525450" y="71273"/>
              <a:ext cx="89252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1400" dirty="0">
                  <a:solidFill>
                    <a:srgbClr val="5B9BD5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libri" panose="020F0502020204030204"/>
                </a:rPr>
                <a:t>Retour</a:t>
              </a:r>
              <a:endParaRPr lang="fr-FR" sz="1400" dirty="0"/>
            </a:p>
          </p:txBody>
        </p:sp>
      </p:grpSp>
      <p:sp>
        <p:nvSpPr>
          <p:cNvPr id="260" name="BA_PW">
            <a:extLst>
              <a:ext uri="{FF2B5EF4-FFF2-40B4-BE49-F238E27FC236}">
                <a16:creationId xmlns:a16="http://schemas.microsoft.com/office/drawing/2014/main" id="{DEF5DE89-7112-BE3D-6EAC-ACE7C41C905C}"/>
              </a:ext>
            </a:extLst>
          </p:cNvPr>
          <p:cNvSpPr/>
          <p:nvPr/>
        </p:nvSpPr>
        <p:spPr>
          <a:xfrm>
            <a:off x="4517645" y="1819606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PW</a:t>
            </a:r>
            <a:br>
              <a:rPr lang="fr-FR" sz="10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/>
              </a:rPr>
            </a:b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SFC</a:t>
            </a:r>
          </a:p>
        </p:txBody>
      </p:sp>
      <p:sp>
        <p:nvSpPr>
          <p:cNvPr id="2" name="Étoile à 5 branches">
            <a:extLst>
              <a:ext uri="{FF2B5EF4-FFF2-40B4-BE49-F238E27FC236}">
                <a16:creationId xmlns:a16="http://schemas.microsoft.com/office/drawing/2014/main" id="{8F6F5B01-7633-BAC7-1FC5-D133F326A6F5}"/>
              </a:ext>
            </a:extLst>
          </p:cNvPr>
          <p:cNvSpPr/>
          <p:nvPr/>
        </p:nvSpPr>
        <p:spPr>
          <a:xfrm>
            <a:off x="9368151" y="554532"/>
            <a:ext cx="108000" cy="108000"/>
          </a:xfrm>
          <a:prstGeom prst="star5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Légende_Nouveau_Bloc">
            <a:extLst>
              <a:ext uri="{FF2B5EF4-FFF2-40B4-BE49-F238E27FC236}">
                <a16:creationId xmlns:a16="http://schemas.microsoft.com/office/drawing/2014/main" id="{9B63819E-1783-74DC-16A9-3BE2AA078A23}"/>
              </a:ext>
            </a:extLst>
          </p:cNvPr>
          <p:cNvSpPr txBox="1"/>
          <p:nvPr/>
        </p:nvSpPr>
        <p:spPr>
          <a:xfrm>
            <a:off x="9464720" y="491658"/>
            <a:ext cx="934871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Nouveau bloc</a:t>
            </a:r>
          </a:p>
        </p:txBody>
      </p:sp>
      <p:sp>
        <p:nvSpPr>
          <p:cNvPr id="4" name="Légende_Nouveau_Bloc">
            <a:extLst>
              <a:ext uri="{FF2B5EF4-FFF2-40B4-BE49-F238E27FC236}">
                <a16:creationId xmlns:a16="http://schemas.microsoft.com/office/drawing/2014/main" id="{19289356-6871-B97E-CBFB-7C317A11AA50}"/>
              </a:ext>
            </a:extLst>
          </p:cNvPr>
          <p:cNvSpPr txBox="1"/>
          <p:nvPr/>
        </p:nvSpPr>
        <p:spPr>
          <a:xfrm>
            <a:off x="9467926" y="723619"/>
            <a:ext cx="963725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Bloc supprimé</a:t>
            </a:r>
          </a:p>
        </p:txBody>
      </p:sp>
      <p:sp>
        <p:nvSpPr>
          <p:cNvPr id="5" name="Croix 4">
            <a:extLst>
              <a:ext uri="{FF2B5EF4-FFF2-40B4-BE49-F238E27FC236}">
                <a16:creationId xmlns:a16="http://schemas.microsoft.com/office/drawing/2014/main" id="{29795AF9-DC41-40AE-600B-1B6E8829D126}"/>
              </a:ext>
            </a:extLst>
          </p:cNvPr>
          <p:cNvSpPr/>
          <p:nvPr/>
        </p:nvSpPr>
        <p:spPr>
          <a:xfrm rot="2700000">
            <a:off x="9371629" y="785103"/>
            <a:ext cx="108000" cy="108000"/>
          </a:xfrm>
          <a:prstGeom prst="plus">
            <a:avLst>
              <a:gd name="adj" fmla="val 45756"/>
            </a:avLst>
          </a:prstGeom>
          <a:solidFill>
            <a:schemeClr val="tx1"/>
          </a:solidFill>
          <a:ln>
            <a:solidFill>
              <a:srgbClr val="FF0000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BA_GH">
            <a:extLst>
              <a:ext uri="{FF2B5EF4-FFF2-40B4-BE49-F238E27FC236}">
                <a16:creationId xmlns:a16="http://schemas.microsoft.com/office/drawing/2014/main" id="{CFE2B597-13B2-A597-FF9B-B375C2ACC7F5}"/>
              </a:ext>
            </a:extLst>
          </p:cNvPr>
          <p:cNvSpPr/>
          <p:nvPr/>
        </p:nvSpPr>
        <p:spPr>
          <a:xfrm>
            <a:off x="6247379" y="1786384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HJ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Contenus statiques</a:t>
            </a:r>
          </a:p>
        </p:txBody>
      </p:sp>
      <p:sp>
        <p:nvSpPr>
          <p:cNvPr id="16" name="BA_H4">
            <a:extLst>
              <a:ext uri="{FF2B5EF4-FFF2-40B4-BE49-F238E27FC236}">
                <a16:creationId xmlns:a16="http://schemas.microsoft.com/office/drawing/2014/main" id="{CE85380C-2F81-E18E-7ED5-50FA57080098}"/>
              </a:ext>
            </a:extLst>
          </p:cNvPr>
          <p:cNvSpPr/>
          <p:nvPr/>
        </p:nvSpPr>
        <p:spPr>
          <a:xfrm>
            <a:off x="9490384" y="2374473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H4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API VR </a:t>
            </a:r>
            <a:r>
              <a:rPr kumimoji="0" lang="fr-FR" sz="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Selfcare</a:t>
            </a:r>
            <a:endParaRPr kumimoji="0" lang="fr-FR" sz="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BA_HH">
            <a:extLst>
              <a:ext uri="{FF2B5EF4-FFF2-40B4-BE49-F238E27FC236}">
                <a16:creationId xmlns:a16="http://schemas.microsoft.com/office/drawing/2014/main" id="{12641ADC-E315-4294-964E-E3C24A4E2574}"/>
              </a:ext>
            </a:extLst>
          </p:cNvPr>
          <p:cNvSpPr/>
          <p:nvPr/>
        </p:nvSpPr>
        <p:spPr>
          <a:xfrm>
            <a:off x="10160477" y="2374473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HH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API Sim. épargne</a:t>
            </a:r>
          </a:p>
        </p:txBody>
      </p:sp>
      <p:sp>
        <p:nvSpPr>
          <p:cNvPr id="23" name="Gr_LCL">
            <a:extLst>
              <a:ext uri="{FF2B5EF4-FFF2-40B4-BE49-F238E27FC236}">
                <a16:creationId xmlns:a16="http://schemas.microsoft.com/office/drawing/2014/main" id="{53DEF8C2-9A6E-CC24-710F-049DBEE59359}"/>
              </a:ext>
            </a:extLst>
          </p:cNvPr>
          <p:cNvSpPr/>
          <p:nvPr/>
        </p:nvSpPr>
        <p:spPr>
          <a:xfrm>
            <a:off x="6694998" y="5122749"/>
            <a:ext cx="5013815" cy="1248594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/>
            </a:endParaRPr>
          </a:p>
        </p:txBody>
      </p:sp>
      <p:sp>
        <p:nvSpPr>
          <p:cNvPr id="24" name="ZT_LCL">
            <a:extLst>
              <a:ext uri="{FF2B5EF4-FFF2-40B4-BE49-F238E27FC236}">
                <a16:creationId xmlns:a16="http://schemas.microsoft.com/office/drawing/2014/main" id="{6C06E81E-D794-D783-1FF6-7897F0173AAD}"/>
              </a:ext>
            </a:extLst>
          </p:cNvPr>
          <p:cNvSpPr txBox="1"/>
          <p:nvPr/>
        </p:nvSpPr>
        <p:spPr>
          <a:xfrm>
            <a:off x="6867319" y="5107819"/>
            <a:ext cx="4654827" cy="246221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LCL</a:t>
            </a:r>
            <a:endParaRPr kumimoji="0" lang="fr-FR" sz="1000" b="1" i="1" u="none" strike="noStrike" kern="1200" cap="none" spc="0" normalizeH="0" baseline="0" noProof="0" dirty="0">
              <a:ln>
                <a:noFill/>
              </a:ln>
              <a:solidFill>
                <a:srgbClr val="7030A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BA_BEL">
            <a:extLst>
              <a:ext uri="{FF2B5EF4-FFF2-40B4-BE49-F238E27FC236}">
                <a16:creationId xmlns:a16="http://schemas.microsoft.com/office/drawing/2014/main" id="{A44C7881-E87A-FC49-20DA-F20EE7DCFD53}"/>
              </a:ext>
            </a:extLst>
          </p:cNvPr>
          <p:cNvSpPr/>
          <p:nvPr/>
        </p:nvSpPr>
        <p:spPr>
          <a:xfrm>
            <a:off x="6755525" y="5643027"/>
            <a:ext cx="648000" cy="288000"/>
          </a:xfrm>
          <a:prstGeom prst="roundRect">
            <a:avLst/>
          </a:prstGeom>
          <a:solidFill>
            <a:srgbClr val="B6D3EC"/>
          </a:solidFill>
          <a:ln w="6350">
            <a:solidFill>
              <a:schemeClr val="accent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0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/>
              </a:rPr>
              <a:t>BEL</a:t>
            </a:r>
          </a:p>
          <a:p>
            <a:pPr algn="ctr"/>
            <a:r>
              <a:rPr lang="fr-FR" sz="10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/>
              </a:rPr>
              <a:t>-</a:t>
            </a:r>
          </a:p>
        </p:txBody>
      </p:sp>
      <p:sp>
        <p:nvSpPr>
          <p:cNvPr id="26" name="BA_Docapost">
            <a:extLst>
              <a:ext uri="{FF2B5EF4-FFF2-40B4-BE49-F238E27FC236}">
                <a16:creationId xmlns:a16="http://schemas.microsoft.com/office/drawing/2014/main" id="{33C13BB4-C0BC-05CA-E14F-A893B3F33CB7}"/>
              </a:ext>
            </a:extLst>
          </p:cNvPr>
          <p:cNvSpPr/>
          <p:nvPr/>
        </p:nvSpPr>
        <p:spPr>
          <a:xfrm>
            <a:off x="6766052" y="5987729"/>
            <a:ext cx="648000" cy="288000"/>
          </a:xfrm>
          <a:prstGeom prst="roundRect">
            <a:avLst/>
          </a:prstGeom>
          <a:solidFill>
            <a:srgbClr val="B6D3EC"/>
          </a:solidFill>
          <a:ln w="6350">
            <a:solidFill>
              <a:schemeClr val="accent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0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/>
              </a:rPr>
              <a:t>Docapost</a:t>
            </a:r>
          </a:p>
          <a:p>
            <a:pPr algn="ctr"/>
            <a:r>
              <a:rPr lang="fr-FR" sz="10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/>
              </a:rPr>
              <a:t>-</a:t>
            </a:r>
          </a:p>
        </p:txBody>
      </p:sp>
      <p:sp>
        <p:nvSpPr>
          <p:cNvPr id="30" name="BA_Mescomptes">
            <a:extLst>
              <a:ext uri="{FF2B5EF4-FFF2-40B4-BE49-F238E27FC236}">
                <a16:creationId xmlns:a16="http://schemas.microsoft.com/office/drawing/2014/main" id="{13397514-8282-A4D5-2ADF-7C6652C76E0E}"/>
              </a:ext>
            </a:extLst>
          </p:cNvPr>
          <p:cNvSpPr/>
          <p:nvPr/>
        </p:nvSpPr>
        <p:spPr>
          <a:xfrm>
            <a:off x="6755525" y="5323284"/>
            <a:ext cx="1326281" cy="288000"/>
          </a:xfrm>
          <a:prstGeom prst="roundRect">
            <a:avLst/>
          </a:prstGeom>
          <a:solidFill>
            <a:srgbClr val="B6D3EC"/>
          </a:solidFill>
          <a:ln w="6350">
            <a:solidFill>
              <a:schemeClr val="accent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000" dirty="0" err="1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/>
              </a:rPr>
              <a:t>MesComptes</a:t>
            </a:r>
            <a:endParaRPr lang="fr-FR" sz="1000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/>
            </a:endParaRPr>
          </a:p>
        </p:txBody>
      </p:sp>
      <p:sp>
        <p:nvSpPr>
          <p:cNvPr id="6" name="Gr_SimulAssur">
            <a:extLst>
              <a:ext uri="{FF2B5EF4-FFF2-40B4-BE49-F238E27FC236}">
                <a16:creationId xmlns:a16="http://schemas.microsoft.com/office/drawing/2014/main" id="{64F706D6-9536-8099-FF25-267AE7C11646}"/>
              </a:ext>
            </a:extLst>
          </p:cNvPr>
          <p:cNvSpPr/>
          <p:nvPr/>
        </p:nvSpPr>
        <p:spPr>
          <a:xfrm>
            <a:off x="4476637" y="3792663"/>
            <a:ext cx="1627675" cy="1021008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  <a:effectLst>
            <a:outerShdw blurRad="50800" dist="38100" dir="2700000" algn="ctr" rotWithShape="0">
              <a:schemeClr val="tx1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/>
            </a:endParaRPr>
          </a:p>
        </p:txBody>
      </p:sp>
      <p:sp>
        <p:nvSpPr>
          <p:cNvPr id="8" name="ZT_SimulAssur">
            <a:extLst>
              <a:ext uri="{FF2B5EF4-FFF2-40B4-BE49-F238E27FC236}">
                <a16:creationId xmlns:a16="http://schemas.microsoft.com/office/drawing/2014/main" id="{36C80DD3-9E98-E90A-4131-E47741F00560}"/>
              </a:ext>
            </a:extLst>
          </p:cNvPr>
          <p:cNvSpPr txBox="1"/>
          <p:nvPr/>
        </p:nvSpPr>
        <p:spPr>
          <a:xfrm>
            <a:off x="4500323" y="3819978"/>
            <a:ext cx="1714025" cy="246221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1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SimulAssur</a:t>
            </a:r>
            <a:endParaRPr kumimoji="0" lang="fr-FR" sz="1000" b="1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BA_VS">
            <a:extLst>
              <a:ext uri="{FF2B5EF4-FFF2-40B4-BE49-F238E27FC236}">
                <a16:creationId xmlns:a16="http://schemas.microsoft.com/office/drawing/2014/main" id="{5EB03F10-0805-855E-9C1A-D9B551C40290}"/>
              </a:ext>
            </a:extLst>
          </p:cNvPr>
          <p:cNvSpPr/>
          <p:nvPr/>
        </p:nvSpPr>
        <p:spPr>
          <a:xfrm>
            <a:off x="4611474" y="4115819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0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/>
              </a:rPr>
              <a:t>VS</a:t>
            </a:r>
            <a:endParaRPr kumimoji="0" lang="fr-FR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Sim, </a:t>
            </a:r>
            <a:r>
              <a:rPr kumimoji="0" lang="fr-FR" sz="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Ass.V</a:t>
            </a: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 pour LCL</a:t>
            </a:r>
          </a:p>
        </p:txBody>
      </p:sp>
      <p:sp>
        <p:nvSpPr>
          <p:cNvPr id="10" name="BA_RS">
            <a:extLst>
              <a:ext uri="{FF2B5EF4-FFF2-40B4-BE49-F238E27FC236}">
                <a16:creationId xmlns:a16="http://schemas.microsoft.com/office/drawing/2014/main" id="{8914F456-F160-0957-161D-944F94E79384}"/>
              </a:ext>
            </a:extLst>
          </p:cNvPr>
          <p:cNvSpPr/>
          <p:nvPr/>
        </p:nvSpPr>
        <p:spPr>
          <a:xfrm>
            <a:off x="5363789" y="4119805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SR</a:t>
            </a:r>
          </a:p>
          <a:p>
            <a:pPr lvl="0" algn="ctr">
              <a:defRPr/>
            </a:pPr>
            <a:r>
              <a:rPr lang="fr-FR" sz="6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Sim, </a:t>
            </a:r>
            <a:r>
              <a:rPr lang="fr-FR" sz="600" dirty="0" err="1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Ass.V</a:t>
            </a:r>
            <a:r>
              <a:rPr lang="fr-FR" sz="6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pour CA</a:t>
            </a:r>
          </a:p>
        </p:txBody>
      </p:sp>
      <p:sp>
        <p:nvSpPr>
          <p:cNvPr id="11" name="BA_EP">
            <a:extLst>
              <a:ext uri="{FF2B5EF4-FFF2-40B4-BE49-F238E27FC236}">
                <a16:creationId xmlns:a16="http://schemas.microsoft.com/office/drawing/2014/main" id="{41FEDF0A-AF07-EADC-54B4-B5C0CE64040C}"/>
              </a:ext>
            </a:extLst>
          </p:cNvPr>
          <p:cNvSpPr/>
          <p:nvPr/>
        </p:nvSpPr>
        <p:spPr>
          <a:xfrm>
            <a:off x="4611474" y="4500624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0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/>
              </a:rPr>
              <a:t>EP</a:t>
            </a:r>
            <a:endParaRPr kumimoji="0" lang="fr-FR" sz="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Sim, EPICASTE</a:t>
            </a:r>
          </a:p>
        </p:txBody>
      </p:sp>
      <p:sp>
        <p:nvSpPr>
          <p:cNvPr id="12" name="BA_Autre_PFD">
            <a:extLst>
              <a:ext uri="{FF2B5EF4-FFF2-40B4-BE49-F238E27FC236}">
                <a16:creationId xmlns:a16="http://schemas.microsoft.com/office/drawing/2014/main" id="{86D30D63-ADA1-DD42-2640-DE3756155EA2}"/>
              </a:ext>
            </a:extLst>
          </p:cNvPr>
          <p:cNvSpPr/>
          <p:nvPr/>
        </p:nvSpPr>
        <p:spPr>
          <a:xfrm>
            <a:off x="5363789" y="4472097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…</a:t>
            </a:r>
          </a:p>
        </p:txBody>
      </p:sp>
      <p:sp>
        <p:nvSpPr>
          <p:cNvPr id="13" name="Date_W1">
            <a:extLst>
              <a:ext uri="{FF2B5EF4-FFF2-40B4-BE49-F238E27FC236}">
                <a16:creationId xmlns:a16="http://schemas.microsoft.com/office/drawing/2014/main" id="{FDE922FB-2D4B-D4F9-1E89-E6A882440C02}"/>
              </a:ext>
            </a:extLst>
          </p:cNvPr>
          <p:cNvSpPr txBox="1"/>
          <p:nvPr/>
        </p:nvSpPr>
        <p:spPr>
          <a:xfrm rot="19102564">
            <a:off x="8191178" y="4206689"/>
            <a:ext cx="927160" cy="230832"/>
          </a:xfrm>
          <a:prstGeom prst="rect">
            <a:avLst/>
          </a:prstGeom>
          <a:noFill/>
          <a:ln cap="flat">
            <a:noFill/>
            <a:prstDash val="solid"/>
          </a:ln>
          <a:effectLst>
            <a:softEdge rad="0"/>
          </a:effectLst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900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/>
              </a:rPr>
              <a:t>26/05/26</a:t>
            </a:r>
            <a:endParaRPr kumimoji="0" lang="fr-FR" sz="900" b="0" i="0" u="none" strike="noStrike" kern="1200" cap="none" spc="0" normalizeH="0" baseline="0" noProof="0" dirty="0">
              <a:ln>
                <a:noFill/>
              </a:ln>
              <a:solidFill>
                <a:srgbClr val="7030A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Gr_CACI">
            <a:extLst>
              <a:ext uri="{FF2B5EF4-FFF2-40B4-BE49-F238E27FC236}">
                <a16:creationId xmlns:a16="http://schemas.microsoft.com/office/drawing/2014/main" id="{34AB5414-2688-7E70-929C-D664924389D6}"/>
              </a:ext>
            </a:extLst>
          </p:cNvPr>
          <p:cNvSpPr/>
          <p:nvPr/>
        </p:nvSpPr>
        <p:spPr>
          <a:xfrm>
            <a:off x="5728690" y="5108877"/>
            <a:ext cx="834318" cy="1269408"/>
          </a:xfrm>
          <a:prstGeom prst="roundRect">
            <a:avLst/>
          </a:prstGeom>
          <a:solidFill>
            <a:srgbClr val="DAE3F3"/>
          </a:solidFill>
          <a:ln>
            <a:solidFill>
              <a:schemeClr val="accent1"/>
            </a:solidFill>
            <a:prstDash val="lgDashDotDot"/>
          </a:ln>
          <a:effectLst>
            <a:outerShdw blurRad="50800" dist="38100" dir="2700000" algn="ctr" rotWithShape="0">
              <a:schemeClr val="tx1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/>
            </a:endParaRPr>
          </a:p>
        </p:txBody>
      </p:sp>
      <p:sp>
        <p:nvSpPr>
          <p:cNvPr id="15" name="ZT_CACI">
            <a:extLst>
              <a:ext uri="{FF2B5EF4-FFF2-40B4-BE49-F238E27FC236}">
                <a16:creationId xmlns:a16="http://schemas.microsoft.com/office/drawing/2014/main" id="{A0625872-5CEF-E354-AA51-5E216B14B801}"/>
              </a:ext>
            </a:extLst>
          </p:cNvPr>
          <p:cNvSpPr txBox="1"/>
          <p:nvPr/>
        </p:nvSpPr>
        <p:spPr>
          <a:xfrm>
            <a:off x="5746015" y="5144414"/>
            <a:ext cx="824943" cy="246221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CACI</a:t>
            </a:r>
          </a:p>
        </p:txBody>
      </p:sp>
      <p:sp>
        <p:nvSpPr>
          <p:cNvPr id="19" name="BA_CACIUtil">
            <a:extLst>
              <a:ext uri="{FF2B5EF4-FFF2-40B4-BE49-F238E27FC236}">
                <a16:creationId xmlns:a16="http://schemas.microsoft.com/office/drawing/2014/main" id="{404FDCFD-58DC-E7D5-FC7F-1A9995AA62D8}"/>
              </a:ext>
            </a:extLst>
          </p:cNvPr>
          <p:cNvSpPr/>
          <p:nvPr/>
        </p:nvSpPr>
        <p:spPr>
          <a:xfrm>
            <a:off x="5840010" y="5433527"/>
            <a:ext cx="648000" cy="343497"/>
          </a:xfrm>
          <a:prstGeom prst="roundRect">
            <a:avLst/>
          </a:prstGeom>
          <a:solidFill>
            <a:srgbClr val="70AD47"/>
          </a:solidFill>
          <a:ln>
            <a:solidFill>
              <a:schemeClr val="tx1"/>
            </a:solidFill>
            <a:prstDash val="lgDashDot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BA_CACIModif">
            <a:extLst>
              <a:ext uri="{FF2B5EF4-FFF2-40B4-BE49-F238E27FC236}">
                <a16:creationId xmlns:a16="http://schemas.microsoft.com/office/drawing/2014/main" id="{E818862D-565D-0733-D37C-883347990BA1}"/>
              </a:ext>
            </a:extLst>
          </p:cNvPr>
          <p:cNvSpPr/>
          <p:nvPr/>
        </p:nvSpPr>
        <p:spPr>
          <a:xfrm>
            <a:off x="5840010" y="5946965"/>
            <a:ext cx="648000" cy="343497"/>
          </a:xfrm>
          <a:prstGeom prst="roundRect">
            <a:avLst/>
          </a:prstGeom>
          <a:solidFill>
            <a:srgbClr val="ED7D31"/>
          </a:solidFill>
          <a:ln>
            <a:solidFill>
              <a:schemeClr val="tx1"/>
            </a:solidFill>
            <a:prstDash val="lgDashDot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853737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035DB7-7F16-9E84-80CA-A8D869C391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r_Global">
            <a:extLst>
              <a:ext uri="{FF2B5EF4-FFF2-40B4-BE49-F238E27FC236}">
                <a16:creationId xmlns:a16="http://schemas.microsoft.com/office/drawing/2014/main" id="{336A15AF-6EEE-BC40-4C8E-89450E2A82B6}"/>
              </a:ext>
            </a:extLst>
          </p:cNvPr>
          <p:cNvSpPr/>
          <p:nvPr/>
        </p:nvSpPr>
        <p:spPr>
          <a:xfrm>
            <a:off x="156924" y="1028327"/>
            <a:ext cx="11860567" cy="5512742"/>
          </a:xfrm>
          <a:prstGeom prst="roundRect">
            <a:avLst/>
          </a:prstGeom>
          <a:solidFill>
            <a:schemeClr val="bg1"/>
          </a:solidFill>
          <a:ln>
            <a:solidFill>
              <a:schemeClr val="accent1"/>
            </a:solidFill>
          </a:ln>
          <a:effectLst>
            <a:outerShdw blurRad="50800" dist="38100" dir="2700000" algn="tl" rotWithShape="0">
              <a:schemeClr val="tx1"/>
            </a:outerShdw>
          </a:effectLst>
        </p:spPr>
        <p:txBody>
          <a:bodyPr wrap="none" lIns="0" rIns="0" rtlCol="0" anchor="ctr">
            <a:noAutofit/>
          </a:bodyPr>
          <a:lstStyle/>
          <a:p>
            <a:pPr algn="ctr"/>
            <a:endParaRPr lang="fr-FR" sz="1600" b="1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1" name="Gr_NOVA">
            <a:extLst>
              <a:ext uri="{FF2B5EF4-FFF2-40B4-BE49-F238E27FC236}">
                <a16:creationId xmlns:a16="http://schemas.microsoft.com/office/drawing/2014/main" id="{D2C3667F-B1BF-8015-0B6D-E5A85C4B609E}"/>
              </a:ext>
            </a:extLst>
          </p:cNvPr>
          <p:cNvSpPr/>
          <p:nvPr/>
        </p:nvSpPr>
        <p:spPr>
          <a:xfrm>
            <a:off x="5407282" y="1111645"/>
            <a:ext cx="2350211" cy="1879964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  <a:effectLst>
            <a:outerShdw blurRad="50800" dist="38100" dir="2700000" algn="ctr" rotWithShape="0">
              <a:schemeClr val="tx1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/>
            </a:endParaRPr>
          </a:p>
        </p:txBody>
      </p:sp>
      <p:sp>
        <p:nvSpPr>
          <p:cNvPr id="92" name="ZT_NOVA">
            <a:extLst>
              <a:ext uri="{FF2B5EF4-FFF2-40B4-BE49-F238E27FC236}">
                <a16:creationId xmlns:a16="http://schemas.microsoft.com/office/drawing/2014/main" id="{44809044-B047-0964-5B11-DE6527619EFB}"/>
              </a:ext>
            </a:extLst>
          </p:cNvPr>
          <p:cNvSpPr txBox="1"/>
          <p:nvPr/>
        </p:nvSpPr>
        <p:spPr>
          <a:xfrm>
            <a:off x="5402982" y="1138960"/>
            <a:ext cx="2354511" cy="246221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NOVA</a:t>
            </a:r>
            <a:endParaRPr kumimoji="0" lang="fr-FR" sz="1000" b="1" i="1" u="none" strike="noStrike" kern="1200" cap="none" spc="0" normalizeH="0" baseline="0" noProof="0" dirty="0">
              <a:ln>
                <a:noFill/>
              </a:ln>
              <a:solidFill>
                <a:srgbClr val="ED7D3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8" name="BA_OX">
            <a:extLst>
              <a:ext uri="{FF2B5EF4-FFF2-40B4-BE49-F238E27FC236}">
                <a16:creationId xmlns:a16="http://schemas.microsoft.com/office/drawing/2014/main" id="{DAA8D0C2-E7CA-0773-8EE4-5AAF76A136D6}"/>
              </a:ext>
            </a:extLst>
          </p:cNvPr>
          <p:cNvSpPr/>
          <p:nvPr/>
        </p:nvSpPr>
        <p:spPr>
          <a:xfrm>
            <a:off x="5540187" y="1434370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OX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Opérations </a:t>
            </a:r>
            <a:r>
              <a:rPr kumimoji="0" lang="fr-FR" sz="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Ass</a:t>
            </a: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.</a:t>
            </a:r>
          </a:p>
        </p:txBody>
      </p:sp>
      <p:sp>
        <p:nvSpPr>
          <p:cNvPr id="99" name="BA_MX">
            <a:extLst>
              <a:ext uri="{FF2B5EF4-FFF2-40B4-BE49-F238E27FC236}">
                <a16:creationId xmlns:a16="http://schemas.microsoft.com/office/drawing/2014/main" id="{E8CD39EC-C23A-5569-B9AB-0E3815C02AA7}"/>
              </a:ext>
            </a:extLst>
          </p:cNvPr>
          <p:cNvSpPr/>
          <p:nvPr/>
        </p:nvSpPr>
        <p:spPr>
          <a:xfrm>
            <a:off x="6247379" y="1434370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MX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Services  internes</a:t>
            </a:r>
          </a:p>
        </p:txBody>
      </p:sp>
      <p:sp>
        <p:nvSpPr>
          <p:cNvPr id="108" name="BA_SX">
            <a:extLst>
              <a:ext uri="{FF2B5EF4-FFF2-40B4-BE49-F238E27FC236}">
                <a16:creationId xmlns:a16="http://schemas.microsoft.com/office/drawing/2014/main" id="{A4E84553-CFFB-BBD2-EE8E-B82F320F3036}"/>
              </a:ext>
            </a:extLst>
          </p:cNvPr>
          <p:cNvSpPr/>
          <p:nvPr/>
        </p:nvSpPr>
        <p:spPr>
          <a:xfrm>
            <a:off x="6957409" y="1434370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SX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Socle Exposition</a:t>
            </a:r>
          </a:p>
        </p:txBody>
      </p:sp>
      <p:sp>
        <p:nvSpPr>
          <p:cNvPr id="117" name="BA_HX">
            <a:extLst>
              <a:ext uri="{FF2B5EF4-FFF2-40B4-BE49-F238E27FC236}">
                <a16:creationId xmlns:a16="http://schemas.microsoft.com/office/drawing/2014/main" id="{AE81CB3B-D812-74F6-0238-60E622D57E83}"/>
              </a:ext>
            </a:extLst>
          </p:cNvPr>
          <p:cNvSpPr/>
          <p:nvPr/>
        </p:nvSpPr>
        <p:spPr>
          <a:xfrm>
            <a:off x="5540187" y="1791450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HX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Habilitations PCO</a:t>
            </a:r>
          </a:p>
        </p:txBody>
      </p:sp>
      <p:sp>
        <p:nvSpPr>
          <p:cNvPr id="119" name="BA_RX">
            <a:extLst>
              <a:ext uri="{FF2B5EF4-FFF2-40B4-BE49-F238E27FC236}">
                <a16:creationId xmlns:a16="http://schemas.microsoft.com/office/drawing/2014/main" id="{162F4BB9-3C4D-9B32-C799-EA6B945922E0}"/>
              </a:ext>
            </a:extLst>
          </p:cNvPr>
          <p:cNvSpPr/>
          <p:nvPr/>
        </p:nvSpPr>
        <p:spPr>
          <a:xfrm>
            <a:off x="6957409" y="1791450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RX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Socle Editique</a:t>
            </a:r>
          </a:p>
        </p:txBody>
      </p:sp>
      <p:sp>
        <p:nvSpPr>
          <p:cNvPr id="120" name="BA_WP">
            <a:extLst>
              <a:ext uri="{FF2B5EF4-FFF2-40B4-BE49-F238E27FC236}">
                <a16:creationId xmlns:a16="http://schemas.microsoft.com/office/drawing/2014/main" id="{88BF1173-D778-688A-6F74-3753899B640B}"/>
              </a:ext>
            </a:extLst>
          </p:cNvPr>
          <p:cNvSpPr/>
          <p:nvPr/>
        </p:nvSpPr>
        <p:spPr>
          <a:xfrm>
            <a:off x="5542712" y="2146978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WP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Lanceur PCO</a:t>
            </a:r>
          </a:p>
        </p:txBody>
      </p:sp>
      <p:sp>
        <p:nvSpPr>
          <p:cNvPr id="121" name="BA_FM">
            <a:extLst>
              <a:ext uri="{FF2B5EF4-FFF2-40B4-BE49-F238E27FC236}">
                <a16:creationId xmlns:a16="http://schemas.microsoft.com/office/drawing/2014/main" id="{DE46BE76-3FD3-44C6-7394-139F651451A8}"/>
              </a:ext>
            </a:extLst>
          </p:cNvPr>
          <p:cNvSpPr/>
          <p:nvPr/>
        </p:nvSpPr>
        <p:spPr>
          <a:xfrm>
            <a:off x="6251156" y="2146978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FM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Fonctions IHM</a:t>
            </a:r>
          </a:p>
        </p:txBody>
      </p:sp>
      <p:sp>
        <p:nvSpPr>
          <p:cNvPr id="123" name="BA_JF">
            <a:extLst>
              <a:ext uri="{FF2B5EF4-FFF2-40B4-BE49-F238E27FC236}">
                <a16:creationId xmlns:a16="http://schemas.microsoft.com/office/drawing/2014/main" id="{E245DD5F-5990-9705-1319-BA6117146B25}"/>
              </a:ext>
            </a:extLst>
          </p:cNvPr>
          <p:cNvSpPr/>
          <p:nvPr/>
        </p:nvSpPr>
        <p:spPr>
          <a:xfrm>
            <a:off x="6955140" y="2146978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JF</a:t>
            </a:r>
            <a:endParaRPr kumimoji="0" lang="fr-FR" sz="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Animation </a:t>
            </a:r>
            <a:r>
              <a:rPr kumimoji="0" lang="fr-FR" sz="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comm</a:t>
            </a: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.</a:t>
            </a:r>
          </a:p>
        </p:txBody>
      </p:sp>
      <p:sp>
        <p:nvSpPr>
          <p:cNvPr id="124" name="Gr_Avanet">
            <a:extLst>
              <a:ext uri="{FF2B5EF4-FFF2-40B4-BE49-F238E27FC236}">
                <a16:creationId xmlns:a16="http://schemas.microsoft.com/office/drawing/2014/main" id="{F4A1716A-6E77-3ED0-EB97-56D0F1608562}"/>
              </a:ext>
            </a:extLst>
          </p:cNvPr>
          <p:cNvSpPr/>
          <p:nvPr/>
        </p:nvSpPr>
        <p:spPr>
          <a:xfrm>
            <a:off x="3593887" y="1111645"/>
            <a:ext cx="1690030" cy="117785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  <a:effectLst>
            <a:outerShdw blurRad="50800" dist="38100" dir="2700000" algn="ctr" rotWithShape="0">
              <a:schemeClr val="tx1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/>
            </a:endParaRPr>
          </a:p>
        </p:txBody>
      </p:sp>
      <p:sp>
        <p:nvSpPr>
          <p:cNvPr id="125" name="ZT_Avanet">
            <a:extLst>
              <a:ext uri="{FF2B5EF4-FFF2-40B4-BE49-F238E27FC236}">
                <a16:creationId xmlns:a16="http://schemas.microsoft.com/office/drawing/2014/main" id="{1A2F3BC8-ED36-7511-EF86-1744C73D06A8}"/>
              </a:ext>
            </a:extLst>
          </p:cNvPr>
          <p:cNvSpPr txBox="1"/>
          <p:nvPr/>
        </p:nvSpPr>
        <p:spPr>
          <a:xfrm>
            <a:off x="3603262" y="1138960"/>
            <a:ext cx="1680655" cy="246221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1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Avanet</a:t>
            </a:r>
            <a:endParaRPr kumimoji="0" lang="fr-FR" sz="1000" b="1" i="1" u="none" strike="noStrike" kern="1200" cap="none" spc="0" normalizeH="0" baseline="0" noProof="0" dirty="0">
              <a:ln>
                <a:noFill/>
              </a:ln>
              <a:solidFill>
                <a:srgbClr val="ED7D3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6" name="BA_W5">
            <a:extLst>
              <a:ext uri="{FF2B5EF4-FFF2-40B4-BE49-F238E27FC236}">
                <a16:creationId xmlns:a16="http://schemas.microsoft.com/office/drawing/2014/main" id="{E5E7C63B-000F-0C40-5CDD-3B360BE36339}"/>
              </a:ext>
            </a:extLst>
          </p:cNvPr>
          <p:cNvSpPr/>
          <p:nvPr/>
        </p:nvSpPr>
        <p:spPr>
          <a:xfrm>
            <a:off x="3726791" y="1434801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W5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Av@net</a:t>
            </a:r>
            <a:endParaRPr kumimoji="0" lang="fr-FR" sz="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7" name="BA_AEDI">
            <a:extLst>
              <a:ext uri="{FF2B5EF4-FFF2-40B4-BE49-F238E27FC236}">
                <a16:creationId xmlns:a16="http://schemas.microsoft.com/office/drawing/2014/main" id="{58E33BCC-347A-B055-F473-2A10122BF975}"/>
              </a:ext>
            </a:extLst>
          </p:cNvPr>
          <p:cNvSpPr/>
          <p:nvPr/>
        </p:nvSpPr>
        <p:spPr>
          <a:xfrm>
            <a:off x="4521017" y="1438787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AEDI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API-EDI</a:t>
            </a:r>
          </a:p>
        </p:txBody>
      </p:sp>
      <p:sp>
        <p:nvSpPr>
          <p:cNvPr id="128" name="BA_SVOD">
            <a:extLst>
              <a:ext uri="{FF2B5EF4-FFF2-40B4-BE49-F238E27FC236}">
                <a16:creationId xmlns:a16="http://schemas.microsoft.com/office/drawing/2014/main" id="{070BCE7C-B4B2-9BF7-B3EC-A79120C899FC}"/>
              </a:ext>
            </a:extLst>
          </p:cNvPr>
          <p:cNvSpPr/>
          <p:nvPr/>
        </p:nvSpPr>
        <p:spPr>
          <a:xfrm>
            <a:off x="3726791" y="1819606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SVOD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SAS </a:t>
            </a:r>
            <a:r>
              <a:rPr kumimoji="0" lang="fr-FR" sz="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Valid</a:t>
            </a: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.</a:t>
            </a:r>
          </a:p>
        </p:txBody>
      </p:sp>
      <p:sp>
        <p:nvSpPr>
          <p:cNvPr id="129" name="Gr_PFD">
            <a:extLst>
              <a:ext uri="{FF2B5EF4-FFF2-40B4-BE49-F238E27FC236}">
                <a16:creationId xmlns:a16="http://schemas.microsoft.com/office/drawing/2014/main" id="{8F91273D-0294-A9B1-DB2E-FF2E0A3DEF78}"/>
              </a:ext>
            </a:extLst>
          </p:cNvPr>
          <p:cNvSpPr/>
          <p:nvPr/>
        </p:nvSpPr>
        <p:spPr>
          <a:xfrm>
            <a:off x="6161552" y="3780520"/>
            <a:ext cx="1627675" cy="1021008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  <a:effectLst>
            <a:outerShdw blurRad="50800" dist="38100" dir="2700000" algn="ctr" rotWithShape="0">
              <a:schemeClr val="tx1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/>
            </a:endParaRPr>
          </a:p>
        </p:txBody>
      </p:sp>
      <p:sp>
        <p:nvSpPr>
          <p:cNvPr id="130" name="ZT_PFD">
            <a:extLst>
              <a:ext uri="{FF2B5EF4-FFF2-40B4-BE49-F238E27FC236}">
                <a16:creationId xmlns:a16="http://schemas.microsoft.com/office/drawing/2014/main" id="{28D2C6DD-ACF2-F5C8-4D03-674FD386E863}"/>
              </a:ext>
            </a:extLst>
          </p:cNvPr>
          <p:cNvSpPr txBox="1"/>
          <p:nvPr/>
        </p:nvSpPr>
        <p:spPr>
          <a:xfrm>
            <a:off x="6185238" y="3807835"/>
            <a:ext cx="1714025" cy="246221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Plateforme Data (PFD)</a:t>
            </a:r>
          </a:p>
        </p:txBody>
      </p:sp>
      <p:sp>
        <p:nvSpPr>
          <p:cNvPr id="131" name="BA_J2">
            <a:extLst>
              <a:ext uri="{FF2B5EF4-FFF2-40B4-BE49-F238E27FC236}">
                <a16:creationId xmlns:a16="http://schemas.microsoft.com/office/drawing/2014/main" id="{3DAF682A-92D3-7E74-321E-9723DF428EC9}"/>
              </a:ext>
            </a:extLst>
          </p:cNvPr>
          <p:cNvSpPr/>
          <p:nvPr/>
        </p:nvSpPr>
        <p:spPr>
          <a:xfrm>
            <a:off x="6296389" y="4103676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J2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Exposition PFD</a:t>
            </a:r>
          </a:p>
        </p:txBody>
      </p:sp>
      <p:sp>
        <p:nvSpPr>
          <p:cNvPr id="136" name="BA_J6">
            <a:extLst>
              <a:ext uri="{FF2B5EF4-FFF2-40B4-BE49-F238E27FC236}">
                <a16:creationId xmlns:a16="http://schemas.microsoft.com/office/drawing/2014/main" id="{8C9588B0-0C81-F5A9-5E0B-F21083E0E02E}"/>
              </a:ext>
            </a:extLst>
          </p:cNvPr>
          <p:cNvSpPr/>
          <p:nvPr/>
        </p:nvSpPr>
        <p:spPr>
          <a:xfrm>
            <a:off x="7048704" y="4107662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J6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Restit</a:t>
            </a: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. </a:t>
            </a:r>
            <a:r>
              <a:rPr kumimoji="0" lang="fr-FR" sz="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Régl</a:t>
            </a: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.</a:t>
            </a:r>
          </a:p>
        </p:txBody>
      </p:sp>
      <p:sp>
        <p:nvSpPr>
          <p:cNvPr id="147" name="BA_J8">
            <a:extLst>
              <a:ext uri="{FF2B5EF4-FFF2-40B4-BE49-F238E27FC236}">
                <a16:creationId xmlns:a16="http://schemas.microsoft.com/office/drawing/2014/main" id="{DDCC808D-A2CD-A574-E7A6-02CA4F6D2ADA}"/>
              </a:ext>
            </a:extLst>
          </p:cNvPr>
          <p:cNvSpPr/>
          <p:nvPr/>
        </p:nvSpPr>
        <p:spPr>
          <a:xfrm>
            <a:off x="6296389" y="4488481"/>
            <a:ext cx="648000" cy="288000"/>
          </a:xfrm>
          <a:prstGeom prst="roundRect">
            <a:avLst/>
          </a:prstGeom>
          <a:solidFill>
            <a:srgbClr val="70AD47"/>
          </a:solidFill>
          <a:ln>
            <a:noFill/>
          </a:ln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J8</a:t>
            </a:r>
            <a:endParaRPr kumimoji="0" lang="fr-FR" sz="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Données Contrats</a:t>
            </a:r>
          </a:p>
        </p:txBody>
      </p:sp>
      <p:sp>
        <p:nvSpPr>
          <p:cNvPr id="149" name="Gr_Prediweb1">
            <a:extLst>
              <a:ext uri="{FF2B5EF4-FFF2-40B4-BE49-F238E27FC236}">
                <a16:creationId xmlns:a16="http://schemas.microsoft.com/office/drawing/2014/main" id="{1DF41867-BDA1-3252-B89A-1056761A3D15}"/>
              </a:ext>
            </a:extLst>
          </p:cNvPr>
          <p:cNvSpPr/>
          <p:nvPr/>
        </p:nvSpPr>
        <p:spPr>
          <a:xfrm>
            <a:off x="3588010" y="2368814"/>
            <a:ext cx="1695907" cy="671739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  <a:effectLst>
            <a:outerShdw blurRad="50800" dist="38100" dir="2700000" algn="ctr" rotWithShape="0">
              <a:schemeClr val="tx1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/>
            </a:endParaRPr>
          </a:p>
        </p:txBody>
      </p:sp>
      <p:sp>
        <p:nvSpPr>
          <p:cNvPr id="151" name="ZT_Prediweb1">
            <a:extLst>
              <a:ext uri="{FF2B5EF4-FFF2-40B4-BE49-F238E27FC236}">
                <a16:creationId xmlns:a16="http://schemas.microsoft.com/office/drawing/2014/main" id="{693A79E3-2A17-C6D4-C536-61E7E44B11E4}"/>
              </a:ext>
            </a:extLst>
          </p:cNvPr>
          <p:cNvSpPr txBox="1"/>
          <p:nvPr/>
        </p:nvSpPr>
        <p:spPr>
          <a:xfrm>
            <a:off x="3595208" y="2396399"/>
            <a:ext cx="1688709" cy="246221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1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Prediweb</a:t>
            </a:r>
            <a:r>
              <a:rPr kumimoji="0" lang="fr-FR" sz="1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 1</a:t>
            </a:r>
            <a:endParaRPr kumimoji="0" lang="fr-FR" sz="1000" b="1" i="1" u="none" strike="noStrike" kern="1200" cap="none" spc="0" normalizeH="0" baseline="0" noProof="0" dirty="0">
              <a:ln>
                <a:noFill/>
              </a:ln>
              <a:solidFill>
                <a:srgbClr val="ED7D3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3" name="BA_BD">
            <a:extLst>
              <a:ext uri="{FF2B5EF4-FFF2-40B4-BE49-F238E27FC236}">
                <a16:creationId xmlns:a16="http://schemas.microsoft.com/office/drawing/2014/main" id="{900BBB16-88A8-19B7-3C27-21FC21922990}"/>
              </a:ext>
            </a:extLst>
          </p:cNvPr>
          <p:cNvSpPr/>
          <p:nvPr/>
        </p:nvSpPr>
        <p:spPr>
          <a:xfrm>
            <a:off x="3720914" y="2691969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BD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Prediweb</a:t>
            </a:r>
            <a:endParaRPr kumimoji="0" lang="fr-FR" sz="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6" name="BA_SGR">
            <a:extLst>
              <a:ext uri="{FF2B5EF4-FFF2-40B4-BE49-F238E27FC236}">
                <a16:creationId xmlns:a16="http://schemas.microsoft.com/office/drawing/2014/main" id="{E6FEA05F-A529-8E2E-FF75-11BC912F0505}"/>
              </a:ext>
            </a:extLst>
          </p:cNvPr>
          <p:cNvSpPr/>
          <p:nvPr/>
        </p:nvSpPr>
        <p:spPr>
          <a:xfrm>
            <a:off x="4496225" y="2696226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SGR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Lanceur SGR</a:t>
            </a:r>
          </a:p>
        </p:txBody>
      </p:sp>
      <p:sp>
        <p:nvSpPr>
          <p:cNvPr id="158" name="BA_Autre_PFD">
            <a:extLst>
              <a:ext uri="{FF2B5EF4-FFF2-40B4-BE49-F238E27FC236}">
                <a16:creationId xmlns:a16="http://schemas.microsoft.com/office/drawing/2014/main" id="{94AE5E71-3400-2FC0-F54B-C3369AF40054}"/>
              </a:ext>
            </a:extLst>
          </p:cNvPr>
          <p:cNvSpPr/>
          <p:nvPr/>
        </p:nvSpPr>
        <p:spPr>
          <a:xfrm>
            <a:off x="7048704" y="4459954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…</a:t>
            </a:r>
          </a:p>
        </p:txBody>
      </p:sp>
      <p:sp>
        <p:nvSpPr>
          <p:cNvPr id="159" name="Gr_AIA">
            <a:extLst>
              <a:ext uri="{FF2B5EF4-FFF2-40B4-BE49-F238E27FC236}">
                <a16:creationId xmlns:a16="http://schemas.microsoft.com/office/drawing/2014/main" id="{CB01E612-4AE5-9528-FAA2-954893A4694B}"/>
              </a:ext>
            </a:extLst>
          </p:cNvPr>
          <p:cNvSpPr/>
          <p:nvPr/>
        </p:nvSpPr>
        <p:spPr>
          <a:xfrm>
            <a:off x="600429" y="2842718"/>
            <a:ext cx="927635" cy="550924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  <a:effectLst>
            <a:outerShdw blurRad="50800" dist="38100" dir="2700000" algn="ctr" rotWithShape="0">
              <a:schemeClr val="tx1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/>
            </a:endParaRPr>
          </a:p>
        </p:txBody>
      </p:sp>
      <p:sp>
        <p:nvSpPr>
          <p:cNvPr id="160" name="ZT_AIA">
            <a:extLst>
              <a:ext uri="{FF2B5EF4-FFF2-40B4-BE49-F238E27FC236}">
                <a16:creationId xmlns:a16="http://schemas.microsoft.com/office/drawing/2014/main" id="{B182B2FD-8BF1-4C55-0BA4-3FD64FD6C822}"/>
              </a:ext>
            </a:extLst>
          </p:cNvPr>
          <p:cNvSpPr txBox="1"/>
          <p:nvPr/>
        </p:nvSpPr>
        <p:spPr>
          <a:xfrm>
            <a:off x="520497" y="2870168"/>
            <a:ext cx="1080000" cy="246221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AIA V4 (Sinistres)</a:t>
            </a:r>
          </a:p>
        </p:txBody>
      </p:sp>
      <p:sp>
        <p:nvSpPr>
          <p:cNvPr id="161" name="BA_AJ">
            <a:extLst>
              <a:ext uri="{FF2B5EF4-FFF2-40B4-BE49-F238E27FC236}">
                <a16:creationId xmlns:a16="http://schemas.microsoft.com/office/drawing/2014/main" id="{B0AB5389-50E1-AF56-A2EF-B864C0C50F6D}"/>
              </a:ext>
            </a:extLst>
          </p:cNvPr>
          <p:cNvSpPr/>
          <p:nvPr/>
        </p:nvSpPr>
        <p:spPr>
          <a:xfrm>
            <a:off x="741487" y="3087886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AJ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AIA </a:t>
            </a:r>
            <a:r>
              <a:rPr kumimoji="0" lang="fr-FR" sz="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Sinitres</a:t>
            </a:r>
            <a:endParaRPr kumimoji="0" lang="fr-FR" sz="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2" name="Gr_Prediweb2">
            <a:extLst>
              <a:ext uri="{FF2B5EF4-FFF2-40B4-BE49-F238E27FC236}">
                <a16:creationId xmlns:a16="http://schemas.microsoft.com/office/drawing/2014/main" id="{BBB7F92D-17B4-CB70-31C3-CFB5FC0778B8}"/>
              </a:ext>
            </a:extLst>
          </p:cNvPr>
          <p:cNvSpPr/>
          <p:nvPr/>
        </p:nvSpPr>
        <p:spPr>
          <a:xfrm>
            <a:off x="6172824" y="3106138"/>
            <a:ext cx="754043" cy="61200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  <a:effectLst>
            <a:outerShdw blurRad="50800" dist="38100" dir="2700000" algn="ctr" rotWithShape="0">
              <a:schemeClr val="tx1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/>
            </a:endParaRPr>
          </a:p>
        </p:txBody>
      </p:sp>
      <p:sp>
        <p:nvSpPr>
          <p:cNvPr id="163" name="ZT_Prediweb2">
            <a:extLst>
              <a:ext uri="{FF2B5EF4-FFF2-40B4-BE49-F238E27FC236}">
                <a16:creationId xmlns:a16="http://schemas.microsoft.com/office/drawing/2014/main" id="{0FE29E08-5335-5AAF-309D-968D192548B3}"/>
              </a:ext>
            </a:extLst>
          </p:cNvPr>
          <p:cNvSpPr txBox="1"/>
          <p:nvPr/>
        </p:nvSpPr>
        <p:spPr>
          <a:xfrm>
            <a:off x="6145849" y="3133723"/>
            <a:ext cx="774251" cy="246221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1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Prediweb</a:t>
            </a:r>
            <a:r>
              <a:rPr kumimoji="0" lang="fr-FR" sz="1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 2</a:t>
            </a:r>
            <a:endParaRPr kumimoji="0" lang="fr-FR" sz="1000" b="1" i="1" u="none" strike="noStrike" kern="1200" cap="none" spc="0" normalizeH="0" baseline="0" noProof="0" dirty="0">
              <a:ln>
                <a:noFill/>
              </a:ln>
              <a:solidFill>
                <a:srgbClr val="ED7D3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4" name="BA_PY">
            <a:extLst>
              <a:ext uri="{FF2B5EF4-FFF2-40B4-BE49-F238E27FC236}">
                <a16:creationId xmlns:a16="http://schemas.microsoft.com/office/drawing/2014/main" id="{EB06F906-9A1B-B148-A36D-E8B824DDAEE9}"/>
              </a:ext>
            </a:extLst>
          </p:cNvPr>
          <p:cNvSpPr/>
          <p:nvPr/>
        </p:nvSpPr>
        <p:spPr>
          <a:xfrm>
            <a:off x="6219320" y="3376340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PY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Prediweb</a:t>
            </a: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 2</a:t>
            </a:r>
          </a:p>
        </p:txBody>
      </p:sp>
      <p:sp>
        <p:nvSpPr>
          <p:cNvPr id="165" name="Gr_NewNOVA">
            <a:extLst>
              <a:ext uri="{FF2B5EF4-FFF2-40B4-BE49-F238E27FC236}">
                <a16:creationId xmlns:a16="http://schemas.microsoft.com/office/drawing/2014/main" id="{EA971D0A-EA15-445D-F059-64CD2EACA9B4}"/>
              </a:ext>
            </a:extLst>
          </p:cNvPr>
          <p:cNvSpPr/>
          <p:nvPr/>
        </p:nvSpPr>
        <p:spPr>
          <a:xfrm>
            <a:off x="7894317" y="1093890"/>
            <a:ext cx="3975128" cy="3939748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  <a:effectLst>
            <a:outerShdw blurRad="50800" dist="38100" dir="2700000" algn="ctr" rotWithShape="0">
              <a:schemeClr val="tx1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/>
            </a:endParaRPr>
          </a:p>
        </p:txBody>
      </p:sp>
      <p:sp>
        <p:nvSpPr>
          <p:cNvPr id="166" name="ZT_NewNOVA">
            <a:extLst>
              <a:ext uri="{FF2B5EF4-FFF2-40B4-BE49-F238E27FC236}">
                <a16:creationId xmlns:a16="http://schemas.microsoft.com/office/drawing/2014/main" id="{DB5839CD-738D-450B-D0EC-8BD4B3EEE4AB}"/>
              </a:ext>
            </a:extLst>
          </p:cNvPr>
          <p:cNvSpPr txBox="1"/>
          <p:nvPr/>
        </p:nvSpPr>
        <p:spPr>
          <a:xfrm>
            <a:off x="7959719" y="1121206"/>
            <a:ext cx="2930793" cy="246221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New NOVA (K8S+AWS)</a:t>
            </a:r>
            <a:endParaRPr kumimoji="0" lang="fr-FR" sz="1000" b="1" i="1" u="none" strike="noStrike" kern="1200" cap="none" spc="0" normalizeH="0" baseline="0" noProof="0" dirty="0">
              <a:ln>
                <a:noFill/>
              </a:ln>
              <a:solidFill>
                <a:srgbClr val="ED7D3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7" name="BA_APPE">
            <a:extLst>
              <a:ext uri="{FF2B5EF4-FFF2-40B4-BE49-F238E27FC236}">
                <a16:creationId xmlns:a16="http://schemas.microsoft.com/office/drawing/2014/main" id="{3EEE6F1C-D84A-ABF4-171E-17A10903E6FF}"/>
              </a:ext>
            </a:extLst>
          </p:cNvPr>
          <p:cNvSpPr/>
          <p:nvPr/>
        </p:nvSpPr>
        <p:spPr>
          <a:xfrm>
            <a:off x="8114072" y="1417047"/>
            <a:ext cx="648000" cy="288000"/>
          </a:xfrm>
          <a:prstGeom prst="roundRect">
            <a:avLst/>
          </a:prstGeom>
          <a:solidFill>
            <a:srgbClr val="70AD4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APPE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API Personne</a:t>
            </a:r>
          </a:p>
        </p:txBody>
      </p:sp>
      <p:sp>
        <p:nvSpPr>
          <p:cNvPr id="168" name="BA_CJNI">
            <a:extLst>
              <a:ext uri="{FF2B5EF4-FFF2-40B4-BE49-F238E27FC236}">
                <a16:creationId xmlns:a16="http://schemas.microsoft.com/office/drawing/2014/main" id="{868D01CB-AB5B-F9D9-2659-E6ACC13FBAF4}"/>
              </a:ext>
            </a:extLst>
          </p:cNvPr>
          <p:cNvSpPr/>
          <p:nvPr/>
        </p:nvSpPr>
        <p:spPr>
          <a:xfrm>
            <a:off x="8803280" y="1417047"/>
            <a:ext cx="648000" cy="288000"/>
          </a:xfrm>
          <a:prstGeom prst="round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CJNI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Jeton SSO</a:t>
            </a:r>
          </a:p>
        </p:txBody>
      </p:sp>
      <p:sp>
        <p:nvSpPr>
          <p:cNvPr id="169" name="BA_C8">
            <a:extLst>
              <a:ext uri="{FF2B5EF4-FFF2-40B4-BE49-F238E27FC236}">
                <a16:creationId xmlns:a16="http://schemas.microsoft.com/office/drawing/2014/main" id="{CECA5160-736A-BE91-7A7D-0FC54246E624}"/>
              </a:ext>
            </a:extLst>
          </p:cNvPr>
          <p:cNvSpPr/>
          <p:nvPr/>
        </p:nvSpPr>
        <p:spPr>
          <a:xfrm>
            <a:off x="9490384" y="1417047"/>
            <a:ext cx="648000" cy="288000"/>
          </a:xfrm>
          <a:prstGeom prst="roundRect">
            <a:avLst/>
          </a:prstGeom>
          <a:solidFill>
            <a:srgbClr val="70AD4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C8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Consentements</a:t>
            </a:r>
          </a:p>
        </p:txBody>
      </p:sp>
      <p:sp>
        <p:nvSpPr>
          <p:cNvPr id="170" name="BA_D9">
            <a:extLst>
              <a:ext uri="{FF2B5EF4-FFF2-40B4-BE49-F238E27FC236}">
                <a16:creationId xmlns:a16="http://schemas.microsoft.com/office/drawing/2014/main" id="{3A450CB5-3AB0-94E7-D76A-778B563DCCE8}"/>
              </a:ext>
            </a:extLst>
          </p:cNvPr>
          <p:cNvSpPr/>
          <p:nvPr/>
        </p:nvSpPr>
        <p:spPr>
          <a:xfrm>
            <a:off x="10160477" y="1417047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D9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Base Doc AWS</a:t>
            </a:r>
          </a:p>
        </p:txBody>
      </p:sp>
      <p:sp>
        <p:nvSpPr>
          <p:cNvPr id="171" name="BA_F3">
            <a:extLst>
              <a:ext uri="{FF2B5EF4-FFF2-40B4-BE49-F238E27FC236}">
                <a16:creationId xmlns:a16="http://schemas.microsoft.com/office/drawing/2014/main" id="{BEA763B5-EB89-9CC5-EAF6-5228EEDE217A}"/>
              </a:ext>
            </a:extLst>
          </p:cNvPr>
          <p:cNvSpPr/>
          <p:nvPr/>
        </p:nvSpPr>
        <p:spPr>
          <a:xfrm>
            <a:off x="8114072" y="1734468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F3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Versement Libre</a:t>
            </a:r>
          </a:p>
        </p:txBody>
      </p:sp>
      <p:sp>
        <p:nvSpPr>
          <p:cNvPr id="172" name="BA_F4">
            <a:extLst>
              <a:ext uri="{FF2B5EF4-FFF2-40B4-BE49-F238E27FC236}">
                <a16:creationId xmlns:a16="http://schemas.microsoft.com/office/drawing/2014/main" id="{40AAC371-44F2-BD16-DAC3-3A82B2FC90A7}"/>
              </a:ext>
            </a:extLst>
          </p:cNvPr>
          <p:cNvSpPr/>
          <p:nvPr/>
        </p:nvSpPr>
        <p:spPr>
          <a:xfrm>
            <a:off x="8803280" y="1734468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F4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Synthèse </a:t>
            </a:r>
            <a:r>
              <a:rPr kumimoji="0" lang="fr-FR" sz="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Opér</a:t>
            </a: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.</a:t>
            </a:r>
          </a:p>
        </p:txBody>
      </p:sp>
      <p:sp>
        <p:nvSpPr>
          <p:cNvPr id="173" name="BA_F5">
            <a:extLst>
              <a:ext uri="{FF2B5EF4-FFF2-40B4-BE49-F238E27FC236}">
                <a16:creationId xmlns:a16="http://schemas.microsoft.com/office/drawing/2014/main" id="{D75D615A-0235-4798-65ED-9F26F121F696}"/>
              </a:ext>
            </a:extLst>
          </p:cNvPr>
          <p:cNvSpPr/>
          <p:nvPr/>
        </p:nvSpPr>
        <p:spPr>
          <a:xfrm>
            <a:off x="9490384" y="1734468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F5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Conf</a:t>
            </a: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. New Nova</a:t>
            </a:r>
          </a:p>
        </p:txBody>
      </p:sp>
      <p:sp>
        <p:nvSpPr>
          <p:cNvPr id="174" name="BA_F6">
            <a:extLst>
              <a:ext uri="{FF2B5EF4-FFF2-40B4-BE49-F238E27FC236}">
                <a16:creationId xmlns:a16="http://schemas.microsoft.com/office/drawing/2014/main" id="{F89B34AB-FDC8-F1B0-054F-32967EC2F5F0}"/>
              </a:ext>
            </a:extLst>
          </p:cNvPr>
          <p:cNvSpPr/>
          <p:nvPr/>
        </p:nvSpPr>
        <p:spPr>
          <a:xfrm>
            <a:off x="10160477" y="1734468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F6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API Adhésion</a:t>
            </a:r>
          </a:p>
        </p:txBody>
      </p:sp>
      <p:sp>
        <p:nvSpPr>
          <p:cNvPr id="175" name="BA_F7">
            <a:extLst>
              <a:ext uri="{FF2B5EF4-FFF2-40B4-BE49-F238E27FC236}">
                <a16:creationId xmlns:a16="http://schemas.microsoft.com/office/drawing/2014/main" id="{9A363675-11DE-2F81-B221-D745D682C80F}"/>
              </a:ext>
            </a:extLst>
          </p:cNvPr>
          <p:cNvSpPr/>
          <p:nvPr/>
        </p:nvSpPr>
        <p:spPr>
          <a:xfrm>
            <a:off x="8114072" y="2047150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F7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Arbitrage</a:t>
            </a:r>
          </a:p>
        </p:txBody>
      </p:sp>
      <p:sp>
        <p:nvSpPr>
          <p:cNvPr id="176" name="BA_G3">
            <a:extLst>
              <a:ext uri="{FF2B5EF4-FFF2-40B4-BE49-F238E27FC236}">
                <a16:creationId xmlns:a16="http://schemas.microsoft.com/office/drawing/2014/main" id="{B236C953-7C95-D252-0458-7C79229B1A6F}"/>
              </a:ext>
            </a:extLst>
          </p:cNvPr>
          <p:cNvSpPr/>
          <p:nvPr/>
        </p:nvSpPr>
        <p:spPr>
          <a:xfrm>
            <a:off x="9490384" y="2047150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G3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Pièces médicales</a:t>
            </a:r>
          </a:p>
        </p:txBody>
      </p:sp>
      <p:sp>
        <p:nvSpPr>
          <p:cNvPr id="177" name="BA_G4">
            <a:extLst>
              <a:ext uri="{FF2B5EF4-FFF2-40B4-BE49-F238E27FC236}">
                <a16:creationId xmlns:a16="http://schemas.microsoft.com/office/drawing/2014/main" id="{DC69BC96-7287-2147-9A76-DF8947BE300C}"/>
              </a:ext>
            </a:extLst>
          </p:cNvPr>
          <p:cNvSpPr/>
          <p:nvPr/>
        </p:nvSpPr>
        <p:spPr>
          <a:xfrm>
            <a:off x="10160477" y="2047150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G4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API FRC</a:t>
            </a:r>
          </a:p>
        </p:txBody>
      </p:sp>
      <p:sp>
        <p:nvSpPr>
          <p:cNvPr id="178" name="BA_G6">
            <a:extLst>
              <a:ext uri="{FF2B5EF4-FFF2-40B4-BE49-F238E27FC236}">
                <a16:creationId xmlns:a16="http://schemas.microsoft.com/office/drawing/2014/main" id="{50EC5491-E797-2A1D-FA4E-4EA4AFCB7DC5}"/>
              </a:ext>
            </a:extLst>
          </p:cNvPr>
          <p:cNvSpPr/>
          <p:nvPr/>
        </p:nvSpPr>
        <p:spPr>
          <a:xfrm>
            <a:off x="8114072" y="2368438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G6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API </a:t>
            </a:r>
            <a:r>
              <a:rPr kumimoji="0" lang="fr-FR" sz="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Passport</a:t>
            </a:r>
            <a:endParaRPr kumimoji="0" lang="fr-FR" sz="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9" name="BA_GQ">
            <a:extLst>
              <a:ext uri="{FF2B5EF4-FFF2-40B4-BE49-F238E27FC236}">
                <a16:creationId xmlns:a16="http://schemas.microsoft.com/office/drawing/2014/main" id="{7EC1D0CA-F379-BA6A-662B-2F776FC9FD74}"/>
              </a:ext>
            </a:extLst>
          </p:cNvPr>
          <p:cNvSpPr/>
          <p:nvPr/>
        </p:nvSpPr>
        <p:spPr>
          <a:xfrm>
            <a:off x="8803280" y="2368438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GQ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GED Prévoyance</a:t>
            </a:r>
          </a:p>
        </p:txBody>
      </p:sp>
      <p:sp>
        <p:nvSpPr>
          <p:cNvPr id="180" name="BA_I5">
            <a:extLst>
              <a:ext uri="{FF2B5EF4-FFF2-40B4-BE49-F238E27FC236}">
                <a16:creationId xmlns:a16="http://schemas.microsoft.com/office/drawing/2014/main" id="{08B1155C-98B4-97F4-7E46-453FD4B8E442}"/>
              </a:ext>
            </a:extLst>
          </p:cNvPr>
          <p:cNvSpPr/>
          <p:nvPr/>
        </p:nvSpPr>
        <p:spPr>
          <a:xfrm>
            <a:off x="8114072" y="2696076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I5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Lanceur New Nova</a:t>
            </a:r>
          </a:p>
        </p:txBody>
      </p:sp>
      <p:sp>
        <p:nvSpPr>
          <p:cNvPr id="181" name="BA_I9">
            <a:extLst>
              <a:ext uri="{FF2B5EF4-FFF2-40B4-BE49-F238E27FC236}">
                <a16:creationId xmlns:a16="http://schemas.microsoft.com/office/drawing/2014/main" id="{F0CC3C9D-73F1-2506-1028-689862CFCCE9}"/>
              </a:ext>
            </a:extLst>
          </p:cNvPr>
          <p:cNvSpPr/>
          <p:nvPr/>
        </p:nvSpPr>
        <p:spPr>
          <a:xfrm>
            <a:off x="8803280" y="2696076"/>
            <a:ext cx="648000" cy="288000"/>
          </a:xfrm>
          <a:prstGeom prst="round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I9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Keycloak</a:t>
            </a: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 Intranet</a:t>
            </a:r>
          </a:p>
        </p:txBody>
      </p:sp>
      <p:sp>
        <p:nvSpPr>
          <p:cNvPr id="182" name="BA_K7">
            <a:extLst>
              <a:ext uri="{FF2B5EF4-FFF2-40B4-BE49-F238E27FC236}">
                <a16:creationId xmlns:a16="http://schemas.microsoft.com/office/drawing/2014/main" id="{B27221D7-319B-1979-48C5-12B9EDFC5AF8}"/>
              </a:ext>
            </a:extLst>
          </p:cNvPr>
          <p:cNvSpPr/>
          <p:nvPr/>
        </p:nvSpPr>
        <p:spPr>
          <a:xfrm>
            <a:off x="9490384" y="2696076"/>
            <a:ext cx="648000" cy="288000"/>
          </a:xfrm>
          <a:prstGeom prst="round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K7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Aiguilleur</a:t>
            </a:r>
          </a:p>
        </p:txBody>
      </p:sp>
      <p:sp>
        <p:nvSpPr>
          <p:cNvPr id="183" name="BA_K9">
            <a:extLst>
              <a:ext uri="{FF2B5EF4-FFF2-40B4-BE49-F238E27FC236}">
                <a16:creationId xmlns:a16="http://schemas.microsoft.com/office/drawing/2014/main" id="{4A8BB75C-3710-D300-3075-20D7ACD6DDAE}"/>
              </a:ext>
            </a:extLst>
          </p:cNvPr>
          <p:cNvSpPr/>
          <p:nvPr/>
        </p:nvSpPr>
        <p:spPr>
          <a:xfrm>
            <a:off x="10160477" y="2696076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K9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Keycloak</a:t>
            </a: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 Internet</a:t>
            </a:r>
          </a:p>
        </p:txBody>
      </p:sp>
      <p:sp>
        <p:nvSpPr>
          <p:cNvPr id="184" name="BA_L8">
            <a:extLst>
              <a:ext uri="{FF2B5EF4-FFF2-40B4-BE49-F238E27FC236}">
                <a16:creationId xmlns:a16="http://schemas.microsoft.com/office/drawing/2014/main" id="{5FE182D5-E9A8-644F-305E-56B3A863BD06}"/>
              </a:ext>
            </a:extLst>
          </p:cNvPr>
          <p:cNvSpPr/>
          <p:nvPr/>
        </p:nvSpPr>
        <p:spPr>
          <a:xfrm>
            <a:off x="8114072" y="3027052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L8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API Archivage</a:t>
            </a:r>
          </a:p>
        </p:txBody>
      </p:sp>
      <p:sp>
        <p:nvSpPr>
          <p:cNvPr id="185" name="BA_L9">
            <a:extLst>
              <a:ext uri="{FF2B5EF4-FFF2-40B4-BE49-F238E27FC236}">
                <a16:creationId xmlns:a16="http://schemas.microsoft.com/office/drawing/2014/main" id="{7FE44816-C8A3-E91F-8129-40ABD846AC90}"/>
              </a:ext>
            </a:extLst>
          </p:cNvPr>
          <p:cNvSpPr/>
          <p:nvPr/>
        </p:nvSpPr>
        <p:spPr>
          <a:xfrm>
            <a:off x="8803280" y="3027052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L9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API Structure</a:t>
            </a:r>
          </a:p>
        </p:txBody>
      </p:sp>
      <p:sp>
        <p:nvSpPr>
          <p:cNvPr id="186" name="BA_N6">
            <a:extLst>
              <a:ext uri="{FF2B5EF4-FFF2-40B4-BE49-F238E27FC236}">
                <a16:creationId xmlns:a16="http://schemas.microsoft.com/office/drawing/2014/main" id="{40307607-48A3-FF13-A0D3-5E27C63DC924}"/>
              </a:ext>
            </a:extLst>
          </p:cNvPr>
          <p:cNvSpPr/>
          <p:nvPr/>
        </p:nvSpPr>
        <p:spPr>
          <a:xfrm>
            <a:off x="9490384" y="3034498"/>
            <a:ext cx="648000" cy="288000"/>
          </a:xfrm>
          <a:prstGeom prst="round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N6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API produit</a:t>
            </a:r>
          </a:p>
        </p:txBody>
      </p:sp>
      <p:sp>
        <p:nvSpPr>
          <p:cNvPr id="187" name="BA_N8">
            <a:extLst>
              <a:ext uri="{FF2B5EF4-FFF2-40B4-BE49-F238E27FC236}">
                <a16:creationId xmlns:a16="http://schemas.microsoft.com/office/drawing/2014/main" id="{055DA313-8661-CE84-E693-409F0A602D48}"/>
              </a:ext>
            </a:extLst>
          </p:cNvPr>
          <p:cNvSpPr/>
          <p:nvPr/>
        </p:nvSpPr>
        <p:spPr>
          <a:xfrm>
            <a:off x="10160477" y="3034498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N8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Notif</a:t>
            </a: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. Distributeur</a:t>
            </a:r>
          </a:p>
        </p:txBody>
      </p:sp>
      <p:sp>
        <p:nvSpPr>
          <p:cNvPr id="188" name="BA_P4">
            <a:extLst>
              <a:ext uri="{FF2B5EF4-FFF2-40B4-BE49-F238E27FC236}">
                <a16:creationId xmlns:a16="http://schemas.microsoft.com/office/drawing/2014/main" id="{90B647ED-155A-BCBF-3041-DE41D8FCFB9C}"/>
              </a:ext>
            </a:extLst>
          </p:cNvPr>
          <p:cNvSpPr/>
          <p:nvPr/>
        </p:nvSpPr>
        <p:spPr>
          <a:xfrm>
            <a:off x="8114072" y="3354466"/>
            <a:ext cx="648000" cy="288000"/>
          </a:xfrm>
          <a:prstGeom prst="roundRect">
            <a:avLst/>
          </a:prstGeom>
          <a:solidFill>
            <a:srgbClr val="70AD47"/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P4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Services Editique</a:t>
            </a:r>
          </a:p>
        </p:txBody>
      </p:sp>
      <p:sp>
        <p:nvSpPr>
          <p:cNvPr id="189" name="BA_P5">
            <a:extLst>
              <a:ext uri="{FF2B5EF4-FFF2-40B4-BE49-F238E27FC236}">
                <a16:creationId xmlns:a16="http://schemas.microsoft.com/office/drawing/2014/main" id="{24F6BBBB-1705-609A-FD6B-2D53AEDB155E}"/>
              </a:ext>
            </a:extLst>
          </p:cNvPr>
          <p:cNvSpPr/>
          <p:nvPr/>
        </p:nvSpPr>
        <p:spPr>
          <a:xfrm>
            <a:off x="8803280" y="3354466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P5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API Contrat</a:t>
            </a:r>
          </a:p>
        </p:txBody>
      </p:sp>
      <p:sp>
        <p:nvSpPr>
          <p:cNvPr id="190" name="BA_P6">
            <a:extLst>
              <a:ext uri="{FF2B5EF4-FFF2-40B4-BE49-F238E27FC236}">
                <a16:creationId xmlns:a16="http://schemas.microsoft.com/office/drawing/2014/main" id="{2FD8D44F-DB6E-695E-B248-1790A0AD99EC}"/>
              </a:ext>
            </a:extLst>
          </p:cNvPr>
          <p:cNvSpPr/>
          <p:nvPr/>
        </p:nvSpPr>
        <p:spPr>
          <a:xfrm>
            <a:off x="9490384" y="3369007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P6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API Support</a:t>
            </a:r>
          </a:p>
        </p:txBody>
      </p:sp>
      <p:sp>
        <p:nvSpPr>
          <p:cNvPr id="191" name="BA_P7">
            <a:extLst>
              <a:ext uri="{FF2B5EF4-FFF2-40B4-BE49-F238E27FC236}">
                <a16:creationId xmlns:a16="http://schemas.microsoft.com/office/drawing/2014/main" id="{ED6E29E4-882A-F37C-B94A-02D255E82132}"/>
              </a:ext>
            </a:extLst>
          </p:cNvPr>
          <p:cNvSpPr/>
          <p:nvPr/>
        </p:nvSpPr>
        <p:spPr>
          <a:xfrm>
            <a:off x="10160477" y="3369007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P7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Campagnes et Frais</a:t>
            </a:r>
          </a:p>
        </p:txBody>
      </p:sp>
      <p:sp>
        <p:nvSpPr>
          <p:cNvPr id="192" name="BA_P8">
            <a:extLst>
              <a:ext uri="{FF2B5EF4-FFF2-40B4-BE49-F238E27FC236}">
                <a16:creationId xmlns:a16="http://schemas.microsoft.com/office/drawing/2014/main" id="{AEEA86DD-1551-E5AE-E4DE-1865B09D8ECE}"/>
              </a:ext>
            </a:extLst>
          </p:cNvPr>
          <p:cNvSpPr/>
          <p:nvPr/>
        </p:nvSpPr>
        <p:spPr>
          <a:xfrm>
            <a:off x="8114072" y="3698914"/>
            <a:ext cx="648000" cy="288000"/>
          </a:xfrm>
          <a:prstGeom prst="round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P8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Habilit</a:t>
            </a: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. &amp;  </a:t>
            </a:r>
            <a:r>
              <a:rPr kumimoji="0" lang="fr-FR" sz="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Délég</a:t>
            </a: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.</a:t>
            </a:r>
          </a:p>
        </p:txBody>
      </p:sp>
      <p:sp>
        <p:nvSpPr>
          <p:cNvPr id="193" name="BA_Q1">
            <a:extLst>
              <a:ext uri="{FF2B5EF4-FFF2-40B4-BE49-F238E27FC236}">
                <a16:creationId xmlns:a16="http://schemas.microsoft.com/office/drawing/2014/main" id="{651782E3-361B-C7E4-A862-9983C0ABFCCC}"/>
              </a:ext>
            </a:extLst>
          </p:cNvPr>
          <p:cNvSpPr/>
          <p:nvPr/>
        </p:nvSpPr>
        <p:spPr>
          <a:xfrm>
            <a:off x="8803280" y="3698914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Q1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API </a:t>
            </a:r>
            <a:r>
              <a:rPr kumimoji="0" lang="fr-FR" sz="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Déciséo</a:t>
            </a:r>
            <a:endParaRPr kumimoji="0" lang="fr-FR" sz="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4" name="BA_W1">
            <a:extLst>
              <a:ext uri="{FF2B5EF4-FFF2-40B4-BE49-F238E27FC236}">
                <a16:creationId xmlns:a16="http://schemas.microsoft.com/office/drawing/2014/main" id="{0F6A6A5E-D2DC-004B-D403-11F7DE5D2D8C}"/>
              </a:ext>
            </a:extLst>
          </p:cNvPr>
          <p:cNvSpPr/>
          <p:nvPr/>
        </p:nvSpPr>
        <p:spPr>
          <a:xfrm>
            <a:off x="8114072" y="4023294"/>
            <a:ext cx="648000" cy="288000"/>
          </a:xfrm>
          <a:prstGeom prst="roundRect">
            <a:avLst/>
          </a:prstGeom>
          <a:solidFill>
            <a:srgbClr val="70AD47"/>
          </a:solidFill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W1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API Signature</a:t>
            </a:r>
          </a:p>
        </p:txBody>
      </p:sp>
      <p:sp>
        <p:nvSpPr>
          <p:cNvPr id="195" name="BA_W2">
            <a:extLst>
              <a:ext uri="{FF2B5EF4-FFF2-40B4-BE49-F238E27FC236}">
                <a16:creationId xmlns:a16="http://schemas.microsoft.com/office/drawing/2014/main" id="{B8E3BE85-C129-F96E-6CDB-2780CC27F8A7}"/>
              </a:ext>
            </a:extLst>
          </p:cNvPr>
          <p:cNvSpPr/>
          <p:nvPr/>
        </p:nvSpPr>
        <p:spPr>
          <a:xfrm>
            <a:off x="8803280" y="4023294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W2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Clause </a:t>
            </a:r>
            <a:r>
              <a:rPr kumimoji="0" lang="fr-FR" sz="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Bénéf</a:t>
            </a: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.</a:t>
            </a:r>
          </a:p>
        </p:txBody>
      </p:sp>
      <p:sp>
        <p:nvSpPr>
          <p:cNvPr id="196" name="BA_W4">
            <a:extLst>
              <a:ext uri="{FF2B5EF4-FFF2-40B4-BE49-F238E27FC236}">
                <a16:creationId xmlns:a16="http://schemas.microsoft.com/office/drawing/2014/main" id="{CA547249-BFAC-7D9F-5C3B-2B67D8B8A9B9}"/>
              </a:ext>
            </a:extLst>
          </p:cNvPr>
          <p:cNvSpPr/>
          <p:nvPr/>
        </p:nvSpPr>
        <p:spPr>
          <a:xfrm>
            <a:off x="9490384" y="4047213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W4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Modif</a:t>
            </a: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. </a:t>
            </a:r>
            <a:r>
              <a:rPr kumimoji="0" lang="fr-FR" sz="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Gar</a:t>
            </a: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. </a:t>
            </a:r>
            <a:r>
              <a:rPr kumimoji="0" lang="fr-FR" sz="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Prév</a:t>
            </a: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.</a:t>
            </a:r>
          </a:p>
        </p:txBody>
      </p:sp>
      <p:sp>
        <p:nvSpPr>
          <p:cNvPr id="197" name="Gr_REFUC">
            <a:extLst>
              <a:ext uri="{FF2B5EF4-FFF2-40B4-BE49-F238E27FC236}">
                <a16:creationId xmlns:a16="http://schemas.microsoft.com/office/drawing/2014/main" id="{69CEFE3D-9F39-07DD-F4DE-7642E6663D5B}"/>
              </a:ext>
            </a:extLst>
          </p:cNvPr>
          <p:cNvSpPr/>
          <p:nvPr/>
        </p:nvSpPr>
        <p:spPr>
          <a:xfrm>
            <a:off x="4497472" y="3115682"/>
            <a:ext cx="769204" cy="591273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  <a:effectLst>
            <a:outerShdw blurRad="50800" dist="38100" dir="2700000" algn="ctr" rotWithShape="0">
              <a:schemeClr val="tx1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/>
            </a:endParaRPr>
          </a:p>
        </p:txBody>
      </p:sp>
      <p:sp>
        <p:nvSpPr>
          <p:cNvPr id="198" name="ZT_REFUC">
            <a:extLst>
              <a:ext uri="{FF2B5EF4-FFF2-40B4-BE49-F238E27FC236}">
                <a16:creationId xmlns:a16="http://schemas.microsoft.com/office/drawing/2014/main" id="{450ACBAE-5A94-A24A-F1E4-6FF6AA6FAAA2}"/>
              </a:ext>
            </a:extLst>
          </p:cNvPr>
          <p:cNvSpPr txBox="1"/>
          <p:nvPr/>
        </p:nvSpPr>
        <p:spPr>
          <a:xfrm>
            <a:off x="4585812" y="3143267"/>
            <a:ext cx="664123" cy="246221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REFUC</a:t>
            </a:r>
          </a:p>
        </p:txBody>
      </p:sp>
      <p:sp>
        <p:nvSpPr>
          <p:cNvPr id="199" name="BA_VL">
            <a:extLst>
              <a:ext uri="{FF2B5EF4-FFF2-40B4-BE49-F238E27FC236}">
                <a16:creationId xmlns:a16="http://schemas.microsoft.com/office/drawing/2014/main" id="{406BA35D-E957-2917-864F-8FFC27D9EBF3}"/>
              </a:ext>
            </a:extLst>
          </p:cNvPr>
          <p:cNvSpPr/>
          <p:nvPr/>
        </p:nvSpPr>
        <p:spPr>
          <a:xfrm>
            <a:off x="4562134" y="3360904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VL</a:t>
            </a:r>
            <a:endParaRPr kumimoji="0" lang="fr-FR" sz="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Référ</a:t>
            </a: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. UC</a:t>
            </a:r>
          </a:p>
        </p:txBody>
      </p:sp>
      <p:sp>
        <p:nvSpPr>
          <p:cNvPr id="200" name="Gr_EBX">
            <a:extLst>
              <a:ext uri="{FF2B5EF4-FFF2-40B4-BE49-F238E27FC236}">
                <a16:creationId xmlns:a16="http://schemas.microsoft.com/office/drawing/2014/main" id="{9E7E7AB2-06B1-FE1C-000E-71CBDDD9B7C2}"/>
              </a:ext>
            </a:extLst>
          </p:cNvPr>
          <p:cNvSpPr/>
          <p:nvPr/>
        </p:nvSpPr>
        <p:spPr>
          <a:xfrm>
            <a:off x="3593887" y="3113812"/>
            <a:ext cx="834318" cy="61200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  <a:effectLst>
            <a:outerShdw blurRad="50800" dist="38100" dir="2700000" algn="ctr" rotWithShape="0">
              <a:schemeClr val="tx1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/>
            </a:endParaRPr>
          </a:p>
        </p:txBody>
      </p:sp>
      <p:sp>
        <p:nvSpPr>
          <p:cNvPr id="201" name="ZT_EBX">
            <a:extLst>
              <a:ext uri="{FF2B5EF4-FFF2-40B4-BE49-F238E27FC236}">
                <a16:creationId xmlns:a16="http://schemas.microsoft.com/office/drawing/2014/main" id="{79CFE97F-A81D-8666-BF75-C62857AC0222}"/>
              </a:ext>
            </a:extLst>
          </p:cNvPr>
          <p:cNvSpPr txBox="1"/>
          <p:nvPr/>
        </p:nvSpPr>
        <p:spPr>
          <a:xfrm>
            <a:off x="3603261" y="3141397"/>
            <a:ext cx="824943" cy="246221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EBX</a:t>
            </a:r>
          </a:p>
        </p:txBody>
      </p:sp>
      <p:sp>
        <p:nvSpPr>
          <p:cNvPr id="202" name="BA_EBX">
            <a:extLst>
              <a:ext uri="{FF2B5EF4-FFF2-40B4-BE49-F238E27FC236}">
                <a16:creationId xmlns:a16="http://schemas.microsoft.com/office/drawing/2014/main" id="{1340905E-15A1-D65E-E408-313D5364C3DF}"/>
              </a:ext>
            </a:extLst>
          </p:cNvPr>
          <p:cNvSpPr/>
          <p:nvPr/>
        </p:nvSpPr>
        <p:spPr>
          <a:xfrm>
            <a:off x="3697255" y="3370753"/>
            <a:ext cx="648000" cy="276281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EBX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EBX-Platform</a:t>
            </a:r>
          </a:p>
        </p:txBody>
      </p:sp>
      <p:sp>
        <p:nvSpPr>
          <p:cNvPr id="203" name="ZoneProjet">
            <a:extLst>
              <a:ext uri="{FF2B5EF4-FFF2-40B4-BE49-F238E27FC236}">
                <a16:creationId xmlns:a16="http://schemas.microsoft.com/office/drawing/2014/main" id="{4D603004-C512-BA2B-B17F-0B5606ACA647}"/>
              </a:ext>
            </a:extLst>
          </p:cNvPr>
          <p:cNvSpPr txBox="1"/>
          <p:nvPr/>
        </p:nvSpPr>
        <p:spPr>
          <a:xfrm>
            <a:off x="981127" y="524643"/>
            <a:ext cx="1683153" cy="253916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>
            <a:defPPr>
              <a:defRPr lang="fr-FR"/>
            </a:defPPr>
            <a:lvl1pPr lvl="0" algn="ctr">
              <a:defRPr b="1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fr-FR" dirty="0"/>
              <a:t>Parcours GOBS conseiller</a:t>
            </a:r>
          </a:p>
        </p:txBody>
      </p:sp>
      <p:sp>
        <p:nvSpPr>
          <p:cNvPr id="204" name="ZT_Titre">
            <a:extLst>
              <a:ext uri="{FF2B5EF4-FFF2-40B4-BE49-F238E27FC236}">
                <a16:creationId xmlns:a16="http://schemas.microsoft.com/office/drawing/2014/main" id="{F7FC89C3-7246-FDC2-81BA-DC6F5E8CAE83}"/>
              </a:ext>
            </a:extLst>
          </p:cNvPr>
          <p:cNvSpPr txBox="1"/>
          <p:nvPr/>
        </p:nvSpPr>
        <p:spPr>
          <a:xfrm>
            <a:off x="0" y="-124544"/>
            <a:ext cx="12192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800" b="0" i="0" u="none" strike="noStrike" kern="1200" cap="none" spc="0" normalizeH="0" baseline="0" noProof="0" dirty="0">
                <a:ln>
                  <a:noFill/>
                </a:ln>
                <a:solidFill>
                  <a:srgbClr val="5B9BD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Identification des composants applicatifs</a:t>
            </a:r>
          </a:p>
        </p:txBody>
      </p:sp>
      <p:sp>
        <p:nvSpPr>
          <p:cNvPr id="205" name="Gr_BDOC">
            <a:extLst>
              <a:ext uri="{FF2B5EF4-FFF2-40B4-BE49-F238E27FC236}">
                <a16:creationId xmlns:a16="http://schemas.microsoft.com/office/drawing/2014/main" id="{51C7F5DB-C20A-A0D0-094C-41E4F544D392}"/>
              </a:ext>
            </a:extLst>
          </p:cNvPr>
          <p:cNvSpPr/>
          <p:nvPr/>
        </p:nvSpPr>
        <p:spPr>
          <a:xfrm>
            <a:off x="5353697" y="3111592"/>
            <a:ext cx="744111" cy="61200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  <a:effectLst>
            <a:outerShdw blurRad="50800" dist="38100" dir="2700000" algn="ctr" rotWithShape="0">
              <a:schemeClr val="tx1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/>
            </a:endParaRPr>
          </a:p>
        </p:txBody>
      </p:sp>
      <p:sp>
        <p:nvSpPr>
          <p:cNvPr id="206" name="ZT_BDOC">
            <a:extLst>
              <a:ext uri="{FF2B5EF4-FFF2-40B4-BE49-F238E27FC236}">
                <a16:creationId xmlns:a16="http://schemas.microsoft.com/office/drawing/2014/main" id="{D0A52306-E002-C79D-A64B-D07147486076}"/>
              </a:ext>
            </a:extLst>
          </p:cNvPr>
          <p:cNvSpPr txBox="1"/>
          <p:nvPr/>
        </p:nvSpPr>
        <p:spPr>
          <a:xfrm>
            <a:off x="5429887" y="3139177"/>
            <a:ext cx="623531" cy="246221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BDOC</a:t>
            </a:r>
          </a:p>
        </p:txBody>
      </p:sp>
      <p:sp>
        <p:nvSpPr>
          <p:cNvPr id="207" name="BA_BX">
            <a:extLst>
              <a:ext uri="{FF2B5EF4-FFF2-40B4-BE49-F238E27FC236}">
                <a16:creationId xmlns:a16="http://schemas.microsoft.com/office/drawing/2014/main" id="{26E74CF7-5A64-8729-DA0A-385B84AF5E6F}"/>
              </a:ext>
            </a:extLst>
          </p:cNvPr>
          <p:cNvSpPr/>
          <p:nvPr/>
        </p:nvSpPr>
        <p:spPr>
          <a:xfrm>
            <a:off x="5405378" y="3393901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BX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BDOC WEB</a:t>
            </a:r>
          </a:p>
        </p:txBody>
      </p:sp>
      <p:sp>
        <p:nvSpPr>
          <p:cNvPr id="208" name="ZT_MàJ">
            <a:extLst>
              <a:ext uri="{FF2B5EF4-FFF2-40B4-BE49-F238E27FC236}">
                <a16:creationId xmlns:a16="http://schemas.microsoft.com/office/drawing/2014/main" id="{0C16B794-B84D-CEA8-49E5-CB0F46B75269}"/>
              </a:ext>
            </a:extLst>
          </p:cNvPr>
          <p:cNvSpPr txBox="1"/>
          <p:nvPr/>
        </p:nvSpPr>
        <p:spPr>
          <a:xfrm>
            <a:off x="390525" y="6491355"/>
            <a:ext cx="174438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Mise à jour : 16/02/2026</a:t>
            </a:r>
          </a:p>
        </p:txBody>
      </p:sp>
      <p:sp>
        <p:nvSpPr>
          <p:cNvPr id="209" name="ZT_Validité">
            <a:extLst>
              <a:ext uri="{FF2B5EF4-FFF2-40B4-BE49-F238E27FC236}">
                <a16:creationId xmlns:a16="http://schemas.microsoft.com/office/drawing/2014/main" id="{27C3E511-ACA1-3CB3-6146-8C179C0D653D}"/>
              </a:ext>
            </a:extLst>
          </p:cNvPr>
          <p:cNvSpPr txBox="1"/>
          <p:nvPr/>
        </p:nvSpPr>
        <p:spPr>
          <a:xfrm>
            <a:off x="10479876" y="6501427"/>
            <a:ext cx="126444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Validité : T2 2026</a:t>
            </a:r>
          </a:p>
        </p:txBody>
      </p:sp>
      <p:sp>
        <p:nvSpPr>
          <p:cNvPr id="210" name="Légende_Comp3">
            <a:extLst>
              <a:ext uri="{FF2B5EF4-FFF2-40B4-BE49-F238E27FC236}">
                <a16:creationId xmlns:a16="http://schemas.microsoft.com/office/drawing/2014/main" id="{170C552B-B1E8-33C3-9F49-A60754254EFF}"/>
              </a:ext>
            </a:extLst>
          </p:cNvPr>
          <p:cNvSpPr/>
          <p:nvPr/>
        </p:nvSpPr>
        <p:spPr>
          <a:xfrm>
            <a:off x="6567797" y="549933"/>
            <a:ext cx="1080000" cy="360000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Composant </a:t>
            </a:r>
            <a:b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créé ou modifié</a:t>
            </a:r>
          </a:p>
        </p:txBody>
      </p:sp>
      <p:sp>
        <p:nvSpPr>
          <p:cNvPr id="211" name="Légende_Comp2">
            <a:extLst>
              <a:ext uri="{FF2B5EF4-FFF2-40B4-BE49-F238E27FC236}">
                <a16:creationId xmlns:a16="http://schemas.microsoft.com/office/drawing/2014/main" id="{D15DDB88-5DCC-17B1-860E-C24C116D6D6C}"/>
              </a:ext>
            </a:extLst>
          </p:cNvPr>
          <p:cNvSpPr/>
          <p:nvPr/>
        </p:nvSpPr>
        <p:spPr>
          <a:xfrm>
            <a:off x="5383906" y="547517"/>
            <a:ext cx="1080000" cy="360000"/>
          </a:xfrm>
          <a:prstGeom prst="round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Composant utilisé</a:t>
            </a:r>
          </a:p>
        </p:txBody>
      </p:sp>
      <p:sp>
        <p:nvSpPr>
          <p:cNvPr id="212" name="Légende_Comp1">
            <a:extLst>
              <a:ext uri="{FF2B5EF4-FFF2-40B4-BE49-F238E27FC236}">
                <a16:creationId xmlns:a16="http://schemas.microsoft.com/office/drawing/2014/main" id="{328FAD2F-99E6-1C13-3145-8BBC03C4ED8C}"/>
              </a:ext>
            </a:extLst>
          </p:cNvPr>
          <p:cNvSpPr/>
          <p:nvPr/>
        </p:nvSpPr>
        <p:spPr>
          <a:xfrm>
            <a:off x="4200015" y="542942"/>
            <a:ext cx="1080000" cy="360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Composant non exploité</a:t>
            </a:r>
          </a:p>
        </p:txBody>
      </p:sp>
      <p:sp>
        <p:nvSpPr>
          <p:cNvPr id="213" name="BA_T2">
            <a:extLst>
              <a:ext uri="{FF2B5EF4-FFF2-40B4-BE49-F238E27FC236}">
                <a16:creationId xmlns:a16="http://schemas.microsoft.com/office/drawing/2014/main" id="{98C9FA4B-2108-D707-6AC0-F0C397253BC7}"/>
              </a:ext>
            </a:extLst>
          </p:cNvPr>
          <p:cNvSpPr/>
          <p:nvPr/>
        </p:nvSpPr>
        <p:spPr>
          <a:xfrm>
            <a:off x="9490384" y="3696185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T2</a:t>
            </a:r>
            <a:endParaRPr kumimoji="0" lang="fr-FR" sz="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KConnect</a:t>
            </a: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 MUTU</a:t>
            </a:r>
          </a:p>
        </p:txBody>
      </p:sp>
      <p:sp>
        <p:nvSpPr>
          <p:cNvPr id="214" name="BA_T3">
            <a:extLst>
              <a:ext uri="{FF2B5EF4-FFF2-40B4-BE49-F238E27FC236}">
                <a16:creationId xmlns:a16="http://schemas.microsoft.com/office/drawing/2014/main" id="{0D8FB8FF-1EC1-6998-6973-1645835BE713}"/>
              </a:ext>
            </a:extLst>
          </p:cNvPr>
          <p:cNvSpPr/>
          <p:nvPr/>
        </p:nvSpPr>
        <p:spPr>
          <a:xfrm>
            <a:off x="10160477" y="3696185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T3</a:t>
            </a:r>
            <a:endParaRPr kumimoji="0" lang="fr-FR" sz="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KConnect</a:t>
            </a: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 CAA</a:t>
            </a:r>
          </a:p>
        </p:txBody>
      </p:sp>
      <p:sp>
        <p:nvSpPr>
          <p:cNvPr id="215" name="BA_F8">
            <a:extLst>
              <a:ext uri="{FF2B5EF4-FFF2-40B4-BE49-F238E27FC236}">
                <a16:creationId xmlns:a16="http://schemas.microsoft.com/office/drawing/2014/main" id="{5C27C167-12D9-63D9-4DC7-54A0D3DBD071}"/>
              </a:ext>
            </a:extLst>
          </p:cNvPr>
          <p:cNvSpPr/>
          <p:nvPr/>
        </p:nvSpPr>
        <p:spPr>
          <a:xfrm>
            <a:off x="8803280" y="2047150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F8</a:t>
            </a:r>
            <a:endParaRPr kumimoji="0" lang="fr-FR" sz="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API MOOP</a:t>
            </a:r>
          </a:p>
        </p:txBody>
      </p:sp>
      <p:sp>
        <p:nvSpPr>
          <p:cNvPr id="216" name="Gr_ETL">
            <a:extLst>
              <a:ext uri="{FF2B5EF4-FFF2-40B4-BE49-F238E27FC236}">
                <a16:creationId xmlns:a16="http://schemas.microsoft.com/office/drawing/2014/main" id="{BFDDD867-72E2-4E99-F428-A4353922901A}"/>
              </a:ext>
            </a:extLst>
          </p:cNvPr>
          <p:cNvSpPr/>
          <p:nvPr/>
        </p:nvSpPr>
        <p:spPr>
          <a:xfrm>
            <a:off x="1617823" y="2849127"/>
            <a:ext cx="862923" cy="561929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  <a:effectLst>
            <a:outerShdw blurRad="50800" dist="38100" dir="2700000" algn="ctr" rotWithShape="0">
              <a:schemeClr val="tx1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/>
            </a:endParaRPr>
          </a:p>
        </p:txBody>
      </p:sp>
      <p:sp>
        <p:nvSpPr>
          <p:cNvPr id="217" name="ZT_ETL">
            <a:extLst>
              <a:ext uri="{FF2B5EF4-FFF2-40B4-BE49-F238E27FC236}">
                <a16:creationId xmlns:a16="http://schemas.microsoft.com/office/drawing/2014/main" id="{1843506A-742F-364D-258A-0812C3BFE6A3}"/>
              </a:ext>
            </a:extLst>
          </p:cNvPr>
          <p:cNvSpPr txBox="1"/>
          <p:nvPr/>
        </p:nvSpPr>
        <p:spPr>
          <a:xfrm>
            <a:off x="1611935" y="2858784"/>
            <a:ext cx="898650" cy="246221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ETL</a:t>
            </a:r>
          </a:p>
        </p:txBody>
      </p:sp>
      <p:sp>
        <p:nvSpPr>
          <p:cNvPr id="218" name="BA_PWC2">
            <a:extLst>
              <a:ext uri="{FF2B5EF4-FFF2-40B4-BE49-F238E27FC236}">
                <a16:creationId xmlns:a16="http://schemas.microsoft.com/office/drawing/2014/main" id="{095BC007-5BA3-021A-ED37-A98D6D244093}"/>
              </a:ext>
            </a:extLst>
          </p:cNvPr>
          <p:cNvSpPr/>
          <p:nvPr/>
        </p:nvSpPr>
        <p:spPr>
          <a:xfrm>
            <a:off x="1715817" y="3076593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PWC2</a:t>
            </a:r>
            <a:endParaRPr kumimoji="0" lang="fr-FR" sz="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ETL PREDICA</a:t>
            </a:r>
          </a:p>
        </p:txBody>
      </p:sp>
      <p:sp>
        <p:nvSpPr>
          <p:cNvPr id="219" name="Légende_Date1">
            <a:extLst>
              <a:ext uri="{FF2B5EF4-FFF2-40B4-BE49-F238E27FC236}">
                <a16:creationId xmlns:a16="http://schemas.microsoft.com/office/drawing/2014/main" id="{75306B70-4264-D4DB-CB1C-E18DD68B09E1}"/>
              </a:ext>
            </a:extLst>
          </p:cNvPr>
          <p:cNvSpPr txBox="1"/>
          <p:nvPr/>
        </p:nvSpPr>
        <p:spPr>
          <a:xfrm rot="19102564">
            <a:off x="7647306" y="559123"/>
            <a:ext cx="927160" cy="369332"/>
          </a:xfrm>
          <a:prstGeom prst="rect">
            <a:avLst/>
          </a:prstGeom>
          <a:noFill/>
          <a:ln cap="flat">
            <a:noFill/>
            <a:prstDash val="solid"/>
          </a:ln>
          <a:effectLst>
            <a:softEdge rad="0"/>
          </a:effectLst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900" b="0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Date de </a:t>
            </a:r>
            <a:r>
              <a:rPr kumimoji="0" lang="fr-FR" sz="900" b="0" i="0" u="none" strike="noStrike" kern="1200" cap="none" spc="0" normalizeH="0" baseline="0" noProof="0" dirty="0" err="1">
                <a:ln>
                  <a:noFill/>
                </a:ln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MeP</a:t>
            </a:r>
            <a:r>
              <a:rPr kumimoji="0" lang="fr-FR" sz="900" b="0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 prévue</a:t>
            </a:r>
          </a:p>
        </p:txBody>
      </p:sp>
      <p:sp>
        <p:nvSpPr>
          <p:cNvPr id="222" name="Légende_Date2">
            <a:extLst>
              <a:ext uri="{FF2B5EF4-FFF2-40B4-BE49-F238E27FC236}">
                <a16:creationId xmlns:a16="http://schemas.microsoft.com/office/drawing/2014/main" id="{FFE426E1-3B4D-81A0-128D-DD024A7B0CDF}"/>
              </a:ext>
            </a:extLst>
          </p:cNvPr>
          <p:cNvSpPr txBox="1"/>
          <p:nvPr/>
        </p:nvSpPr>
        <p:spPr>
          <a:xfrm rot="19102564">
            <a:off x="8343008" y="568799"/>
            <a:ext cx="927160" cy="369332"/>
          </a:xfrm>
          <a:prstGeom prst="rect">
            <a:avLst/>
          </a:prstGeom>
          <a:noFill/>
          <a:ln cap="flat">
            <a:noFill/>
            <a:prstDash val="solid"/>
          </a:ln>
          <a:effectLst>
            <a:softEdge rad="0"/>
          </a:effectLst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900" b="0" i="0" u="none" strike="noStrike" kern="1200" cap="none" spc="0" normalizeH="0" baseline="0" noProof="0" dirty="0">
                <a:ln>
                  <a:noFill/>
                </a:ln>
                <a:solidFill>
                  <a:srgbClr val="70AD4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Date de </a:t>
            </a:r>
            <a:r>
              <a:rPr kumimoji="0" lang="fr-FR" sz="900" b="0" i="0" u="none" strike="noStrike" kern="1200" cap="none" spc="0" normalizeH="0" baseline="0" noProof="0" dirty="0" err="1">
                <a:ln>
                  <a:noFill/>
                </a:ln>
                <a:solidFill>
                  <a:srgbClr val="70AD4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MeP</a:t>
            </a:r>
            <a:r>
              <a:rPr kumimoji="0" lang="fr-FR" sz="900" b="0" i="0" u="none" strike="noStrike" kern="1200" cap="none" spc="0" normalizeH="0" baseline="0" noProof="0" dirty="0">
                <a:ln>
                  <a:noFill/>
                </a:ln>
                <a:solidFill>
                  <a:srgbClr val="70AD4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 effective</a:t>
            </a:r>
          </a:p>
        </p:txBody>
      </p:sp>
      <p:sp>
        <p:nvSpPr>
          <p:cNvPr id="223" name="Gr_CATS">
            <a:extLst>
              <a:ext uri="{FF2B5EF4-FFF2-40B4-BE49-F238E27FC236}">
                <a16:creationId xmlns:a16="http://schemas.microsoft.com/office/drawing/2014/main" id="{B1DF675B-3E6D-F110-A628-2FF6AA52A426}"/>
              </a:ext>
            </a:extLst>
          </p:cNvPr>
          <p:cNvSpPr/>
          <p:nvPr/>
        </p:nvSpPr>
        <p:spPr>
          <a:xfrm>
            <a:off x="447324" y="5119889"/>
            <a:ext cx="5579420" cy="1254012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4" name="ZT_CATS">
            <a:extLst>
              <a:ext uri="{FF2B5EF4-FFF2-40B4-BE49-F238E27FC236}">
                <a16:creationId xmlns:a16="http://schemas.microsoft.com/office/drawing/2014/main" id="{875FD56F-CFD3-6299-801F-37AA8C299C01}"/>
              </a:ext>
            </a:extLst>
          </p:cNvPr>
          <p:cNvSpPr txBox="1"/>
          <p:nvPr/>
        </p:nvSpPr>
        <p:spPr>
          <a:xfrm>
            <a:off x="370835" y="5083258"/>
            <a:ext cx="5409144" cy="246221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CA-TS</a:t>
            </a:r>
            <a:endParaRPr kumimoji="0" lang="fr-FR" sz="1000" b="1" i="1" u="none" strike="noStrike" kern="1200" cap="none" spc="0" normalizeH="0" baseline="0" noProof="0" dirty="0">
              <a:ln>
                <a:noFill/>
              </a:ln>
              <a:solidFill>
                <a:srgbClr val="7030A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5" name="BA_PDI9">
            <a:extLst>
              <a:ext uri="{FF2B5EF4-FFF2-40B4-BE49-F238E27FC236}">
                <a16:creationId xmlns:a16="http://schemas.microsoft.com/office/drawing/2014/main" id="{B7D6CD13-6DE2-EE51-FE24-3B89746E4934}"/>
              </a:ext>
            </a:extLst>
          </p:cNvPr>
          <p:cNvSpPr/>
          <p:nvPr/>
        </p:nvSpPr>
        <p:spPr>
          <a:xfrm>
            <a:off x="506780" y="5666800"/>
            <a:ext cx="648000" cy="288000"/>
          </a:xfrm>
          <a:prstGeom prst="roundRect">
            <a:avLst/>
          </a:prstGeom>
          <a:solidFill>
            <a:srgbClr val="B6D3EC"/>
          </a:solidFill>
          <a:ln w="6350"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PDI9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6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/>
              </a:rPr>
              <a:t>-</a:t>
            </a:r>
            <a:endParaRPr kumimoji="0" lang="fr-FR" sz="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6" name="BA_XConnect">
            <a:extLst>
              <a:ext uri="{FF2B5EF4-FFF2-40B4-BE49-F238E27FC236}">
                <a16:creationId xmlns:a16="http://schemas.microsoft.com/office/drawing/2014/main" id="{1955BA16-6BEB-7AAE-8EF2-25EB302E48FF}"/>
              </a:ext>
            </a:extLst>
          </p:cNvPr>
          <p:cNvSpPr/>
          <p:nvPr/>
        </p:nvSpPr>
        <p:spPr>
          <a:xfrm>
            <a:off x="1189563" y="5663009"/>
            <a:ext cx="648000" cy="288000"/>
          </a:xfrm>
          <a:prstGeom prst="roundRect">
            <a:avLst/>
          </a:prstGeom>
          <a:solidFill>
            <a:srgbClr val="B6D3EC"/>
          </a:solidFill>
          <a:ln w="6350"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Xconnect</a:t>
            </a:r>
            <a:endParaRPr kumimoji="0" lang="fr-FR" sz="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6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/>
              </a:rPr>
              <a:t>-</a:t>
            </a:r>
            <a:endParaRPr kumimoji="0" lang="fr-FR" sz="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7" name="BA_SIMM">
            <a:extLst>
              <a:ext uri="{FF2B5EF4-FFF2-40B4-BE49-F238E27FC236}">
                <a16:creationId xmlns:a16="http://schemas.microsoft.com/office/drawing/2014/main" id="{B0640F27-F8BA-3EB5-F585-BBD050BE1E84}"/>
              </a:ext>
            </a:extLst>
          </p:cNvPr>
          <p:cNvSpPr/>
          <p:nvPr/>
        </p:nvSpPr>
        <p:spPr>
          <a:xfrm>
            <a:off x="2557693" y="5660385"/>
            <a:ext cx="648000" cy="288000"/>
          </a:xfrm>
          <a:prstGeom prst="roundRect">
            <a:avLst/>
          </a:prstGeom>
          <a:solidFill>
            <a:srgbClr val="B6D3EC"/>
          </a:solidFill>
          <a:ln w="6350"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SIMM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6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/>
              </a:rPr>
              <a:t>-</a:t>
            </a:r>
            <a:endParaRPr kumimoji="0" lang="fr-FR" sz="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8" name="BA_BAM">
            <a:extLst>
              <a:ext uri="{FF2B5EF4-FFF2-40B4-BE49-F238E27FC236}">
                <a16:creationId xmlns:a16="http://schemas.microsoft.com/office/drawing/2014/main" id="{528E4B7C-BE87-14FF-6B0F-BB3B12535556}"/>
              </a:ext>
            </a:extLst>
          </p:cNvPr>
          <p:cNvSpPr/>
          <p:nvPr/>
        </p:nvSpPr>
        <p:spPr>
          <a:xfrm>
            <a:off x="2833493" y="5340532"/>
            <a:ext cx="648000" cy="288000"/>
          </a:xfrm>
          <a:prstGeom prst="roundRect">
            <a:avLst/>
          </a:prstGeom>
          <a:solidFill>
            <a:srgbClr val="B6D3EC"/>
          </a:solidFill>
          <a:ln w="6350"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BAM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6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/>
              </a:rPr>
              <a:t>-</a:t>
            </a:r>
            <a:endParaRPr kumimoji="0" lang="fr-FR" sz="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9" name="BA_RAC">
            <a:extLst>
              <a:ext uri="{FF2B5EF4-FFF2-40B4-BE49-F238E27FC236}">
                <a16:creationId xmlns:a16="http://schemas.microsoft.com/office/drawing/2014/main" id="{37FC2DE9-EDCD-5113-64C8-5D1D0CCBB9FF}"/>
              </a:ext>
            </a:extLst>
          </p:cNvPr>
          <p:cNvSpPr/>
          <p:nvPr/>
        </p:nvSpPr>
        <p:spPr>
          <a:xfrm>
            <a:off x="4892893" y="5338051"/>
            <a:ext cx="648000" cy="288000"/>
          </a:xfrm>
          <a:prstGeom prst="roundRect">
            <a:avLst/>
          </a:prstGeom>
          <a:solidFill>
            <a:srgbClr val="B6D3EC"/>
          </a:solidFill>
          <a:ln w="6350"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RAC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6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/>
              </a:rPr>
              <a:t>-</a:t>
            </a:r>
            <a:endParaRPr kumimoji="0" lang="fr-FR" sz="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0" name="BA_DétContratNatifMB">
            <a:extLst>
              <a:ext uri="{FF2B5EF4-FFF2-40B4-BE49-F238E27FC236}">
                <a16:creationId xmlns:a16="http://schemas.microsoft.com/office/drawing/2014/main" id="{972F41DC-0E01-E546-307C-31F5DB332808}"/>
              </a:ext>
            </a:extLst>
          </p:cNvPr>
          <p:cNvSpPr/>
          <p:nvPr/>
        </p:nvSpPr>
        <p:spPr>
          <a:xfrm>
            <a:off x="506780" y="5329301"/>
            <a:ext cx="1326281" cy="288000"/>
          </a:xfrm>
          <a:prstGeom prst="roundRect">
            <a:avLst/>
          </a:prstGeom>
          <a:solidFill>
            <a:srgbClr val="B6D3EC"/>
          </a:solidFill>
          <a:ln w="6350"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Dét</a:t>
            </a: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. Contrat natif MB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6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/>
              </a:rPr>
              <a:t>-</a:t>
            </a:r>
            <a:endParaRPr kumimoji="0" lang="fr-FR" sz="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1" name="BA_BPM">
            <a:extLst>
              <a:ext uri="{FF2B5EF4-FFF2-40B4-BE49-F238E27FC236}">
                <a16:creationId xmlns:a16="http://schemas.microsoft.com/office/drawing/2014/main" id="{6F7ACF70-C6ED-9DAA-13E4-94B22718F0FC}"/>
              </a:ext>
            </a:extLst>
          </p:cNvPr>
          <p:cNvSpPr/>
          <p:nvPr/>
        </p:nvSpPr>
        <p:spPr>
          <a:xfrm>
            <a:off x="1875772" y="5663009"/>
            <a:ext cx="648000" cy="288000"/>
          </a:xfrm>
          <a:prstGeom prst="roundRect">
            <a:avLst/>
          </a:prstGeom>
          <a:solidFill>
            <a:srgbClr val="B6D3EC"/>
          </a:solidFill>
          <a:ln w="6350"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BPM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6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/>
              </a:rPr>
              <a:t>-</a:t>
            </a:r>
            <a:endParaRPr kumimoji="0" lang="fr-FR" sz="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2" name="BA_APX9">
            <a:extLst>
              <a:ext uri="{FF2B5EF4-FFF2-40B4-BE49-F238E27FC236}">
                <a16:creationId xmlns:a16="http://schemas.microsoft.com/office/drawing/2014/main" id="{4DB7FFE7-B10F-2DAC-1976-BB4D5AD7B791}"/>
              </a:ext>
            </a:extLst>
          </p:cNvPr>
          <p:cNvSpPr/>
          <p:nvPr/>
        </p:nvSpPr>
        <p:spPr>
          <a:xfrm>
            <a:off x="511818" y="6003252"/>
            <a:ext cx="648000" cy="288000"/>
          </a:xfrm>
          <a:prstGeom prst="roundRect">
            <a:avLst/>
          </a:prstGeom>
          <a:solidFill>
            <a:srgbClr val="B6D3EC"/>
          </a:solidFill>
          <a:ln w="6350"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APX9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6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/>
              </a:rPr>
              <a:t>-</a:t>
            </a:r>
            <a:endParaRPr kumimoji="0" lang="fr-FR" sz="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3" name="BA_HUB">
            <a:extLst>
              <a:ext uri="{FF2B5EF4-FFF2-40B4-BE49-F238E27FC236}">
                <a16:creationId xmlns:a16="http://schemas.microsoft.com/office/drawing/2014/main" id="{E8BCDFE7-E32A-6F8E-26F4-992F6E3C90A7}"/>
              </a:ext>
            </a:extLst>
          </p:cNvPr>
          <p:cNvSpPr/>
          <p:nvPr/>
        </p:nvSpPr>
        <p:spPr>
          <a:xfrm>
            <a:off x="3242082" y="5660385"/>
            <a:ext cx="648000" cy="288000"/>
          </a:xfrm>
          <a:prstGeom prst="roundRect">
            <a:avLst/>
          </a:prstGeom>
          <a:solidFill>
            <a:srgbClr val="B6D3EC"/>
          </a:solidFill>
          <a:ln w="6350"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HUB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6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/>
              </a:rPr>
              <a:t>-</a:t>
            </a:r>
            <a:endParaRPr kumimoji="0" lang="fr-FR" sz="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4" name="BA_NPC">
            <a:extLst>
              <a:ext uri="{FF2B5EF4-FFF2-40B4-BE49-F238E27FC236}">
                <a16:creationId xmlns:a16="http://schemas.microsoft.com/office/drawing/2014/main" id="{31CBFB2D-AE43-EDFF-B682-482D4E8496D1}"/>
              </a:ext>
            </a:extLst>
          </p:cNvPr>
          <p:cNvSpPr/>
          <p:nvPr/>
        </p:nvSpPr>
        <p:spPr>
          <a:xfrm>
            <a:off x="3515693" y="5337169"/>
            <a:ext cx="648000" cy="288000"/>
          </a:xfrm>
          <a:prstGeom prst="roundRect">
            <a:avLst/>
          </a:prstGeom>
          <a:solidFill>
            <a:srgbClr val="B6D3EC"/>
          </a:solidFill>
          <a:ln w="6350"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NPC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6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/>
              </a:rPr>
              <a:t>-</a:t>
            </a:r>
            <a:endParaRPr kumimoji="0" lang="fr-FR" sz="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5" name="BA_Microservices">
            <a:extLst>
              <a:ext uri="{FF2B5EF4-FFF2-40B4-BE49-F238E27FC236}">
                <a16:creationId xmlns:a16="http://schemas.microsoft.com/office/drawing/2014/main" id="{3ECE0013-3B24-6919-4096-D903410412AE}"/>
              </a:ext>
            </a:extLst>
          </p:cNvPr>
          <p:cNvSpPr/>
          <p:nvPr/>
        </p:nvSpPr>
        <p:spPr>
          <a:xfrm>
            <a:off x="1867224" y="5336000"/>
            <a:ext cx="925408" cy="288000"/>
          </a:xfrm>
          <a:prstGeom prst="roundRect">
            <a:avLst/>
          </a:prstGeom>
          <a:solidFill>
            <a:srgbClr val="B6D3EC"/>
          </a:solidFill>
          <a:ln w="6350"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Microservices</a:t>
            </a:r>
            <a:endParaRPr kumimoji="0" lang="fr-FR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6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/>
              </a:rPr>
              <a:t>-</a:t>
            </a:r>
            <a:endParaRPr kumimoji="0" lang="fr-FR" sz="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6" name="BA_SIG9">
            <a:extLst>
              <a:ext uri="{FF2B5EF4-FFF2-40B4-BE49-F238E27FC236}">
                <a16:creationId xmlns:a16="http://schemas.microsoft.com/office/drawing/2014/main" id="{D7C8B002-00A7-E2FF-718A-CEAEB8892BCE}"/>
              </a:ext>
            </a:extLst>
          </p:cNvPr>
          <p:cNvSpPr/>
          <p:nvPr/>
        </p:nvSpPr>
        <p:spPr>
          <a:xfrm>
            <a:off x="4203138" y="5331299"/>
            <a:ext cx="648000" cy="288000"/>
          </a:xfrm>
          <a:prstGeom prst="roundRect">
            <a:avLst/>
          </a:prstGeom>
          <a:solidFill>
            <a:srgbClr val="B6D3EC"/>
          </a:solidFill>
          <a:ln w="6350"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SIG9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6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/>
              </a:rPr>
              <a:t>-</a:t>
            </a:r>
            <a:endParaRPr kumimoji="0" lang="fr-FR" sz="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7" name="Gr_MVS">
            <a:extLst>
              <a:ext uri="{FF2B5EF4-FFF2-40B4-BE49-F238E27FC236}">
                <a16:creationId xmlns:a16="http://schemas.microsoft.com/office/drawing/2014/main" id="{9DB997F2-C187-CBF6-D51F-DA381FD1373C}"/>
              </a:ext>
            </a:extLst>
          </p:cNvPr>
          <p:cNvSpPr/>
          <p:nvPr/>
        </p:nvSpPr>
        <p:spPr>
          <a:xfrm>
            <a:off x="560497" y="1111645"/>
            <a:ext cx="2901105" cy="1661382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  <a:effectLst>
            <a:outerShdw blurRad="50800" dist="38100" dir="2700000" algn="ctr" rotWithShape="0">
              <a:schemeClr val="tx1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/>
            </a:endParaRPr>
          </a:p>
        </p:txBody>
      </p:sp>
      <p:sp>
        <p:nvSpPr>
          <p:cNvPr id="238" name="BA_CICS_LCL">
            <a:extLst>
              <a:ext uri="{FF2B5EF4-FFF2-40B4-BE49-F238E27FC236}">
                <a16:creationId xmlns:a16="http://schemas.microsoft.com/office/drawing/2014/main" id="{832B4C27-8548-850B-0FB4-B1FBA6025727}"/>
              </a:ext>
            </a:extLst>
          </p:cNvPr>
          <p:cNvSpPr/>
          <p:nvPr/>
        </p:nvSpPr>
        <p:spPr>
          <a:xfrm>
            <a:off x="623669" y="1641943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CICS</a:t>
            </a:r>
          </a:p>
        </p:txBody>
      </p:sp>
      <p:sp>
        <p:nvSpPr>
          <p:cNvPr id="239" name="BA_DB2_LCL">
            <a:extLst>
              <a:ext uri="{FF2B5EF4-FFF2-40B4-BE49-F238E27FC236}">
                <a16:creationId xmlns:a16="http://schemas.microsoft.com/office/drawing/2014/main" id="{7F9497DE-8A4A-D937-1007-6FB9FD4F8B0B}"/>
              </a:ext>
            </a:extLst>
          </p:cNvPr>
          <p:cNvSpPr/>
          <p:nvPr/>
        </p:nvSpPr>
        <p:spPr>
          <a:xfrm>
            <a:off x="1307275" y="1641222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DB2</a:t>
            </a:r>
          </a:p>
        </p:txBody>
      </p:sp>
      <p:sp>
        <p:nvSpPr>
          <p:cNvPr id="240" name="ZT_MVS">
            <a:extLst>
              <a:ext uri="{FF2B5EF4-FFF2-40B4-BE49-F238E27FC236}">
                <a16:creationId xmlns:a16="http://schemas.microsoft.com/office/drawing/2014/main" id="{C3284BF8-F8E2-3763-151B-50A9A99AF3F6}"/>
              </a:ext>
            </a:extLst>
          </p:cNvPr>
          <p:cNvSpPr txBox="1"/>
          <p:nvPr/>
        </p:nvSpPr>
        <p:spPr>
          <a:xfrm>
            <a:off x="560496" y="1111645"/>
            <a:ext cx="2901106" cy="246221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MVS Z/OS (</a:t>
            </a:r>
            <a:r>
              <a:rPr kumimoji="0" lang="fr-FR" sz="1000" b="1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Ingenium</a:t>
            </a:r>
            <a:r>
              <a:rPr kumimoji="0" lang="fr-FR" sz="1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)</a:t>
            </a:r>
            <a:endParaRPr kumimoji="0" lang="fr-FR" sz="1000" b="1" i="1" u="none" strike="noStrike" kern="1200" cap="none" spc="0" normalizeH="0" baseline="0" noProof="0" dirty="0">
              <a:ln>
                <a:noFill/>
              </a:ln>
              <a:solidFill>
                <a:srgbClr val="ED7D3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1" name="BA_ING_CA">
            <a:extLst>
              <a:ext uri="{FF2B5EF4-FFF2-40B4-BE49-F238E27FC236}">
                <a16:creationId xmlns:a16="http://schemas.microsoft.com/office/drawing/2014/main" id="{F0CA9306-7264-F424-9254-A74D37F57BAF}"/>
              </a:ext>
            </a:extLst>
          </p:cNvPr>
          <p:cNvSpPr/>
          <p:nvPr/>
        </p:nvSpPr>
        <p:spPr>
          <a:xfrm>
            <a:off x="2043446" y="1970146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INVI/VC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Ingenium</a:t>
            </a: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 CA</a:t>
            </a:r>
          </a:p>
        </p:txBody>
      </p:sp>
      <p:sp>
        <p:nvSpPr>
          <p:cNvPr id="242" name="BA_PE_CA">
            <a:extLst>
              <a:ext uri="{FF2B5EF4-FFF2-40B4-BE49-F238E27FC236}">
                <a16:creationId xmlns:a16="http://schemas.microsoft.com/office/drawing/2014/main" id="{77C0B4BF-08CA-5101-E31B-C4EE88BB02AC}"/>
              </a:ext>
            </a:extLst>
          </p:cNvPr>
          <p:cNvSpPr/>
          <p:nvPr/>
        </p:nvSpPr>
        <p:spPr>
          <a:xfrm>
            <a:off x="2716487" y="1971824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PE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Base Pers CA</a:t>
            </a:r>
          </a:p>
        </p:txBody>
      </p:sp>
      <p:sp>
        <p:nvSpPr>
          <p:cNvPr id="243" name="BA_Autre_CA">
            <a:extLst>
              <a:ext uri="{FF2B5EF4-FFF2-40B4-BE49-F238E27FC236}">
                <a16:creationId xmlns:a16="http://schemas.microsoft.com/office/drawing/2014/main" id="{6FC24823-C0B2-92B9-5B0F-7C16E1FF5CB5}"/>
              </a:ext>
            </a:extLst>
          </p:cNvPr>
          <p:cNvSpPr/>
          <p:nvPr/>
        </p:nvSpPr>
        <p:spPr>
          <a:xfrm>
            <a:off x="2377796" y="2309491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…</a:t>
            </a:r>
          </a:p>
        </p:txBody>
      </p:sp>
      <p:sp>
        <p:nvSpPr>
          <p:cNvPr id="244" name="BA_ING_LCL">
            <a:extLst>
              <a:ext uri="{FF2B5EF4-FFF2-40B4-BE49-F238E27FC236}">
                <a16:creationId xmlns:a16="http://schemas.microsoft.com/office/drawing/2014/main" id="{1DA819C7-7433-E05D-A8CD-D73547A42C20}"/>
              </a:ext>
            </a:extLst>
          </p:cNvPr>
          <p:cNvSpPr/>
          <p:nvPr/>
        </p:nvSpPr>
        <p:spPr>
          <a:xfrm>
            <a:off x="619469" y="1964817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INVI/VC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Ingenium</a:t>
            </a: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 LCL</a:t>
            </a:r>
          </a:p>
        </p:txBody>
      </p:sp>
      <p:sp>
        <p:nvSpPr>
          <p:cNvPr id="245" name="BA_PE_LCL">
            <a:extLst>
              <a:ext uri="{FF2B5EF4-FFF2-40B4-BE49-F238E27FC236}">
                <a16:creationId xmlns:a16="http://schemas.microsoft.com/office/drawing/2014/main" id="{6E19EF0B-5366-6761-BB8C-1F0A002C86D5}"/>
              </a:ext>
            </a:extLst>
          </p:cNvPr>
          <p:cNvSpPr/>
          <p:nvPr/>
        </p:nvSpPr>
        <p:spPr>
          <a:xfrm>
            <a:off x="1305439" y="1963152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PE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Base Pers LCL</a:t>
            </a:r>
          </a:p>
        </p:txBody>
      </p:sp>
      <p:sp>
        <p:nvSpPr>
          <p:cNvPr id="246" name="BA_Autre_LCL">
            <a:extLst>
              <a:ext uri="{FF2B5EF4-FFF2-40B4-BE49-F238E27FC236}">
                <a16:creationId xmlns:a16="http://schemas.microsoft.com/office/drawing/2014/main" id="{F07DF8C3-5A5A-E751-9BA1-78DF114A7729}"/>
              </a:ext>
            </a:extLst>
          </p:cNvPr>
          <p:cNvSpPr/>
          <p:nvPr/>
        </p:nvSpPr>
        <p:spPr>
          <a:xfrm>
            <a:off x="1010215" y="2285082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…</a:t>
            </a:r>
          </a:p>
        </p:txBody>
      </p:sp>
      <p:cxnSp>
        <p:nvCxnSpPr>
          <p:cNvPr id="247" name="Connecteur droit">
            <a:extLst>
              <a:ext uri="{FF2B5EF4-FFF2-40B4-BE49-F238E27FC236}">
                <a16:creationId xmlns:a16="http://schemas.microsoft.com/office/drawing/2014/main" id="{C42084CC-8EEF-788D-9F1A-EDC74D66F1DA}"/>
              </a:ext>
            </a:extLst>
          </p:cNvPr>
          <p:cNvCxnSpPr/>
          <p:nvPr/>
        </p:nvCxnSpPr>
        <p:spPr>
          <a:xfrm>
            <a:off x="1984365" y="1430388"/>
            <a:ext cx="4993" cy="1220450"/>
          </a:xfrm>
          <a:prstGeom prst="line">
            <a:avLst/>
          </a:prstGeom>
          <a:ln w="9525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8" name="ZT_CA">
            <a:extLst>
              <a:ext uri="{FF2B5EF4-FFF2-40B4-BE49-F238E27FC236}">
                <a16:creationId xmlns:a16="http://schemas.microsoft.com/office/drawing/2014/main" id="{2D081B49-CA97-DDF0-F64F-39A75CF891D3}"/>
              </a:ext>
            </a:extLst>
          </p:cNvPr>
          <p:cNvSpPr txBox="1"/>
          <p:nvPr/>
        </p:nvSpPr>
        <p:spPr>
          <a:xfrm>
            <a:off x="2418813" y="1371697"/>
            <a:ext cx="551086" cy="246221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CA</a:t>
            </a:r>
            <a:endParaRPr kumimoji="0" lang="fr-FR" sz="1000" b="1" i="1" u="none" strike="noStrike" kern="1200" cap="none" spc="0" normalizeH="0" baseline="0" noProof="0" dirty="0">
              <a:ln>
                <a:noFill/>
              </a:ln>
              <a:solidFill>
                <a:srgbClr val="ED7D3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9" name="ZT_LCL">
            <a:extLst>
              <a:ext uri="{FF2B5EF4-FFF2-40B4-BE49-F238E27FC236}">
                <a16:creationId xmlns:a16="http://schemas.microsoft.com/office/drawing/2014/main" id="{4FF3AD34-80D1-9DA7-55CD-C346F394AF66}"/>
              </a:ext>
            </a:extLst>
          </p:cNvPr>
          <p:cNvSpPr txBox="1"/>
          <p:nvPr/>
        </p:nvSpPr>
        <p:spPr>
          <a:xfrm>
            <a:off x="1032399" y="1378099"/>
            <a:ext cx="551086" cy="246221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LCL</a:t>
            </a:r>
            <a:endParaRPr kumimoji="0" lang="fr-FR" sz="1000" b="1" i="1" u="none" strike="noStrike" kern="1200" cap="none" spc="0" normalizeH="0" baseline="0" noProof="0" dirty="0">
              <a:ln>
                <a:noFill/>
              </a:ln>
              <a:solidFill>
                <a:srgbClr val="ED7D3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0" name="BA_CICS_CA">
            <a:extLst>
              <a:ext uri="{FF2B5EF4-FFF2-40B4-BE49-F238E27FC236}">
                <a16:creationId xmlns:a16="http://schemas.microsoft.com/office/drawing/2014/main" id="{D2BDE901-0061-414B-9AF5-1486279E038A}"/>
              </a:ext>
            </a:extLst>
          </p:cNvPr>
          <p:cNvSpPr/>
          <p:nvPr/>
        </p:nvSpPr>
        <p:spPr>
          <a:xfrm>
            <a:off x="2021573" y="1646459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CICS</a:t>
            </a:r>
          </a:p>
        </p:txBody>
      </p:sp>
      <p:sp>
        <p:nvSpPr>
          <p:cNvPr id="251" name="BA_DB2_CA">
            <a:extLst>
              <a:ext uri="{FF2B5EF4-FFF2-40B4-BE49-F238E27FC236}">
                <a16:creationId xmlns:a16="http://schemas.microsoft.com/office/drawing/2014/main" id="{24271F14-9C57-5AC0-D9F5-0C61A5FD2F87}"/>
              </a:ext>
            </a:extLst>
          </p:cNvPr>
          <p:cNvSpPr/>
          <p:nvPr/>
        </p:nvSpPr>
        <p:spPr>
          <a:xfrm>
            <a:off x="2717879" y="1645738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DB2</a:t>
            </a:r>
          </a:p>
        </p:txBody>
      </p:sp>
      <p:sp>
        <p:nvSpPr>
          <p:cNvPr id="252" name="BA_GG">
            <a:extLst>
              <a:ext uri="{FF2B5EF4-FFF2-40B4-BE49-F238E27FC236}">
                <a16:creationId xmlns:a16="http://schemas.microsoft.com/office/drawing/2014/main" id="{7113B7EE-2D1F-CCDF-F717-24EA20D1736A}"/>
              </a:ext>
            </a:extLst>
          </p:cNvPr>
          <p:cNvSpPr/>
          <p:nvPr/>
        </p:nvSpPr>
        <p:spPr>
          <a:xfrm>
            <a:off x="5540187" y="2498620"/>
            <a:ext cx="648000" cy="288000"/>
          </a:xfrm>
          <a:prstGeom prst="roundRect">
            <a:avLst/>
          </a:prstGeom>
          <a:solidFill>
            <a:srgbClr val="ED7D3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GG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Sim.Prév</a:t>
            </a: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. Décès</a:t>
            </a:r>
          </a:p>
        </p:txBody>
      </p:sp>
      <p:sp>
        <p:nvSpPr>
          <p:cNvPr id="253" name="BA_GH">
            <a:extLst>
              <a:ext uri="{FF2B5EF4-FFF2-40B4-BE49-F238E27FC236}">
                <a16:creationId xmlns:a16="http://schemas.microsoft.com/office/drawing/2014/main" id="{C2FAAD23-3BA2-86A7-6BBC-359414085084}"/>
              </a:ext>
            </a:extLst>
          </p:cNvPr>
          <p:cNvSpPr/>
          <p:nvPr/>
        </p:nvSpPr>
        <p:spPr>
          <a:xfrm>
            <a:off x="6247379" y="2507699"/>
            <a:ext cx="648000" cy="288000"/>
          </a:xfrm>
          <a:prstGeom prst="roundRect">
            <a:avLst/>
          </a:prstGeom>
          <a:solidFill>
            <a:srgbClr val="ED7D3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GH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Moteur </a:t>
            </a:r>
            <a:r>
              <a:rPr kumimoji="0" lang="fr-FR" sz="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Epicaste</a:t>
            </a:r>
            <a:endParaRPr kumimoji="0" lang="fr-FR" sz="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4" name="Gr_Editique">
            <a:extLst>
              <a:ext uri="{FF2B5EF4-FFF2-40B4-BE49-F238E27FC236}">
                <a16:creationId xmlns:a16="http://schemas.microsoft.com/office/drawing/2014/main" id="{02A0F0EF-AD5D-331D-DA92-EA4A4320525E}"/>
              </a:ext>
            </a:extLst>
          </p:cNvPr>
          <p:cNvSpPr/>
          <p:nvPr/>
        </p:nvSpPr>
        <p:spPr>
          <a:xfrm>
            <a:off x="6994566" y="3106138"/>
            <a:ext cx="754043" cy="61200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  <a:effectLst>
            <a:outerShdw blurRad="50800" dist="38100" dir="2700000" algn="ctr" rotWithShape="0">
              <a:schemeClr val="tx1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/>
            </a:endParaRPr>
          </a:p>
        </p:txBody>
      </p:sp>
      <p:sp>
        <p:nvSpPr>
          <p:cNvPr id="255" name="ZT_Editique">
            <a:extLst>
              <a:ext uri="{FF2B5EF4-FFF2-40B4-BE49-F238E27FC236}">
                <a16:creationId xmlns:a16="http://schemas.microsoft.com/office/drawing/2014/main" id="{A517DDBA-E0FE-64D6-16E8-03C41AC22F09}"/>
              </a:ext>
            </a:extLst>
          </p:cNvPr>
          <p:cNvSpPr txBox="1"/>
          <p:nvPr/>
        </p:nvSpPr>
        <p:spPr>
          <a:xfrm>
            <a:off x="6967388" y="3133723"/>
            <a:ext cx="781221" cy="246221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Editique</a:t>
            </a:r>
          </a:p>
        </p:txBody>
      </p:sp>
      <p:sp>
        <p:nvSpPr>
          <p:cNvPr id="256" name="BA_ONDM">
            <a:extLst>
              <a:ext uri="{FF2B5EF4-FFF2-40B4-BE49-F238E27FC236}">
                <a16:creationId xmlns:a16="http://schemas.microsoft.com/office/drawing/2014/main" id="{26F4F1A0-5A74-F7AD-B428-5447BE0F8CAA}"/>
              </a:ext>
            </a:extLst>
          </p:cNvPr>
          <p:cNvSpPr/>
          <p:nvPr/>
        </p:nvSpPr>
        <p:spPr>
          <a:xfrm>
            <a:off x="7053165" y="3363079"/>
            <a:ext cx="648000" cy="276281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ONDM</a:t>
            </a:r>
            <a:endParaRPr kumimoji="0" lang="fr-FR" sz="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On </a:t>
            </a:r>
            <a:r>
              <a:rPr kumimoji="0" lang="fr-FR" sz="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Demand</a:t>
            </a:r>
            <a:endParaRPr kumimoji="0" lang="fr-FR" sz="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257" name="Groupe_Retour">
            <a:extLst>
              <a:ext uri="{FF2B5EF4-FFF2-40B4-BE49-F238E27FC236}">
                <a16:creationId xmlns:a16="http://schemas.microsoft.com/office/drawing/2014/main" id="{232DB6D3-299A-A4C1-CCDA-9CCABA07CA06}"/>
              </a:ext>
            </a:extLst>
          </p:cNvPr>
          <p:cNvGrpSpPr/>
          <p:nvPr/>
        </p:nvGrpSpPr>
        <p:grpSpPr>
          <a:xfrm>
            <a:off x="0" y="0"/>
            <a:ext cx="1417975" cy="461665"/>
            <a:chOff x="0" y="0"/>
            <a:chExt cx="1417975" cy="461665"/>
          </a:xfrm>
        </p:grpSpPr>
        <p:sp>
          <p:nvSpPr>
            <p:cNvPr id="258" name="Rectangle 257">
              <a:hlinkClick r:id="rId3" action="ppaction://hlinksldjump"/>
              <a:extLst>
                <a:ext uri="{FF2B5EF4-FFF2-40B4-BE49-F238E27FC236}">
                  <a16:creationId xmlns:a16="http://schemas.microsoft.com/office/drawing/2014/main" id="{635FA7E0-AFD5-E94E-BA05-99FC83D88B32}"/>
                </a:ext>
              </a:extLst>
            </p:cNvPr>
            <p:cNvSpPr/>
            <p:nvPr/>
          </p:nvSpPr>
          <p:spPr>
            <a:xfrm>
              <a:off x="0" y="0"/>
              <a:ext cx="768479" cy="461665"/>
            </a:xfrm>
            <a:prstGeom prst="rect">
              <a:avLst/>
            </a:prstGeom>
            <a:noFill/>
          </p:spPr>
          <p:txBody>
            <a:bodyPr wrap="square" lIns="91440" tIns="45720" rIns="91440" bIns="45720" anchor="ctr">
              <a:spAutoFit/>
            </a:bodyPr>
            <a:lstStyle/>
            <a:p>
              <a:pPr algn="ctr"/>
              <a:r>
                <a:rPr lang="fr-FR" sz="2400" b="1" spc="50" dirty="0">
                  <a:ln w="9525" cmpd="sng">
                    <a:solidFill>
                      <a:schemeClr val="accent1"/>
                    </a:solidFill>
                    <a:prstDash val="solid"/>
                  </a:ln>
                  <a:solidFill>
                    <a:srgbClr val="70AD47">
                      <a:tint val="1000"/>
                    </a:srgbClr>
                  </a:solidFill>
                  <a:effectLst>
                    <a:glow rad="38100">
                      <a:schemeClr val="accent1">
                        <a:alpha val="40000"/>
                      </a:schemeClr>
                    </a:glow>
                  </a:effectLst>
                  <a:latin typeface="HoloLens MDL2 Assets" panose="050A0102010101010101" pitchFamily="18" charset="0"/>
                </a:rPr>
                <a:t></a:t>
              </a:r>
              <a:endParaRPr lang="fr-FR" sz="1400" dirty="0">
                <a:solidFill>
                  <a:srgbClr val="5B9BD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/>
              </a:endParaRPr>
            </a:p>
          </p:txBody>
        </p:sp>
        <p:sp>
          <p:nvSpPr>
            <p:cNvPr id="259" name="ZoneTexte 258">
              <a:extLst>
                <a:ext uri="{FF2B5EF4-FFF2-40B4-BE49-F238E27FC236}">
                  <a16:creationId xmlns:a16="http://schemas.microsoft.com/office/drawing/2014/main" id="{30703CB5-A97D-5DEB-5446-A135D9E44491}"/>
                </a:ext>
              </a:extLst>
            </p:cNvPr>
            <p:cNvSpPr txBox="1"/>
            <p:nvPr/>
          </p:nvSpPr>
          <p:spPr>
            <a:xfrm>
              <a:off x="525450" y="71273"/>
              <a:ext cx="89252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1400" dirty="0">
                  <a:solidFill>
                    <a:srgbClr val="5B9BD5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libri" panose="020F0502020204030204"/>
                </a:rPr>
                <a:t>Retour</a:t>
              </a:r>
              <a:endParaRPr lang="fr-FR" sz="1400" dirty="0"/>
            </a:p>
          </p:txBody>
        </p:sp>
      </p:grpSp>
      <p:sp>
        <p:nvSpPr>
          <p:cNvPr id="260" name="BA_PW">
            <a:extLst>
              <a:ext uri="{FF2B5EF4-FFF2-40B4-BE49-F238E27FC236}">
                <a16:creationId xmlns:a16="http://schemas.microsoft.com/office/drawing/2014/main" id="{1F361136-0E20-6D7D-266D-464C66073FB3}"/>
              </a:ext>
            </a:extLst>
          </p:cNvPr>
          <p:cNvSpPr/>
          <p:nvPr/>
        </p:nvSpPr>
        <p:spPr>
          <a:xfrm>
            <a:off x="4517645" y="1819606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PW</a:t>
            </a:r>
            <a:br>
              <a:rPr lang="fr-FR" sz="10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/>
              </a:rPr>
            </a:b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SFC</a:t>
            </a:r>
          </a:p>
        </p:txBody>
      </p:sp>
      <p:sp>
        <p:nvSpPr>
          <p:cNvPr id="2" name="Étoile à 5 branches">
            <a:extLst>
              <a:ext uri="{FF2B5EF4-FFF2-40B4-BE49-F238E27FC236}">
                <a16:creationId xmlns:a16="http://schemas.microsoft.com/office/drawing/2014/main" id="{DCB0928E-7BE3-1DDD-EF95-C2F6923A1192}"/>
              </a:ext>
            </a:extLst>
          </p:cNvPr>
          <p:cNvSpPr/>
          <p:nvPr/>
        </p:nvSpPr>
        <p:spPr>
          <a:xfrm>
            <a:off x="9368151" y="554532"/>
            <a:ext cx="108000" cy="108000"/>
          </a:xfrm>
          <a:prstGeom prst="star5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Légende_Nouveau_Bloc">
            <a:extLst>
              <a:ext uri="{FF2B5EF4-FFF2-40B4-BE49-F238E27FC236}">
                <a16:creationId xmlns:a16="http://schemas.microsoft.com/office/drawing/2014/main" id="{AF09EE7A-0F23-5BFD-741E-E7D03468F6F5}"/>
              </a:ext>
            </a:extLst>
          </p:cNvPr>
          <p:cNvSpPr txBox="1"/>
          <p:nvPr/>
        </p:nvSpPr>
        <p:spPr>
          <a:xfrm>
            <a:off x="9464720" y="491658"/>
            <a:ext cx="934871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Nouveau bloc</a:t>
            </a:r>
          </a:p>
        </p:txBody>
      </p:sp>
      <p:sp>
        <p:nvSpPr>
          <p:cNvPr id="4" name="Légende_Nouveau_Bloc">
            <a:extLst>
              <a:ext uri="{FF2B5EF4-FFF2-40B4-BE49-F238E27FC236}">
                <a16:creationId xmlns:a16="http://schemas.microsoft.com/office/drawing/2014/main" id="{25C81635-C914-1B72-16E1-16C18684005A}"/>
              </a:ext>
            </a:extLst>
          </p:cNvPr>
          <p:cNvSpPr txBox="1"/>
          <p:nvPr/>
        </p:nvSpPr>
        <p:spPr>
          <a:xfrm>
            <a:off x="9467926" y="723619"/>
            <a:ext cx="963725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Bloc supprimé</a:t>
            </a:r>
          </a:p>
        </p:txBody>
      </p:sp>
      <p:sp>
        <p:nvSpPr>
          <p:cNvPr id="5" name="Croix 4">
            <a:extLst>
              <a:ext uri="{FF2B5EF4-FFF2-40B4-BE49-F238E27FC236}">
                <a16:creationId xmlns:a16="http://schemas.microsoft.com/office/drawing/2014/main" id="{BB735FB5-A221-CE9C-BC41-427B868ED44E}"/>
              </a:ext>
            </a:extLst>
          </p:cNvPr>
          <p:cNvSpPr/>
          <p:nvPr/>
        </p:nvSpPr>
        <p:spPr>
          <a:xfrm rot="2700000">
            <a:off x="9371629" y="785103"/>
            <a:ext cx="108000" cy="108000"/>
          </a:xfrm>
          <a:prstGeom prst="plus">
            <a:avLst>
              <a:gd name="adj" fmla="val 45756"/>
            </a:avLst>
          </a:prstGeom>
          <a:solidFill>
            <a:schemeClr val="tx1"/>
          </a:solidFill>
          <a:ln>
            <a:solidFill>
              <a:srgbClr val="FF0000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BA_GH">
            <a:extLst>
              <a:ext uri="{FF2B5EF4-FFF2-40B4-BE49-F238E27FC236}">
                <a16:creationId xmlns:a16="http://schemas.microsoft.com/office/drawing/2014/main" id="{66A65E8E-1E3A-9C5B-4F04-26C2A501AE48}"/>
              </a:ext>
            </a:extLst>
          </p:cNvPr>
          <p:cNvSpPr/>
          <p:nvPr/>
        </p:nvSpPr>
        <p:spPr>
          <a:xfrm>
            <a:off x="6247379" y="1786384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HJ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Contenus statiques</a:t>
            </a:r>
          </a:p>
        </p:txBody>
      </p:sp>
      <p:sp>
        <p:nvSpPr>
          <p:cNvPr id="16" name="BA_H4">
            <a:extLst>
              <a:ext uri="{FF2B5EF4-FFF2-40B4-BE49-F238E27FC236}">
                <a16:creationId xmlns:a16="http://schemas.microsoft.com/office/drawing/2014/main" id="{5AB6E2AA-459B-524D-099E-6D0BBC91F58C}"/>
              </a:ext>
            </a:extLst>
          </p:cNvPr>
          <p:cNvSpPr/>
          <p:nvPr/>
        </p:nvSpPr>
        <p:spPr>
          <a:xfrm>
            <a:off x="9490384" y="2374473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H4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API VR </a:t>
            </a:r>
            <a:r>
              <a:rPr kumimoji="0" lang="fr-FR" sz="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Selfcare</a:t>
            </a:r>
            <a:endParaRPr kumimoji="0" lang="fr-FR" sz="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BA_HH">
            <a:extLst>
              <a:ext uri="{FF2B5EF4-FFF2-40B4-BE49-F238E27FC236}">
                <a16:creationId xmlns:a16="http://schemas.microsoft.com/office/drawing/2014/main" id="{665B2FA1-F5A7-EA83-CE40-D1281030169A}"/>
              </a:ext>
            </a:extLst>
          </p:cNvPr>
          <p:cNvSpPr/>
          <p:nvPr/>
        </p:nvSpPr>
        <p:spPr>
          <a:xfrm>
            <a:off x="10160477" y="2374473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HH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API Sim. épargne</a:t>
            </a:r>
          </a:p>
        </p:txBody>
      </p:sp>
      <p:sp>
        <p:nvSpPr>
          <p:cNvPr id="23" name="Gr_LCL">
            <a:extLst>
              <a:ext uri="{FF2B5EF4-FFF2-40B4-BE49-F238E27FC236}">
                <a16:creationId xmlns:a16="http://schemas.microsoft.com/office/drawing/2014/main" id="{3CD4EFD3-5D1D-36D3-05D6-76252DAB6D21}"/>
              </a:ext>
            </a:extLst>
          </p:cNvPr>
          <p:cNvSpPr/>
          <p:nvPr/>
        </p:nvSpPr>
        <p:spPr>
          <a:xfrm>
            <a:off x="6075866" y="5122749"/>
            <a:ext cx="5632947" cy="1248594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ZT_CATS">
            <a:extLst>
              <a:ext uri="{FF2B5EF4-FFF2-40B4-BE49-F238E27FC236}">
                <a16:creationId xmlns:a16="http://schemas.microsoft.com/office/drawing/2014/main" id="{359D9E5C-400A-FBD8-8312-AC86A8F82291}"/>
              </a:ext>
            </a:extLst>
          </p:cNvPr>
          <p:cNvSpPr txBox="1"/>
          <p:nvPr/>
        </p:nvSpPr>
        <p:spPr>
          <a:xfrm>
            <a:off x="6122619" y="5107819"/>
            <a:ext cx="5399528" cy="246221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LCL</a:t>
            </a:r>
            <a:endParaRPr kumimoji="0" lang="fr-FR" sz="1000" b="1" i="1" u="none" strike="noStrike" kern="1200" cap="none" spc="0" normalizeH="0" baseline="0" noProof="0" dirty="0">
              <a:ln>
                <a:noFill/>
              </a:ln>
              <a:solidFill>
                <a:srgbClr val="7030A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BA_BEL">
            <a:extLst>
              <a:ext uri="{FF2B5EF4-FFF2-40B4-BE49-F238E27FC236}">
                <a16:creationId xmlns:a16="http://schemas.microsoft.com/office/drawing/2014/main" id="{EBC76DDA-52DF-C82D-EC1A-B82A992ABCCD}"/>
              </a:ext>
            </a:extLst>
          </p:cNvPr>
          <p:cNvSpPr/>
          <p:nvPr/>
        </p:nvSpPr>
        <p:spPr>
          <a:xfrm>
            <a:off x="6135322" y="5643027"/>
            <a:ext cx="648000" cy="288000"/>
          </a:xfrm>
          <a:prstGeom prst="roundRect">
            <a:avLst/>
          </a:prstGeom>
          <a:solidFill>
            <a:srgbClr val="B6D3EC"/>
          </a:solidFill>
          <a:ln w="6350">
            <a:solidFill>
              <a:schemeClr val="accent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BEL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6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/>
              </a:rPr>
              <a:t>-</a:t>
            </a:r>
            <a:endParaRPr kumimoji="0" lang="fr-FR" sz="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BA_Docapost">
            <a:extLst>
              <a:ext uri="{FF2B5EF4-FFF2-40B4-BE49-F238E27FC236}">
                <a16:creationId xmlns:a16="http://schemas.microsoft.com/office/drawing/2014/main" id="{29A603BE-F1B1-27CC-E400-6701AF3E01DB}"/>
              </a:ext>
            </a:extLst>
          </p:cNvPr>
          <p:cNvSpPr/>
          <p:nvPr/>
        </p:nvSpPr>
        <p:spPr>
          <a:xfrm>
            <a:off x="6145849" y="5987729"/>
            <a:ext cx="648000" cy="288000"/>
          </a:xfrm>
          <a:prstGeom prst="roundRect">
            <a:avLst/>
          </a:prstGeom>
          <a:solidFill>
            <a:srgbClr val="B6D3EC"/>
          </a:solidFill>
          <a:ln w="6350">
            <a:solidFill>
              <a:schemeClr val="accent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Docapost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6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/>
              </a:rPr>
              <a:t>-</a:t>
            </a:r>
            <a:endParaRPr kumimoji="0" lang="fr-FR" sz="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BA_Mescomptes">
            <a:extLst>
              <a:ext uri="{FF2B5EF4-FFF2-40B4-BE49-F238E27FC236}">
                <a16:creationId xmlns:a16="http://schemas.microsoft.com/office/drawing/2014/main" id="{223E6ECB-979A-E902-9E4B-3C3A3EA022DC}"/>
              </a:ext>
            </a:extLst>
          </p:cNvPr>
          <p:cNvSpPr/>
          <p:nvPr/>
        </p:nvSpPr>
        <p:spPr>
          <a:xfrm>
            <a:off x="6135322" y="5323284"/>
            <a:ext cx="1326281" cy="288000"/>
          </a:xfrm>
          <a:prstGeom prst="roundRect">
            <a:avLst/>
          </a:prstGeom>
          <a:solidFill>
            <a:srgbClr val="B6D3EC"/>
          </a:solidFill>
          <a:ln w="6350">
            <a:solidFill>
              <a:schemeClr val="accent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MesComptes</a:t>
            </a:r>
            <a:endParaRPr kumimoji="0" lang="fr-FR" sz="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Gr_SimulAssur">
            <a:extLst>
              <a:ext uri="{FF2B5EF4-FFF2-40B4-BE49-F238E27FC236}">
                <a16:creationId xmlns:a16="http://schemas.microsoft.com/office/drawing/2014/main" id="{24EA732E-2D20-C3C5-1D24-6646E07BBBA8}"/>
              </a:ext>
            </a:extLst>
          </p:cNvPr>
          <p:cNvSpPr/>
          <p:nvPr/>
        </p:nvSpPr>
        <p:spPr>
          <a:xfrm>
            <a:off x="4476637" y="3792663"/>
            <a:ext cx="1627675" cy="1021008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  <a:effectLst>
            <a:outerShdw blurRad="50800" dist="38100" dir="2700000" algn="ctr" rotWithShape="0">
              <a:schemeClr val="tx1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/>
            </a:endParaRPr>
          </a:p>
        </p:txBody>
      </p:sp>
      <p:sp>
        <p:nvSpPr>
          <p:cNvPr id="8" name="ZT_SimulAssur">
            <a:extLst>
              <a:ext uri="{FF2B5EF4-FFF2-40B4-BE49-F238E27FC236}">
                <a16:creationId xmlns:a16="http://schemas.microsoft.com/office/drawing/2014/main" id="{6D491DCF-4667-3210-53EF-1C34F54CE89C}"/>
              </a:ext>
            </a:extLst>
          </p:cNvPr>
          <p:cNvSpPr txBox="1"/>
          <p:nvPr/>
        </p:nvSpPr>
        <p:spPr>
          <a:xfrm>
            <a:off x="4500323" y="3819978"/>
            <a:ext cx="1714025" cy="246221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1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SimulAssur</a:t>
            </a:r>
            <a:endParaRPr kumimoji="0" lang="fr-FR" sz="1000" b="1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BA_VS">
            <a:extLst>
              <a:ext uri="{FF2B5EF4-FFF2-40B4-BE49-F238E27FC236}">
                <a16:creationId xmlns:a16="http://schemas.microsoft.com/office/drawing/2014/main" id="{35AB521B-A6CE-D170-D82A-3F917807A502}"/>
              </a:ext>
            </a:extLst>
          </p:cNvPr>
          <p:cNvSpPr/>
          <p:nvPr/>
        </p:nvSpPr>
        <p:spPr>
          <a:xfrm>
            <a:off x="4611474" y="4115819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0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/>
              </a:rPr>
              <a:t>VS</a:t>
            </a:r>
            <a:endParaRPr kumimoji="0" lang="fr-FR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Sim, </a:t>
            </a:r>
            <a:r>
              <a:rPr kumimoji="0" lang="fr-FR" sz="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Ass.V</a:t>
            </a: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 pour LCL</a:t>
            </a:r>
          </a:p>
        </p:txBody>
      </p:sp>
      <p:sp>
        <p:nvSpPr>
          <p:cNvPr id="10" name="BA_RS">
            <a:extLst>
              <a:ext uri="{FF2B5EF4-FFF2-40B4-BE49-F238E27FC236}">
                <a16:creationId xmlns:a16="http://schemas.microsoft.com/office/drawing/2014/main" id="{A678138B-7BC7-CEDB-E9CE-65755027EB00}"/>
              </a:ext>
            </a:extLst>
          </p:cNvPr>
          <p:cNvSpPr/>
          <p:nvPr/>
        </p:nvSpPr>
        <p:spPr>
          <a:xfrm>
            <a:off x="5363789" y="4119805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SR</a:t>
            </a:r>
          </a:p>
          <a:p>
            <a:pPr lvl="0" algn="ctr">
              <a:defRPr/>
            </a:pPr>
            <a:r>
              <a:rPr lang="fr-FR" sz="6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Sim, </a:t>
            </a:r>
            <a:r>
              <a:rPr lang="fr-FR" sz="600" dirty="0" err="1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Ass.V</a:t>
            </a:r>
            <a:r>
              <a:rPr lang="fr-FR" sz="6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pour CA</a:t>
            </a:r>
          </a:p>
        </p:txBody>
      </p:sp>
      <p:sp>
        <p:nvSpPr>
          <p:cNvPr id="11" name="BA_EP">
            <a:extLst>
              <a:ext uri="{FF2B5EF4-FFF2-40B4-BE49-F238E27FC236}">
                <a16:creationId xmlns:a16="http://schemas.microsoft.com/office/drawing/2014/main" id="{5C9C94A9-A39F-AC0C-6462-C8D344207AB5}"/>
              </a:ext>
            </a:extLst>
          </p:cNvPr>
          <p:cNvSpPr/>
          <p:nvPr/>
        </p:nvSpPr>
        <p:spPr>
          <a:xfrm>
            <a:off x="4611474" y="4500624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0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/>
              </a:rPr>
              <a:t>EP</a:t>
            </a:r>
            <a:endParaRPr kumimoji="0" lang="fr-FR" sz="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Sim, EPICASTE</a:t>
            </a:r>
          </a:p>
        </p:txBody>
      </p:sp>
      <p:sp>
        <p:nvSpPr>
          <p:cNvPr id="12" name="BA_Autre_PFD">
            <a:extLst>
              <a:ext uri="{FF2B5EF4-FFF2-40B4-BE49-F238E27FC236}">
                <a16:creationId xmlns:a16="http://schemas.microsoft.com/office/drawing/2014/main" id="{B614A49B-8809-EDF2-4F65-C1EC564864ED}"/>
              </a:ext>
            </a:extLst>
          </p:cNvPr>
          <p:cNvSpPr/>
          <p:nvPr/>
        </p:nvSpPr>
        <p:spPr>
          <a:xfrm>
            <a:off x="5363789" y="4472097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…</a:t>
            </a:r>
          </a:p>
        </p:txBody>
      </p:sp>
      <p:sp>
        <p:nvSpPr>
          <p:cNvPr id="13" name="Date_GG">
            <a:extLst>
              <a:ext uri="{FF2B5EF4-FFF2-40B4-BE49-F238E27FC236}">
                <a16:creationId xmlns:a16="http://schemas.microsoft.com/office/drawing/2014/main" id="{89BCA400-57B0-007A-C33C-79DA0B1AF4A6}"/>
              </a:ext>
            </a:extLst>
          </p:cNvPr>
          <p:cNvSpPr txBox="1"/>
          <p:nvPr/>
        </p:nvSpPr>
        <p:spPr>
          <a:xfrm rot="19102564">
            <a:off x="5592618" y="2571709"/>
            <a:ext cx="927160" cy="230832"/>
          </a:xfrm>
          <a:prstGeom prst="rect">
            <a:avLst/>
          </a:prstGeom>
          <a:noFill/>
          <a:ln cap="flat">
            <a:noFill/>
            <a:prstDash val="solid"/>
          </a:ln>
          <a:effectLst>
            <a:softEdge rad="0"/>
          </a:effectLst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900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/>
              </a:rPr>
              <a:t>R2</a:t>
            </a:r>
            <a:endParaRPr kumimoji="0" lang="fr-FR" sz="900" b="0" i="0" u="none" strike="noStrike" kern="1200" cap="none" spc="0" normalizeH="0" baseline="0" noProof="0" dirty="0">
              <a:ln>
                <a:noFill/>
              </a:ln>
              <a:solidFill>
                <a:srgbClr val="7030A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Date_GH">
            <a:extLst>
              <a:ext uri="{FF2B5EF4-FFF2-40B4-BE49-F238E27FC236}">
                <a16:creationId xmlns:a16="http://schemas.microsoft.com/office/drawing/2014/main" id="{868F9DD1-E9ED-9EF8-F9D9-36C9D6CA9133}"/>
              </a:ext>
            </a:extLst>
          </p:cNvPr>
          <p:cNvSpPr txBox="1"/>
          <p:nvPr/>
        </p:nvSpPr>
        <p:spPr>
          <a:xfrm rot="19102564">
            <a:off x="6337207" y="2571709"/>
            <a:ext cx="927160" cy="230832"/>
          </a:xfrm>
          <a:prstGeom prst="rect">
            <a:avLst/>
          </a:prstGeom>
          <a:noFill/>
          <a:ln cap="flat">
            <a:noFill/>
            <a:prstDash val="solid"/>
          </a:ln>
          <a:effectLst>
            <a:softEdge rad="0"/>
          </a:effectLst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900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/>
              </a:rPr>
              <a:t>R2</a:t>
            </a:r>
            <a:endParaRPr kumimoji="0" lang="fr-FR" sz="900" b="0" i="0" u="none" strike="noStrike" kern="1200" cap="none" spc="0" normalizeH="0" baseline="0" noProof="0" dirty="0">
              <a:ln>
                <a:noFill/>
              </a:ln>
              <a:solidFill>
                <a:srgbClr val="7030A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711664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2CFDC3-F831-C541-0010-1E74E39DC8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r_Global">
            <a:extLst>
              <a:ext uri="{FF2B5EF4-FFF2-40B4-BE49-F238E27FC236}">
                <a16:creationId xmlns:a16="http://schemas.microsoft.com/office/drawing/2014/main" id="{1514D145-6CEC-D2CD-11DE-25D4B8A1265E}"/>
              </a:ext>
            </a:extLst>
          </p:cNvPr>
          <p:cNvSpPr/>
          <p:nvPr/>
        </p:nvSpPr>
        <p:spPr>
          <a:xfrm>
            <a:off x="156924" y="1028327"/>
            <a:ext cx="11860567" cy="5512742"/>
          </a:xfrm>
          <a:prstGeom prst="roundRect">
            <a:avLst/>
          </a:prstGeom>
          <a:solidFill>
            <a:schemeClr val="bg1"/>
          </a:solidFill>
          <a:ln>
            <a:solidFill>
              <a:schemeClr val="accent1"/>
            </a:solidFill>
          </a:ln>
          <a:effectLst>
            <a:outerShdw blurRad="50800" dist="38100" dir="2700000" algn="tl" rotWithShape="0">
              <a:schemeClr val="tx1"/>
            </a:outerShdw>
          </a:effectLst>
        </p:spPr>
        <p:txBody>
          <a:bodyPr wrap="none" lIns="0" rIns="0" rtlCol="0" anchor="ctr">
            <a:noAutofit/>
          </a:bodyPr>
          <a:lstStyle/>
          <a:p>
            <a:pPr algn="ctr"/>
            <a:endParaRPr lang="fr-FR" sz="1600" b="1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1" name="Gr_NOVA">
            <a:extLst>
              <a:ext uri="{FF2B5EF4-FFF2-40B4-BE49-F238E27FC236}">
                <a16:creationId xmlns:a16="http://schemas.microsoft.com/office/drawing/2014/main" id="{CE85FCCB-6A44-D5EE-2EBD-1031CA8F44AE}"/>
              </a:ext>
            </a:extLst>
          </p:cNvPr>
          <p:cNvSpPr/>
          <p:nvPr/>
        </p:nvSpPr>
        <p:spPr>
          <a:xfrm>
            <a:off x="5407282" y="1111645"/>
            <a:ext cx="2350211" cy="1879964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  <a:effectLst>
            <a:outerShdw blurRad="50800" dist="38100" dir="2700000" algn="ctr" rotWithShape="0">
              <a:schemeClr val="tx1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/>
            </a:endParaRPr>
          </a:p>
        </p:txBody>
      </p:sp>
      <p:sp>
        <p:nvSpPr>
          <p:cNvPr id="92" name="ZT_NOVA">
            <a:extLst>
              <a:ext uri="{FF2B5EF4-FFF2-40B4-BE49-F238E27FC236}">
                <a16:creationId xmlns:a16="http://schemas.microsoft.com/office/drawing/2014/main" id="{459A7772-C892-88D3-B13D-64D4E5D82BDF}"/>
              </a:ext>
            </a:extLst>
          </p:cNvPr>
          <p:cNvSpPr txBox="1"/>
          <p:nvPr/>
        </p:nvSpPr>
        <p:spPr>
          <a:xfrm>
            <a:off x="5402982" y="1138960"/>
            <a:ext cx="2354511" cy="246221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NOVA</a:t>
            </a:r>
            <a:endParaRPr kumimoji="0" lang="fr-FR" sz="1000" b="1" i="1" u="none" strike="noStrike" kern="1200" cap="none" spc="0" normalizeH="0" baseline="0" noProof="0" dirty="0">
              <a:ln>
                <a:noFill/>
              </a:ln>
              <a:solidFill>
                <a:srgbClr val="ED7D3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8" name="BA_OX">
            <a:extLst>
              <a:ext uri="{FF2B5EF4-FFF2-40B4-BE49-F238E27FC236}">
                <a16:creationId xmlns:a16="http://schemas.microsoft.com/office/drawing/2014/main" id="{F6D9639C-D26E-3904-2184-B56B28C80B5F}"/>
              </a:ext>
            </a:extLst>
          </p:cNvPr>
          <p:cNvSpPr/>
          <p:nvPr/>
        </p:nvSpPr>
        <p:spPr>
          <a:xfrm>
            <a:off x="5540187" y="1434370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OX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Opérations </a:t>
            </a:r>
            <a:r>
              <a:rPr kumimoji="0" lang="fr-FR" sz="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Ass</a:t>
            </a: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.</a:t>
            </a:r>
          </a:p>
        </p:txBody>
      </p:sp>
      <p:sp>
        <p:nvSpPr>
          <p:cNvPr id="99" name="BA_MX">
            <a:extLst>
              <a:ext uri="{FF2B5EF4-FFF2-40B4-BE49-F238E27FC236}">
                <a16:creationId xmlns:a16="http://schemas.microsoft.com/office/drawing/2014/main" id="{4DC9E841-F659-91E5-9EFC-6B07D2CCFD66}"/>
              </a:ext>
            </a:extLst>
          </p:cNvPr>
          <p:cNvSpPr/>
          <p:nvPr/>
        </p:nvSpPr>
        <p:spPr>
          <a:xfrm>
            <a:off x="6247379" y="1434370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MX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Services  internes</a:t>
            </a:r>
          </a:p>
        </p:txBody>
      </p:sp>
      <p:sp>
        <p:nvSpPr>
          <p:cNvPr id="108" name="BA_SX">
            <a:extLst>
              <a:ext uri="{FF2B5EF4-FFF2-40B4-BE49-F238E27FC236}">
                <a16:creationId xmlns:a16="http://schemas.microsoft.com/office/drawing/2014/main" id="{E1E08F49-9ED7-9263-D5E5-D4DA669D6B29}"/>
              </a:ext>
            </a:extLst>
          </p:cNvPr>
          <p:cNvSpPr/>
          <p:nvPr/>
        </p:nvSpPr>
        <p:spPr>
          <a:xfrm>
            <a:off x="6957409" y="1434370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SX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Socle Exposition</a:t>
            </a:r>
          </a:p>
        </p:txBody>
      </p:sp>
      <p:sp>
        <p:nvSpPr>
          <p:cNvPr id="117" name="BA_HX">
            <a:extLst>
              <a:ext uri="{FF2B5EF4-FFF2-40B4-BE49-F238E27FC236}">
                <a16:creationId xmlns:a16="http://schemas.microsoft.com/office/drawing/2014/main" id="{ACDBB034-207A-91F6-D0F9-6E1977A6BE03}"/>
              </a:ext>
            </a:extLst>
          </p:cNvPr>
          <p:cNvSpPr/>
          <p:nvPr/>
        </p:nvSpPr>
        <p:spPr>
          <a:xfrm>
            <a:off x="5540187" y="1791450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HX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Habilitations PCO</a:t>
            </a:r>
          </a:p>
        </p:txBody>
      </p:sp>
      <p:sp>
        <p:nvSpPr>
          <p:cNvPr id="119" name="BA_RX">
            <a:extLst>
              <a:ext uri="{FF2B5EF4-FFF2-40B4-BE49-F238E27FC236}">
                <a16:creationId xmlns:a16="http://schemas.microsoft.com/office/drawing/2014/main" id="{BC2A83C7-9254-1A37-55D7-9DC6CC6073D7}"/>
              </a:ext>
            </a:extLst>
          </p:cNvPr>
          <p:cNvSpPr/>
          <p:nvPr/>
        </p:nvSpPr>
        <p:spPr>
          <a:xfrm>
            <a:off x="6957409" y="1791450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RX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Socle Editique</a:t>
            </a:r>
          </a:p>
        </p:txBody>
      </p:sp>
      <p:sp>
        <p:nvSpPr>
          <p:cNvPr id="120" name="BA_WP">
            <a:extLst>
              <a:ext uri="{FF2B5EF4-FFF2-40B4-BE49-F238E27FC236}">
                <a16:creationId xmlns:a16="http://schemas.microsoft.com/office/drawing/2014/main" id="{6594851A-1CEA-1BAE-54F4-96A5411A49A0}"/>
              </a:ext>
            </a:extLst>
          </p:cNvPr>
          <p:cNvSpPr/>
          <p:nvPr/>
        </p:nvSpPr>
        <p:spPr>
          <a:xfrm>
            <a:off x="5542712" y="2146978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WP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Lanceur PCO</a:t>
            </a:r>
          </a:p>
        </p:txBody>
      </p:sp>
      <p:sp>
        <p:nvSpPr>
          <p:cNvPr id="121" name="BA_FM">
            <a:extLst>
              <a:ext uri="{FF2B5EF4-FFF2-40B4-BE49-F238E27FC236}">
                <a16:creationId xmlns:a16="http://schemas.microsoft.com/office/drawing/2014/main" id="{2C803D38-DEEC-3BF0-0E40-B65E5DD46707}"/>
              </a:ext>
            </a:extLst>
          </p:cNvPr>
          <p:cNvSpPr/>
          <p:nvPr/>
        </p:nvSpPr>
        <p:spPr>
          <a:xfrm>
            <a:off x="6251156" y="2146978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FM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Fonctions IHM</a:t>
            </a:r>
          </a:p>
        </p:txBody>
      </p:sp>
      <p:sp>
        <p:nvSpPr>
          <p:cNvPr id="123" name="BA_JF">
            <a:extLst>
              <a:ext uri="{FF2B5EF4-FFF2-40B4-BE49-F238E27FC236}">
                <a16:creationId xmlns:a16="http://schemas.microsoft.com/office/drawing/2014/main" id="{7BAF477D-1120-4CE2-F83B-51D3B153941A}"/>
              </a:ext>
            </a:extLst>
          </p:cNvPr>
          <p:cNvSpPr/>
          <p:nvPr/>
        </p:nvSpPr>
        <p:spPr>
          <a:xfrm>
            <a:off x="6955140" y="2146978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JF</a:t>
            </a:r>
            <a:endParaRPr kumimoji="0" lang="fr-FR" sz="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Animation </a:t>
            </a:r>
            <a:r>
              <a:rPr kumimoji="0" lang="fr-FR" sz="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comm</a:t>
            </a: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.</a:t>
            </a:r>
          </a:p>
        </p:txBody>
      </p:sp>
      <p:sp>
        <p:nvSpPr>
          <p:cNvPr id="124" name="Gr_Avanet">
            <a:extLst>
              <a:ext uri="{FF2B5EF4-FFF2-40B4-BE49-F238E27FC236}">
                <a16:creationId xmlns:a16="http://schemas.microsoft.com/office/drawing/2014/main" id="{ADA2CB1A-F820-3753-A048-3929F2E5DB09}"/>
              </a:ext>
            </a:extLst>
          </p:cNvPr>
          <p:cNvSpPr/>
          <p:nvPr/>
        </p:nvSpPr>
        <p:spPr>
          <a:xfrm>
            <a:off x="3593887" y="1111645"/>
            <a:ext cx="1690030" cy="117785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  <a:effectLst>
            <a:outerShdw blurRad="50800" dist="38100" dir="2700000" algn="ctr" rotWithShape="0">
              <a:schemeClr val="tx1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/>
            </a:endParaRPr>
          </a:p>
        </p:txBody>
      </p:sp>
      <p:sp>
        <p:nvSpPr>
          <p:cNvPr id="125" name="ZT_Avanet">
            <a:extLst>
              <a:ext uri="{FF2B5EF4-FFF2-40B4-BE49-F238E27FC236}">
                <a16:creationId xmlns:a16="http://schemas.microsoft.com/office/drawing/2014/main" id="{155E1ACE-23FA-80B3-021C-21F281AF4774}"/>
              </a:ext>
            </a:extLst>
          </p:cNvPr>
          <p:cNvSpPr txBox="1"/>
          <p:nvPr/>
        </p:nvSpPr>
        <p:spPr>
          <a:xfrm>
            <a:off x="3603262" y="1138960"/>
            <a:ext cx="1680655" cy="246221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1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Avanet</a:t>
            </a:r>
            <a:endParaRPr kumimoji="0" lang="fr-FR" sz="1000" b="1" i="1" u="none" strike="noStrike" kern="1200" cap="none" spc="0" normalizeH="0" baseline="0" noProof="0" dirty="0">
              <a:ln>
                <a:noFill/>
              </a:ln>
              <a:solidFill>
                <a:srgbClr val="ED7D3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6" name="BA_W5">
            <a:extLst>
              <a:ext uri="{FF2B5EF4-FFF2-40B4-BE49-F238E27FC236}">
                <a16:creationId xmlns:a16="http://schemas.microsoft.com/office/drawing/2014/main" id="{C4140771-9E50-00D6-74F3-9EAE0CBA2ECD}"/>
              </a:ext>
            </a:extLst>
          </p:cNvPr>
          <p:cNvSpPr/>
          <p:nvPr/>
        </p:nvSpPr>
        <p:spPr>
          <a:xfrm>
            <a:off x="3726791" y="1434801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W5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Av@net</a:t>
            </a:r>
            <a:endParaRPr kumimoji="0" lang="fr-FR" sz="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7" name="BA_AEDI">
            <a:extLst>
              <a:ext uri="{FF2B5EF4-FFF2-40B4-BE49-F238E27FC236}">
                <a16:creationId xmlns:a16="http://schemas.microsoft.com/office/drawing/2014/main" id="{1979CA9F-7C21-A4CD-0712-53B5E4416A6C}"/>
              </a:ext>
            </a:extLst>
          </p:cNvPr>
          <p:cNvSpPr/>
          <p:nvPr/>
        </p:nvSpPr>
        <p:spPr>
          <a:xfrm>
            <a:off x="4521017" y="1438787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AEDI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API-EDI</a:t>
            </a:r>
          </a:p>
        </p:txBody>
      </p:sp>
      <p:sp>
        <p:nvSpPr>
          <p:cNvPr id="128" name="BA_SVOD">
            <a:extLst>
              <a:ext uri="{FF2B5EF4-FFF2-40B4-BE49-F238E27FC236}">
                <a16:creationId xmlns:a16="http://schemas.microsoft.com/office/drawing/2014/main" id="{020EDCE8-3E14-D573-2A16-799FFF320125}"/>
              </a:ext>
            </a:extLst>
          </p:cNvPr>
          <p:cNvSpPr/>
          <p:nvPr/>
        </p:nvSpPr>
        <p:spPr>
          <a:xfrm>
            <a:off x="3726791" y="1819606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SVOD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SAS </a:t>
            </a:r>
            <a:r>
              <a:rPr kumimoji="0" lang="fr-FR" sz="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Valid</a:t>
            </a: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.</a:t>
            </a:r>
          </a:p>
        </p:txBody>
      </p:sp>
      <p:sp>
        <p:nvSpPr>
          <p:cNvPr id="129" name="Gr_PFD">
            <a:extLst>
              <a:ext uri="{FF2B5EF4-FFF2-40B4-BE49-F238E27FC236}">
                <a16:creationId xmlns:a16="http://schemas.microsoft.com/office/drawing/2014/main" id="{DFBF3634-5E89-3ED3-5474-B8AC34AFBBBC}"/>
              </a:ext>
            </a:extLst>
          </p:cNvPr>
          <p:cNvSpPr/>
          <p:nvPr/>
        </p:nvSpPr>
        <p:spPr>
          <a:xfrm>
            <a:off x="6161552" y="3780520"/>
            <a:ext cx="1627675" cy="1021008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  <a:effectLst>
            <a:outerShdw blurRad="50800" dist="38100" dir="2700000" algn="ctr" rotWithShape="0">
              <a:schemeClr val="tx1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/>
            </a:endParaRPr>
          </a:p>
        </p:txBody>
      </p:sp>
      <p:sp>
        <p:nvSpPr>
          <p:cNvPr id="130" name="ZT_PFD">
            <a:extLst>
              <a:ext uri="{FF2B5EF4-FFF2-40B4-BE49-F238E27FC236}">
                <a16:creationId xmlns:a16="http://schemas.microsoft.com/office/drawing/2014/main" id="{8FFD8C6E-5485-7657-FFEB-CD652D4CCE2E}"/>
              </a:ext>
            </a:extLst>
          </p:cNvPr>
          <p:cNvSpPr txBox="1"/>
          <p:nvPr/>
        </p:nvSpPr>
        <p:spPr>
          <a:xfrm>
            <a:off x="6185238" y="3807835"/>
            <a:ext cx="1714025" cy="246221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Plateforme Data (PFD)</a:t>
            </a:r>
          </a:p>
        </p:txBody>
      </p:sp>
      <p:sp>
        <p:nvSpPr>
          <p:cNvPr id="131" name="BA_J2">
            <a:extLst>
              <a:ext uri="{FF2B5EF4-FFF2-40B4-BE49-F238E27FC236}">
                <a16:creationId xmlns:a16="http://schemas.microsoft.com/office/drawing/2014/main" id="{B4281667-6127-2459-732D-1B2904D371E3}"/>
              </a:ext>
            </a:extLst>
          </p:cNvPr>
          <p:cNvSpPr/>
          <p:nvPr/>
        </p:nvSpPr>
        <p:spPr>
          <a:xfrm>
            <a:off x="6296389" y="4103676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J2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Exposition PFD</a:t>
            </a:r>
          </a:p>
        </p:txBody>
      </p:sp>
      <p:sp>
        <p:nvSpPr>
          <p:cNvPr id="136" name="BA_J6">
            <a:extLst>
              <a:ext uri="{FF2B5EF4-FFF2-40B4-BE49-F238E27FC236}">
                <a16:creationId xmlns:a16="http://schemas.microsoft.com/office/drawing/2014/main" id="{72CFD1AB-DDA6-24F6-F1B8-9E0883DF156E}"/>
              </a:ext>
            </a:extLst>
          </p:cNvPr>
          <p:cNvSpPr/>
          <p:nvPr/>
        </p:nvSpPr>
        <p:spPr>
          <a:xfrm>
            <a:off x="7048704" y="4107662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J6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Restit</a:t>
            </a: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. </a:t>
            </a:r>
            <a:r>
              <a:rPr kumimoji="0" lang="fr-FR" sz="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Régl</a:t>
            </a: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.</a:t>
            </a:r>
          </a:p>
        </p:txBody>
      </p:sp>
      <p:sp>
        <p:nvSpPr>
          <p:cNvPr id="147" name="BA_J8">
            <a:extLst>
              <a:ext uri="{FF2B5EF4-FFF2-40B4-BE49-F238E27FC236}">
                <a16:creationId xmlns:a16="http://schemas.microsoft.com/office/drawing/2014/main" id="{290F698A-9787-5BB3-03BE-5C7DCEE9610B}"/>
              </a:ext>
            </a:extLst>
          </p:cNvPr>
          <p:cNvSpPr/>
          <p:nvPr/>
        </p:nvSpPr>
        <p:spPr>
          <a:xfrm>
            <a:off x="6296389" y="4488481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J8</a:t>
            </a:r>
            <a:endParaRPr kumimoji="0" lang="fr-FR" sz="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Données Contrats</a:t>
            </a:r>
          </a:p>
        </p:txBody>
      </p:sp>
      <p:sp>
        <p:nvSpPr>
          <p:cNvPr id="149" name="Gr_Prediweb1">
            <a:extLst>
              <a:ext uri="{FF2B5EF4-FFF2-40B4-BE49-F238E27FC236}">
                <a16:creationId xmlns:a16="http://schemas.microsoft.com/office/drawing/2014/main" id="{BFB890FE-D6A3-BAB0-ACA7-54AFAB76FA93}"/>
              </a:ext>
            </a:extLst>
          </p:cNvPr>
          <p:cNvSpPr/>
          <p:nvPr/>
        </p:nvSpPr>
        <p:spPr>
          <a:xfrm>
            <a:off x="3588010" y="2368814"/>
            <a:ext cx="1695907" cy="671739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  <a:effectLst>
            <a:outerShdw blurRad="50800" dist="38100" dir="2700000" algn="ctr" rotWithShape="0">
              <a:schemeClr val="tx1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/>
            </a:endParaRPr>
          </a:p>
        </p:txBody>
      </p:sp>
      <p:sp>
        <p:nvSpPr>
          <p:cNvPr id="151" name="ZT_Prediweb1">
            <a:extLst>
              <a:ext uri="{FF2B5EF4-FFF2-40B4-BE49-F238E27FC236}">
                <a16:creationId xmlns:a16="http://schemas.microsoft.com/office/drawing/2014/main" id="{F0FF4E1C-2AE3-42CA-4204-DE3E291B28EE}"/>
              </a:ext>
            </a:extLst>
          </p:cNvPr>
          <p:cNvSpPr txBox="1"/>
          <p:nvPr/>
        </p:nvSpPr>
        <p:spPr>
          <a:xfrm>
            <a:off x="3595208" y="2396399"/>
            <a:ext cx="1688709" cy="246221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1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Prediweb</a:t>
            </a:r>
            <a:r>
              <a:rPr kumimoji="0" lang="fr-FR" sz="1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 1</a:t>
            </a:r>
            <a:endParaRPr kumimoji="0" lang="fr-FR" sz="1000" b="1" i="1" u="none" strike="noStrike" kern="1200" cap="none" spc="0" normalizeH="0" baseline="0" noProof="0" dirty="0">
              <a:ln>
                <a:noFill/>
              </a:ln>
              <a:solidFill>
                <a:srgbClr val="ED7D3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3" name="BA_BD">
            <a:extLst>
              <a:ext uri="{FF2B5EF4-FFF2-40B4-BE49-F238E27FC236}">
                <a16:creationId xmlns:a16="http://schemas.microsoft.com/office/drawing/2014/main" id="{51B09297-3F8B-F821-8602-0FF0D6A79381}"/>
              </a:ext>
            </a:extLst>
          </p:cNvPr>
          <p:cNvSpPr/>
          <p:nvPr/>
        </p:nvSpPr>
        <p:spPr>
          <a:xfrm>
            <a:off x="3720914" y="2691969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BD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Prediweb</a:t>
            </a:r>
            <a:endParaRPr kumimoji="0" lang="fr-FR" sz="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6" name="BA_SGR">
            <a:extLst>
              <a:ext uri="{FF2B5EF4-FFF2-40B4-BE49-F238E27FC236}">
                <a16:creationId xmlns:a16="http://schemas.microsoft.com/office/drawing/2014/main" id="{2813BFC3-F73C-73D7-61F1-05733E3145FF}"/>
              </a:ext>
            </a:extLst>
          </p:cNvPr>
          <p:cNvSpPr/>
          <p:nvPr/>
        </p:nvSpPr>
        <p:spPr>
          <a:xfrm>
            <a:off x="4496225" y="2696226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SGR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Lanceur SGR</a:t>
            </a:r>
          </a:p>
        </p:txBody>
      </p:sp>
      <p:sp>
        <p:nvSpPr>
          <p:cNvPr id="158" name="BA_Autre_PFD">
            <a:extLst>
              <a:ext uri="{FF2B5EF4-FFF2-40B4-BE49-F238E27FC236}">
                <a16:creationId xmlns:a16="http://schemas.microsoft.com/office/drawing/2014/main" id="{4F9F4C48-71C1-DA2C-D575-4F3F25DBA862}"/>
              </a:ext>
            </a:extLst>
          </p:cNvPr>
          <p:cNvSpPr/>
          <p:nvPr/>
        </p:nvSpPr>
        <p:spPr>
          <a:xfrm>
            <a:off x="7048704" y="4459954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…</a:t>
            </a:r>
          </a:p>
        </p:txBody>
      </p:sp>
      <p:sp>
        <p:nvSpPr>
          <p:cNvPr id="159" name="Gr_AIA">
            <a:extLst>
              <a:ext uri="{FF2B5EF4-FFF2-40B4-BE49-F238E27FC236}">
                <a16:creationId xmlns:a16="http://schemas.microsoft.com/office/drawing/2014/main" id="{E50B85BB-D415-AB01-F20B-5A2436722541}"/>
              </a:ext>
            </a:extLst>
          </p:cNvPr>
          <p:cNvSpPr/>
          <p:nvPr/>
        </p:nvSpPr>
        <p:spPr>
          <a:xfrm>
            <a:off x="600429" y="2842718"/>
            <a:ext cx="927635" cy="550924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  <a:effectLst>
            <a:outerShdw blurRad="50800" dist="38100" dir="2700000" algn="ctr" rotWithShape="0">
              <a:schemeClr val="tx1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/>
            </a:endParaRPr>
          </a:p>
        </p:txBody>
      </p:sp>
      <p:sp>
        <p:nvSpPr>
          <p:cNvPr id="160" name="ZT_AIA">
            <a:extLst>
              <a:ext uri="{FF2B5EF4-FFF2-40B4-BE49-F238E27FC236}">
                <a16:creationId xmlns:a16="http://schemas.microsoft.com/office/drawing/2014/main" id="{644E74B7-0C43-36BC-0FD0-7C2CE74A6810}"/>
              </a:ext>
            </a:extLst>
          </p:cNvPr>
          <p:cNvSpPr txBox="1"/>
          <p:nvPr/>
        </p:nvSpPr>
        <p:spPr>
          <a:xfrm>
            <a:off x="520497" y="2870168"/>
            <a:ext cx="1080000" cy="246221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AIA V4 (Sinistres)</a:t>
            </a:r>
          </a:p>
        </p:txBody>
      </p:sp>
      <p:sp>
        <p:nvSpPr>
          <p:cNvPr id="161" name="BA_AJ">
            <a:extLst>
              <a:ext uri="{FF2B5EF4-FFF2-40B4-BE49-F238E27FC236}">
                <a16:creationId xmlns:a16="http://schemas.microsoft.com/office/drawing/2014/main" id="{1D059CC2-BE13-B274-37F6-B327FD193441}"/>
              </a:ext>
            </a:extLst>
          </p:cNvPr>
          <p:cNvSpPr/>
          <p:nvPr/>
        </p:nvSpPr>
        <p:spPr>
          <a:xfrm>
            <a:off x="741487" y="3087886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AJ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AIA </a:t>
            </a:r>
            <a:r>
              <a:rPr kumimoji="0" lang="fr-FR" sz="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Sinitres</a:t>
            </a:r>
            <a:endParaRPr kumimoji="0" lang="fr-FR" sz="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2" name="Gr_Prediweb2">
            <a:extLst>
              <a:ext uri="{FF2B5EF4-FFF2-40B4-BE49-F238E27FC236}">
                <a16:creationId xmlns:a16="http://schemas.microsoft.com/office/drawing/2014/main" id="{EC4CB5DB-95FB-3EAB-406D-1FCF0B0FBED7}"/>
              </a:ext>
            </a:extLst>
          </p:cNvPr>
          <p:cNvSpPr/>
          <p:nvPr/>
        </p:nvSpPr>
        <p:spPr>
          <a:xfrm>
            <a:off x="6172824" y="3106138"/>
            <a:ext cx="754043" cy="61200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  <a:effectLst>
            <a:outerShdw blurRad="50800" dist="38100" dir="2700000" algn="ctr" rotWithShape="0">
              <a:schemeClr val="tx1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/>
            </a:endParaRPr>
          </a:p>
        </p:txBody>
      </p:sp>
      <p:sp>
        <p:nvSpPr>
          <p:cNvPr id="163" name="ZT_Prediweb2">
            <a:extLst>
              <a:ext uri="{FF2B5EF4-FFF2-40B4-BE49-F238E27FC236}">
                <a16:creationId xmlns:a16="http://schemas.microsoft.com/office/drawing/2014/main" id="{D96EE407-C942-F627-D089-18906B9B5EA7}"/>
              </a:ext>
            </a:extLst>
          </p:cNvPr>
          <p:cNvSpPr txBox="1"/>
          <p:nvPr/>
        </p:nvSpPr>
        <p:spPr>
          <a:xfrm>
            <a:off x="6145849" y="3133723"/>
            <a:ext cx="774251" cy="246221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1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Prediweb</a:t>
            </a:r>
            <a:r>
              <a:rPr kumimoji="0" lang="fr-FR" sz="1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 2</a:t>
            </a:r>
            <a:endParaRPr kumimoji="0" lang="fr-FR" sz="1000" b="1" i="1" u="none" strike="noStrike" kern="1200" cap="none" spc="0" normalizeH="0" baseline="0" noProof="0" dirty="0">
              <a:ln>
                <a:noFill/>
              </a:ln>
              <a:solidFill>
                <a:srgbClr val="ED7D3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4" name="BA_PY">
            <a:extLst>
              <a:ext uri="{FF2B5EF4-FFF2-40B4-BE49-F238E27FC236}">
                <a16:creationId xmlns:a16="http://schemas.microsoft.com/office/drawing/2014/main" id="{031BF22C-0732-4F96-9F4E-76A93A9A790E}"/>
              </a:ext>
            </a:extLst>
          </p:cNvPr>
          <p:cNvSpPr/>
          <p:nvPr/>
        </p:nvSpPr>
        <p:spPr>
          <a:xfrm>
            <a:off x="6219320" y="3376340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PY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Prediweb</a:t>
            </a: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 2</a:t>
            </a:r>
          </a:p>
        </p:txBody>
      </p:sp>
      <p:sp>
        <p:nvSpPr>
          <p:cNvPr id="165" name="Gr_NewNOVA">
            <a:extLst>
              <a:ext uri="{FF2B5EF4-FFF2-40B4-BE49-F238E27FC236}">
                <a16:creationId xmlns:a16="http://schemas.microsoft.com/office/drawing/2014/main" id="{0082CFD8-E143-F00C-6F02-369DB43BF791}"/>
              </a:ext>
            </a:extLst>
          </p:cNvPr>
          <p:cNvSpPr/>
          <p:nvPr/>
        </p:nvSpPr>
        <p:spPr>
          <a:xfrm>
            <a:off x="7894317" y="1093890"/>
            <a:ext cx="3975128" cy="3939748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  <a:effectLst>
            <a:outerShdw blurRad="50800" dist="38100" dir="2700000" algn="ctr" rotWithShape="0">
              <a:schemeClr val="tx1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/>
            </a:endParaRPr>
          </a:p>
        </p:txBody>
      </p:sp>
      <p:sp>
        <p:nvSpPr>
          <p:cNvPr id="166" name="ZT_NewNOVA">
            <a:extLst>
              <a:ext uri="{FF2B5EF4-FFF2-40B4-BE49-F238E27FC236}">
                <a16:creationId xmlns:a16="http://schemas.microsoft.com/office/drawing/2014/main" id="{13308CBC-0017-8187-04B3-6EE83A7F537D}"/>
              </a:ext>
            </a:extLst>
          </p:cNvPr>
          <p:cNvSpPr txBox="1"/>
          <p:nvPr/>
        </p:nvSpPr>
        <p:spPr>
          <a:xfrm>
            <a:off x="7959719" y="1121206"/>
            <a:ext cx="2930793" cy="246221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New NOVA (K8S+AWS)</a:t>
            </a:r>
            <a:endParaRPr kumimoji="0" lang="fr-FR" sz="1000" b="1" i="1" u="none" strike="noStrike" kern="1200" cap="none" spc="0" normalizeH="0" baseline="0" noProof="0" dirty="0">
              <a:ln>
                <a:noFill/>
              </a:ln>
              <a:solidFill>
                <a:srgbClr val="ED7D3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7" name="BA_APPE">
            <a:extLst>
              <a:ext uri="{FF2B5EF4-FFF2-40B4-BE49-F238E27FC236}">
                <a16:creationId xmlns:a16="http://schemas.microsoft.com/office/drawing/2014/main" id="{7A3E48D2-6018-C2A9-9B9E-0B4653D29827}"/>
              </a:ext>
            </a:extLst>
          </p:cNvPr>
          <p:cNvSpPr/>
          <p:nvPr/>
        </p:nvSpPr>
        <p:spPr>
          <a:xfrm>
            <a:off x="8114072" y="1417047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APPE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API Personne</a:t>
            </a:r>
          </a:p>
        </p:txBody>
      </p:sp>
      <p:sp>
        <p:nvSpPr>
          <p:cNvPr id="168" name="BA_CJNI">
            <a:extLst>
              <a:ext uri="{FF2B5EF4-FFF2-40B4-BE49-F238E27FC236}">
                <a16:creationId xmlns:a16="http://schemas.microsoft.com/office/drawing/2014/main" id="{BB3BDC3E-4CB6-BF66-F62A-A216AA121E5E}"/>
              </a:ext>
            </a:extLst>
          </p:cNvPr>
          <p:cNvSpPr/>
          <p:nvPr/>
        </p:nvSpPr>
        <p:spPr>
          <a:xfrm>
            <a:off x="8803280" y="1417047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CJNI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Jeton SSO</a:t>
            </a:r>
          </a:p>
        </p:txBody>
      </p:sp>
      <p:sp>
        <p:nvSpPr>
          <p:cNvPr id="169" name="BA_C8">
            <a:extLst>
              <a:ext uri="{FF2B5EF4-FFF2-40B4-BE49-F238E27FC236}">
                <a16:creationId xmlns:a16="http://schemas.microsoft.com/office/drawing/2014/main" id="{7B54CD07-64A1-948E-E777-21A4BDACD59D}"/>
              </a:ext>
            </a:extLst>
          </p:cNvPr>
          <p:cNvSpPr/>
          <p:nvPr/>
        </p:nvSpPr>
        <p:spPr>
          <a:xfrm>
            <a:off x="9490384" y="1417047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C8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Consentements</a:t>
            </a:r>
          </a:p>
        </p:txBody>
      </p:sp>
      <p:sp>
        <p:nvSpPr>
          <p:cNvPr id="170" name="BA_D9">
            <a:extLst>
              <a:ext uri="{FF2B5EF4-FFF2-40B4-BE49-F238E27FC236}">
                <a16:creationId xmlns:a16="http://schemas.microsoft.com/office/drawing/2014/main" id="{045D7962-2CF9-0068-CA46-FE791102998D}"/>
              </a:ext>
            </a:extLst>
          </p:cNvPr>
          <p:cNvSpPr/>
          <p:nvPr/>
        </p:nvSpPr>
        <p:spPr>
          <a:xfrm>
            <a:off x="10160477" y="1417047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D9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Base Doc AWS</a:t>
            </a:r>
          </a:p>
        </p:txBody>
      </p:sp>
      <p:sp>
        <p:nvSpPr>
          <p:cNvPr id="171" name="BA_F3">
            <a:extLst>
              <a:ext uri="{FF2B5EF4-FFF2-40B4-BE49-F238E27FC236}">
                <a16:creationId xmlns:a16="http://schemas.microsoft.com/office/drawing/2014/main" id="{E31A8D8A-9A39-2584-FD30-64FC064EE8D3}"/>
              </a:ext>
            </a:extLst>
          </p:cNvPr>
          <p:cNvSpPr/>
          <p:nvPr/>
        </p:nvSpPr>
        <p:spPr>
          <a:xfrm>
            <a:off x="8114072" y="1734468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F3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Versement Libre</a:t>
            </a:r>
          </a:p>
        </p:txBody>
      </p:sp>
      <p:sp>
        <p:nvSpPr>
          <p:cNvPr id="172" name="BA_F4">
            <a:extLst>
              <a:ext uri="{FF2B5EF4-FFF2-40B4-BE49-F238E27FC236}">
                <a16:creationId xmlns:a16="http://schemas.microsoft.com/office/drawing/2014/main" id="{E876CC6E-8848-5C9D-78D9-46EEC53AC093}"/>
              </a:ext>
            </a:extLst>
          </p:cNvPr>
          <p:cNvSpPr/>
          <p:nvPr/>
        </p:nvSpPr>
        <p:spPr>
          <a:xfrm>
            <a:off x="8803280" y="1734468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F4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Synthèse </a:t>
            </a:r>
            <a:r>
              <a:rPr kumimoji="0" lang="fr-FR" sz="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Opér</a:t>
            </a: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.</a:t>
            </a:r>
          </a:p>
        </p:txBody>
      </p:sp>
      <p:sp>
        <p:nvSpPr>
          <p:cNvPr id="173" name="BA_F5">
            <a:extLst>
              <a:ext uri="{FF2B5EF4-FFF2-40B4-BE49-F238E27FC236}">
                <a16:creationId xmlns:a16="http://schemas.microsoft.com/office/drawing/2014/main" id="{A92E834C-736D-19AB-653E-48E2E7E17910}"/>
              </a:ext>
            </a:extLst>
          </p:cNvPr>
          <p:cNvSpPr/>
          <p:nvPr/>
        </p:nvSpPr>
        <p:spPr>
          <a:xfrm>
            <a:off x="9490384" y="1734468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F5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Conf</a:t>
            </a: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. New Nova</a:t>
            </a:r>
          </a:p>
        </p:txBody>
      </p:sp>
      <p:sp>
        <p:nvSpPr>
          <p:cNvPr id="174" name="BA_F6">
            <a:extLst>
              <a:ext uri="{FF2B5EF4-FFF2-40B4-BE49-F238E27FC236}">
                <a16:creationId xmlns:a16="http://schemas.microsoft.com/office/drawing/2014/main" id="{B138A8B0-491D-A932-2308-1672EB9D1373}"/>
              </a:ext>
            </a:extLst>
          </p:cNvPr>
          <p:cNvSpPr/>
          <p:nvPr/>
        </p:nvSpPr>
        <p:spPr>
          <a:xfrm>
            <a:off x="10160477" y="1734468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F6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API Adhésion</a:t>
            </a:r>
          </a:p>
        </p:txBody>
      </p:sp>
      <p:sp>
        <p:nvSpPr>
          <p:cNvPr id="175" name="BA_F7">
            <a:extLst>
              <a:ext uri="{FF2B5EF4-FFF2-40B4-BE49-F238E27FC236}">
                <a16:creationId xmlns:a16="http://schemas.microsoft.com/office/drawing/2014/main" id="{FE7CC9F1-7BE7-A7B0-BB43-6295D6D992AB}"/>
              </a:ext>
            </a:extLst>
          </p:cNvPr>
          <p:cNvSpPr/>
          <p:nvPr/>
        </p:nvSpPr>
        <p:spPr>
          <a:xfrm>
            <a:off x="8114072" y="2047150"/>
            <a:ext cx="648000" cy="288000"/>
          </a:xfrm>
          <a:prstGeom prst="round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F7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Arbitrage</a:t>
            </a:r>
          </a:p>
        </p:txBody>
      </p:sp>
      <p:sp>
        <p:nvSpPr>
          <p:cNvPr id="176" name="BA_G3">
            <a:extLst>
              <a:ext uri="{FF2B5EF4-FFF2-40B4-BE49-F238E27FC236}">
                <a16:creationId xmlns:a16="http://schemas.microsoft.com/office/drawing/2014/main" id="{B0D58D0B-C329-AC78-5C6F-9B9664B25AE8}"/>
              </a:ext>
            </a:extLst>
          </p:cNvPr>
          <p:cNvSpPr/>
          <p:nvPr/>
        </p:nvSpPr>
        <p:spPr>
          <a:xfrm>
            <a:off x="9490384" y="2047150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G3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Pièces médicales</a:t>
            </a:r>
          </a:p>
        </p:txBody>
      </p:sp>
      <p:sp>
        <p:nvSpPr>
          <p:cNvPr id="177" name="BA_G4">
            <a:extLst>
              <a:ext uri="{FF2B5EF4-FFF2-40B4-BE49-F238E27FC236}">
                <a16:creationId xmlns:a16="http://schemas.microsoft.com/office/drawing/2014/main" id="{B1A06C62-A826-DDC7-C3BA-8BDF8A121982}"/>
              </a:ext>
            </a:extLst>
          </p:cNvPr>
          <p:cNvSpPr/>
          <p:nvPr/>
        </p:nvSpPr>
        <p:spPr>
          <a:xfrm>
            <a:off x="10160477" y="2047150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G4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API FRC</a:t>
            </a:r>
          </a:p>
        </p:txBody>
      </p:sp>
      <p:sp>
        <p:nvSpPr>
          <p:cNvPr id="178" name="BA_G6">
            <a:extLst>
              <a:ext uri="{FF2B5EF4-FFF2-40B4-BE49-F238E27FC236}">
                <a16:creationId xmlns:a16="http://schemas.microsoft.com/office/drawing/2014/main" id="{D3B8161D-FB56-9047-041A-C90B7D6176FF}"/>
              </a:ext>
            </a:extLst>
          </p:cNvPr>
          <p:cNvSpPr/>
          <p:nvPr/>
        </p:nvSpPr>
        <p:spPr>
          <a:xfrm>
            <a:off x="8114072" y="2368438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G6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API </a:t>
            </a:r>
            <a:r>
              <a:rPr kumimoji="0" lang="fr-FR" sz="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Passport</a:t>
            </a:r>
            <a:endParaRPr kumimoji="0" lang="fr-FR" sz="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9" name="BA_GQ">
            <a:extLst>
              <a:ext uri="{FF2B5EF4-FFF2-40B4-BE49-F238E27FC236}">
                <a16:creationId xmlns:a16="http://schemas.microsoft.com/office/drawing/2014/main" id="{60222119-C8F6-5C6C-9159-2043B2667A8A}"/>
              </a:ext>
            </a:extLst>
          </p:cNvPr>
          <p:cNvSpPr/>
          <p:nvPr/>
        </p:nvSpPr>
        <p:spPr>
          <a:xfrm>
            <a:off x="8803280" y="2368438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GQ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GED Prévoyance</a:t>
            </a:r>
          </a:p>
        </p:txBody>
      </p:sp>
      <p:sp>
        <p:nvSpPr>
          <p:cNvPr id="180" name="BA_I5">
            <a:extLst>
              <a:ext uri="{FF2B5EF4-FFF2-40B4-BE49-F238E27FC236}">
                <a16:creationId xmlns:a16="http://schemas.microsoft.com/office/drawing/2014/main" id="{A7A77A46-8FEB-9DDB-876C-3AAE69E97434}"/>
              </a:ext>
            </a:extLst>
          </p:cNvPr>
          <p:cNvSpPr/>
          <p:nvPr/>
        </p:nvSpPr>
        <p:spPr>
          <a:xfrm>
            <a:off x="8114072" y="2696076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I5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Lanceur New Nova</a:t>
            </a:r>
          </a:p>
        </p:txBody>
      </p:sp>
      <p:sp>
        <p:nvSpPr>
          <p:cNvPr id="181" name="BA_I9">
            <a:extLst>
              <a:ext uri="{FF2B5EF4-FFF2-40B4-BE49-F238E27FC236}">
                <a16:creationId xmlns:a16="http://schemas.microsoft.com/office/drawing/2014/main" id="{407BB86C-9547-659C-D32D-3D6E09CAF06B}"/>
              </a:ext>
            </a:extLst>
          </p:cNvPr>
          <p:cNvSpPr/>
          <p:nvPr/>
        </p:nvSpPr>
        <p:spPr>
          <a:xfrm>
            <a:off x="8803280" y="2696076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I9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Keycloak</a:t>
            </a: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 Intranet</a:t>
            </a:r>
          </a:p>
        </p:txBody>
      </p:sp>
      <p:sp>
        <p:nvSpPr>
          <p:cNvPr id="182" name="BA_K7">
            <a:extLst>
              <a:ext uri="{FF2B5EF4-FFF2-40B4-BE49-F238E27FC236}">
                <a16:creationId xmlns:a16="http://schemas.microsoft.com/office/drawing/2014/main" id="{5E8CED8F-D440-C1E6-690D-DBA207EDB604}"/>
              </a:ext>
            </a:extLst>
          </p:cNvPr>
          <p:cNvSpPr/>
          <p:nvPr/>
        </p:nvSpPr>
        <p:spPr>
          <a:xfrm>
            <a:off x="9490384" y="2696076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K7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Aiguilleur</a:t>
            </a:r>
          </a:p>
        </p:txBody>
      </p:sp>
      <p:sp>
        <p:nvSpPr>
          <p:cNvPr id="183" name="BA_K9">
            <a:extLst>
              <a:ext uri="{FF2B5EF4-FFF2-40B4-BE49-F238E27FC236}">
                <a16:creationId xmlns:a16="http://schemas.microsoft.com/office/drawing/2014/main" id="{551CC15A-44E5-70F8-07E3-8A57EBD2A3CF}"/>
              </a:ext>
            </a:extLst>
          </p:cNvPr>
          <p:cNvSpPr/>
          <p:nvPr/>
        </p:nvSpPr>
        <p:spPr>
          <a:xfrm>
            <a:off x="10160477" y="2696076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K9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Keycloak</a:t>
            </a: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 Internet</a:t>
            </a:r>
          </a:p>
        </p:txBody>
      </p:sp>
      <p:sp>
        <p:nvSpPr>
          <p:cNvPr id="184" name="BA_L8">
            <a:extLst>
              <a:ext uri="{FF2B5EF4-FFF2-40B4-BE49-F238E27FC236}">
                <a16:creationId xmlns:a16="http://schemas.microsoft.com/office/drawing/2014/main" id="{E0D4CF0C-2CA5-3D04-A679-9CFE6708D061}"/>
              </a:ext>
            </a:extLst>
          </p:cNvPr>
          <p:cNvSpPr/>
          <p:nvPr/>
        </p:nvSpPr>
        <p:spPr>
          <a:xfrm>
            <a:off x="8114072" y="3027052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L8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API Archivage</a:t>
            </a:r>
          </a:p>
        </p:txBody>
      </p:sp>
      <p:sp>
        <p:nvSpPr>
          <p:cNvPr id="185" name="BA_L9">
            <a:extLst>
              <a:ext uri="{FF2B5EF4-FFF2-40B4-BE49-F238E27FC236}">
                <a16:creationId xmlns:a16="http://schemas.microsoft.com/office/drawing/2014/main" id="{D5A3F5A4-08C0-4393-AB25-C3DC56005904}"/>
              </a:ext>
            </a:extLst>
          </p:cNvPr>
          <p:cNvSpPr/>
          <p:nvPr/>
        </p:nvSpPr>
        <p:spPr>
          <a:xfrm>
            <a:off x="8803280" y="3027052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L9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API Structure</a:t>
            </a:r>
          </a:p>
        </p:txBody>
      </p:sp>
      <p:sp>
        <p:nvSpPr>
          <p:cNvPr id="186" name="BA_N6">
            <a:extLst>
              <a:ext uri="{FF2B5EF4-FFF2-40B4-BE49-F238E27FC236}">
                <a16:creationId xmlns:a16="http://schemas.microsoft.com/office/drawing/2014/main" id="{A965CA4F-9D2A-B486-6B91-93F83B2A15A2}"/>
              </a:ext>
            </a:extLst>
          </p:cNvPr>
          <p:cNvSpPr/>
          <p:nvPr/>
        </p:nvSpPr>
        <p:spPr>
          <a:xfrm>
            <a:off x="9490384" y="3034498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N6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API produit</a:t>
            </a:r>
          </a:p>
        </p:txBody>
      </p:sp>
      <p:sp>
        <p:nvSpPr>
          <p:cNvPr id="187" name="BA_N8">
            <a:extLst>
              <a:ext uri="{FF2B5EF4-FFF2-40B4-BE49-F238E27FC236}">
                <a16:creationId xmlns:a16="http://schemas.microsoft.com/office/drawing/2014/main" id="{1CB4CDCF-85C0-B23E-FAE7-8A1988031640}"/>
              </a:ext>
            </a:extLst>
          </p:cNvPr>
          <p:cNvSpPr/>
          <p:nvPr/>
        </p:nvSpPr>
        <p:spPr>
          <a:xfrm>
            <a:off x="10160477" y="3034498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N8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Notif</a:t>
            </a: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. Distributeur</a:t>
            </a:r>
          </a:p>
        </p:txBody>
      </p:sp>
      <p:sp>
        <p:nvSpPr>
          <p:cNvPr id="188" name="BA_P4">
            <a:extLst>
              <a:ext uri="{FF2B5EF4-FFF2-40B4-BE49-F238E27FC236}">
                <a16:creationId xmlns:a16="http://schemas.microsoft.com/office/drawing/2014/main" id="{511D89BE-B451-E7CE-6431-DBA9F40ABA4F}"/>
              </a:ext>
            </a:extLst>
          </p:cNvPr>
          <p:cNvSpPr/>
          <p:nvPr/>
        </p:nvSpPr>
        <p:spPr>
          <a:xfrm>
            <a:off x="8114072" y="3354466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P4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Services Editique</a:t>
            </a:r>
          </a:p>
        </p:txBody>
      </p:sp>
      <p:sp>
        <p:nvSpPr>
          <p:cNvPr id="189" name="BA_P5">
            <a:extLst>
              <a:ext uri="{FF2B5EF4-FFF2-40B4-BE49-F238E27FC236}">
                <a16:creationId xmlns:a16="http://schemas.microsoft.com/office/drawing/2014/main" id="{2892DDD1-4533-9263-EA49-2571164166C1}"/>
              </a:ext>
            </a:extLst>
          </p:cNvPr>
          <p:cNvSpPr/>
          <p:nvPr/>
        </p:nvSpPr>
        <p:spPr>
          <a:xfrm>
            <a:off x="8803280" y="3354466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P5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API Contrat</a:t>
            </a:r>
          </a:p>
        </p:txBody>
      </p:sp>
      <p:sp>
        <p:nvSpPr>
          <p:cNvPr id="190" name="BA_P6">
            <a:extLst>
              <a:ext uri="{FF2B5EF4-FFF2-40B4-BE49-F238E27FC236}">
                <a16:creationId xmlns:a16="http://schemas.microsoft.com/office/drawing/2014/main" id="{0502C1D5-89B0-0E39-D240-AEA32E26213E}"/>
              </a:ext>
            </a:extLst>
          </p:cNvPr>
          <p:cNvSpPr/>
          <p:nvPr/>
        </p:nvSpPr>
        <p:spPr>
          <a:xfrm>
            <a:off x="9490384" y="3369007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P6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API Support</a:t>
            </a:r>
          </a:p>
        </p:txBody>
      </p:sp>
      <p:sp>
        <p:nvSpPr>
          <p:cNvPr id="191" name="BA_P7">
            <a:extLst>
              <a:ext uri="{FF2B5EF4-FFF2-40B4-BE49-F238E27FC236}">
                <a16:creationId xmlns:a16="http://schemas.microsoft.com/office/drawing/2014/main" id="{129753EC-D5A4-F357-A6F8-2B9C4DA92597}"/>
              </a:ext>
            </a:extLst>
          </p:cNvPr>
          <p:cNvSpPr/>
          <p:nvPr/>
        </p:nvSpPr>
        <p:spPr>
          <a:xfrm>
            <a:off x="10160477" y="3369007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P7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Campagnes et Frais</a:t>
            </a:r>
          </a:p>
        </p:txBody>
      </p:sp>
      <p:sp>
        <p:nvSpPr>
          <p:cNvPr id="192" name="BA_P8">
            <a:extLst>
              <a:ext uri="{FF2B5EF4-FFF2-40B4-BE49-F238E27FC236}">
                <a16:creationId xmlns:a16="http://schemas.microsoft.com/office/drawing/2014/main" id="{84A49D89-D3B3-374D-C7D4-5FCA658F7BA0}"/>
              </a:ext>
            </a:extLst>
          </p:cNvPr>
          <p:cNvSpPr/>
          <p:nvPr/>
        </p:nvSpPr>
        <p:spPr>
          <a:xfrm>
            <a:off x="8114072" y="3698914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P8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Habilit</a:t>
            </a: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. &amp;  </a:t>
            </a:r>
            <a:r>
              <a:rPr kumimoji="0" lang="fr-FR" sz="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Délég</a:t>
            </a: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.</a:t>
            </a:r>
          </a:p>
        </p:txBody>
      </p:sp>
      <p:sp>
        <p:nvSpPr>
          <p:cNvPr id="193" name="BA_Q1">
            <a:extLst>
              <a:ext uri="{FF2B5EF4-FFF2-40B4-BE49-F238E27FC236}">
                <a16:creationId xmlns:a16="http://schemas.microsoft.com/office/drawing/2014/main" id="{0D70E913-098D-A9E1-7B34-0F704D073B1B}"/>
              </a:ext>
            </a:extLst>
          </p:cNvPr>
          <p:cNvSpPr/>
          <p:nvPr/>
        </p:nvSpPr>
        <p:spPr>
          <a:xfrm>
            <a:off x="8803280" y="3698914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Q1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API </a:t>
            </a:r>
            <a:r>
              <a:rPr kumimoji="0" lang="fr-FR" sz="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Déciséo</a:t>
            </a:r>
            <a:endParaRPr kumimoji="0" lang="fr-FR" sz="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4" name="BA_W1">
            <a:extLst>
              <a:ext uri="{FF2B5EF4-FFF2-40B4-BE49-F238E27FC236}">
                <a16:creationId xmlns:a16="http://schemas.microsoft.com/office/drawing/2014/main" id="{8BA8AA81-EB0A-3377-202A-B461814BFF6B}"/>
              </a:ext>
            </a:extLst>
          </p:cNvPr>
          <p:cNvSpPr/>
          <p:nvPr/>
        </p:nvSpPr>
        <p:spPr>
          <a:xfrm>
            <a:off x="8114072" y="4023294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W1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API Signature</a:t>
            </a:r>
          </a:p>
        </p:txBody>
      </p:sp>
      <p:sp>
        <p:nvSpPr>
          <p:cNvPr id="195" name="BA_W2">
            <a:extLst>
              <a:ext uri="{FF2B5EF4-FFF2-40B4-BE49-F238E27FC236}">
                <a16:creationId xmlns:a16="http://schemas.microsoft.com/office/drawing/2014/main" id="{ABDF617D-8E83-93B6-8C95-C54D00470B9A}"/>
              </a:ext>
            </a:extLst>
          </p:cNvPr>
          <p:cNvSpPr/>
          <p:nvPr/>
        </p:nvSpPr>
        <p:spPr>
          <a:xfrm>
            <a:off x="8803280" y="4023294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W2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Clause </a:t>
            </a:r>
            <a:r>
              <a:rPr kumimoji="0" lang="fr-FR" sz="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Bénéf</a:t>
            </a: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.</a:t>
            </a:r>
          </a:p>
        </p:txBody>
      </p:sp>
      <p:sp>
        <p:nvSpPr>
          <p:cNvPr id="196" name="BA_W4">
            <a:extLst>
              <a:ext uri="{FF2B5EF4-FFF2-40B4-BE49-F238E27FC236}">
                <a16:creationId xmlns:a16="http://schemas.microsoft.com/office/drawing/2014/main" id="{CE8E3216-5108-010A-FD35-CB50E77B3C27}"/>
              </a:ext>
            </a:extLst>
          </p:cNvPr>
          <p:cNvSpPr/>
          <p:nvPr/>
        </p:nvSpPr>
        <p:spPr>
          <a:xfrm>
            <a:off x="9490384" y="4047213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W4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Modif</a:t>
            </a: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. </a:t>
            </a:r>
            <a:r>
              <a:rPr kumimoji="0" lang="fr-FR" sz="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Gar</a:t>
            </a: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. </a:t>
            </a:r>
            <a:r>
              <a:rPr kumimoji="0" lang="fr-FR" sz="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Prév</a:t>
            </a: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.</a:t>
            </a:r>
          </a:p>
        </p:txBody>
      </p:sp>
      <p:sp>
        <p:nvSpPr>
          <p:cNvPr id="197" name="Gr_REFUC">
            <a:extLst>
              <a:ext uri="{FF2B5EF4-FFF2-40B4-BE49-F238E27FC236}">
                <a16:creationId xmlns:a16="http://schemas.microsoft.com/office/drawing/2014/main" id="{B7A5097A-BB8F-CBDF-5812-8043CA481471}"/>
              </a:ext>
            </a:extLst>
          </p:cNvPr>
          <p:cNvSpPr/>
          <p:nvPr/>
        </p:nvSpPr>
        <p:spPr>
          <a:xfrm>
            <a:off x="4497472" y="3115682"/>
            <a:ext cx="769204" cy="591273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  <a:effectLst>
            <a:outerShdw blurRad="50800" dist="38100" dir="2700000" algn="ctr" rotWithShape="0">
              <a:schemeClr val="tx1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/>
            </a:endParaRPr>
          </a:p>
        </p:txBody>
      </p:sp>
      <p:sp>
        <p:nvSpPr>
          <p:cNvPr id="198" name="ZT_REFUC">
            <a:extLst>
              <a:ext uri="{FF2B5EF4-FFF2-40B4-BE49-F238E27FC236}">
                <a16:creationId xmlns:a16="http://schemas.microsoft.com/office/drawing/2014/main" id="{AE8DBE4A-18BA-D976-AB08-F0925CAA1C77}"/>
              </a:ext>
            </a:extLst>
          </p:cNvPr>
          <p:cNvSpPr txBox="1"/>
          <p:nvPr/>
        </p:nvSpPr>
        <p:spPr>
          <a:xfrm>
            <a:off x="4585812" y="3143267"/>
            <a:ext cx="664123" cy="246221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REFUC</a:t>
            </a:r>
          </a:p>
        </p:txBody>
      </p:sp>
      <p:sp>
        <p:nvSpPr>
          <p:cNvPr id="199" name="BA_VL">
            <a:extLst>
              <a:ext uri="{FF2B5EF4-FFF2-40B4-BE49-F238E27FC236}">
                <a16:creationId xmlns:a16="http://schemas.microsoft.com/office/drawing/2014/main" id="{A006DBD8-CDE7-9885-0526-9738144CAE9C}"/>
              </a:ext>
            </a:extLst>
          </p:cNvPr>
          <p:cNvSpPr/>
          <p:nvPr/>
        </p:nvSpPr>
        <p:spPr>
          <a:xfrm>
            <a:off x="4562134" y="3360904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VL</a:t>
            </a:r>
            <a:endParaRPr kumimoji="0" lang="fr-FR" sz="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Référ</a:t>
            </a: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. UC</a:t>
            </a:r>
          </a:p>
        </p:txBody>
      </p:sp>
      <p:sp>
        <p:nvSpPr>
          <p:cNvPr id="200" name="Gr_EBX">
            <a:extLst>
              <a:ext uri="{FF2B5EF4-FFF2-40B4-BE49-F238E27FC236}">
                <a16:creationId xmlns:a16="http://schemas.microsoft.com/office/drawing/2014/main" id="{FA78406F-D235-44BC-D937-78C0AF5E4FB0}"/>
              </a:ext>
            </a:extLst>
          </p:cNvPr>
          <p:cNvSpPr/>
          <p:nvPr/>
        </p:nvSpPr>
        <p:spPr>
          <a:xfrm>
            <a:off x="3593887" y="3113812"/>
            <a:ext cx="834318" cy="61200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  <a:effectLst>
            <a:outerShdw blurRad="50800" dist="38100" dir="2700000" algn="ctr" rotWithShape="0">
              <a:schemeClr val="tx1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/>
            </a:endParaRPr>
          </a:p>
        </p:txBody>
      </p:sp>
      <p:sp>
        <p:nvSpPr>
          <p:cNvPr id="201" name="ZT_EBX">
            <a:extLst>
              <a:ext uri="{FF2B5EF4-FFF2-40B4-BE49-F238E27FC236}">
                <a16:creationId xmlns:a16="http://schemas.microsoft.com/office/drawing/2014/main" id="{108EE626-2705-9B06-1025-A02C0CE1CAE4}"/>
              </a:ext>
            </a:extLst>
          </p:cNvPr>
          <p:cNvSpPr txBox="1"/>
          <p:nvPr/>
        </p:nvSpPr>
        <p:spPr>
          <a:xfrm>
            <a:off x="3603261" y="3141397"/>
            <a:ext cx="824943" cy="246221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EBX</a:t>
            </a:r>
          </a:p>
        </p:txBody>
      </p:sp>
      <p:sp>
        <p:nvSpPr>
          <p:cNvPr id="202" name="BA_EBX">
            <a:extLst>
              <a:ext uri="{FF2B5EF4-FFF2-40B4-BE49-F238E27FC236}">
                <a16:creationId xmlns:a16="http://schemas.microsoft.com/office/drawing/2014/main" id="{FAE6CCBD-FFD5-876B-2ECF-1CD23E2A74E9}"/>
              </a:ext>
            </a:extLst>
          </p:cNvPr>
          <p:cNvSpPr/>
          <p:nvPr/>
        </p:nvSpPr>
        <p:spPr>
          <a:xfrm>
            <a:off x="3697255" y="3370753"/>
            <a:ext cx="648000" cy="276281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EBX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EBX-Platform</a:t>
            </a:r>
          </a:p>
        </p:txBody>
      </p:sp>
      <p:sp>
        <p:nvSpPr>
          <p:cNvPr id="203" name="ZoneProjet">
            <a:extLst>
              <a:ext uri="{FF2B5EF4-FFF2-40B4-BE49-F238E27FC236}">
                <a16:creationId xmlns:a16="http://schemas.microsoft.com/office/drawing/2014/main" id="{CE6B20FC-2012-8B97-BD83-D0F7078F4372}"/>
              </a:ext>
            </a:extLst>
          </p:cNvPr>
          <p:cNvSpPr txBox="1"/>
          <p:nvPr/>
        </p:nvSpPr>
        <p:spPr>
          <a:xfrm>
            <a:off x="925022" y="524643"/>
            <a:ext cx="1795363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>
            <a:defPPr>
              <a:defRPr lang="fr-FR"/>
            </a:defPPr>
            <a:lvl1pPr lvl="0" algn="ctr">
              <a:defRPr b="1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fr-FR" dirty="0"/>
              <a:t>Arbitrage - EGC</a:t>
            </a:r>
          </a:p>
        </p:txBody>
      </p:sp>
      <p:sp>
        <p:nvSpPr>
          <p:cNvPr id="204" name="ZT_Titre">
            <a:extLst>
              <a:ext uri="{FF2B5EF4-FFF2-40B4-BE49-F238E27FC236}">
                <a16:creationId xmlns:a16="http://schemas.microsoft.com/office/drawing/2014/main" id="{77B601A9-EE74-E763-68DD-BDA5E5E0F7D7}"/>
              </a:ext>
            </a:extLst>
          </p:cNvPr>
          <p:cNvSpPr txBox="1"/>
          <p:nvPr/>
        </p:nvSpPr>
        <p:spPr>
          <a:xfrm>
            <a:off x="0" y="-124544"/>
            <a:ext cx="12192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800" b="0" i="0" u="none" strike="noStrike" kern="1200" cap="none" spc="0" normalizeH="0" baseline="0" noProof="0" dirty="0">
                <a:ln>
                  <a:noFill/>
                </a:ln>
                <a:solidFill>
                  <a:srgbClr val="5B9BD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Identification des composants applicatifs</a:t>
            </a:r>
          </a:p>
        </p:txBody>
      </p:sp>
      <p:sp>
        <p:nvSpPr>
          <p:cNvPr id="205" name="Gr_BDOC">
            <a:extLst>
              <a:ext uri="{FF2B5EF4-FFF2-40B4-BE49-F238E27FC236}">
                <a16:creationId xmlns:a16="http://schemas.microsoft.com/office/drawing/2014/main" id="{FF6C58E6-8F1F-B952-2C92-43C64E1B2F38}"/>
              </a:ext>
            </a:extLst>
          </p:cNvPr>
          <p:cNvSpPr/>
          <p:nvPr/>
        </p:nvSpPr>
        <p:spPr>
          <a:xfrm>
            <a:off x="5353697" y="3111592"/>
            <a:ext cx="744111" cy="61200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  <a:effectLst>
            <a:outerShdw blurRad="50800" dist="38100" dir="2700000" algn="ctr" rotWithShape="0">
              <a:schemeClr val="tx1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/>
            </a:endParaRPr>
          </a:p>
        </p:txBody>
      </p:sp>
      <p:sp>
        <p:nvSpPr>
          <p:cNvPr id="206" name="ZT_BDOC">
            <a:extLst>
              <a:ext uri="{FF2B5EF4-FFF2-40B4-BE49-F238E27FC236}">
                <a16:creationId xmlns:a16="http://schemas.microsoft.com/office/drawing/2014/main" id="{B5342950-D823-7380-BA81-433F6B2AAC58}"/>
              </a:ext>
            </a:extLst>
          </p:cNvPr>
          <p:cNvSpPr txBox="1"/>
          <p:nvPr/>
        </p:nvSpPr>
        <p:spPr>
          <a:xfrm>
            <a:off x="5429887" y="3139177"/>
            <a:ext cx="623531" cy="246221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BDOC</a:t>
            </a:r>
          </a:p>
        </p:txBody>
      </p:sp>
      <p:sp>
        <p:nvSpPr>
          <p:cNvPr id="207" name="BA_BX">
            <a:extLst>
              <a:ext uri="{FF2B5EF4-FFF2-40B4-BE49-F238E27FC236}">
                <a16:creationId xmlns:a16="http://schemas.microsoft.com/office/drawing/2014/main" id="{F5E89487-F219-3475-EF4A-459A22D7ED56}"/>
              </a:ext>
            </a:extLst>
          </p:cNvPr>
          <p:cNvSpPr/>
          <p:nvPr/>
        </p:nvSpPr>
        <p:spPr>
          <a:xfrm>
            <a:off x="5405378" y="3393901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BX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BDOC WEB</a:t>
            </a:r>
          </a:p>
        </p:txBody>
      </p:sp>
      <p:sp>
        <p:nvSpPr>
          <p:cNvPr id="208" name="ZT_MàJ">
            <a:extLst>
              <a:ext uri="{FF2B5EF4-FFF2-40B4-BE49-F238E27FC236}">
                <a16:creationId xmlns:a16="http://schemas.microsoft.com/office/drawing/2014/main" id="{69A81366-42E6-AE06-E2D4-1E55191CD8E1}"/>
              </a:ext>
            </a:extLst>
          </p:cNvPr>
          <p:cNvSpPr txBox="1"/>
          <p:nvPr/>
        </p:nvSpPr>
        <p:spPr>
          <a:xfrm>
            <a:off x="390525" y="6491355"/>
            <a:ext cx="169950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Mise à jour : xx/xx/2026</a:t>
            </a:r>
          </a:p>
        </p:txBody>
      </p:sp>
      <p:sp>
        <p:nvSpPr>
          <p:cNvPr id="209" name="ZT_Validité">
            <a:extLst>
              <a:ext uri="{FF2B5EF4-FFF2-40B4-BE49-F238E27FC236}">
                <a16:creationId xmlns:a16="http://schemas.microsoft.com/office/drawing/2014/main" id="{EEB840DF-0EA7-F162-F573-9B3861214810}"/>
              </a:ext>
            </a:extLst>
          </p:cNvPr>
          <p:cNvSpPr txBox="1"/>
          <p:nvPr/>
        </p:nvSpPr>
        <p:spPr>
          <a:xfrm>
            <a:off x="10479876" y="6501427"/>
            <a:ext cx="126444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Validité : T2 2026</a:t>
            </a:r>
          </a:p>
        </p:txBody>
      </p:sp>
      <p:sp>
        <p:nvSpPr>
          <p:cNvPr id="210" name="Légende_Comp3">
            <a:extLst>
              <a:ext uri="{FF2B5EF4-FFF2-40B4-BE49-F238E27FC236}">
                <a16:creationId xmlns:a16="http://schemas.microsoft.com/office/drawing/2014/main" id="{F2EDE9EF-ADAC-841A-7CBC-EF3D096308C0}"/>
              </a:ext>
            </a:extLst>
          </p:cNvPr>
          <p:cNvSpPr/>
          <p:nvPr/>
        </p:nvSpPr>
        <p:spPr>
          <a:xfrm>
            <a:off x="6567797" y="549933"/>
            <a:ext cx="1080000" cy="360000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Composant </a:t>
            </a:r>
            <a:b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créé ou modifié</a:t>
            </a:r>
          </a:p>
        </p:txBody>
      </p:sp>
      <p:sp>
        <p:nvSpPr>
          <p:cNvPr id="211" name="Légende_Comp2">
            <a:extLst>
              <a:ext uri="{FF2B5EF4-FFF2-40B4-BE49-F238E27FC236}">
                <a16:creationId xmlns:a16="http://schemas.microsoft.com/office/drawing/2014/main" id="{5334E1F7-3F58-975D-CC93-DFF56D57CDD9}"/>
              </a:ext>
            </a:extLst>
          </p:cNvPr>
          <p:cNvSpPr/>
          <p:nvPr/>
        </p:nvSpPr>
        <p:spPr>
          <a:xfrm>
            <a:off x="5383906" y="547517"/>
            <a:ext cx="1080000" cy="360000"/>
          </a:xfrm>
          <a:prstGeom prst="round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Composant utilisé</a:t>
            </a:r>
          </a:p>
        </p:txBody>
      </p:sp>
      <p:sp>
        <p:nvSpPr>
          <p:cNvPr id="212" name="Légende_Comp1">
            <a:extLst>
              <a:ext uri="{FF2B5EF4-FFF2-40B4-BE49-F238E27FC236}">
                <a16:creationId xmlns:a16="http://schemas.microsoft.com/office/drawing/2014/main" id="{53648889-A629-33AC-2834-97AB9722137A}"/>
              </a:ext>
            </a:extLst>
          </p:cNvPr>
          <p:cNvSpPr/>
          <p:nvPr/>
        </p:nvSpPr>
        <p:spPr>
          <a:xfrm>
            <a:off x="4200015" y="542942"/>
            <a:ext cx="1080000" cy="360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Composant non exploité</a:t>
            </a:r>
          </a:p>
        </p:txBody>
      </p:sp>
      <p:sp>
        <p:nvSpPr>
          <p:cNvPr id="213" name="BA_T2">
            <a:extLst>
              <a:ext uri="{FF2B5EF4-FFF2-40B4-BE49-F238E27FC236}">
                <a16:creationId xmlns:a16="http://schemas.microsoft.com/office/drawing/2014/main" id="{A2430C9E-E1C3-E334-3B72-0DB02FA81078}"/>
              </a:ext>
            </a:extLst>
          </p:cNvPr>
          <p:cNvSpPr/>
          <p:nvPr/>
        </p:nvSpPr>
        <p:spPr>
          <a:xfrm>
            <a:off x="9490384" y="3696185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T2</a:t>
            </a:r>
            <a:endParaRPr kumimoji="0" lang="fr-FR" sz="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KConnect</a:t>
            </a: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 MUTU</a:t>
            </a:r>
          </a:p>
        </p:txBody>
      </p:sp>
      <p:sp>
        <p:nvSpPr>
          <p:cNvPr id="214" name="BA_T3">
            <a:extLst>
              <a:ext uri="{FF2B5EF4-FFF2-40B4-BE49-F238E27FC236}">
                <a16:creationId xmlns:a16="http://schemas.microsoft.com/office/drawing/2014/main" id="{7705F21E-1F86-FBCB-2B80-A9020BDA4222}"/>
              </a:ext>
            </a:extLst>
          </p:cNvPr>
          <p:cNvSpPr/>
          <p:nvPr/>
        </p:nvSpPr>
        <p:spPr>
          <a:xfrm>
            <a:off x="10160477" y="3696185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T3</a:t>
            </a:r>
            <a:endParaRPr kumimoji="0" lang="fr-FR" sz="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KConnect</a:t>
            </a: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 CAA</a:t>
            </a:r>
          </a:p>
        </p:txBody>
      </p:sp>
      <p:sp>
        <p:nvSpPr>
          <p:cNvPr id="215" name="BA_F8">
            <a:extLst>
              <a:ext uri="{FF2B5EF4-FFF2-40B4-BE49-F238E27FC236}">
                <a16:creationId xmlns:a16="http://schemas.microsoft.com/office/drawing/2014/main" id="{A79BA288-BDB5-F198-5256-4EA79ADDA4DD}"/>
              </a:ext>
            </a:extLst>
          </p:cNvPr>
          <p:cNvSpPr/>
          <p:nvPr/>
        </p:nvSpPr>
        <p:spPr>
          <a:xfrm>
            <a:off x="8803280" y="2047150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F8</a:t>
            </a:r>
            <a:endParaRPr kumimoji="0" lang="fr-FR" sz="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API MOOP</a:t>
            </a:r>
          </a:p>
        </p:txBody>
      </p:sp>
      <p:sp>
        <p:nvSpPr>
          <p:cNvPr id="216" name="Gr_ETL">
            <a:extLst>
              <a:ext uri="{FF2B5EF4-FFF2-40B4-BE49-F238E27FC236}">
                <a16:creationId xmlns:a16="http://schemas.microsoft.com/office/drawing/2014/main" id="{C3FDA61D-79A1-21BC-0A6F-5B98E339903D}"/>
              </a:ext>
            </a:extLst>
          </p:cNvPr>
          <p:cNvSpPr/>
          <p:nvPr/>
        </p:nvSpPr>
        <p:spPr>
          <a:xfrm>
            <a:off x="1617823" y="2849127"/>
            <a:ext cx="862923" cy="561929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  <a:effectLst>
            <a:outerShdw blurRad="50800" dist="38100" dir="2700000" algn="ctr" rotWithShape="0">
              <a:schemeClr val="tx1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/>
            </a:endParaRPr>
          </a:p>
        </p:txBody>
      </p:sp>
      <p:sp>
        <p:nvSpPr>
          <p:cNvPr id="217" name="ZT_ETL">
            <a:extLst>
              <a:ext uri="{FF2B5EF4-FFF2-40B4-BE49-F238E27FC236}">
                <a16:creationId xmlns:a16="http://schemas.microsoft.com/office/drawing/2014/main" id="{413F020B-9990-98D1-3C82-C8ABC8D7B689}"/>
              </a:ext>
            </a:extLst>
          </p:cNvPr>
          <p:cNvSpPr txBox="1"/>
          <p:nvPr/>
        </p:nvSpPr>
        <p:spPr>
          <a:xfrm>
            <a:off x="1611935" y="2858784"/>
            <a:ext cx="898650" cy="246221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ETL</a:t>
            </a:r>
          </a:p>
        </p:txBody>
      </p:sp>
      <p:sp>
        <p:nvSpPr>
          <p:cNvPr id="218" name="BA_PWC2">
            <a:extLst>
              <a:ext uri="{FF2B5EF4-FFF2-40B4-BE49-F238E27FC236}">
                <a16:creationId xmlns:a16="http://schemas.microsoft.com/office/drawing/2014/main" id="{0AE2FECB-503C-8CB0-E84D-873333FE9402}"/>
              </a:ext>
            </a:extLst>
          </p:cNvPr>
          <p:cNvSpPr/>
          <p:nvPr/>
        </p:nvSpPr>
        <p:spPr>
          <a:xfrm>
            <a:off x="1715817" y="3076593"/>
            <a:ext cx="648000" cy="288000"/>
          </a:xfrm>
          <a:prstGeom prst="roundRect">
            <a:avLst/>
          </a:prstGeom>
          <a:solidFill>
            <a:srgbClr val="ED7D3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PWC2</a:t>
            </a:r>
            <a:endParaRPr kumimoji="0" lang="fr-FR" sz="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ETL PREDICA</a:t>
            </a:r>
          </a:p>
        </p:txBody>
      </p:sp>
      <p:sp>
        <p:nvSpPr>
          <p:cNvPr id="219" name="Légende_Date1">
            <a:extLst>
              <a:ext uri="{FF2B5EF4-FFF2-40B4-BE49-F238E27FC236}">
                <a16:creationId xmlns:a16="http://schemas.microsoft.com/office/drawing/2014/main" id="{4728AB5F-9147-228E-73DD-7D7D2160AF41}"/>
              </a:ext>
            </a:extLst>
          </p:cNvPr>
          <p:cNvSpPr txBox="1"/>
          <p:nvPr/>
        </p:nvSpPr>
        <p:spPr>
          <a:xfrm rot="19102564">
            <a:off x="7647306" y="559123"/>
            <a:ext cx="927160" cy="369332"/>
          </a:xfrm>
          <a:prstGeom prst="rect">
            <a:avLst/>
          </a:prstGeom>
          <a:noFill/>
          <a:ln cap="flat">
            <a:noFill/>
            <a:prstDash val="solid"/>
          </a:ln>
          <a:effectLst>
            <a:softEdge rad="0"/>
          </a:effectLst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900" b="0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Date de </a:t>
            </a:r>
            <a:r>
              <a:rPr kumimoji="0" lang="fr-FR" sz="900" b="0" i="0" u="none" strike="noStrike" kern="1200" cap="none" spc="0" normalizeH="0" baseline="0" noProof="0" dirty="0" err="1">
                <a:ln>
                  <a:noFill/>
                </a:ln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MeP</a:t>
            </a:r>
            <a:r>
              <a:rPr kumimoji="0" lang="fr-FR" sz="900" b="0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 prévue</a:t>
            </a:r>
          </a:p>
        </p:txBody>
      </p:sp>
      <p:sp>
        <p:nvSpPr>
          <p:cNvPr id="222" name="Légende_Date2">
            <a:extLst>
              <a:ext uri="{FF2B5EF4-FFF2-40B4-BE49-F238E27FC236}">
                <a16:creationId xmlns:a16="http://schemas.microsoft.com/office/drawing/2014/main" id="{0D5AC4C4-BBB3-890E-76AA-E34F19A78237}"/>
              </a:ext>
            </a:extLst>
          </p:cNvPr>
          <p:cNvSpPr txBox="1"/>
          <p:nvPr/>
        </p:nvSpPr>
        <p:spPr>
          <a:xfrm rot="19102564">
            <a:off x="8343008" y="568799"/>
            <a:ext cx="927160" cy="369332"/>
          </a:xfrm>
          <a:prstGeom prst="rect">
            <a:avLst/>
          </a:prstGeom>
          <a:noFill/>
          <a:ln cap="flat">
            <a:noFill/>
            <a:prstDash val="solid"/>
          </a:ln>
          <a:effectLst>
            <a:softEdge rad="0"/>
          </a:effectLst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900" b="0" i="0" u="none" strike="noStrike" kern="1200" cap="none" spc="0" normalizeH="0" baseline="0" noProof="0" dirty="0">
                <a:ln>
                  <a:noFill/>
                </a:ln>
                <a:solidFill>
                  <a:srgbClr val="70AD4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Date de </a:t>
            </a:r>
            <a:r>
              <a:rPr kumimoji="0" lang="fr-FR" sz="900" b="0" i="0" u="none" strike="noStrike" kern="1200" cap="none" spc="0" normalizeH="0" baseline="0" noProof="0" dirty="0" err="1">
                <a:ln>
                  <a:noFill/>
                </a:ln>
                <a:solidFill>
                  <a:srgbClr val="70AD4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MeP</a:t>
            </a:r>
            <a:r>
              <a:rPr kumimoji="0" lang="fr-FR" sz="900" b="0" i="0" u="none" strike="noStrike" kern="1200" cap="none" spc="0" normalizeH="0" baseline="0" noProof="0" dirty="0">
                <a:ln>
                  <a:noFill/>
                </a:ln>
                <a:solidFill>
                  <a:srgbClr val="70AD4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 effective</a:t>
            </a:r>
          </a:p>
        </p:txBody>
      </p:sp>
      <p:sp>
        <p:nvSpPr>
          <p:cNvPr id="223" name="Gr_CATS">
            <a:extLst>
              <a:ext uri="{FF2B5EF4-FFF2-40B4-BE49-F238E27FC236}">
                <a16:creationId xmlns:a16="http://schemas.microsoft.com/office/drawing/2014/main" id="{BB46D58C-C890-949C-B541-CB235480AA86}"/>
              </a:ext>
            </a:extLst>
          </p:cNvPr>
          <p:cNvSpPr/>
          <p:nvPr/>
        </p:nvSpPr>
        <p:spPr>
          <a:xfrm>
            <a:off x="447324" y="5119889"/>
            <a:ext cx="5579420" cy="1254012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4" name="ZT_CATS">
            <a:extLst>
              <a:ext uri="{FF2B5EF4-FFF2-40B4-BE49-F238E27FC236}">
                <a16:creationId xmlns:a16="http://schemas.microsoft.com/office/drawing/2014/main" id="{EA7CC79D-A7FF-2A9D-6A8B-4F523DEC1FE6}"/>
              </a:ext>
            </a:extLst>
          </p:cNvPr>
          <p:cNvSpPr txBox="1"/>
          <p:nvPr/>
        </p:nvSpPr>
        <p:spPr>
          <a:xfrm>
            <a:off x="370835" y="5083258"/>
            <a:ext cx="5409144" cy="246221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CA-TS</a:t>
            </a:r>
            <a:endParaRPr kumimoji="0" lang="fr-FR" sz="1000" b="1" i="1" u="none" strike="noStrike" kern="1200" cap="none" spc="0" normalizeH="0" baseline="0" noProof="0" dirty="0">
              <a:ln>
                <a:noFill/>
              </a:ln>
              <a:solidFill>
                <a:srgbClr val="7030A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5" name="BA_PDI9">
            <a:extLst>
              <a:ext uri="{FF2B5EF4-FFF2-40B4-BE49-F238E27FC236}">
                <a16:creationId xmlns:a16="http://schemas.microsoft.com/office/drawing/2014/main" id="{D82BB6F1-6D16-A299-031D-89525CE6541A}"/>
              </a:ext>
            </a:extLst>
          </p:cNvPr>
          <p:cNvSpPr/>
          <p:nvPr/>
        </p:nvSpPr>
        <p:spPr>
          <a:xfrm>
            <a:off x="506780" y="5666800"/>
            <a:ext cx="648000" cy="288000"/>
          </a:xfrm>
          <a:prstGeom prst="roundRect">
            <a:avLst/>
          </a:prstGeom>
          <a:solidFill>
            <a:srgbClr val="B6D3EC"/>
          </a:solidFill>
          <a:ln w="6350"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PDI9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6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/>
              </a:rPr>
              <a:t>-</a:t>
            </a:r>
            <a:endParaRPr kumimoji="0" lang="fr-FR" sz="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6" name="BA_XConnect">
            <a:extLst>
              <a:ext uri="{FF2B5EF4-FFF2-40B4-BE49-F238E27FC236}">
                <a16:creationId xmlns:a16="http://schemas.microsoft.com/office/drawing/2014/main" id="{913CB0F2-EFFE-5C03-7AEC-6F70235128FC}"/>
              </a:ext>
            </a:extLst>
          </p:cNvPr>
          <p:cNvSpPr/>
          <p:nvPr/>
        </p:nvSpPr>
        <p:spPr>
          <a:xfrm>
            <a:off x="1189563" y="5663009"/>
            <a:ext cx="648000" cy="288000"/>
          </a:xfrm>
          <a:prstGeom prst="roundRect">
            <a:avLst/>
          </a:prstGeom>
          <a:solidFill>
            <a:srgbClr val="B6D3EC"/>
          </a:solidFill>
          <a:ln w="6350"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Xconnect</a:t>
            </a:r>
            <a:endParaRPr kumimoji="0" lang="fr-FR" sz="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6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/>
              </a:rPr>
              <a:t>-</a:t>
            </a:r>
            <a:endParaRPr kumimoji="0" lang="fr-FR" sz="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7" name="BA_SIMM">
            <a:extLst>
              <a:ext uri="{FF2B5EF4-FFF2-40B4-BE49-F238E27FC236}">
                <a16:creationId xmlns:a16="http://schemas.microsoft.com/office/drawing/2014/main" id="{E7C94F0B-9DE2-97F0-AB79-5B24F8E914B5}"/>
              </a:ext>
            </a:extLst>
          </p:cNvPr>
          <p:cNvSpPr/>
          <p:nvPr/>
        </p:nvSpPr>
        <p:spPr>
          <a:xfrm>
            <a:off x="2557693" y="5660385"/>
            <a:ext cx="648000" cy="288000"/>
          </a:xfrm>
          <a:prstGeom prst="roundRect">
            <a:avLst/>
          </a:prstGeom>
          <a:solidFill>
            <a:srgbClr val="B6D3EC"/>
          </a:solidFill>
          <a:ln w="6350"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SIMM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6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/>
              </a:rPr>
              <a:t>-</a:t>
            </a:r>
            <a:endParaRPr kumimoji="0" lang="fr-FR" sz="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8" name="BA_BAM">
            <a:extLst>
              <a:ext uri="{FF2B5EF4-FFF2-40B4-BE49-F238E27FC236}">
                <a16:creationId xmlns:a16="http://schemas.microsoft.com/office/drawing/2014/main" id="{344AFBBE-FE06-2533-CF2F-552D4EBF467B}"/>
              </a:ext>
            </a:extLst>
          </p:cNvPr>
          <p:cNvSpPr/>
          <p:nvPr/>
        </p:nvSpPr>
        <p:spPr>
          <a:xfrm>
            <a:off x="2833493" y="5340532"/>
            <a:ext cx="648000" cy="288000"/>
          </a:xfrm>
          <a:prstGeom prst="roundRect">
            <a:avLst/>
          </a:prstGeom>
          <a:solidFill>
            <a:srgbClr val="B6D3EC"/>
          </a:solidFill>
          <a:ln w="6350"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BAM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6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/>
              </a:rPr>
              <a:t>-</a:t>
            </a:r>
            <a:endParaRPr kumimoji="0" lang="fr-FR" sz="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9" name="BA_RAC">
            <a:extLst>
              <a:ext uri="{FF2B5EF4-FFF2-40B4-BE49-F238E27FC236}">
                <a16:creationId xmlns:a16="http://schemas.microsoft.com/office/drawing/2014/main" id="{27EC7D36-B9E3-34BC-2BC7-527569C040DF}"/>
              </a:ext>
            </a:extLst>
          </p:cNvPr>
          <p:cNvSpPr/>
          <p:nvPr/>
        </p:nvSpPr>
        <p:spPr>
          <a:xfrm>
            <a:off x="4892893" y="5338051"/>
            <a:ext cx="648000" cy="288000"/>
          </a:xfrm>
          <a:prstGeom prst="roundRect">
            <a:avLst/>
          </a:prstGeom>
          <a:solidFill>
            <a:srgbClr val="B6D3EC"/>
          </a:solidFill>
          <a:ln w="6350"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RAC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6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/>
              </a:rPr>
              <a:t>-</a:t>
            </a:r>
            <a:endParaRPr kumimoji="0" lang="fr-FR" sz="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0" name="BA_DétContratNatifMB">
            <a:extLst>
              <a:ext uri="{FF2B5EF4-FFF2-40B4-BE49-F238E27FC236}">
                <a16:creationId xmlns:a16="http://schemas.microsoft.com/office/drawing/2014/main" id="{A92BE514-B791-A15A-A567-20B364919870}"/>
              </a:ext>
            </a:extLst>
          </p:cNvPr>
          <p:cNvSpPr/>
          <p:nvPr/>
        </p:nvSpPr>
        <p:spPr>
          <a:xfrm>
            <a:off x="506780" y="5329301"/>
            <a:ext cx="1326281" cy="288000"/>
          </a:xfrm>
          <a:prstGeom prst="roundRect">
            <a:avLst/>
          </a:prstGeom>
          <a:solidFill>
            <a:srgbClr val="B6D3EC"/>
          </a:solidFill>
          <a:ln w="6350"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Dét</a:t>
            </a: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. Contrat natif MB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6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/>
              </a:rPr>
              <a:t>-</a:t>
            </a:r>
            <a:endParaRPr kumimoji="0" lang="fr-FR" sz="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1" name="BA_BPM">
            <a:extLst>
              <a:ext uri="{FF2B5EF4-FFF2-40B4-BE49-F238E27FC236}">
                <a16:creationId xmlns:a16="http://schemas.microsoft.com/office/drawing/2014/main" id="{71AFA87D-1C7D-DF0D-0B7B-9F28B009BF83}"/>
              </a:ext>
            </a:extLst>
          </p:cNvPr>
          <p:cNvSpPr/>
          <p:nvPr/>
        </p:nvSpPr>
        <p:spPr>
          <a:xfrm>
            <a:off x="1875772" y="5663009"/>
            <a:ext cx="648000" cy="288000"/>
          </a:xfrm>
          <a:prstGeom prst="roundRect">
            <a:avLst/>
          </a:prstGeom>
          <a:solidFill>
            <a:srgbClr val="B6D3EC"/>
          </a:solidFill>
          <a:ln w="6350"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BPM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6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/>
              </a:rPr>
              <a:t>-</a:t>
            </a:r>
            <a:endParaRPr kumimoji="0" lang="fr-FR" sz="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2" name="BA_APX9">
            <a:extLst>
              <a:ext uri="{FF2B5EF4-FFF2-40B4-BE49-F238E27FC236}">
                <a16:creationId xmlns:a16="http://schemas.microsoft.com/office/drawing/2014/main" id="{A1450545-4226-C774-BDC9-976F730D97C5}"/>
              </a:ext>
            </a:extLst>
          </p:cNvPr>
          <p:cNvSpPr/>
          <p:nvPr/>
        </p:nvSpPr>
        <p:spPr>
          <a:xfrm>
            <a:off x="511818" y="6003252"/>
            <a:ext cx="648000" cy="288000"/>
          </a:xfrm>
          <a:prstGeom prst="roundRect">
            <a:avLst/>
          </a:prstGeom>
          <a:solidFill>
            <a:srgbClr val="B6D3EC"/>
          </a:solidFill>
          <a:ln w="6350"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APX9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6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/>
              </a:rPr>
              <a:t>-</a:t>
            </a:r>
            <a:endParaRPr kumimoji="0" lang="fr-FR" sz="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3" name="BA_HUB">
            <a:extLst>
              <a:ext uri="{FF2B5EF4-FFF2-40B4-BE49-F238E27FC236}">
                <a16:creationId xmlns:a16="http://schemas.microsoft.com/office/drawing/2014/main" id="{522836F3-CBA0-1423-0F54-38924AEF70C3}"/>
              </a:ext>
            </a:extLst>
          </p:cNvPr>
          <p:cNvSpPr/>
          <p:nvPr/>
        </p:nvSpPr>
        <p:spPr>
          <a:xfrm>
            <a:off x="3242082" y="5660385"/>
            <a:ext cx="648000" cy="288000"/>
          </a:xfrm>
          <a:prstGeom prst="roundRect">
            <a:avLst/>
          </a:prstGeom>
          <a:solidFill>
            <a:srgbClr val="B6D3EC"/>
          </a:solidFill>
          <a:ln w="6350"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HUB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6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/>
              </a:rPr>
              <a:t>-</a:t>
            </a:r>
            <a:endParaRPr kumimoji="0" lang="fr-FR" sz="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4" name="BA_NPC">
            <a:extLst>
              <a:ext uri="{FF2B5EF4-FFF2-40B4-BE49-F238E27FC236}">
                <a16:creationId xmlns:a16="http://schemas.microsoft.com/office/drawing/2014/main" id="{7069CA5F-D74E-980D-B131-7EB0965C3589}"/>
              </a:ext>
            </a:extLst>
          </p:cNvPr>
          <p:cNvSpPr/>
          <p:nvPr/>
        </p:nvSpPr>
        <p:spPr>
          <a:xfrm>
            <a:off x="3515693" y="5337169"/>
            <a:ext cx="648000" cy="288000"/>
          </a:xfrm>
          <a:prstGeom prst="roundRect">
            <a:avLst/>
          </a:prstGeom>
          <a:solidFill>
            <a:srgbClr val="B6D3EC"/>
          </a:solidFill>
          <a:ln w="6350"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NPC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6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/>
              </a:rPr>
              <a:t>-</a:t>
            </a:r>
            <a:endParaRPr kumimoji="0" lang="fr-FR" sz="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5" name="BA_Microservices">
            <a:extLst>
              <a:ext uri="{FF2B5EF4-FFF2-40B4-BE49-F238E27FC236}">
                <a16:creationId xmlns:a16="http://schemas.microsoft.com/office/drawing/2014/main" id="{68777AE4-B769-58F2-101A-BCBB6A563FA4}"/>
              </a:ext>
            </a:extLst>
          </p:cNvPr>
          <p:cNvSpPr/>
          <p:nvPr/>
        </p:nvSpPr>
        <p:spPr>
          <a:xfrm>
            <a:off x="1867224" y="5336000"/>
            <a:ext cx="925408" cy="288000"/>
          </a:xfrm>
          <a:prstGeom prst="roundRect">
            <a:avLst/>
          </a:prstGeom>
          <a:solidFill>
            <a:srgbClr val="B6D3EC"/>
          </a:solidFill>
          <a:ln w="6350"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Microservices</a:t>
            </a:r>
            <a:endParaRPr kumimoji="0" lang="fr-FR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6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/>
              </a:rPr>
              <a:t>-</a:t>
            </a:r>
            <a:endParaRPr kumimoji="0" lang="fr-FR" sz="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6" name="BA_SIG9">
            <a:extLst>
              <a:ext uri="{FF2B5EF4-FFF2-40B4-BE49-F238E27FC236}">
                <a16:creationId xmlns:a16="http://schemas.microsoft.com/office/drawing/2014/main" id="{5EAD170C-2BA9-7943-7F86-C390F730766D}"/>
              </a:ext>
            </a:extLst>
          </p:cNvPr>
          <p:cNvSpPr/>
          <p:nvPr/>
        </p:nvSpPr>
        <p:spPr>
          <a:xfrm>
            <a:off x="4203138" y="5331299"/>
            <a:ext cx="648000" cy="288000"/>
          </a:xfrm>
          <a:prstGeom prst="roundRect">
            <a:avLst/>
          </a:prstGeom>
          <a:solidFill>
            <a:srgbClr val="B6D3EC"/>
          </a:solidFill>
          <a:ln w="6350"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SIG9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6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/>
              </a:rPr>
              <a:t>-</a:t>
            </a:r>
            <a:endParaRPr kumimoji="0" lang="fr-FR" sz="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7" name="Gr_MVS">
            <a:extLst>
              <a:ext uri="{FF2B5EF4-FFF2-40B4-BE49-F238E27FC236}">
                <a16:creationId xmlns:a16="http://schemas.microsoft.com/office/drawing/2014/main" id="{EEC40D6A-CE81-29CC-414E-03F006789220}"/>
              </a:ext>
            </a:extLst>
          </p:cNvPr>
          <p:cNvSpPr/>
          <p:nvPr/>
        </p:nvSpPr>
        <p:spPr>
          <a:xfrm>
            <a:off x="560497" y="1111645"/>
            <a:ext cx="2901105" cy="1661382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  <a:effectLst>
            <a:outerShdw blurRad="50800" dist="38100" dir="2700000" algn="ctr" rotWithShape="0">
              <a:schemeClr val="tx1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/>
            </a:endParaRPr>
          </a:p>
        </p:txBody>
      </p:sp>
      <p:sp>
        <p:nvSpPr>
          <p:cNvPr id="238" name="BA_CICS_LCL">
            <a:extLst>
              <a:ext uri="{FF2B5EF4-FFF2-40B4-BE49-F238E27FC236}">
                <a16:creationId xmlns:a16="http://schemas.microsoft.com/office/drawing/2014/main" id="{6C5655BB-4FC3-2FAC-AB71-B54D7C03C9C7}"/>
              </a:ext>
            </a:extLst>
          </p:cNvPr>
          <p:cNvSpPr/>
          <p:nvPr/>
        </p:nvSpPr>
        <p:spPr>
          <a:xfrm>
            <a:off x="623669" y="1641943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CICS</a:t>
            </a:r>
          </a:p>
        </p:txBody>
      </p:sp>
      <p:sp>
        <p:nvSpPr>
          <p:cNvPr id="239" name="BA_DB2_LCL">
            <a:extLst>
              <a:ext uri="{FF2B5EF4-FFF2-40B4-BE49-F238E27FC236}">
                <a16:creationId xmlns:a16="http://schemas.microsoft.com/office/drawing/2014/main" id="{AABEC84B-BA34-594F-3EF7-6C02A846C175}"/>
              </a:ext>
            </a:extLst>
          </p:cNvPr>
          <p:cNvSpPr/>
          <p:nvPr/>
        </p:nvSpPr>
        <p:spPr>
          <a:xfrm>
            <a:off x="1307275" y="1641222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DB2</a:t>
            </a:r>
          </a:p>
        </p:txBody>
      </p:sp>
      <p:sp>
        <p:nvSpPr>
          <p:cNvPr id="240" name="ZT_MVS">
            <a:extLst>
              <a:ext uri="{FF2B5EF4-FFF2-40B4-BE49-F238E27FC236}">
                <a16:creationId xmlns:a16="http://schemas.microsoft.com/office/drawing/2014/main" id="{8BE87131-EDD5-E7B2-0C6A-3407AE21B6AA}"/>
              </a:ext>
            </a:extLst>
          </p:cNvPr>
          <p:cNvSpPr txBox="1"/>
          <p:nvPr/>
        </p:nvSpPr>
        <p:spPr>
          <a:xfrm>
            <a:off x="560496" y="1111645"/>
            <a:ext cx="2901106" cy="246221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MVS Z/OS (</a:t>
            </a:r>
            <a:r>
              <a:rPr kumimoji="0" lang="fr-FR" sz="1000" b="1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Ingenium</a:t>
            </a:r>
            <a:r>
              <a:rPr kumimoji="0" lang="fr-FR" sz="1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)</a:t>
            </a:r>
            <a:endParaRPr kumimoji="0" lang="fr-FR" sz="1000" b="1" i="1" u="none" strike="noStrike" kern="1200" cap="none" spc="0" normalizeH="0" baseline="0" noProof="0" dirty="0">
              <a:ln>
                <a:noFill/>
              </a:ln>
              <a:solidFill>
                <a:srgbClr val="ED7D3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1" name="BA_ING_CA">
            <a:extLst>
              <a:ext uri="{FF2B5EF4-FFF2-40B4-BE49-F238E27FC236}">
                <a16:creationId xmlns:a16="http://schemas.microsoft.com/office/drawing/2014/main" id="{441F6204-6346-D283-8190-F957E69E7D39}"/>
              </a:ext>
            </a:extLst>
          </p:cNvPr>
          <p:cNvSpPr/>
          <p:nvPr/>
        </p:nvSpPr>
        <p:spPr>
          <a:xfrm>
            <a:off x="2027544" y="1970146"/>
            <a:ext cx="648000" cy="288000"/>
          </a:xfrm>
          <a:prstGeom prst="roundRect">
            <a:avLst/>
          </a:prstGeom>
          <a:solidFill>
            <a:srgbClr val="ED7D3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INVI/VC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Ingenium</a:t>
            </a: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 CA</a:t>
            </a:r>
          </a:p>
        </p:txBody>
      </p:sp>
      <p:sp>
        <p:nvSpPr>
          <p:cNvPr id="242" name="BA_PE_CA">
            <a:extLst>
              <a:ext uri="{FF2B5EF4-FFF2-40B4-BE49-F238E27FC236}">
                <a16:creationId xmlns:a16="http://schemas.microsoft.com/office/drawing/2014/main" id="{9AD01708-A3D2-5F88-CBA2-B07B490B1DFF}"/>
              </a:ext>
            </a:extLst>
          </p:cNvPr>
          <p:cNvSpPr/>
          <p:nvPr/>
        </p:nvSpPr>
        <p:spPr>
          <a:xfrm>
            <a:off x="2716487" y="1971824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PE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Base Pers CA</a:t>
            </a:r>
          </a:p>
        </p:txBody>
      </p:sp>
      <p:sp>
        <p:nvSpPr>
          <p:cNvPr id="243" name="BA_Autre_CA">
            <a:extLst>
              <a:ext uri="{FF2B5EF4-FFF2-40B4-BE49-F238E27FC236}">
                <a16:creationId xmlns:a16="http://schemas.microsoft.com/office/drawing/2014/main" id="{8D3DC29B-22F9-A353-9663-4CECCE811AC5}"/>
              </a:ext>
            </a:extLst>
          </p:cNvPr>
          <p:cNvSpPr/>
          <p:nvPr/>
        </p:nvSpPr>
        <p:spPr>
          <a:xfrm>
            <a:off x="2377796" y="2309491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…</a:t>
            </a:r>
          </a:p>
        </p:txBody>
      </p:sp>
      <p:sp>
        <p:nvSpPr>
          <p:cNvPr id="244" name="BA_ING_LCL">
            <a:extLst>
              <a:ext uri="{FF2B5EF4-FFF2-40B4-BE49-F238E27FC236}">
                <a16:creationId xmlns:a16="http://schemas.microsoft.com/office/drawing/2014/main" id="{68982B37-1994-381D-D151-2C5EE105D4F9}"/>
              </a:ext>
            </a:extLst>
          </p:cNvPr>
          <p:cNvSpPr/>
          <p:nvPr/>
        </p:nvSpPr>
        <p:spPr>
          <a:xfrm>
            <a:off x="619469" y="1964817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INVI/VC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Ingenium</a:t>
            </a: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 LCL</a:t>
            </a:r>
          </a:p>
        </p:txBody>
      </p:sp>
      <p:sp>
        <p:nvSpPr>
          <p:cNvPr id="245" name="BA_PE_LCL">
            <a:extLst>
              <a:ext uri="{FF2B5EF4-FFF2-40B4-BE49-F238E27FC236}">
                <a16:creationId xmlns:a16="http://schemas.microsoft.com/office/drawing/2014/main" id="{18641630-47A7-AE0A-93C2-DB50D7C59CB3}"/>
              </a:ext>
            </a:extLst>
          </p:cNvPr>
          <p:cNvSpPr/>
          <p:nvPr/>
        </p:nvSpPr>
        <p:spPr>
          <a:xfrm>
            <a:off x="1305439" y="1963152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PE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Base Pers LCL</a:t>
            </a:r>
          </a:p>
        </p:txBody>
      </p:sp>
      <p:sp>
        <p:nvSpPr>
          <p:cNvPr id="246" name="BA_Autre_LCL">
            <a:extLst>
              <a:ext uri="{FF2B5EF4-FFF2-40B4-BE49-F238E27FC236}">
                <a16:creationId xmlns:a16="http://schemas.microsoft.com/office/drawing/2014/main" id="{88E19460-DA71-CAF8-A79D-3BD3A24AE828}"/>
              </a:ext>
            </a:extLst>
          </p:cNvPr>
          <p:cNvSpPr/>
          <p:nvPr/>
        </p:nvSpPr>
        <p:spPr>
          <a:xfrm>
            <a:off x="1010215" y="2285082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…</a:t>
            </a:r>
          </a:p>
        </p:txBody>
      </p:sp>
      <p:cxnSp>
        <p:nvCxnSpPr>
          <p:cNvPr id="247" name="Connecteur droit">
            <a:extLst>
              <a:ext uri="{FF2B5EF4-FFF2-40B4-BE49-F238E27FC236}">
                <a16:creationId xmlns:a16="http://schemas.microsoft.com/office/drawing/2014/main" id="{B7690DBF-4A19-0522-0E54-8287971D1460}"/>
              </a:ext>
            </a:extLst>
          </p:cNvPr>
          <p:cNvCxnSpPr/>
          <p:nvPr/>
        </p:nvCxnSpPr>
        <p:spPr>
          <a:xfrm>
            <a:off x="1984365" y="1430388"/>
            <a:ext cx="4993" cy="1220450"/>
          </a:xfrm>
          <a:prstGeom prst="line">
            <a:avLst/>
          </a:prstGeom>
          <a:ln w="9525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8" name="ZT_CA">
            <a:extLst>
              <a:ext uri="{FF2B5EF4-FFF2-40B4-BE49-F238E27FC236}">
                <a16:creationId xmlns:a16="http://schemas.microsoft.com/office/drawing/2014/main" id="{65A0D140-B4A9-A070-6618-B15EB0A7761B}"/>
              </a:ext>
            </a:extLst>
          </p:cNvPr>
          <p:cNvSpPr txBox="1"/>
          <p:nvPr/>
        </p:nvSpPr>
        <p:spPr>
          <a:xfrm>
            <a:off x="2418813" y="1371697"/>
            <a:ext cx="551086" cy="246221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CA</a:t>
            </a:r>
            <a:endParaRPr kumimoji="0" lang="fr-FR" sz="1000" b="1" i="1" u="none" strike="noStrike" kern="1200" cap="none" spc="0" normalizeH="0" baseline="0" noProof="0" dirty="0">
              <a:ln>
                <a:noFill/>
              </a:ln>
              <a:solidFill>
                <a:srgbClr val="ED7D3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9" name="ZT_LCL">
            <a:extLst>
              <a:ext uri="{FF2B5EF4-FFF2-40B4-BE49-F238E27FC236}">
                <a16:creationId xmlns:a16="http://schemas.microsoft.com/office/drawing/2014/main" id="{0B86C4D2-90C8-5BA1-4B82-45CBA200D1EA}"/>
              </a:ext>
            </a:extLst>
          </p:cNvPr>
          <p:cNvSpPr txBox="1"/>
          <p:nvPr/>
        </p:nvSpPr>
        <p:spPr>
          <a:xfrm>
            <a:off x="1032399" y="1378099"/>
            <a:ext cx="551086" cy="246221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LCL</a:t>
            </a:r>
            <a:endParaRPr kumimoji="0" lang="fr-FR" sz="1000" b="1" i="1" u="none" strike="noStrike" kern="1200" cap="none" spc="0" normalizeH="0" baseline="0" noProof="0" dirty="0">
              <a:ln>
                <a:noFill/>
              </a:ln>
              <a:solidFill>
                <a:srgbClr val="ED7D3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0" name="BA_CICS_CA">
            <a:extLst>
              <a:ext uri="{FF2B5EF4-FFF2-40B4-BE49-F238E27FC236}">
                <a16:creationId xmlns:a16="http://schemas.microsoft.com/office/drawing/2014/main" id="{56119D58-7D31-630D-A2F1-110C88C33CBE}"/>
              </a:ext>
            </a:extLst>
          </p:cNvPr>
          <p:cNvSpPr/>
          <p:nvPr/>
        </p:nvSpPr>
        <p:spPr>
          <a:xfrm>
            <a:off x="2021573" y="1646459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CICS</a:t>
            </a:r>
          </a:p>
        </p:txBody>
      </p:sp>
      <p:sp>
        <p:nvSpPr>
          <p:cNvPr id="251" name="BA_DB2_CA">
            <a:extLst>
              <a:ext uri="{FF2B5EF4-FFF2-40B4-BE49-F238E27FC236}">
                <a16:creationId xmlns:a16="http://schemas.microsoft.com/office/drawing/2014/main" id="{74DD2367-AC32-57A1-4D93-F5ACCC6E90EB}"/>
              </a:ext>
            </a:extLst>
          </p:cNvPr>
          <p:cNvSpPr/>
          <p:nvPr/>
        </p:nvSpPr>
        <p:spPr>
          <a:xfrm>
            <a:off x="2717879" y="1645738"/>
            <a:ext cx="648000" cy="288000"/>
          </a:xfrm>
          <a:prstGeom prst="round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DB2</a:t>
            </a:r>
          </a:p>
        </p:txBody>
      </p:sp>
      <p:sp>
        <p:nvSpPr>
          <p:cNvPr id="252" name="BA_GG">
            <a:extLst>
              <a:ext uri="{FF2B5EF4-FFF2-40B4-BE49-F238E27FC236}">
                <a16:creationId xmlns:a16="http://schemas.microsoft.com/office/drawing/2014/main" id="{8F7C5859-04BA-4D06-1226-3800C54414C2}"/>
              </a:ext>
            </a:extLst>
          </p:cNvPr>
          <p:cNvSpPr/>
          <p:nvPr/>
        </p:nvSpPr>
        <p:spPr>
          <a:xfrm>
            <a:off x="5540187" y="2498620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GG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Sim.Prév</a:t>
            </a: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. Décès</a:t>
            </a:r>
          </a:p>
        </p:txBody>
      </p:sp>
      <p:sp>
        <p:nvSpPr>
          <p:cNvPr id="253" name="BA_GH">
            <a:extLst>
              <a:ext uri="{FF2B5EF4-FFF2-40B4-BE49-F238E27FC236}">
                <a16:creationId xmlns:a16="http://schemas.microsoft.com/office/drawing/2014/main" id="{3A6DF402-2A0A-B871-7338-8A2C48243E61}"/>
              </a:ext>
            </a:extLst>
          </p:cNvPr>
          <p:cNvSpPr/>
          <p:nvPr/>
        </p:nvSpPr>
        <p:spPr>
          <a:xfrm>
            <a:off x="6247379" y="2507699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GH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Moteur </a:t>
            </a:r>
            <a:r>
              <a:rPr kumimoji="0" lang="fr-FR" sz="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Epicaste</a:t>
            </a:r>
            <a:endParaRPr kumimoji="0" lang="fr-FR" sz="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4" name="Gr_Editique">
            <a:extLst>
              <a:ext uri="{FF2B5EF4-FFF2-40B4-BE49-F238E27FC236}">
                <a16:creationId xmlns:a16="http://schemas.microsoft.com/office/drawing/2014/main" id="{170B972A-0DB4-80B5-F59B-8D3394AB43AD}"/>
              </a:ext>
            </a:extLst>
          </p:cNvPr>
          <p:cNvSpPr/>
          <p:nvPr/>
        </p:nvSpPr>
        <p:spPr>
          <a:xfrm>
            <a:off x="6994566" y="3106138"/>
            <a:ext cx="754043" cy="61200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  <a:effectLst>
            <a:outerShdw blurRad="50800" dist="38100" dir="2700000" algn="ctr" rotWithShape="0">
              <a:schemeClr val="tx1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/>
            </a:endParaRPr>
          </a:p>
        </p:txBody>
      </p:sp>
      <p:sp>
        <p:nvSpPr>
          <p:cNvPr id="255" name="ZT_Editique">
            <a:extLst>
              <a:ext uri="{FF2B5EF4-FFF2-40B4-BE49-F238E27FC236}">
                <a16:creationId xmlns:a16="http://schemas.microsoft.com/office/drawing/2014/main" id="{3D7A5373-2F9C-6ED5-376B-3E7481422B69}"/>
              </a:ext>
            </a:extLst>
          </p:cNvPr>
          <p:cNvSpPr txBox="1"/>
          <p:nvPr/>
        </p:nvSpPr>
        <p:spPr>
          <a:xfrm>
            <a:off x="6967388" y="3133723"/>
            <a:ext cx="781221" cy="246221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Editique</a:t>
            </a:r>
          </a:p>
        </p:txBody>
      </p:sp>
      <p:sp>
        <p:nvSpPr>
          <p:cNvPr id="256" name="BA_ONDM">
            <a:extLst>
              <a:ext uri="{FF2B5EF4-FFF2-40B4-BE49-F238E27FC236}">
                <a16:creationId xmlns:a16="http://schemas.microsoft.com/office/drawing/2014/main" id="{44C094D0-E4F1-A721-A01C-BD1099BA9470}"/>
              </a:ext>
            </a:extLst>
          </p:cNvPr>
          <p:cNvSpPr/>
          <p:nvPr/>
        </p:nvSpPr>
        <p:spPr>
          <a:xfrm>
            <a:off x="7053165" y="3363079"/>
            <a:ext cx="648000" cy="276281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ONDM</a:t>
            </a:r>
            <a:endParaRPr kumimoji="0" lang="fr-FR" sz="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On </a:t>
            </a:r>
            <a:r>
              <a:rPr kumimoji="0" lang="fr-FR" sz="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Demand</a:t>
            </a:r>
            <a:endParaRPr kumimoji="0" lang="fr-FR" sz="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257" name="Groupe_Retour">
            <a:extLst>
              <a:ext uri="{FF2B5EF4-FFF2-40B4-BE49-F238E27FC236}">
                <a16:creationId xmlns:a16="http://schemas.microsoft.com/office/drawing/2014/main" id="{F2038AF8-4644-245E-7310-A37973972786}"/>
              </a:ext>
            </a:extLst>
          </p:cNvPr>
          <p:cNvGrpSpPr/>
          <p:nvPr/>
        </p:nvGrpSpPr>
        <p:grpSpPr>
          <a:xfrm>
            <a:off x="0" y="0"/>
            <a:ext cx="1417975" cy="461665"/>
            <a:chOff x="0" y="0"/>
            <a:chExt cx="1417975" cy="461665"/>
          </a:xfrm>
        </p:grpSpPr>
        <p:sp>
          <p:nvSpPr>
            <p:cNvPr id="258" name="Rectangle 257">
              <a:hlinkClick r:id="rId3" action="ppaction://hlinksldjump"/>
              <a:extLst>
                <a:ext uri="{FF2B5EF4-FFF2-40B4-BE49-F238E27FC236}">
                  <a16:creationId xmlns:a16="http://schemas.microsoft.com/office/drawing/2014/main" id="{159DF97A-1DDD-9DC9-092E-9240161EE699}"/>
                </a:ext>
              </a:extLst>
            </p:cNvPr>
            <p:cNvSpPr/>
            <p:nvPr/>
          </p:nvSpPr>
          <p:spPr>
            <a:xfrm>
              <a:off x="0" y="0"/>
              <a:ext cx="768479" cy="461665"/>
            </a:xfrm>
            <a:prstGeom prst="rect">
              <a:avLst/>
            </a:prstGeom>
            <a:noFill/>
          </p:spPr>
          <p:txBody>
            <a:bodyPr wrap="square" lIns="91440" tIns="45720" rIns="91440" bIns="45720" anchor="ctr">
              <a:spAutoFit/>
            </a:bodyPr>
            <a:lstStyle/>
            <a:p>
              <a:pPr algn="ctr"/>
              <a:r>
                <a:rPr lang="fr-FR" sz="2400" b="1" spc="50" dirty="0">
                  <a:ln w="9525" cmpd="sng">
                    <a:solidFill>
                      <a:schemeClr val="accent1"/>
                    </a:solidFill>
                    <a:prstDash val="solid"/>
                  </a:ln>
                  <a:solidFill>
                    <a:srgbClr val="70AD47">
                      <a:tint val="1000"/>
                    </a:srgbClr>
                  </a:solidFill>
                  <a:effectLst>
                    <a:glow rad="38100">
                      <a:schemeClr val="accent1">
                        <a:alpha val="40000"/>
                      </a:schemeClr>
                    </a:glow>
                  </a:effectLst>
                  <a:latin typeface="HoloLens MDL2 Assets" panose="050A0102010101010101" pitchFamily="18" charset="0"/>
                </a:rPr>
                <a:t></a:t>
              </a:r>
              <a:endParaRPr lang="fr-FR" sz="1400" dirty="0">
                <a:solidFill>
                  <a:srgbClr val="5B9BD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/>
              </a:endParaRPr>
            </a:p>
          </p:txBody>
        </p:sp>
        <p:sp>
          <p:nvSpPr>
            <p:cNvPr id="259" name="ZoneTexte 258">
              <a:extLst>
                <a:ext uri="{FF2B5EF4-FFF2-40B4-BE49-F238E27FC236}">
                  <a16:creationId xmlns:a16="http://schemas.microsoft.com/office/drawing/2014/main" id="{E99DB9DD-D017-C2CA-EBCE-E589D3B949D6}"/>
                </a:ext>
              </a:extLst>
            </p:cNvPr>
            <p:cNvSpPr txBox="1"/>
            <p:nvPr/>
          </p:nvSpPr>
          <p:spPr>
            <a:xfrm>
              <a:off x="525450" y="71273"/>
              <a:ext cx="89252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1400" dirty="0">
                  <a:solidFill>
                    <a:srgbClr val="5B9BD5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libri" panose="020F0502020204030204"/>
                </a:rPr>
                <a:t>Retour</a:t>
              </a:r>
              <a:endParaRPr lang="fr-FR" sz="1400" dirty="0"/>
            </a:p>
          </p:txBody>
        </p:sp>
      </p:grpSp>
      <p:sp>
        <p:nvSpPr>
          <p:cNvPr id="260" name="BA_PW">
            <a:extLst>
              <a:ext uri="{FF2B5EF4-FFF2-40B4-BE49-F238E27FC236}">
                <a16:creationId xmlns:a16="http://schemas.microsoft.com/office/drawing/2014/main" id="{F0C51F0B-1F2F-0281-9EBB-DF86DD9B64EA}"/>
              </a:ext>
            </a:extLst>
          </p:cNvPr>
          <p:cNvSpPr/>
          <p:nvPr/>
        </p:nvSpPr>
        <p:spPr>
          <a:xfrm>
            <a:off x="4517645" y="1819606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PW</a:t>
            </a:r>
            <a:br>
              <a:rPr lang="fr-FR" sz="10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/>
              </a:rPr>
            </a:b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SFC</a:t>
            </a:r>
          </a:p>
        </p:txBody>
      </p:sp>
      <p:sp>
        <p:nvSpPr>
          <p:cNvPr id="2" name="Étoile à 5 branches">
            <a:extLst>
              <a:ext uri="{FF2B5EF4-FFF2-40B4-BE49-F238E27FC236}">
                <a16:creationId xmlns:a16="http://schemas.microsoft.com/office/drawing/2014/main" id="{238FF3AB-CA3A-7C4A-375D-66A05018F1B4}"/>
              </a:ext>
            </a:extLst>
          </p:cNvPr>
          <p:cNvSpPr/>
          <p:nvPr/>
        </p:nvSpPr>
        <p:spPr>
          <a:xfrm>
            <a:off x="9368151" y="554532"/>
            <a:ext cx="108000" cy="108000"/>
          </a:xfrm>
          <a:prstGeom prst="star5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Légende_Nouveau_Bloc">
            <a:extLst>
              <a:ext uri="{FF2B5EF4-FFF2-40B4-BE49-F238E27FC236}">
                <a16:creationId xmlns:a16="http://schemas.microsoft.com/office/drawing/2014/main" id="{57C9277C-D1F2-A8FF-56CF-68731356FA89}"/>
              </a:ext>
            </a:extLst>
          </p:cNvPr>
          <p:cNvSpPr txBox="1"/>
          <p:nvPr/>
        </p:nvSpPr>
        <p:spPr>
          <a:xfrm>
            <a:off x="9464720" y="491658"/>
            <a:ext cx="934871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Nouveau bloc</a:t>
            </a:r>
          </a:p>
        </p:txBody>
      </p:sp>
      <p:sp>
        <p:nvSpPr>
          <p:cNvPr id="4" name="Légende_Nouveau_Bloc">
            <a:extLst>
              <a:ext uri="{FF2B5EF4-FFF2-40B4-BE49-F238E27FC236}">
                <a16:creationId xmlns:a16="http://schemas.microsoft.com/office/drawing/2014/main" id="{57731239-398B-D16C-AC72-4928D9440E1B}"/>
              </a:ext>
            </a:extLst>
          </p:cNvPr>
          <p:cNvSpPr txBox="1"/>
          <p:nvPr/>
        </p:nvSpPr>
        <p:spPr>
          <a:xfrm>
            <a:off x="9467926" y="723619"/>
            <a:ext cx="963725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Bloc supprimé</a:t>
            </a:r>
          </a:p>
        </p:txBody>
      </p:sp>
      <p:sp>
        <p:nvSpPr>
          <p:cNvPr id="5" name="Croix 4">
            <a:extLst>
              <a:ext uri="{FF2B5EF4-FFF2-40B4-BE49-F238E27FC236}">
                <a16:creationId xmlns:a16="http://schemas.microsoft.com/office/drawing/2014/main" id="{45FC4EF3-C6F2-6F91-5795-0D0001AD4C12}"/>
              </a:ext>
            </a:extLst>
          </p:cNvPr>
          <p:cNvSpPr/>
          <p:nvPr/>
        </p:nvSpPr>
        <p:spPr>
          <a:xfrm rot="2700000">
            <a:off x="9371629" y="785103"/>
            <a:ext cx="108000" cy="108000"/>
          </a:xfrm>
          <a:prstGeom prst="plus">
            <a:avLst>
              <a:gd name="adj" fmla="val 45756"/>
            </a:avLst>
          </a:prstGeom>
          <a:solidFill>
            <a:schemeClr val="tx1"/>
          </a:solidFill>
          <a:ln>
            <a:solidFill>
              <a:srgbClr val="FF0000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BA_GH">
            <a:extLst>
              <a:ext uri="{FF2B5EF4-FFF2-40B4-BE49-F238E27FC236}">
                <a16:creationId xmlns:a16="http://schemas.microsoft.com/office/drawing/2014/main" id="{C756A1BF-98AC-DABD-E8B0-497CF48F6146}"/>
              </a:ext>
            </a:extLst>
          </p:cNvPr>
          <p:cNvSpPr/>
          <p:nvPr/>
        </p:nvSpPr>
        <p:spPr>
          <a:xfrm>
            <a:off x="6247379" y="1786384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HJ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Contenus statiques</a:t>
            </a:r>
          </a:p>
        </p:txBody>
      </p:sp>
      <p:sp>
        <p:nvSpPr>
          <p:cNvPr id="16" name="BA_H4">
            <a:extLst>
              <a:ext uri="{FF2B5EF4-FFF2-40B4-BE49-F238E27FC236}">
                <a16:creationId xmlns:a16="http://schemas.microsoft.com/office/drawing/2014/main" id="{6FF24B01-2FFD-F2D4-A3BD-9468F43525E5}"/>
              </a:ext>
            </a:extLst>
          </p:cNvPr>
          <p:cNvSpPr/>
          <p:nvPr/>
        </p:nvSpPr>
        <p:spPr>
          <a:xfrm>
            <a:off x="9490384" y="2374473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H4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API VR </a:t>
            </a:r>
            <a:r>
              <a:rPr kumimoji="0" lang="fr-FR" sz="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Selfcare</a:t>
            </a:r>
            <a:endParaRPr kumimoji="0" lang="fr-FR" sz="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BA_HH">
            <a:extLst>
              <a:ext uri="{FF2B5EF4-FFF2-40B4-BE49-F238E27FC236}">
                <a16:creationId xmlns:a16="http://schemas.microsoft.com/office/drawing/2014/main" id="{FC12CB58-59BD-B7F3-577D-5BD01345F884}"/>
              </a:ext>
            </a:extLst>
          </p:cNvPr>
          <p:cNvSpPr/>
          <p:nvPr/>
        </p:nvSpPr>
        <p:spPr>
          <a:xfrm>
            <a:off x="10160477" y="2374473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HH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API Sim. épargne</a:t>
            </a:r>
          </a:p>
        </p:txBody>
      </p:sp>
      <p:sp>
        <p:nvSpPr>
          <p:cNvPr id="23" name="Gr_LCL">
            <a:extLst>
              <a:ext uri="{FF2B5EF4-FFF2-40B4-BE49-F238E27FC236}">
                <a16:creationId xmlns:a16="http://schemas.microsoft.com/office/drawing/2014/main" id="{C60E3A34-3115-E980-424A-2AA388D858A8}"/>
              </a:ext>
            </a:extLst>
          </p:cNvPr>
          <p:cNvSpPr/>
          <p:nvPr/>
        </p:nvSpPr>
        <p:spPr>
          <a:xfrm>
            <a:off x="6075866" y="5122749"/>
            <a:ext cx="5632947" cy="1248594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/>
            </a:endParaRPr>
          </a:p>
        </p:txBody>
      </p:sp>
      <p:sp>
        <p:nvSpPr>
          <p:cNvPr id="24" name="ZT_CATS">
            <a:extLst>
              <a:ext uri="{FF2B5EF4-FFF2-40B4-BE49-F238E27FC236}">
                <a16:creationId xmlns:a16="http://schemas.microsoft.com/office/drawing/2014/main" id="{5E6B3B54-975B-5203-74D7-2B102BBADB57}"/>
              </a:ext>
            </a:extLst>
          </p:cNvPr>
          <p:cNvSpPr txBox="1"/>
          <p:nvPr/>
        </p:nvSpPr>
        <p:spPr>
          <a:xfrm>
            <a:off x="6122619" y="5107819"/>
            <a:ext cx="5399528" cy="246221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LCL</a:t>
            </a:r>
            <a:endParaRPr kumimoji="0" lang="fr-FR" sz="1000" b="1" i="1" u="none" strike="noStrike" kern="1200" cap="none" spc="0" normalizeH="0" baseline="0" noProof="0" dirty="0">
              <a:ln>
                <a:noFill/>
              </a:ln>
              <a:solidFill>
                <a:srgbClr val="7030A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BA_BEL">
            <a:extLst>
              <a:ext uri="{FF2B5EF4-FFF2-40B4-BE49-F238E27FC236}">
                <a16:creationId xmlns:a16="http://schemas.microsoft.com/office/drawing/2014/main" id="{A4B4D770-7D4E-F102-84D0-7AB1FC7FB67F}"/>
              </a:ext>
            </a:extLst>
          </p:cNvPr>
          <p:cNvSpPr/>
          <p:nvPr/>
        </p:nvSpPr>
        <p:spPr>
          <a:xfrm>
            <a:off x="6135322" y="5643027"/>
            <a:ext cx="648000" cy="288000"/>
          </a:xfrm>
          <a:prstGeom prst="roundRect">
            <a:avLst/>
          </a:prstGeom>
          <a:solidFill>
            <a:srgbClr val="B6D3EC"/>
          </a:solidFill>
          <a:ln w="6350">
            <a:solidFill>
              <a:schemeClr val="accent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0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/>
              </a:rPr>
              <a:t>BEL</a:t>
            </a:r>
          </a:p>
          <a:p>
            <a:pPr algn="ctr"/>
            <a:r>
              <a:rPr lang="fr-FR" sz="10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/>
              </a:rPr>
              <a:t>-</a:t>
            </a:r>
          </a:p>
        </p:txBody>
      </p:sp>
      <p:sp>
        <p:nvSpPr>
          <p:cNvPr id="26" name="BA_Docapost">
            <a:extLst>
              <a:ext uri="{FF2B5EF4-FFF2-40B4-BE49-F238E27FC236}">
                <a16:creationId xmlns:a16="http://schemas.microsoft.com/office/drawing/2014/main" id="{DFDA15AC-E8CE-00FB-A918-3E7641AA7375}"/>
              </a:ext>
            </a:extLst>
          </p:cNvPr>
          <p:cNvSpPr/>
          <p:nvPr/>
        </p:nvSpPr>
        <p:spPr>
          <a:xfrm>
            <a:off x="6145849" y="5987729"/>
            <a:ext cx="648000" cy="288000"/>
          </a:xfrm>
          <a:prstGeom prst="roundRect">
            <a:avLst/>
          </a:prstGeom>
          <a:solidFill>
            <a:srgbClr val="B6D3EC"/>
          </a:solidFill>
          <a:ln w="6350">
            <a:solidFill>
              <a:schemeClr val="accent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0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/>
              </a:rPr>
              <a:t>Docapost</a:t>
            </a:r>
          </a:p>
          <a:p>
            <a:pPr algn="ctr"/>
            <a:r>
              <a:rPr lang="fr-FR" sz="10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/>
              </a:rPr>
              <a:t>-</a:t>
            </a:r>
          </a:p>
        </p:txBody>
      </p:sp>
      <p:sp>
        <p:nvSpPr>
          <p:cNvPr id="30" name="BA_Mescomptes">
            <a:extLst>
              <a:ext uri="{FF2B5EF4-FFF2-40B4-BE49-F238E27FC236}">
                <a16:creationId xmlns:a16="http://schemas.microsoft.com/office/drawing/2014/main" id="{8AB57F4F-AF87-CE97-1E3A-A22BB3A1C714}"/>
              </a:ext>
            </a:extLst>
          </p:cNvPr>
          <p:cNvSpPr/>
          <p:nvPr/>
        </p:nvSpPr>
        <p:spPr>
          <a:xfrm>
            <a:off x="6135322" y="5323284"/>
            <a:ext cx="1326281" cy="288000"/>
          </a:xfrm>
          <a:prstGeom prst="roundRect">
            <a:avLst/>
          </a:prstGeom>
          <a:solidFill>
            <a:srgbClr val="B6D3EC"/>
          </a:solidFill>
          <a:ln w="6350">
            <a:solidFill>
              <a:schemeClr val="accent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000" dirty="0" err="1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/>
              </a:rPr>
              <a:t>MesComptes</a:t>
            </a:r>
            <a:endParaRPr lang="fr-FR" sz="1000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/>
            </a:endParaRPr>
          </a:p>
        </p:txBody>
      </p:sp>
      <p:sp>
        <p:nvSpPr>
          <p:cNvPr id="6" name="Gr_SimulAssur">
            <a:extLst>
              <a:ext uri="{FF2B5EF4-FFF2-40B4-BE49-F238E27FC236}">
                <a16:creationId xmlns:a16="http://schemas.microsoft.com/office/drawing/2014/main" id="{908561C7-D8AA-2E5D-C2C3-D954368930DC}"/>
              </a:ext>
            </a:extLst>
          </p:cNvPr>
          <p:cNvSpPr/>
          <p:nvPr/>
        </p:nvSpPr>
        <p:spPr>
          <a:xfrm>
            <a:off x="4476637" y="3792663"/>
            <a:ext cx="1627675" cy="1021008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  <a:effectLst>
            <a:outerShdw blurRad="50800" dist="38100" dir="2700000" algn="ctr" rotWithShape="0">
              <a:schemeClr val="tx1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/>
            </a:endParaRPr>
          </a:p>
        </p:txBody>
      </p:sp>
      <p:sp>
        <p:nvSpPr>
          <p:cNvPr id="8" name="ZT_SimulAssur">
            <a:extLst>
              <a:ext uri="{FF2B5EF4-FFF2-40B4-BE49-F238E27FC236}">
                <a16:creationId xmlns:a16="http://schemas.microsoft.com/office/drawing/2014/main" id="{BC8CC5D9-ED91-5C61-F255-D47B3CD6FF84}"/>
              </a:ext>
            </a:extLst>
          </p:cNvPr>
          <p:cNvSpPr txBox="1"/>
          <p:nvPr/>
        </p:nvSpPr>
        <p:spPr>
          <a:xfrm>
            <a:off x="4500323" y="3819978"/>
            <a:ext cx="1714025" cy="246221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1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SimulAssur</a:t>
            </a:r>
            <a:endParaRPr kumimoji="0" lang="fr-FR" sz="1000" b="1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BA_VS">
            <a:extLst>
              <a:ext uri="{FF2B5EF4-FFF2-40B4-BE49-F238E27FC236}">
                <a16:creationId xmlns:a16="http://schemas.microsoft.com/office/drawing/2014/main" id="{69438053-A664-3435-1E9B-70E0FFC9F6D3}"/>
              </a:ext>
            </a:extLst>
          </p:cNvPr>
          <p:cNvSpPr/>
          <p:nvPr/>
        </p:nvSpPr>
        <p:spPr>
          <a:xfrm>
            <a:off x="4611474" y="4115819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0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/>
              </a:rPr>
              <a:t>VS</a:t>
            </a:r>
            <a:endParaRPr kumimoji="0" lang="fr-FR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Sim, </a:t>
            </a:r>
            <a:r>
              <a:rPr kumimoji="0" lang="fr-FR" sz="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Ass.V</a:t>
            </a: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 pour LCL</a:t>
            </a:r>
          </a:p>
        </p:txBody>
      </p:sp>
      <p:sp>
        <p:nvSpPr>
          <p:cNvPr id="10" name="BA_RS">
            <a:extLst>
              <a:ext uri="{FF2B5EF4-FFF2-40B4-BE49-F238E27FC236}">
                <a16:creationId xmlns:a16="http://schemas.microsoft.com/office/drawing/2014/main" id="{B08379C7-DA82-352A-B051-7EBC34D6B59E}"/>
              </a:ext>
            </a:extLst>
          </p:cNvPr>
          <p:cNvSpPr/>
          <p:nvPr/>
        </p:nvSpPr>
        <p:spPr>
          <a:xfrm>
            <a:off x="5363789" y="4119805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SR</a:t>
            </a:r>
          </a:p>
          <a:p>
            <a:pPr lvl="0" algn="ctr">
              <a:defRPr/>
            </a:pPr>
            <a:r>
              <a:rPr lang="fr-FR" sz="6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Sim, </a:t>
            </a:r>
            <a:r>
              <a:rPr lang="fr-FR" sz="600" dirty="0" err="1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Ass.V</a:t>
            </a:r>
            <a:r>
              <a:rPr lang="fr-FR" sz="6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pour CA</a:t>
            </a:r>
          </a:p>
        </p:txBody>
      </p:sp>
      <p:sp>
        <p:nvSpPr>
          <p:cNvPr id="11" name="BA_EP">
            <a:extLst>
              <a:ext uri="{FF2B5EF4-FFF2-40B4-BE49-F238E27FC236}">
                <a16:creationId xmlns:a16="http://schemas.microsoft.com/office/drawing/2014/main" id="{A7C1F342-E010-BF1C-D3ED-73DB7044BFB5}"/>
              </a:ext>
            </a:extLst>
          </p:cNvPr>
          <p:cNvSpPr/>
          <p:nvPr/>
        </p:nvSpPr>
        <p:spPr>
          <a:xfrm>
            <a:off x="4611474" y="4500624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0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/>
              </a:rPr>
              <a:t>EP</a:t>
            </a:r>
            <a:endParaRPr kumimoji="0" lang="fr-FR" sz="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Sim, EPICASTE</a:t>
            </a:r>
          </a:p>
        </p:txBody>
      </p:sp>
      <p:sp>
        <p:nvSpPr>
          <p:cNvPr id="12" name="BA_Autre_PFD">
            <a:extLst>
              <a:ext uri="{FF2B5EF4-FFF2-40B4-BE49-F238E27FC236}">
                <a16:creationId xmlns:a16="http://schemas.microsoft.com/office/drawing/2014/main" id="{DE2D9023-27A4-D0FD-33D9-EB1199D616AD}"/>
              </a:ext>
            </a:extLst>
          </p:cNvPr>
          <p:cNvSpPr/>
          <p:nvPr/>
        </p:nvSpPr>
        <p:spPr>
          <a:xfrm>
            <a:off x="5363789" y="4472097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…</a:t>
            </a:r>
          </a:p>
        </p:txBody>
      </p:sp>
      <p:sp>
        <p:nvSpPr>
          <p:cNvPr id="13" name="Date_F7">
            <a:extLst>
              <a:ext uri="{FF2B5EF4-FFF2-40B4-BE49-F238E27FC236}">
                <a16:creationId xmlns:a16="http://schemas.microsoft.com/office/drawing/2014/main" id="{19BD76E6-3F31-F5D4-5C8C-43DF11EFE00F}"/>
              </a:ext>
            </a:extLst>
          </p:cNvPr>
          <p:cNvSpPr txBox="1"/>
          <p:nvPr/>
        </p:nvSpPr>
        <p:spPr>
          <a:xfrm rot="19102564">
            <a:off x="8256572" y="2090447"/>
            <a:ext cx="927160" cy="230832"/>
          </a:xfrm>
          <a:prstGeom prst="rect">
            <a:avLst/>
          </a:prstGeom>
          <a:noFill/>
          <a:ln cap="flat">
            <a:noFill/>
            <a:prstDash val="solid"/>
          </a:ln>
          <a:effectLst>
            <a:softEdge rad="0"/>
          </a:effectLst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900" b="0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V26.1</a:t>
            </a:r>
          </a:p>
        </p:txBody>
      </p:sp>
    </p:spTree>
    <p:extLst>
      <p:ext uri="{BB962C8B-B14F-4D97-AF65-F5344CB8AC3E}">
        <p14:creationId xmlns:p14="http://schemas.microsoft.com/office/powerpoint/2010/main" val="8671900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002B8C-75F0-4EF7-FA76-CC3FC5FC55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r_Global">
            <a:extLst>
              <a:ext uri="{FF2B5EF4-FFF2-40B4-BE49-F238E27FC236}">
                <a16:creationId xmlns:a16="http://schemas.microsoft.com/office/drawing/2014/main" id="{F1986E63-809E-9236-19ED-4F7550516EB2}"/>
              </a:ext>
            </a:extLst>
          </p:cNvPr>
          <p:cNvSpPr/>
          <p:nvPr/>
        </p:nvSpPr>
        <p:spPr>
          <a:xfrm>
            <a:off x="156924" y="1028327"/>
            <a:ext cx="11860567" cy="5512742"/>
          </a:xfrm>
          <a:prstGeom prst="roundRect">
            <a:avLst/>
          </a:prstGeom>
          <a:solidFill>
            <a:schemeClr val="bg1"/>
          </a:solidFill>
          <a:ln>
            <a:solidFill>
              <a:schemeClr val="accent1"/>
            </a:solidFill>
          </a:ln>
          <a:effectLst>
            <a:outerShdw blurRad="50800" dist="38100" dir="2700000" algn="tl" rotWithShape="0">
              <a:schemeClr val="tx1"/>
            </a:outerShdw>
          </a:effectLst>
        </p:spPr>
        <p:txBody>
          <a:bodyPr wrap="none" lIns="0" rIns="0" rtlCol="0" anchor="ctr">
            <a:noAutofit/>
          </a:bodyPr>
          <a:lstStyle/>
          <a:p>
            <a:pPr algn="ctr"/>
            <a:endParaRPr lang="fr-FR" sz="1600" b="1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1" name="Gr_NOVA">
            <a:extLst>
              <a:ext uri="{FF2B5EF4-FFF2-40B4-BE49-F238E27FC236}">
                <a16:creationId xmlns:a16="http://schemas.microsoft.com/office/drawing/2014/main" id="{D7186E18-5863-DA99-237A-9DFD083B22EF}"/>
              </a:ext>
            </a:extLst>
          </p:cNvPr>
          <p:cNvSpPr/>
          <p:nvPr/>
        </p:nvSpPr>
        <p:spPr>
          <a:xfrm>
            <a:off x="5407282" y="1111645"/>
            <a:ext cx="2350211" cy="1879964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  <a:effectLst>
            <a:outerShdw blurRad="50800" dist="38100" dir="2700000" algn="ctr" rotWithShape="0">
              <a:schemeClr val="tx1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/>
            </a:endParaRPr>
          </a:p>
        </p:txBody>
      </p:sp>
      <p:sp>
        <p:nvSpPr>
          <p:cNvPr id="92" name="ZT_NOVA">
            <a:extLst>
              <a:ext uri="{FF2B5EF4-FFF2-40B4-BE49-F238E27FC236}">
                <a16:creationId xmlns:a16="http://schemas.microsoft.com/office/drawing/2014/main" id="{393D0C38-648E-F5AA-7E4B-7AD590DD0E22}"/>
              </a:ext>
            </a:extLst>
          </p:cNvPr>
          <p:cNvSpPr txBox="1"/>
          <p:nvPr/>
        </p:nvSpPr>
        <p:spPr>
          <a:xfrm>
            <a:off x="5402982" y="1138960"/>
            <a:ext cx="2354511" cy="246221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NOVA</a:t>
            </a:r>
            <a:endParaRPr kumimoji="0" lang="fr-FR" sz="1000" b="1" i="1" u="none" strike="noStrike" kern="1200" cap="none" spc="0" normalizeH="0" baseline="0" noProof="0" dirty="0">
              <a:ln>
                <a:noFill/>
              </a:ln>
              <a:solidFill>
                <a:srgbClr val="ED7D3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8" name="BA_OX">
            <a:extLst>
              <a:ext uri="{FF2B5EF4-FFF2-40B4-BE49-F238E27FC236}">
                <a16:creationId xmlns:a16="http://schemas.microsoft.com/office/drawing/2014/main" id="{D9E1E4FB-54D5-CE61-DC94-593A1FB17232}"/>
              </a:ext>
            </a:extLst>
          </p:cNvPr>
          <p:cNvSpPr/>
          <p:nvPr/>
        </p:nvSpPr>
        <p:spPr>
          <a:xfrm>
            <a:off x="5540187" y="1434370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OX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Opérations </a:t>
            </a:r>
            <a:r>
              <a:rPr kumimoji="0" lang="fr-FR" sz="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Ass</a:t>
            </a: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.</a:t>
            </a:r>
          </a:p>
        </p:txBody>
      </p:sp>
      <p:sp>
        <p:nvSpPr>
          <p:cNvPr id="99" name="BA_MX">
            <a:extLst>
              <a:ext uri="{FF2B5EF4-FFF2-40B4-BE49-F238E27FC236}">
                <a16:creationId xmlns:a16="http://schemas.microsoft.com/office/drawing/2014/main" id="{6070FC37-16EF-0009-37CF-BB5AB28F86EB}"/>
              </a:ext>
            </a:extLst>
          </p:cNvPr>
          <p:cNvSpPr/>
          <p:nvPr/>
        </p:nvSpPr>
        <p:spPr>
          <a:xfrm>
            <a:off x="6247379" y="1434370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MX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Services  internes</a:t>
            </a:r>
          </a:p>
        </p:txBody>
      </p:sp>
      <p:sp>
        <p:nvSpPr>
          <p:cNvPr id="108" name="BA_SX">
            <a:extLst>
              <a:ext uri="{FF2B5EF4-FFF2-40B4-BE49-F238E27FC236}">
                <a16:creationId xmlns:a16="http://schemas.microsoft.com/office/drawing/2014/main" id="{A9C91BF9-ED97-000E-ED20-D11B978F783A}"/>
              </a:ext>
            </a:extLst>
          </p:cNvPr>
          <p:cNvSpPr/>
          <p:nvPr/>
        </p:nvSpPr>
        <p:spPr>
          <a:xfrm>
            <a:off x="6957409" y="1434370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SX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Socle Exposition</a:t>
            </a:r>
          </a:p>
        </p:txBody>
      </p:sp>
      <p:sp>
        <p:nvSpPr>
          <p:cNvPr id="117" name="BA_HX">
            <a:extLst>
              <a:ext uri="{FF2B5EF4-FFF2-40B4-BE49-F238E27FC236}">
                <a16:creationId xmlns:a16="http://schemas.microsoft.com/office/drawing/2014/main" id="{2D33564C-B3BE-A285-A7E6-CAE4617E001A}"/>
              </a:ext>
            </a:extLst>
          </p:cNvPr>
          <p:cNvSpPr/>
          <p:nvPr/>
        </p:nvSpPr>
        <p:spPr>
          <a:xfrm>
            <a:off x="5540187" y="1791450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HX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Habilitations PCO</a:t>
            </a:r>
          </a:p>
        </p:txBody>
      </p:sp>
      <p:sp>
        <p:nvSpPr>
          <p:cNvPr id="119" name="BA_RX">
            <a:extLst>
              <a:ext uri="{FF2B5EF4-FFF2-40B4-BE49-F238E27FC236}">
                <a16:creationId xmlns:a16="http://schemas.microsoft.com/office/drawing/2014/main" id="{06305EC1-8DDC-E35A-60E2-F1A17EC22AA0}"/>
              </a:ext>
            </a:extLst>
          </p:cNvPr>
          <p:cNvSpPr/>
          <p:nvPr/>
        </p:nvSpPr>
        <p:spPr>
          <a:xfrm>
            <a:off x="6957409" y="1791450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RX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Socle Editique</a:t>
            </a:r>
          </a:p>
        </p:txBody>
      </p:sp>
      <p:sp>
        <p:nvSpPr>
          <p:cNvPr id="120" name="BA_WP">
            <a:extLst>
              <a:ext uri="{FF2B5EF4-FFF2-40B4-BE49-F238E27FC236}">
                <a16:creationId xmlns:a16="http://schemas.microsoft.com/office/drawing/2014/main" id="{46EE69F9-2949-6871-E098-EE16D365637E}"/>
              </a:ext>
            </a:extLst>
          </p:cNvPr>
          <p:cNvSpPr/>
          <p:nvPr/>
        </p:nvSpPr>
        <p:spPr>
          <a:xfrm>
            <a:off x="5542712" y="2146978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WP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Lanceur PCO</a:t>
            </a:r>
          </a:p>
        </p:txBody>
      </p:sp>
      <p:sp>
        <p:nvSpPr>
          <p:cNvPr id="121" name="BA_FM">
            <a:extLst>
              <a:ext uri="{FF2B5EF4-FFF2-40B4-BE49-F238E27FC236}">
                <a16:creationId xmlns:a16="http://schemas.microsoft.com/office/drawing/2014/main" id="{BFAEBFA0-F7DA-1EE6-0718-E1FE0773AB58}"/>
              </a:ext>
            </a:extLst>
          </p:cNvPr>
          <p:cNvSpPr/>
          <p:nvPr/>
        </p:nvSpPr>
        <p:spPr>
          <a:xfrm>
            <a:off x="6251156" y="2146978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FM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Fonctions IHM</a:t>
            </a:r>
          </a:p>
        </p:txBody>
      </p:sp>
      <p:sp>
        <p:nvSpPr>
          <p:cNvPr id="123" name="BA_JF">
            <a:extLst>
              <a:ext uri="{FF2B5EF4-FFF2-40B4-BE49-F238E27FC236}">
                <a16:creationId xmlns:a16="http://schemas.microsoft.com/office/drawing/2014/main" id="{9D8CBA3A-5DEB-A3AC-EF8B-4F8396A36E83}"/>
              </a:ext>
            </a:extLst>
          </p:cNvPr>
          <p:cNvSpPr/>
          <p:nvPr/>
        </p:nvSpPr>
        <p:spPr>
          <a:xfrm>
            <a:off x="6955140" y="2146978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JF</a:t>
            </a:r>
            <a:endParaRPr kumimoji="0" lang="fr-FR" sz="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Animation </a:t>
            </a:r>
            <a:r>
              <a:rPr kumimoji="0" lang="fr-FR" sz="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comm</a:t>
            </a: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.</a:t>
            </a:r>
          </a:p>
        </p:txBody>
      </p:sp>
      <p:sp>
        <p:nvSpPr>
          <p:cNvPr id="124" name="Gr_Avanet">
            <a:extLst>
              <a:ext uri="{FF2B5EF4-FFF2-40B4-BE49-F238E27FC236}">
                <a16:creationId xmlns:a16="http://schemas.microsoft.com/office/drawing/2014/main" id="{6A10662E-E076-8A30-E86B-25D4C81EE5D1}"/>
              </a:ext>
            </a:extLst>
          </p:cNvPr>
          <p:cNvSpPr/>
          <p:nvPr/>
        </p:nvSpPr>
        <p:spPr>
          <a:xfrm>
            <a:off x="3593887" y="1111645"/>
            <a:ext cx="1690030" cy="117785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  <a:effectLst>
            <a:outerShdw blurRad="50800" dist="38100" dir="2700000" algn="ctr" rotWithShape="0">
              <a:schemeClr val="tx1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/>
            </a:endParaRPr>
          </a:p>
        </p:txBody>
      </p:sp>
      <p:sp>
        <p:nvSpPr>
          <p:cNvPr id="125" name="ZT_Avanet">
            <a:extLst>
              <a:ext uri="{FF2B5EF4-FFF2-40B4-BE49-F238E27FC236}">
                <a16:creationId xmlns:a16="http://schemas.microsoft.com/office/drawing/2014/main" id="{E37FA58E-468A-77EF-6CC5-799C3B5E39DB}"/>
              </a:ext>
            </a:extLst>
          </p:cNvPr>
          <p:cNvSpPr txBox="1"/>
          <p:nvPr/>
        </p:nvSpPr>
        <p:spPr>
          <a:xfrm>
            <a:off x="3603262" y="1138960"/>
            <a:ext cx="1680655" cy="246221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1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Avanet</a:t>
            </a:r>
            <a:endParaRPr kumimoji="0" lang="fr-FR" sz="1000" b="1" i="1" u="none" strike="noStrike" kern="1200" cap="none" spc="0" normalizeH="0" baseline="0" noProof="0" dirty="0">
              <a:ln>
                <a:noFill/>
              </a:ln>
              <a:solidFill>
                <a:srgbClr val="ED7D3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6" name="BA_W5">
            <a:extLst>
              <a:ext uri="{FF2B5EF4-FFF2-40B4-BE49-F238E27FC236}">
                <a16:creationId xmlns:a16="http://schemas.microsoft.com/office/drawing/2014/main" id="{1C19AF84-ACF8-4A76-32A4-EFF6D2D81D5C}"/>
              </a:ext>
            </a:extLst>
          </p:cNvPr>
          <p:cNvSpPr/>
          <p:nvPr/>
        </p:nvSpPr>
        <p:spPr>
          <a:xfrm>
            <a:off x="3726791" y="1434801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W5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Av@net</a:t>
            </a:r>
            <a:endParaRPr kumimoji="0" lang="fr-FR" sz="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7" name="BA_AEDI">
            <a:extLst>
              <a:ext uri="{FF2B5EF4-FFF2-40B4-BE49-F238E27FC236}">
                <a16:creationId xmlns:a16="http://schemas.microsoft.com/office/drawing/2014/main" id="{5FC425D1-3F19-2A2F-9CF7-CF6E4F08A62D}"/>
              </a:ext>
            </a:extLst>
          </p:cNvPr>
          <p:cNvSpPr/>
          <p:nvPr/>
        </p:nvSpPr>
        <p:spPr>
          <a:xfrm>
            <a:off x="4521017" y="1438787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AEDI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API-EDI</a:t>
            </a:r>
          </a:p>
        </p:txBody>
      </p:sp>
      <p:sp>
        <p:nvSpPr>
          <p:cNvPr id="128" name="BA_SVOD">
            <a:extLst>
              <a:ext uri="{FF2B5EF4-FFF2-40B4-BE49-F238E27FC236}">
                <a16:creationId xmlns:a16="http://schemas.microsoft.com/office/drawing/2014/main" id="{9EC0DDDE-09DC-1C88-E849-F9C1EC84C383}"/>
              </a:ext>
            </a:extLst>
          </p:cNvPr>
          <p:cNvSpPr/>
          <p:nvPr/>
        </p:nvSpPr>
        <p:spPr>
          <a:xfrm>
            <a:off x="3726791" y="1819606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SVOD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SAS </a:t>
            </a:r>
            <a:r>
              <a:rPr kumimoji="0" lang="fr-FR" sz="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Valid</a:t>
            </a: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.</a:t>
            </a:r>
          </a:p>
        </p:txBody>
      </p:sp>
      <p:sp>
        <p:nvSpPr>
          <p:cNvPr id="129" name="Gr_PFD">
            <a:extLst>
              <a:ext uri="{FF2B5EF4-FFF2-40B4-BE49-F238E27FC236}">
                <a16:creationId xmlns:a16="http://schemas.microsoft.com/office/drawing/2014/main" id="{BF25E305-7F12-FC3B-F632-7B818C0981E9}"/>
              </a:ext>
            </a:extLst>
          </p:cNvPr>
          <p:cNvSpPr/>
          <p:nvPr/>
        </p:nvSpPr>
        <p:spPr>
          <a:xfrm>
            <a:off x="6161552" y="3780520"/>
            <a:ext cx="1627675" cy="1021008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  <a:effectLst>
            <a:outerShdw blurRad="50800" dist="38100" dir="2700000" algn="ctr" rotWithShape="0">
              <a:schemeClr val="tx1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/>
            </a:endParaRPr>
          </a:p>
        </p:txBody>
      </p:sp>
      <p:sp>
        <p:nvSpPr>
          <p:cNvPr id="130" name="ZT_PFD">
            <a:extLst>
              <a:ext uri="{FF2B5EF4-FFF2-40B4-BE49-F238E27FC236}">
                <a16:creationId xmlns:a16="http://schemas.microsoft.com/office/drawing/2014/main" id="{5BD4B6B3-6EFC-5FE1-DAC2-1959DE441E03}"/>
              </a:ext>
            </a:extLst>
          </p:cNvPr>
          <p:cNvSpPr txBox="1"/>
          <p:nvPr/>
        </p:nvSpPr>
        <p:spPr>
          <a:xfrm>
            <a:off x="6185238" y="3807835"/>
            <a:ext cx="1714025" cy="246221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Plateforme Data (PFD)</a:t>
            </a:r>
          </a:p>
        </p:txBody>
      </p:sp>
      <p:sp>
        <p:nvSpPr>
          <p:cNvPr id="131" name="BA_J2">
            <a:extLst>
              <a:ext uri="{FF2B5EF4-FFF2-40B4-BE49-F238E27FC236}">
                <a16:creationId xmlns:a16="http://schemas.microsoft.com/office/drawing/2014/main" id="{1524DF21-563A-4276-59C3-7CE47B7B84BB}"/>
              </a:ext>
            </a:extLst>
          </p:cNvPr>
          <p:cNvSpPr/>
          <p:nvPr/>
        </p:nvSpPr>
        <p:spPr>
          <a:xfrm>
            <a:off x="6296389" y="4103676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J2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Exposition PFD</a:t>
            </a:r>
          </a:p>
        </p:txBody>
      </p:sp>
      <p:sp>
        <p:nvSpPr>
          <p:cNvPr id="136" name="BA_J6">
            <a:extLst>
              <a:ext uri="{FF2B5EF4-FFF2-40B4-BE49-F238E27FC236}">
                <a16:creationId xmlns:a16="http://schemas.microsoft.com/office/drawing/2014/main" id="{F83B25BF-9F28-8BBD-3A81-1945776F4F35}"/>
              </a:ext>
            </a:extLst>
          </p:cNvPr>
          <p:cNvSpPr/>
          <p:nvPr/>
        </p:nvSpPr>
        <p:spPr>
          <a:xfrm>
            <a:off x="7048704" y="4107662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J6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Restit</a:t>
            </a: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. </a:t>
            </a:r>
            <a:r>
              <a:rPr kumimoji="0" lang="fr-FR" sz="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Régl</a:t>
            </a: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.</a:t>
            </a:r>
          </a:p>
        </p:txBody>
      </p:sp>
      <p:sp>
        <p:nvSpPr>
          <p:cNvPr id="147" name="BA_J8">
            <a:extLst>
              <a:ext uri="{FF2B5EF4-FFF2-40B4-BE49-F238E27FC236}">
                <a16:creationId xmlns:a16="http://schemas.microsoft.com/office/drawing/2014/main" id="{8CC00B16-956D-1AC3-B992-A0A2391AE375}"/>
              </a:ext>
            </a:extLst>
          </p:cNvPr>
          <p:cNvSpPr/>
          <p:nvPr/>
        </p:nvSpPr>
        <p:spPr>
          <a:xfrm>
            <a:off x="6296389" y="4488481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J8</a:t>
            </a:r>
            <a:endParaRPr kumimoji="0" lang="fr-FR" sz="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Données Contrats</a:t>
            </a:r>
          </a:p>
        </p:txBody>
      </p:sp>
      <p:sp>
        <p:nvSpPr>
          <p:cNvPr id="149" name="Gr_Prediweb1">
            <a:extLst>
              <a:ext uri="{FF2B5EF4-FFF2-40B4-BE49-F238E27FC236}">
                <a16:creationId xmlns:a16="http://schemas.microsoft.com/office/drawing/2014/main" id="{41976690-ADC7-C712-D880-0CF2525D5A4F}"/>
              </a:ext>
            </a:extLst>
          </p:cNvPr>
          <p:cNvSpPr/>
          <p:nvPr/>
        </p:nvSpPr>
        <p:spPr>
          <a:xfrm>
            <a:off x="3588010" y="2368814"/>
            <a:ext cx="1695907" cy="671739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  <a:effectLst>
            <a:outerShdw blurRad="50800" dist="38100" dir="2700000" algn="ctr" rotWithShape="0">
              <a:schemeClr val="tx1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/>
            </a:endParaRPr>
          </a:p>
        </p:txBody>
      </p:sp>
      <p:sp>
        <p:nvSpPr>
          <p:cNvPr id="151" name="ZT_Prediweb1">
            <a:extLst>
              <a:ext uri="{FF2B5EF4-FFF2-40B4-BE49-F238E27FC236}">
                <a16:creationId xmlns:a16="http://schemas.microsoft.com/office/drawing/2014/main" id="{BDE50AF7-699E-D60C-A8F7-82585544C79B}"/>
              </a:ext>
            </a:extLst>
          </p:cNvPr>
          <p:cNvSpPr txBox="1"/>
          <p:nvPr/>
        </p:nvSpPr>
        <p:spPr>
          <a:xfrm>
            <a:off x="3595208" y="2396399"/>
            <a:ext cx="1688709" cy="246221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1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Prediweb</a:t>
            </a:r>
            <a:r>
              <a:rPr kumimoji="0" lang="fr-FR" sz="1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 1</a:t>
            </a:r>
            <a:endParaRPr kumimoji="0" lang="fr-FR" sz="1000" b="1" i="1" u="none" strike="noStrike" kern="1200" cap="none" spc="0" normalizeH="0" baseline="0" noProof="0" dirty="0">
              <a:ln>
                <a:noFill/>
              </a:ln>
              <a:solidFill>
                <a:srgbClr val="ED7D3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3" name="BA_BD">
            <a:extLst>
              <a:ext uri="{FF2B5EF4-FFF2-40B4-BE49-F238E27FC236}">
                <a16:creationId xmlns:a16="http://schemas.microsoft.com/office/drawing/2014/main" id="{13DAF1D0-73DA-D223-1907-2F2EA8458D89}"/>
              </a:ext>
            </a:extLst>
          </p:cNvPr>
          <p:cNvSpPr/>
          <p:nvPr/>
        </p:nvSpPr>
        <p:spPr>
          <a:xfrm>
            <a:off x="3720914" y="2691969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BD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Prediweb</a:t>
            </a:r>
            <a:endParaRPr kumimoji="0" lang="fr-FR" sz="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6" name="BA_SGR">
            <a:extLst>
              <a:ext uri="{FF2B5EF4-FFF2-40B4-BE49-F238E27FC236}">
                <a16:creationId xmlns:a16="http://schemas.microsoft.com/office/drawing/2014/main" id="{C58DA835-3834-3976-AD95-9D2D04A3A776}"/>
              </a:ext>
            </a:extLst>
          </p:cNvPr>
          <p:cNvSpPr/>
          <p:nvPr/>
        </p:nvSpPr>
        <p:spPr>
          <a:xfrm>
            <a:off x="4496225" y="2696226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SGR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Lanceur SGR</a:t>
            </a:r>
          </a:p>
        </p:txBody>
      </p:sp>
      <p:sp>
        <p:nvSpPr>
          <p:cNvPr id="158" name="BA_Autre_PFD">
            <a:extLst>
              <a:ext uri="{FF2B5EF4-FFF2-40B4-BE49-F238E27FC236}">
                <a16:creationId xmlns:a16="http://schemas.microsoft.com/office/drawing/2014/main" id="{8228AA9B-3EE8-1F5A-F98F-272189F53B74}"/>
              </a:ext>
            </a:extLst>
          </p:cNvPr>
          <p:cNvSpPr/>
          <p:nvPr/>
        </p:nvSpPr>
        <p:spPr>
          <a:xfrm>
            <a:off x="7048704" y="4459954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…</a:t>
            </a:r>
          </a:p>
        </p:txBody>
      </p:sp>
      <p:sp>
        <p:nvSpPr>
          <p:cNvPr id="159" name="Gr_AIA">
            <a:extLst>
              <a:ext uri="{FF2B5EF4-FFF2-40B4-BE49-F238E27FC236}">
                <a16:creationId xmlns:a16="http://schemas.microsoft.com/office/drawing/2014/main" id="{CBD73BB9-17F2-5D7B-6CF1-3873F95D68D4}"/>
              </a:ext>
            </a:extLst>
          </p:cNvPr>
          <p:cNvSpPr/>
          <p:nvPr/>
        </p:nvSpPr>
        <p:spPr>
          <a:xfrm>
            <a:off x="600429" y="2842718"/>
            <a:ext cx="927635" cy="550924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  <a:effectLst>
            <a:outerShdw blurRad="50800" dist="38100" dir="2700000" algn="ctr" rotWithShape="0">
              <a:schemeClr val="tx1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/>
            </a:endParaRPr>
          </a:p>
        </p:txBody>
      </p:sp>
      <p:sp>
        <p:nvSpPr>
          <p:cNvPr id="160" name="ZT_AIA">
            <a:extLst>
              <a:ext uri="{FF2B5EF4-FFF2-40B4-BE49-F238E27FC236}">
                <a16:creationId xmlns:a16="http://schemas.microsoft.com/office/drawing/2014/main" id="{F9EC5BCD-042C-BC6F-CC9F-34D67EAA555F}"/>
              </a:ext>
            </a:extLst>
          </p:cNvPr>
          <p:cNvSpPr txBox="1"/>
          <p:nvPr/>
        </p:nvSpPr>
        <p:spPr>
          <a:xfrm>
            <a:off x="520497" y="2870168"/>
            <a:ext cx="1080000" cy="246221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AIA V4 (Sinistres)</a:t>
            </a:r>
          </a:p>
        </p:txBody>
      </p:sp>
      <p:sp>
        <p:nvSpPr>
          <p:cNvPr id="161" name="BA_AJ">
            <a:extLst>
              <a:ext uri="{FF2B5EF4-FFF2-40B4-BE49-F238E27FC236}">
                <a16:creationId xmlns:a16="http://schemas.microsoft.com/office/drawing/2014/main" id="{65A7964B-1C76-05DE-830B-3613D350AC06}"/>
              </a:ext>
            </a:extLst>
          </p:cNvPr>
          <p:cNvSpPr/>
          <p:nvPr/>
        </p:nvSpPr>
        <p:spPr>
          <a:xfrm>
            <a:off x="741487" y="3087886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AJ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AIA </a:t>
            </a:r>
            <a:r>
              <a:rPr kumimoji="0" lang="fr-FR" sz="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Sinitres</a:t>
            </a:r>
            <a:endParaRPr kumimoji="0" lang="fr-FR" sz="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2" name="Gr_Prediweb2">
            <a:extLst>
              <a:ext uri="{FF2B5EF4-FFF2-40B4-BE49-F238E27FC236}">
                <a16:creationId xmlns:a16="http://schemas.microsoft.com/office/drawing/2014/main" id="{24CABAA2-2571-2067-A9B4-0D7DE7AF08D0}"/>
              </a:ext>
            </a:extLst>
          </p:cNvPr>
          <p:cNvSpPr/>
          <p:nvPr/>
        </p:nvSpPr>
        <p:spPr>
          <a:xfrm>
            <a:off x="6172824" y="3106138"/>
            <a:ext cx="754043" cy="61200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  <a:effectLst>
            <a:outerShdw blurRad="50800" dist="38100" dir="2700000" algn="ctr" rotWithShape="0">
              <a:schemeClr val="tx1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/>
            </a:endParaRPr>
          </a:p>
        </p:txBody>
      </p:sp>
      <p:sp>
        <p:nvSpPr>
          <p:cNvPr id="163" name="ZT_Prediweb2">
            <a:extLst>
              <a:ext uri="{FF2B5EF4-FFF2-40B4-BE49-F238E27FC236}">
                <a16:creationId xmlns:a16="http://schemas.microsoft.com/office/drawing/2014/main" id="{2FDEF5DD-39D3-2465-A636-F8114721EB2B}"/>
              </a:ext>
            </a:extLst>
          </p:cNvPr>
          <p:cNvSpPr txBox="1"/>
          <p:nvPr/>
        </p:nvSpPr>
        <p:spPr>
          <a:xfrm>
            <a:off x="6145849" y="3133723"/>
            <a:ext cx="774251" cy="246221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1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Prediweb</a:t>
            </a:r>
            <a:r>
              <a:rPr kumimoji="0" lang="fr-FR" sz="1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 2</a:t>
            </a:r>
            <a:endParaRPr kumimoji="0" lang="fr-FR" sz="1000" b="1" i="1" u="none" strike="noStrike" kern="1200" cap="none" spc="0" normalizeH="0" baseline="0" noProof="0" dirty="0">
              <a:ln>
                <a:noFill/>
              </a:ln>
              <a:solidFill>
                <a:srgbClr val="ED7D3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4" name="BA_PY">
            <a:extLst>
              <a:ext uri="{FF2B5EF4-FFF2-40B4-BE49-F238E27FC236}">
                <a16:creationId xmlns:a16="http://schemas.microsoft.com/office/drawing/2014/main" id="{8EBC08BA-5261-26F7-41BA-0EA9351EB33A}"/>
              </a:ext>
            </a:extLst>
          </p:cNvPr>
          <p:cNvSpPr/>
          <p:nvPr/>
        </p:nvSpPr>
        <p:spPr>
          <a:xfrm>
            <a:off x="6219320" y="3376340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PY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Prediweb</a:t>
            </a: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 2</a:t>
            </a:r>
          </a:p>
        </p:txBody>
      </p:sp>
      <p:sp>
        <p:nvSpPr>
          <p:cNvPr id="165" name="Gr_NewNOVA">
            <a:extLst>
              <a:ext uri="{FF2B5EF4-FFF2-40B4-BE49-F238E27FC236}">
                <a16:creationId xmlns:a16="http://schemas.microsoft.com/office/drawing/2014/main" id="{A0F23D07-E450-0144-B010-51340D8924C2}"/>
              </a:ext>
            </a:extLst>
          </p:cNvPr>
          <p:cNvSpPr/>
          <p:nvPr/>
        </p:nvSpPr>
        <p:spPr>
          <a:xfrm>
            <a:off x="7894317" y="1093890"/>
            <a:ext cx="3975128" cy="3939748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  <a:effectLst>
            <a:outerShdw blurRad="50800" dist="38100" dir="2700000" algn="ctr" rotWithShape="0">
              <a:schemeClr val="tx1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/>
            </a:endParaRPr>
          </a:p>
        </p:txBody>
      </p:sp>
      <p:sp>
        <p:nvSpPr>
          <p:cNvPr id="166" name="ZT_NewNOVA">
            <a:extLst>
              <a:ext uri="{FF2B5EF4-FFF2-40B4-BE49-F238E27FC236}">
                <a16:creationId xmlns:a16="http://schemas.microsoft.com/office/drawing/2014/main" id="{B9E80C0A-F3F0-46A5-1F75-8D54116E77A4}"/>
              </a:ext>
            </a:extLst>
          </p:cNvPr>
          <p:cNvSpPr txBox="1"/>
          <p:nvPr/>
        </p:nvSpPr>
        <p:spPr>
          <a:xfrm>
            <a:off x="7959719" y="1121206"/>
            <a:ext cx="2930793" cy="246221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New NOVA (K8S+AWS)</a:t>
            </a:r>
            <a:endParaRPr kumimoji="0" lang="fr-FR" sz="1000" b="1" i="1" u="none" strike="noStrike" kern="1200" cap="none" spc="0" normalizeH="0" baseline="0" noProof="0" dirty="0">
              <a:ln>
                <a:noFill/>
              </a:ln>
              <a:solidFill>
                <a:srgbClr val="ED7D3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7" name="BA_APPE">
            <a:extLst>
              <a:ext uri="{FF2B5EF4-FFF2-40B4-BE49-F238E27FC236}">
                <a16:creationId xmlns:a16="http://schemas.microsoft.com/office/drawing/2014/main" id="{17F46890-D0D7-29A9-2847-F04293E12D83}"/>
              </a:ext>
            </a:extLst>
          </p:cNvPr>
          <p:cNvSpPr/>
          <p:nvPr/>
        </p:nvSpPr>
        <p:spPr>
          <a:xfrm>
            <a:off x="8114072" y="1417047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APPE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API Personne</a:t>
            </a:r>
          </a:p>
        </p:txBody>
      </p:sp>
      <p:sp>
        <p:nvSpPr>
          <p:cNvPr id="168" name="BA_CJNI">
            <a:extLst>
              <a:ext uri="{FF2B5EF4-FFF2-40B4-BE49-F238E27FC236}">
                <a16:creationId xmlns:a16="http://schemas.microsoft.com/office/drawing/2014/main" id="{750B8423-4F49-86FC-0676-F88465137907}"/>
              </a:ext>
            </a:extLst>
          </p:cNvPr>
          <p:cNvSpPr/>
          <p:nvPr/>
        </p:nvSpPr>
        <p:spPr>
          <a:xfrm>
            <a:off x="8803280" y="1417047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CJNI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Jeton SSO</a:t>
            </a:r>
          </a:p>
        </p:txBody>
      </p:sp>
      <p:sp>
        <p:nvSpPr>
          <p:cNvPr id="169" name="BA_C8">
            <a:extLst>
              <a:ext uri="{FF2B5EF4-FFF2-40B4-BE49-F238E27FC236}">
                <a16:creationId xmlns:a16="http://schemas.microsoft.com/office/drawing/2014/main" id="{D04DCC79-BA2F-9A52-5751-1D52FB3F176F}"/>
              </a:ext>
            </a:extLst>
          </p:cNvPr>
          <p:cNvSpPr/>
          <p:nvPr/>
        </p:nvSpPr>
        <p:spPr>
          <a:xfrm>
            <a:off x="9490384" y="1417047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C8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Consentements</a:t>
            </a:r>
          </a:p>
        </p:txBody>
      </p:sp>
      <p:sp>
        <p:nvSpPr>
          <p:cNvPr id="170" name="BA_D9">
            <a:extLst>
              <a:ext uri="{FF2B5EF4-FFF2-40B4-BE49-F238E27FC236}">
                <a16:creationId xmlns:a16="http://schemas.microsoft.com/office/drawing/2014/main" id="{C47A5620-1289-7D3C-22B2-885EC9F50FB0}"/>
              </a:ext>
            </a:extLst>
          </p:cNvPr>
          <p:cNvSpPr/>
          <p:nvPr/>
        </p:nvSpPr>
        <p:spPr>
          <a:xfrm>
            <a:off x="10160477" y="1417047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D9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Base Doc AWS</a:t>
            </a:r>
          </a:p>
        </p:txBody>
      </p:sp>
      <p:sp>
        <p:nvSpPr>
          <p:cNvPr id="171" name="BA_F3">
            <a:extLst>
              <a:ext uri="{FF2B5EF4-FFF2-40B4-BE49-F238E27FC236}">
                <a16:creationId xmlns:a16="http://schemas.microsoft.com/office/drawing/2014/main" id="{2870E5BC-15DA-1F3F-FD53-226BD59CB789}"/>
              </a:ext>
            </a:extLst>
          </p:cNvPr>
          <p:cNvSpPr/>
          <p:nvPr/>
        </p:nvSpPr>
        <p:spPr>
          <a:xfrm>
            <a:off x="8114072" y="1734468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F3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Versement Libre</a:t>
            </a:r>
          </a:p>
        </p:txBody>
      </p:sp>
      <p:sp>
        <p:nvSpPr>
          <p:cNvPr id="172" name="BA_F4">
            <a:extLst>
              <a:ext uri="{FF2B5EF4-FFF2-40B4-BE49-F238E27FC236}">
                <a16:creationId xmlns:a16="http://schemas.microsoft.com/office/drawing/2014/main" id="{D9C554DC-14C5-BA83-59E1-2C1D558566D8}"/>
              </a:ext>
            </a:extLst>
          </p:cNvPr>
          <p:cNvSpPr/>
          <p:nvPr/>
        </p:nvSpPr>
        <p:spPr>
          <a:xfrm>
            <a:off x="8803280" y="1734468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F4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Synthèse </a:t>
            </a:r>
            <a:r>
              <a:rPr kumimoji="0" lang="fr-FR" sz="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Opér</a:t>
            </a: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.</a:t>
            </a:r>
          </a:p>
        </p:txBody>
      </p:sp>
      <p:sp>
        <p:nvSpPr>
          <p:cNvPr id="173" name="BA_F5">
            <a:extLst>
              <a:ext uri="{FF2B5EF4-FFF2-40B4-BE49-F238E27FC236}">
                <a16:creationId xmlns:a16="http://schemas.microsoft.com/office/drawing/2014/main" id="{4624A18B-786C-802D-063A-40739A4556F7}"/>
              </a:ext>
            </a:extLst>
          </p:cNvPr>
          <p:cNvSpPr/>
          <p:nvPr/>
        </p:nvSpPr>
        <p:spPr>
          <a:xfrm>
            <a:off x="9490384" y="1734468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F5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Conf</a:t>
            </a: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. New Nova</a:t>
            </a:r>
          </a:p>
        </p:txBody>
      </p:sp>
      <p:sp>
        <p:nvSpPr>
          <p:cNvPr id="174" name="BA_F6">
            <a:extLst>
              <a:ext uri="{FF2B5EF4-FFF2-40B4-BE49-F238E27FC236}">
                <a16:creationId xmlns:a16="http://schemas.microsoft.com/office/drawing/2014/main" id="{C12593E9-536B-6D8A-351F-08DF7CB5DC15}"/>
              </a:ext>
            </a:extLst>
          </p:cNvPr>
          <p:cNvSpPr/>
          <p:nvPr/>
        </p:nvSpPr>
        <p:spPr>
          <a:xfrm>
            <a:off x="10160477" y="1734468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F6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API Adhésion</a:t>
            </a:r>
          </a:p>
        </p:txBody>
      </p:sp>
      <p:sp>
        <p:nvSpPr>
          <p:cNvPr id="175" name="BA_F7">
            <a:extLst>
              <a:ext uri="{FF2B5EF4-FFF2-40B4-BE49-F238E27FC236}">
                <a16:creationId xmlns:a16="http://schemas.microsoft.com/office/drawing/2014/main" id="{22A2E6F2-9EA4-ACFC-9B00-9517BCC60485}"/>
              </a:ext>
            </a:extLst>
          </p:cNvPr>
          <p:cNvSpPr/>
          <p:nvPr/>
        </p:nvSpPr>
        <p:spPr>
          <a:xfrm>
            <a:off x="8114072" y="2047150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F7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Arbitrage</a:t>
            </a:r>
          </a:p>
        </p:txBody>
      </p:sp>
      <p:sp>
        <p:nvSpPr>
          <p:cNvPr id="176" name="BA_G3">
            <a:extLst>
              <a:ext uri="{FF2B5EF4-FFF2-40B4-BE49-F238E27FC236}">
                <a16:creationId xmlns:a16="http://schemas.microsoft.com/office/drawing/2014/main" id="{E4409EF1-2F1F-631B-A22E-EC8CB1CEF814}"/>
              </a:ext>
            </a:extLst>
          </p:cNvPr>
          <p:cNvSpPr/>
          <p:nvPr/>
        </p:nvSpPr>
        <p:spPr>
          <a:xfrm>
            <a:off x="9490384" y="2047150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G3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Pièces médicales</a:t>
            </a:r>
          </a:p>
        </p:txBody>
      </p:sp>
      <p:sp>
        <p:nvSpPr>
          <p:cNvPr id="177" name="BA_G4">
            <a:extLst>
              <a:ext uri="{FF2B5EF4-FFF2-40B4-BE49-F238E27FC236}">
                <a16:creationId xmlns:a16="http://schemas.microsoft.com/office/drawing/2014/main" id="{39B84E70-E510-BE30-A4AC-3765FACABCCE}"/>
              </a:ext>
            </a:extLst>
          </p:cNvPr>
          <p:cNvSpPr/>
          <p:nvPr/>
        </p:nvSpPr>
        <p:spPr>
          <a:xfrm>
            <a:off x="10160477" y="2047150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G4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API FRC</a:t>
            </a:r>
          </a:p>
        </p:txBody>
      </p:sp>
      <p:sp>
        <p:nvSpPr>
          <p:cNvPr id="178" name="BA_G6">
            <a:extLst>
              <a:ext uri="{FF2B5EF4-FFF2-40B4-BE49-F238E27FC236}">
                <a16:creationId xmlns:a16="http://schemas.microsoft.com/office/drawing/2014/main" id="{B4F32429-5392-86CE-F92A-8F4E26FA6C24}"/>
              </a:ext>
            </a:extLst>
          </p:cNvPr>
          <p:cNvSpPr/>
          <p:nvPr/>
        </p:nvSpPr>
        <p:spPr>
          <a:xfrm>
            <a:off x="8114072" y="2368438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G6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API </a:t>
            </a:r>
            <a:r>
              <a:rPr kumimoji="0" lang="fr-FR" sz="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Passport</a:t>
            </a:r>
            <a:endParaRPr kumimoji="0" lang="fr-FR" sz="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9" name="BA_GQ">
            <a:extLst>
              <a:ext uri="{FF2B5EF4-FFF2-40B4-BE49-F238E27FC236}">
                <a16:creationId xmlns:a16="http://schemas.microsoft.com/office/drawing/2014/main" id="{373D94D5-D3B6-8CA8-5BB1-76BF98155155}"/>
              </a:ext>
            </a:extLst>
          </p:cNvPr>
          <p:cNvSpPr/>
          <p:nvPr/>
        </p:nvSpPr>
        <p:spPr>
          <a:xfrm>
            <a:off x="8803280" y="2368438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GQ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GED Prévoyance</a:t>
            </a:r>
          </a:p>
        </p:txBody>
      </p:sp>
      <p:sp>
        <p:nvSpPr>
          <p:cNvPr id="180" name="BA_I5">
            <a:extLst>
              <a:ext uri="{FF2B5EF4-FFF2-40B4-BE49-F238E27FC236}">
                <a16:creationId xmlns:a16="http://schemas.microsoft.com/office/drawing/2014/main" id="{DDD0DA40-D1C3-B939-94E2-C2E6CF07D975}"/>
              </a:ext>
            </a:extLst>
          </p:cNvPr>
          <p:cNvSpPr/>
          <p:nvPr/>
        </p:nvSpPr>
        <p:spPr>
          <a:xfrm>
            <a:off x="8114072" y="2696076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I5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Lanceur New Nova</a:t>
            </a:r>
          </a:p>
        </p:txBody>
      </p:sp>
      <p:sp>
        <p:nvSpPr>
          <p:cNvPr id="181" name="BA_I9">
            <a:extLst>
              <a:ext uri="{FF2B5EF4-FFF2-40B4-BE49-F238E27FC236}">
                <a16:creationId xmlns:a16="http://schemas.microsoft.com/office/drawing/2014/main" id="{17FF42B0-3BED-361D-D45F-F210BFF6A450}"/>
              </a:ext>
            </a:extLst>
          </p:cNvPr>
          <p:cNvSpPr/>
          <p:nvPr/>
        </p:nvSpPr>
        <p:spPr>
          <a:xfrm>
            <a:off x="8803280" y="2696076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I9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Keycloak</a:t>
            </a: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 Intranet</a:t>
            </a:r>
          </a:p>
        </p:txBody>
      </p:sp>
      <p:sp>
        <p:nvSpPr>
          <p:cNvPr id="182" name="BA_K7">
            <a:extLst>
              <a:ext uri="{FF2B5EF4-FFF2-40B4-BE49-F238E27FC236}">
                <a16:creationId xmlns:a16="http://schemas.microsoft.com/office/drawing/2014/main" id="{AA0CEC89-8432-D272-7660-02B251A35055}"/>
              </a:ext>
            </a:extLst>
          </p:cNvPr>
          <p:cNvSpPr/>
          <p:nvPr/>
        </p:nvSpPr>
        <p:spPr>
          <a:xfrm>
            <a:off x="9490384" y="2696076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K7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Aiguilleur</a:t>
            </a:r>
          </a:p>
        </p:txBody>
      </p:sp>
      <p:sp>
        <p:nvSpPr>
          <p:cNvPr id="183" name="BA_K9">
            <a:extLst>
              <a:ext uri="{FF2B5EF4-FFF2-40B4-BE49-F238E27FC236}">
                <a16:creationId xmlns:a16="http://schemas.microsoft.com/office/drawing/2014/main" id="{C803E0E5-377F-578A-E656-BD7185A3E9AA}"/>
              </a:ext>
            </a:extLst>
          </p:cNvPr>
          <p:cNvSpPr/>
          <p:nvPr/>
        </p:nvSpPr>
        <p:spPr>
          <a:xfrm>
            <a:off x="10160477" y="2696076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K9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Keycloak</a:t>
            </a: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 Internet</a:t>
            </a:r>
          </a:p>
        </p:txBody>
      </p:sp>
      <p:sp>
        <p:nvSpPr>
          <p:cNvPr id="184" name="BA_L8">
            <a:extLst>
              <a:ext uri="{FF2B5EF4-FFF2-40B4-BE49-F238E27FC236}">
                <a16:creationId xmlns:a16="http://schemas.microsoft.com/office/drawing/2014/main" id="{0CABBB7C-8D82-77BE-D583-5D57D4C16811}"/>
              </a:ext>
            </a:extLst>
          </p:cNvPr>
          <p:cNvSpPr/>
          <p:nvPr/>
        </p:nvSpPr>
        <p:spPr>
          <a:xfrm>
            <a:off x="8114072" y="3027052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L8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API Archivage</a:t>
            </a:r>
          </a:p>
        </p:txBody>
      </p:sp>
      <p:sp>
        <p:nvSpPr>
          <p:cNvPr id="185" name="BA_L9">
            <a:extLst>
              <a:ext uri="{FF2B5EF4-FFF2-40B4-BE49-F238E27FC236}">
                <a16:creationId xmlns:a16="http://schemas.microsoft.com/office/drawing/2014/main" id="{2F046A4F-7142-EB51-8E9D-E2A6997313CD}"/>
              </a:ext>
            </a:extLst>
          </p:cNvPr>
          <p:cNvSpPr/>
          <p:nvPr/>
        </p:nvSpPr>
        <p:spPr>
          <a:xfrm>
            <a:off x="8803280" y="3027052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L9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API Structure</a:t>
            </a:r>
          </a:p>
        </p:txBody>
      </p:sp>
      <p:sp>
        <p:nvSpPr>
          <p:cNvPr id="186" name="BA_N6">
            <a:extLst>
              <a:ext uri="{FF2B5EF4-FFF2-40B4-BE49-F238E27FC236}">
                <a16:creationId xmlns:a16="http://schemas.microsoft.com/office/drawing/2014/main" id="{32877CEC-6BB9-7AC7-D11B-8AA99444D642}"/>
              </a:ext>
            </a:extLst>
          </p:cNvPr>
          <p:cNvSpPr/>
          <p:nvPr/>
        </p:nvSpPr>
        <p:spPr>
          <a:xfrm>
            <a:off x="9490384" y="3034498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N6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API produit</a:t>
            </a:r>
          </a:p>
        </p:txBody>
      </p:sp>
      <p:sp>
        <p:nvSpPr>
          <p:cNvPr id="187" name="BA_N8">
            <a:extLst>
              <a:ext uri="{FF2B5EF4-FFF2-40B4-BE49-F238E27FC236}">
                <a16:creationId xmlns:a16="http://schemas.microsoft.com/office/drawing/2014/main" id="{BE941429-691A-419B-E6C5-23DBBAA20848}"/>
              </a:ext>
            </a:extLst>
          </p:cNvPr>
          <p:cNvSpPr/>
          <p:nvPr/>
        </p:nvSpPr>
        <p:spPr>
          <a:xfrm>
            <a:off x="10160477" y="3034498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N8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Notif</a:t>
            </a: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. Distributeur</a:t>
            </a:r>
          </a:p>
        </p:txBody>
      </p:sp>
      <p:sp>
        <p:nvSpPr>
          <p:cNvPr id="188" name="BA_P4">
            <a:extLst>
              <a:ext uri="{FF2B5EF4-FFF2-40B4-BE49-F238E27FC236}">
                <a16:creationId xmlns:a16="http://schemas.microsoft.com/office/drawing/2014/main" id="{6674527B-185B-A173-B5BD-8406F8972B53}"/>
              </a:ext>
            </a:extLst>
          </p:cNvPr>
          <p:cNvSpPr/>
          <p:nvPr/>
        </p:nvSpPr>
        <p:spPr>
          <a:xfrm>
            <a:off x="8114072" y="3354466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P4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Services Editique</a:t>
            </a:r>
          </a:p>
        </p:txBody>
      </p:sp>
      <p:sp>
        <p:nvSpPr>
          <p:cNvPr id="189" name="BA_P5">
            <a:extLst>
              <a:ext uri="{FF2B5EF4-FFF2-40B4-BE49-F238E27FC236}">
                <a16:creationId xmlns:a16="http://schemas.microsoft.com/office/drawing/2014/main" id="{146EBECE-C7A1-0AD9-7DC1-2A42B9401EB3}"/>
              </a:ext>
            </a:extLst>
          </p:cNvPr>
          <p:cNvSpPr/>
          <p:nvPr/>
        </p:nvSpPr>
        <p:spPr>
          <a:xfrm>
            <a:off x="8803280" y="3354466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P5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API Contrat</a:t>
            </a:r>
          </a:p>
        </p:txBody>
      </p:sp>
      <p:sp>
        <p:nvSpPr>
          <p:cNvPr id="190" name="BA_P6">
            <a:extLst>
              <a:ext uri="{FF2B5EF4-FFF2-40B4-BE49-F238E27FC236}">
                <a16:creationId xmlns:a16="http://schemas.microsoft.com/office/drawing/2014/main" id="{7E778023-759B-104F-3B92-B24844D6C814}"/>
              </a:ext>
            </a:extLst>
          </p:cNvPr>
          <p:cNvSpPr/>
          <p:nvPr/>
        </p:nvSpPr>
        <p:spPr>
          <a:xfrm>
            <a:off x="9490384" y="3369007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P6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API Support</a:t>
            </a:r>
          </a:p>
        </p:txBody>
      </p:sp>
      <p:sp>
        <p:nvSpPr>
          <p:cNvPr id="191" name="BA_P7">
            <a:extLst>
              <a:ext uri="{FF2B5EF4-FFF2-40B4-BE49-F238E27FC236}">
                <a16:creationId xmlns:a16="http://schemas.microsoft.com/office/drawing/2014/main" id="{041B3E37-F3F6-1A1A-D75D-F6A3F221CBCB}"/>
              </a:ext>
            </a:extLst>
          </p:cNvPr>
          <p:cNvSpPr/>
          <p:nvPr/>
        </p:nvSpPr>
        <p:spPr>
          <a:xfrm>
            <a:off x="10160477" y="3369007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P7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Campagnes et Frais</a:t>
            </a:r>
          </a:p>
        </p:txBody>
      </p:sp>
      <p:sp>
        <p:nvSpPr>
          <p:cNvPr id="192" name="BA_P8">
            <a:extLst>
              <a:ext uri="{FF2B5EF4-FFF2-40B4-BE49-F238E27FC236}">
                <a16:creationId xmlns:a16="http://schemas.microsoft.com/office/drawing/2014/main" id="{EEA8CC01-5777-28DD-7E73-5E3E7143D6CC}"/>
              </a:ext>
            </a:extLst>
          </p:cNvPr>
          <p:cNvSpPr/>
          <p:nvPr/>
        </p:nvSpPr>
        <p:spPr>
          <a:xfrm>
            <a:off x="8114072" y="3698914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P8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Habilit</a:t>
            </a: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. &amp;  </a:t>
            </a:r>
            <a:r>
              <a:rPr kumimoji="0" lang="fr-FR" sz="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Délég</a:t>
            </a: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.</a:t>
            </a:r>
          </a:p>
        </p:txBody>
      </p:sp>
      <p:sp>
        <p:nvSpPr>
          <p:cNvPr id="193" name="BA_Q1">
            <a:extLst>
              <a:ext uri="{FF2B5EF4-FFF2-40B4-BE49-F238E27FC236}">
                <a16:creationId xmlns:a16="http://schemas.microsoft.com/office/drawing/2014/main" id="{4C7AE57A-DD8B-3273-6A24-0D1C453CF3EC}"/>
              </a:ext>
            </a:extLst>
          </p:cNvPr>
          <p:cNvSpPr/>
          <p:nvPr/>
        </p:nvSpPr>
        <p:spPr>
          <a:xfrm>
            <a:off x="8803280" y="3698914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Q1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API </a:t>
            </a:r>
            <a:r>
              <a:rPr kumimoji="0" lang="fr-FR" sz="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Déciséo</a:t>
            </a:r>
            <a:endParaRPr kumimoji="0" lang="fr-FR" sz="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4" name="BA_W1">
            <a:extLst>
              <a:ext uri="{FF2B5EF4-FFF2-40B4-BE49-F238E27FC236}">
                <a16:creationId xmlns:a16="http://schemas.microsoft.com/office/drawing/2014/main" id="{355014D2-D271-57AB-232D-136EA3EB7926}"/>
              </a:ext>
            </a:extLst>
          </p:cNvPr>
          <p:cNvSpPr/>
          <p:nvPr/>
        </p:nvSpPr>
        <p:spPr>
          <a:xfrm>
            <a:off x="8114072" y="4023294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W1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API Signature</a:t>
            </a:r>
          </a:p>
        </p:txBody>
      </p:sp>
      <p:sp>
        <p:nvSpPr>
          <p:cNvPr id="195" name="BA_W2">
            <a:extLst>
              <a:ext uri="{FF2B5EF4-FFF2-40B4-BE49-F238E27FC236}">
                <a16:creationId xmlns:a16="http://schemas.microsoft.com/office/drawing/2014/main" id="{953FCF61-901B-33D4-3444-81AFA02B8C89}"/>
              </a:ext>
            </a:extLst>
          </p:cNvPr>
          <p:cNvSpPr/>
          <p:nvPr/>
        </p:nvSpPr>
        <p:spPr>
          <a:xfrm>
            <a:off x="8803280" y="4023294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W2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Clause </a:t>
            </a:r>
            <a:r>
              <a:rPr kumimoji="0" lang="fr-FR" sz="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Bénéf</a:t>
            </a: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.</a:t>
            </a:r>
          </a:p>
        </p:txBody>
      </p:sp>
      <p:sp>
        <p:nvSpPr>
          <p:cNvPr id="196" name="BA_W4">
            <a:extLst>
              <a:ext uri="{FF2B5EF4-FFF2-40B4-BE49-F238E27FC236}">
                <a16:creationId xmlns:a16="http://schemas.microsoft.com/office/drawing/2014/main" id="{02FC1FFF-1072-0167-28AC-B8D1B1A05A00}"/>
              </a:ext>
            </a:extLst>
          </p:cNvPr>
          <p:cNvSpPr/>
          <p:nvPr/>
        </p:nvSpPr>
        <p:spPr>
          <a:xfrm>
            <a:off x="9490384" y="4047213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W4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Modif</a:t>
            </a: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. </a:t>
            </a:r>
            <a:r>
              <a:rPr kumimoji="0" lang="fr-FR" sz="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Gar</a:t>
            </a: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. </a:t>
            </a:r>
            <a:r>
              <a:rPr kumimoji="0" lang="fr-FR" sz="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Prév</a:t>
            </a: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.</a:t>
            </a:r>
          </a:p>
        </p:txBody>
      </p:sp>
      <p:sp>
        <p:nvSpPr>
          <p:cNvPr id="197" name="Gr_REFUC">
            <a:extLst>
              <a:ext uri="{FF2B5EF4-FFF2-40B4-BE49-F238E27FC236}">
                <a16:creationId xmlns:a16="http://schemas.microsoft.com/office/drawing/2014/main" id="{E775BBC2-9F01-B08D-6339-AE7B514A333A}"/>
              </a:ext>
            </a:extLst>
          </p:cNvPr>
          <p:cNvSpPr/>
          <p:nvPr/>
        </p:nvSpPr>
        <p:spPr>
          <a:xfrm>
            <a:off x="4497472" y="3115682"/>
            <a:ext cx="769204" cy="591273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  <a:effectLst>
            <a:outerShdw blurRad="50800" dist="38100" dir="2700000" algn="ctr" rotWithShape="0">
              <a:schemeClr val="tx1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/>
            </a:endParaRPr>
          </a:p>
        </p:txBody>
      </p:sp>
      <p:sp>
        <p:nvSpPr>
          <p:cNvPr id="198" name="ZT_REFUC">
            <a:extLst>
              <a:ext uri="{FF2B5EF4-FFF2-40B4-BE49-F238E27FC236}">
                <a16:creationId xmlns:a16="http://schemas.microsoft.com/office/drawing/2014/main" id="{AFE1FDD4-E458-19FC-0912-4C58E996656B}"/>
              </a:ext>
            </a:extLst>
          </p:cNvPr>
          <p:cNvSpPr txBox="1"/>
          <p:nvPr/>
        </p:nvSpPr>
        <p:spPr>
          <a:xfrm>
            <a:off x="4585812" y="3143267"/>
            <a:ext cx="664123" cy="246221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REFUC</a:t>
            </a:r>
          </a:p>
        </p:txBody>
      </p:sp>
      <p:sp>
        <p:nvSpPr>
          <p:cNvPr id="199" name="BA_VL">
            <a:extLst>
              <a:ext uri="{FF2B5EF4-FFF2-40B4-BE49-F238E27FC236}">
                <a16:creationId xmlns:a16="http://schemas.microsoft.com/office/drawing/2014/main" id="{310AF2A2-53FB-3369-D4AF-06CCC433A3CC}"/>
              </a:ext>
            </a:extLst>
          </p:cNvPr>
          <p:cNvSpPr/>
          <p:nvPr/>
        </p:nvSpPr>
        <p:spPr>
          <a:xfrm>
            <a:off x="4562134" y="3360904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VL</a:t>
            </a:r>
            <a:endParaRPr kumimoji="0" lang="fr-FR" sz="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Référ</a:t>
            </a: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. UC</a:t>
            </a:r>
          </a:p>
        </p:txBody>
      </p:sp>
      <p:sp>
        <p:nvSpPr>
          <p:cNvPr id="200" name="Gr_EBX">
            <a:extLst>
              <a:ext uri="{FF2B5EF4-FFF2-40B4-BE49-F238E27FC236}">
                <a16:creationId xmlns:a16="http://schemas.microsoft.com/office/drawing/2014/main" id="{105CBC8C-E0A6-8116-475F-148E29A8FADE}"/>
              </a:ext>
            </a:extLst>
          </p:cNvPr>
          <p:cNvSpPr/>
          <p:nvPr/>
        </p:nvSpPr>
        <p:spPr>
          <a:xfrm>
            <a:off x="3593887" y="3113812"/>
            <a:ext cx="834318" cy="61200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  <a:effectLst>
            <a:outerShdw blurRad="50800" dist="38100" dir="2700000" algn="ctr" rotWithShape="0">
              <a:schemeClr val="tx1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/>
            </a:endParaRPr>
          </a:p>
        </p:txBody>
      </p:sp>
      <p:sp>
        <p:nvSpPr>
          <p:cNvPr id="201" name="ZT_EBX">
            <a:extLst>
              <a:ext uri="{FF2B5EF4-FFF2-40B4-BE49-F238E27FC236}">
                <a16:creationId xmlns:a16="http://schemas.microsoft.com/office/drawing/2014/main" id="{97D95983-CF98-EFA4-0306-EBBBCF9DA2E5}"/>
              </a:ext>
            </a:extLst>
          </p:cNvPr>
          <p:cNvSpPr txBox="1"/>
          <p:nvPr/>
        </p:nvSpPr>
        <p:spPr>
          <a:xfrm>
            <a:off x="3603261" y="3141397"/>
            <a:ext cx="824943" cy="246221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EBX</a:t>
            </a:r>
          </a:p>
        </p:txBody>
      </p:sp>
      <p:sp>
        <p:nvSpPr>
          <p:cNvPr id="202" name="BA_EBX">
            <a:extLst>
              <a:ext uri="{FF2B5EF4-FFF2-40B4-BE49-F238E27FC236}">
                <a16:creationId xmlns:a16="http://schemas.microsoft.com/office/drawing/2014/main" id="{16A70083-03A3-86FB-66B6-87C1522F811B}"/>
              </a:ext>
            </a:extLst>
          </p:cNvPr>
          <p:cNvSpPr/>
          <p:nvPr/>
        </p:nvSpPr>
        <p:spPr>
          <a:xfrm>
            <a:off x="3697255" y="3370753"/>
            <a:ext cx="648000" cy="276281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EBX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EBX-Platform</a:t>
            </a:r>
          </a:p>
        </p:txBody>
      </p:sp>
      <p:sp>
        <p:nvSpPr>
          <p:cNvPr id="203" name="ZoneProjet">
            <a:extLst>
              <a:ext uri="{FF2B5EF4-FFF2-40B4-BE49-F238E27FC236}">
                <a16:creationId xmlns:a16="http://schemas.microsoft.com/office/drawing/2014/main" id="{D439F909-8E6C-7686-7374-DF8FD897248D}"/>
              </a:ext>
            </a:extLst>
          </p:cNvPr>
          <p:cNvSpPr txBox="1"/>
          <p:nvPr/>
        </p:nvSpPr>
        <p:spPr>
          <a:xfrm>
            <a:off x="858498" y="524643"/>
            <a:ext cx="1928413" cy="253916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>
            <a:defPPr>
              <a:defRPr lang="fr-FR"/>
            </a:defPPr>
            <a:lvl1pPr lvl="0" algn="ctr">
              <a:defRPr b="1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fr-FR" dirty="0"/>
              <a:t>Arbitrage E gestion conseillée</a:t>
            </a:r>
          </a:p>
        </p:txBody>
      </p:sp>
      <p:sp>
        <p:nvSpPr>
          <p:cNvPr id="204" name="ZT_Titre">
            <a:extLst>
              <a:ext uri="{FF2B5EF4-FFF2-40B4-BE49-F238E27FC236}">
                <a16:creationId xmlns:a16="http://schemas.microsoft.com/office/drawing/2014/main" id="{B41572A8-C05B-D2C1-0E82-20054E41BFED}"/>
              </a:ext>
            </a:extLst>
          </p:cNvPr>
          <p:cNvSpPr txBox="1"/>
          <p:nvPr/>
        </p:nvSpPr>
        <p:spPr>
          <a:xfrm>
            <a:off x="0" y="-124544"/>
            <a:ext cx="12192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800" b="0" i="0" u="none" strike="noStrike" kern="1200" cap="none" spc="0" normalizeH="0" baseline="0" noProof="0" dirty="0">
                <a:ln>
                  <a:noFill/>
                </a:ln>
                <a:solidFill>
                  <a:srgbClr val="5B9BD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Identification des composants applicatifs</a:t>
            </a:r>
          </a:p>
        </p:txBody>
      </p:sp>
      <p:sp>
        <p:nvSpPr>
          <p:cNvPr id="205" name="Gr_BDOC">
            <a:extLst>
              <a:ext uri="{FF2B5EF4-FFF2-40B4-BE49-F238E27FC236}">
                <a16:creationId xmlns:a16="http://schemas.microsoft.com/office/drawing/2014/main" id="{551F10A9-CD1C-3E69-CEA7-3FDEAE7E0A84}"/>
              </a:ext>
            </a:extLst>
          </p:cNvPr>
          <p:cNvSpPr/>
          <p:nvPr/>
        </p:nvSpPr>
        <p:spPr>
          <a:xfrm>
            <a:off x="5353697" y="3111592"/>
            <a:ext cx="744111" cy="61200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  <a:effectLst>
            <a:outerShdw blurRad="50800" dist="38100" dir="2700000" algn="ctr" rotWithShape="0">
              <a:schemeClr val="tx1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/>
            </a:endParaRPr>
          </a:p>
        </p:txBody>
      </p:sp>
      <p:sp>
        <p:nvSpPr>
          <p:cNvPr id="206" name="ZT_BDOC">
            <a:extLst>
              <a:ext uri="{FF2B5EF4-FFF2-40B4-BE49-F238E27FC236}">
                <a16:creationId xmlns:a16="http://schemas.microsoft.com/office/drawing/2014/main" id="{05F62B8E-D331-5CA0-BC02-80A5DA0ABAA4}"/>
              </a:ext>
            </a:extLst>
          </p:cNvPr>
          <p:cNvSpPr txBox="1"/>
          <p:nvPr/>
        </p:nvSpPr>
        <p:spPr>
          <a:xfrm>
            <a:off x="5429887" y="3139177"/>
            <a:ext cx="623531" cy="246221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BDOC</a:t>
            </a:r>
          </a:p>
        </p:txBody>
      </p:sp>
      <p:sp>
        <p:nvSpPr>
          <p:cNvPr id="207" name="BA_BX">
            <a:extLst>
              <a:ext uri="{FF2B5EF4-FFF2-40B4-BE49-F238E27FC236}">
                <a16:creationId xmlns:a16="http://schemas.microsoft.com/office/drawing/2014/main" id="{B0F9670B-5396-2132-363B-082122A46C51}"/>
              </a:ext>
            </a:extLst>
          </p:cNvPr>
          <p:cNvSpPr/>
          <p:nvPr/>
        </p:nvSpPr>
        <p:spPr>
          <a:xfrm>
            <a:off x="5405378" y="3393901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BX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BDOC WEB</a:t>
            </a:r>
          </a:p>
        </p:txBody>
      </p:sp>
      <p:sp>
        <p:nvSpPr>
          <p:cNvPr id="208" name="ZT_MàJ">
            <a:extLst>
              <a:ext uri="{FF2B5EF4-FFF2-40B4-BE49-F238E27FC236}">
                <a16:creationId xmlns:a16="http://schemas.microsoft.com/office/drawing/2014/main" id="{9512AC66-AEC2-99AB-34FD-05A11AEEF07E}"/>
              </a:ext>
            </a:extLst>
          </p:cNvPr>
          <p:cNvSpPr txBox="1"/>
          <p:nvPr/>
        </p:nvSpPr>
        <p:spPr>
          <a:xfrm>
            <a:off x="390525" y="6491355"/>
            <a:ext cx="169950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Mise à jour : xx/xx/2026</a:t>
            </a:r>
          </a:p>
        </p:txBody>
      </p:sp>
      <p:sp>
        <p:nvSpPr>
          <p:cNvPr id="209" name="ZT_Validité">
            <a:extLst>
              <a:ext uri="{FF2B5EF4-FFF2-40B4-BE49-F238E27FC236}">
                <a16:creationId xmlns:a16="http://schemas.microsoft.com/office/drawing/2014/main" id="{523E477E-FCF8-DDC1-4CE1-A3FEC7AF21FC}"/>
              </a:ext>
            </a:extLst>
          </p:cNvPr>
          <p:cNvSpPr txBox="1"/>
          <p:nvPr/>
        </p:nvSpPr>
        <p:spPr>
          <a:xfrm>
            <a:off x="10479876" y="6501427"/>
            <a:ext cx="126444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Validité : T2 2026</a:t>
            </a:r>
          </a:p>
        </p:txBody>
      </p:sp>
      <p:sp>
        <p:nvSpPr>
          <p:cNvPr id="210" name="Légende_Comp3">
            <a:extLst>
              <a:ext uri="{FF2B5EF4-FFF2-40B4-BE49-F238E27FC236}">
                <a16:creationId xmlns:a16="http://schemas.microsoft.com/office/drawing/2014/main" id="{4005D237-7C98-7F7F-1168-CE760DC80596}"/>
              </a:ext>
            </a:extLst>
          </p:cNvPr>
          <p:cNvSpPr/>
          <p:nvPr/>
        </p:nvSpPr>
        <p:spPr>
          <a:xfrm>
            <a:off x="6567797" y="549933"/>
            <a:ext cx="1080000" cy="360000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Composant </a:t>
            </a:r>
            <a:b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créé ou modifié</a:t>
            </a:r>
          </a:p>
        </p:txBody>
      </p:sp>
      <p:sp>
        <p:nvSpPr>
          <p:cNvPr id="211" name="Légende_Comp2">
            <a:extLst>
              <a:ext uri="{FF2B5EF4-FFF2-40B4-BE49-F238E27FC236}">
                <a16:creationId xmlns:a16="http://schemas.microsoft.com/office/drawing/2014/main" id="{BB5C14A3-5482-0762-FC34-1C22B3FC8B09}"/>
              </a:ext>
            </a:extLst>
          </p:cNvPr>
          <p:cNvSpPr/>
          <p:nvPr/>
        </p:nvSpPr>
        <p:spPr>
          <a:xfrm>
            <a:off x="5383906" y="547517"/>
            <a:ext cx="1080000" cy="360000"/>
          </a:xfrm>
          <a:prstGeom prst="round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Composant utilisé</a:t>
            </a:r>
          </a:p>
        </p:txBody>
      </p:sp>
      <p:sp>
        <p:nvSpPr>
          <p:cNvPr id="212" name="Légende_Comp1">
            <a:extLst>
              <a:ext uri="{FF2B5EF4-FFF2-40B4-BE49-F238E27FC236}">
                <a16:creationId xmlns:a16="http://schemas.microsoft.com/office/drawing/2014/main" id="{D2ADC855-465C-9105-D43E-E665CCC0FB95}"/>
              </a:ext>
            </a:extLst>
          </p:cNvPr>
          <p:cNvSpPr/>
          <p:nvPr/>
        </p:nvSpPr>
        <p:spPr>
          <a:xfrm>
            <a:off x="4200015" y="542942"/>
            <a:ext cx="1080000" cy="360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Composant non exploité</a:t>
            </a:r>
          </a:p>
        </p:txBody>
      </p:sp>
      <p:sp>
        <p:nvSpPr>
          <p:cNvPr id="213" name="BA_T2">
            <a:extLst>
              <a:ext uri="{FF2B5EF4-FFF2-40B4-BE49-F238E27FC236}">
                <a16:creationId xmlns:a16="http://schemas.microsoft.com/office/drawing/2014/main" id="{8E75317E-6732-7F2C-89BB-89B4A0357AA2}"/>
              </a:ext>
            </a:extLst>
          </p:cNvPr>
          <p:cNvSpPr/>
          <p:nvPr/>
        </p:nvSpPr>
        <p:spPr>
          <a:xfrm>
            <a:off x="9490384" y="3696185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T2</a:t>
            </a:r>
            <a:endParaRPr kumimoji="0" lang="fr-FR" sz="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KConnect</a:t>
            </a: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 MUTU</a:t>
            </a:r>
          </a:p>
        </p:txBody>
      </p:sp>
      <p:sp>
        <p:nvSpPr>
          <p:cNvPr id="214" name="BA_T3">
            <a:extLst>
              <a:ext uri="{FF2B5EF4-FFF2-40B4-BE49-F238E27FC236}">
                <a16:creationId xmlns:a16="http://schemas.microsoft.com/office/drawing/2014/main" id="{65C5361D-D3B2-90F3-F960-66A923DB21F4}"/>
              </a:ext>
            </a:extLst>
          </p:cNvPr>
          <p:cNvSpPr/>
          <p:nvPr/>
        </p:nvSpPr>
        <p:spPr>
          <a:xfrm>
            <a:off x="10160477" y="3696185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T3</a:t>
            </a:r>
            <a:endParaRPr kumimoji="0" lang="fr-FR" sz="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KConnect</a:t>
            </a: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 CAA</a:t>
            </a:r>
          </a:p>
        </p:txBody>
      </p:sp>
      <p:sp>
        <p:nvSpPr>
          <p:cNvPr id="215" name="BA_F8">
            <a:extLst>
              <a:ext uri="{FF2B5EF4-FFF2-40B4-BE49-F238E27FC236}">
                <a16:creationId xmlns:a16="http://schemas.microsoft.com/office/drawing/2014/main" id="{4BA3A61A-974D-B24C-BA89-356965BF52D6}"/>
              </a:ext>
            </a:extLst>
          </p:cNvPr>
          <p:cNvSpPr/>
          <p:nvPr/>
        </p:nvSpPr>
        <p:spPr>
          <a:xfrm>
            <a:off x="8803280" y="2047150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F8</a:t>
            </a:r>
            <a:endParaRPr kumimoji="0" lang="fr-FR" sz="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API MOOP</a:t>
            </a:r>
          </a:p>
        </p:txBody>
      </p:sp>
      <p:sp>
        <p:nvSpPr>
          <p:cNvPr id="216" name="Gr_ETL">
            <a:extLst>
              <a:ext uri="{FF2B5EF4-FFF2-40B4-BE49-F238E27FC236}">
                <a16:creationId xmlns:a16="http://schemas.microsoft.com/office/drawing/2014/main" id="{6BAB4F64-CFEE-76E2-7CF8-563205983485}"/>
              </a:ext>
            </a:extLst>
          </p:cNvPr>
          <p:cNvSpPr/>
          <p:nvPr/>
        </p:nvSpPr>
        <p:spPr>
          <a:xfrm>
            <a:off x="1617823" y="2849127"/>
            <a:ext cx="862923" cy="561929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  <a:effectLst>
            <a:outerShdw blurRad="50800" dist="38100" dir="2700000" algn="ctr" rotWithShape="0">
              <a:schemeClr val="tx1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/>
            </a:endParaRPr>
          </a:p>
        </p:txBody>
      </p:sp>
      <p:sp>
        <p:nvSpPr>
          <p:cNvPr id="217" name="ZT_ETL">
            <a:extLst>
              <a:ext uri="{FF2B5EF4-FFF2-40B4-BE49-F238E27FC236}">
                <a16:creationId xmlns:a16="http://schemas.microsoft.com/office/drawing/2014/main" id="{25E9D9E4-DA39-F6A7-643D-E9E0AB08F8E5}"/>
              </a:ext>
            </a:extLst>
          </p:cNvPr>
          <p:cNvSpPr txBox="1"/>
          <p:nvPr/>
        </p:nvSpPr>
        <p:spPr>
          <a:xfrm>
            <a:off x="1611935" y="2858784"/>
            <a:ext cx="898650" cy="246221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ETL</a:t>
            </a:r>
          </a:p>
        </p:txBody>
      </p:sp>
      <p:sp>
        <p:nvSpPr>
          <p:cNvPr id="218" name="BA_PWC2">
            <a:extLst>
              <a:ext uri="{FF2B5EF4-FFF2-40B4-BE49-F238E27FC236}">
                <a16:creationId xmlns:a16="http://schemas.microsoft.com/office/drawing/2014/main" id="{3E997153-9315-1A6B-1C7E-167610DA58D9}"/>
              </a:ext>
            </a:extLst>
          </p:cNvPr>
          <p:cNvSpPr/>
          <p:nvPr/>
        </p:nvSpPr>
        <p:spPr>
          <a:xfrm>
            <a:off x="1715817" y="3076593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PWC2</a:t>
            </a:r>
            <a:endParaRPr kumimoji="0" lang="fr-FR" sz="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ETL PREDICA</a:t>
            </a:r>
          </a:p>
        </p:txBody>
      </p:sp>
      <p:sp>
        <p:nvSpPr>
          <p:cNvPr id="219" name="Légende_Date1">
            <a:extLst>
              <a:ext uri="{FF2B5EF4-FFF2-40B4-BE49-F238E27FC236}">
                <a16:creationId xmlns:a16="http://schemas.microsoft.com/office/drawing/2014/main" id="{109EA714-BCEC-FE18-2DC5-0418FEA996F5}"/>
              </a:ext>
            </a:extLst>
          </p:cNvPr>
          <p:cNvSpPr txBox="1"/>
          <p:nvPr/>
        </p:nvSpPr>
        <p:spPr>
          <a:xfrm rot="19102564">
            <a:off x="7647306" y="559123"/>
            <a:ext cx="927160" cy="369332"/>
          </a:xfrm>
          <a:prstGeom prst="rect">
            <a:avLst/>
          </a:prstGeom>
          <a:noFill/>
          <a:ln cap="flat">
            <a:noFill/>
            <a:prstDash val="solid"/>
          </a:ln>
          <a:effectLst>
            <a:softEdge rad="0"/>
          </a:effectLst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900" b="0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Date de </a:t>
            </a:r>
            <a:r>
              <a:rPr kumimoji="0" lang="fr-FR" sz="900" b="0" i="0" u="none" strike="noStrike" kern="1200" cap="none" spc="0" normalizeH="0" baseline="0" noProof="0" dirty="0" err="1">
                <a:ln>
                  <a:noFill/>
                </a:ln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MeP</a:t>
            </a:r>
            <a:r>
              <a:rPr kumimoji="0" lang="fr-FR" sz="900" b="0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 prévue</a:t>
            </a:r>
          </a:p>
        </p:txBody>
      </p:sp>
      <p:sp>
        <p:nvSpPr>
          <p:cNvPr id="222" name="Légende_Date2">
            <a:extLst>
              <a:ext uri="{FF2B5EF4-FFF2-40B4-BE49-F238E27FC236}">
                <a16:creationId xmlns:a16="http://schemas.microsoft.com/office/drawing/2014/main" id="{C0334A5C-F028-DD46-1D00-88F117B68BEC}"/>
              </a:ext>
            </a:extLst>
          </p:cNvPr>
          <p:cNvSpPr txBox="1"/>
          <p:nvPr/>
        </p:nvSpPr>
        <p:spPr>
          <a:xfrm rot="19102564">
            <a:off x="8343008" y="568799"/>
            <a:ext cx="927160" cy="369332"/>
          </a:xfrm>
          <a:prstGeom prst="rect">
            <a:avLst/>
          </a:prstGeom>
          <a:noFill/>
          <a:ln cap="flat">
            <a:noFill/>
            <a:prstDash val="solid"/>
          </a:ln>
          <a:effectLst>
            <a:softEdge rad="0"/>
          </a:effectLst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900" b="0" i="0" u="none" strike="noStrike" kern="1200" cap="none" spc="0" normalizeH="0" baseline="0" noProof="0" dirty="0">
                <a:ln>
                  <a:noFill/>
                </a:ln>
                <a:solidFill>
                  <a:srgbClr val="70AD4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Date de </a:t>
            </a:r>
            <a:r>
              <a:rPr kumimoji="0" lang="fr-FR" sz="900" b="0" i="0" u="none" strike="noStrike" kern="1200" cap="none" spc="0" normalizeH="0" baseline="0" noProof="0" dirty="0" err="1">
                <a:ln>
                  <a:noFill/>
                </a:ln>
                <a:solidFill>
                  <a:srgbClr val="70AD4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MeP</a:t>
            </a:r>
            <a:r>
              <a:rPr kumimoji="0" lang="fr-FR" sz="900" b="0" i="0" u="none" strike="noStrike" kern="1200" cap="none" spc="0" normalizeH="0" baseline="0" noProof="0" dirty="0">
                <a:ln>
                  <a:noFill/>
                </a:ln>
                <a:solidFill>
                  <a:srgbClr val="70AD4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 effective</a:t>
            </a:r>
          </a:p>
        </p:txBody>
      </p:sp>
      <p:sp>
        <p:nvSpPr>
          <p:cNvPr id="223" name="Gr_CATS">
            <a:extLst>
              <a:ext uri="{FF2B5EF4-FFF2-40B4-BE49-F238E27FC236}">
                <a16:creationId xmlns:a16="http://schemas.microsoft.com/office/drawing/2014/main" id="{7A5636D9-0533-BE97-8350-6AAD8076808C}"/>
              </a:ext>
            </a:extLst>
          </p:cNvPr>
          <p:cNvSpPr/>
          <p:nvPr/>
        </p:nvSpPr>
        <p:spPr>
          <a:xfrm>
            <a:off x="447324" y="5119889"/>
            <a:ext cx="5579420" cy="1254012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4" name="ZT_CATS">
            <a:extLst>
              <a:ext uri="{FF2B5EF4-FFF2-40B4-BE49-F238E27FC236}">
                <a16:creationId xmlns:a16="http://schemas.microsoft.com/office/drawing/2014/main" id="{7235DCCC-B2CA-CD66-4215-B310E7453955}"/>
              </a:ext>
            </a:extLst>
          </p:cNvPr>
          <p:cNvSpPr txBox="1"/>
          <p:nvPr/>
        </p:nvSpPr>
        <p:spPr>
          <a:xfrm>
            <a:off x="370835" y="5083258"/>
            <a:ext cx="5409144" cy="246221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CA-TS</a:t>
            </a:r>
            <a:endParaRPr kumimoji="0" lang="fr-FR" sz="1000" b="1" i="1" u="none" strike="noStrike" kern="1200" cap="none" spc="0" normalizeH="0" baseline="0" noProof="0" dirty="0">
              <a:ln>
                <a:noFill/>
              </a:ln>
              <a:solidFill>
                <a:srgbClr val="7030A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5" name="BA_PDI9">
            <a:extLst>
              <a:ext uri="{FF2B5EF4-FFF2-40B4-BE49-F238E27FC236}">
                <a16:creationId xmlns:a16="http://schemas.microsoft.com/office/drawing/2014/main" id="{77B686C8-CCB8-F9B7-6739-FDC44EA37519}"/>
              </a:ext>
            </a:extLst>
          </p:cNvPr>
          <p:cNvSpPr/>
          <p:nvPr/>
        </p:nvSpPr>
        <p:spPr>
          <a:xfrm>
            <a:off x="506780" y="5666800"/>
            <a:ext cx="648000" cy="288000"/>
          </a:xfrm>
          <a:prstGeom prst="roundRect">
            <a:avLst/>
          </a:prstGeom>
          <a:solidFill>
            <a:srgbClr val="B6D3EC"/>
          </a:solidFill>
          <a:ln w="6350"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PDI9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6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/>
              </a:rPr>
              <a:t>-</a:t>
            </a:r>
            <a:endParaRPr kumimoji="0" lang="fr-FR" sz="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6" name="BA_XConnect">
            <a:extLst>
              <a:ext uri="{FF2B5EF4-FFF2-40B4-BE49-F238E27FC236}">
                <a16:creationId xmlns:a16="http://schemas.microsoft.com/office/drawing/2014/main" id="{47E0BBAF-0EB6-CFE8-1D4E-435B4B88A23B}"/>
              </a:ext>
            </a:extLst>
          </p:cNvPr>
          <p:cNvSpPr/>
          <p:nvPr/>
        </p:nvSpPr>
        <p:spPr>
          <a:xfrm>
            <a:off x="1189563" y="5663009"/>
            <a:ext cx="648000" cy="288000"/>
          </a:xfrm>
          <a:prstGeom prst="roundRect">
            <a:avLst/>
          </a:prstGeom>
          <a:solidFill>
            <a:srgbClr val="B6D3EC"/>
          </a:solidFill>
          <a:ln w="6350"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Xconnect</a:t>
            </a:r>
            <a:endParaRPr kumimoji="0" lang="fr-FR" sz="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6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/>
              </a:rPr>
              <a:t>-</a:t>
            </a:r>
            <a:endParaRPr kumimoji="0" lang="fr-FR" sz="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7" name="BA_SIMM">
            <a:extLst>
              <a:ext uri="{FF2B5EF4-FFF2-40B4-BE49-F238E27FC236}">
                <a16:creationId xmlns:a16="http://schemas.microsoft.com/office/drawing/2014/main" id="{21363F50-8BC7-43FF-3D1B-69697BC3008A}"/>
              </a:ext>
            </a:extLst>
          </p:cNvPr>
          <p:cNvSpPr/>
          <p:nvPr/>
        </p:nvSpPr>
        <p:spPr>
          <a:xfrm>
            <a:off x="2557693" y="5660385"/>
            <a:ext cx="648000" cy="288000"/>
          </a:xfrm>
          <a:prstGeom prst="roundRect">
            <a:avLst/>
          </a:prstGeom>
          <a:solidFill>
            <a:srgbClr val="B6D3EC"/>
          </a:solidFill>
          <a:ln w="6350"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SIMM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6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/>
              </a:rPr>
              <a:t>-</a:t>
            </a:r>
            <a:endParaRPr kumimoji="0" lang="fr-FR" sz="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8" name="BA_BAM">
            <a:extLst>
              <a:ext uri="{FF2B5EF4-FFF2-40B4-BE49-F238E27FC236}">
                <a16:creationId xmlns:a16="http://schemas.microsoft.com/office/drawing/2014/main" id="{61ADB0C6-E03B-829D-6A6A-071954CC54CC}"/>
              </a:ext>
            </a:extLst>
          </p:cNvPr>
          <p:cNvSpPr/>
          <p:nvPr/>
        </p:nvSpPr>
        <p:spPr>
          <a:xfrm>
            <a:off x="2833493" y="5340532"/>
            <a:ext cx="648000" cy="288000"/>
          </a:xfrm>
          <a:prstGeom prst="roundRect">
            <a:avLst/>
          </a:prstGeom>
          <a:solidFill>
            <a:srgbClr val="B6D3EC"/>
          </a:solidFill>
          <a:ln w="6350"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BAM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6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/>
              </a:rPr>
              <a:t>-</a:t>
            </a:r>
            <a:endParaRPr kumimoji="0" lang="fr-FR" sz="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9" name="BA_RAC">
            <a:extLst>
              <a:ext uri="{FF2B5EF4-FFF2-40B4-BE49-F238E27FC236}">
                <a16:creationId xmlns:a16="http://schemas.microsoft.com/office/drawing/2014/main" id="{C0AF25FA-BA4E-9D87-11D6-9081D672AE15}"/>
              </a:ext>
            </a:extLst>
          </p:cNvPr>
          <p:cNvSpPr/>
          <p:nvPr/>
        </p:nvSpPr>
        <p:spPr>
          <a:xfrm>
            <a:off x="4892893" y="5338051"/>
            <a:ext cx="648000" cy="288000"/>
          </a:xfrm>
          <a:prstGeom prst="roundRect">
            <a:avLst/>
          </a:prstGeom>
          <a:solidFill>
            <a:srgbClr val="B6D3EC"/>
          </a:solidFill>
          <a:ln w="6350"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RAC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6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/>
              </a:rPr>
              <a:t>-</a:t>
            </a:r>
            <a:endParaRPr kumimoji="0" lang="fr-FR" sz="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0" name="BA_DétContratNatifMB">
            <a:extLst>
              <a:ext uri="{FF2B5EF4-FFF2-40B4-BE49-F238E27FC236}">
                <a16:creationId xmlns:a16="http://schemas.microsoft.com/office/drawing/2014/main" id="{AACA0BAB-5D00-F4B9-E0D8-01BAE04DD07A}"/>
              </a:ext>
            </a:extLst>
          </p:cNvPr>
          <p:cNvSpPr/>
          <p:nvPr/>
        </p:nvSpPr>
        <p:spPr>
          <a:xfrm>
            <a:off x="506780" y="5329301"/>
            <a:ext cx="1326281" cy="288000"/>
          </a:xfrm>
          <a:prstGeom prst="roundRect">
            <a:avLst/>
          </a:prstGeom>
          <a:solidFill>
            <a:srgbClr val="B6D3EC"/>
          </a:solidFill>
          <a:ln w="6350"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Dét</a:t>
            </a: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. Contrat natif MB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6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/>
              </a:rPr>
              <a:t>-</a:t>
            </a:r>
            <a:endParaRPr kumimoji="0" lang="fr-FR" sz="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1" name="BA_BPM">
            <a:extLst>
              <a:ext uri="{FF2B5EF4-FFF2-40B4-BE49-F238E27FC236}">
                <a16:creationId xmlns:a16="http://schemas.microsoft.com/office/drawing/2014/main" id="{6C4C8361-29AC-ECEB-C747-3858EB84FB44}"/>
              </a:ext>
            </a:extLst>
          </p:cNvPr>
          <p:cNvSpPr/>
          <p:nvPr/>
        </p:nvSpPr>
        <p:spPr>
          <a:xfrm>
            <a:off x="1875772" y="5663009"/>
            <a:ext cx="648000" cy="288000"/>
          </a:xfrm>
          <a:prstGeom prst="roundRect">
            <a:avLst/>
          </a:prstGeom>
          <a:solidFill>
            <a:srgbClr val="B6D3EC"/>
          </a:solidFill>
          <a:ln w="6350"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BPM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6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/>
              </a:rPr>
              <a:t>-</a:t>
            </a:r>
            <a:endParaRPr kumimoji="0" lang="fr-FR" sz="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2" name="BA_APX9">
            <a:extLst>
              <a:ext uri="{FF2B5EF4-FFF2-40B4-BE49-F238E27FC236}">
                <a16:creationId xmlns:a16="http://schemas.microsoft.com/office/drawing/2014/main" id="{477DFABB-6E7F-32E1-5E87-3599668DB460}"/>
              </a:ext>
            </a:extLst>
          </p:cNvPr>
          <p:cNvSpPr/>
          <p:nvPr/>
        </p:nvSpPr>
        <p:spPr>
          <a:xfrm>
            <a:off x="511818" y="6003252"/>
            <a:ext cx="648000" cy="288000"/>
          </a:xfrm>
          <a:prstGeom prst="roundRect">
            <a:avLst/>
          </a:prstGeom>
          <a:solidFill>
            <a:srgbClr val="B6D3EC"/>
          </a:solidFill>
          <a:ln w="6350"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APX9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6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/>
              </a:rPr>
              <a:t>-</a:t>
            </a:r>
            <a:endParaRPr kumimoji="0" lang="fr-FR" sz="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3" name="BA_HUB">
            <a:extLst>
              <a:ext uri="{FF2B5EF4-FFF2-40B4-BE49-F238E27FC236}">
                <a16:creationId xmlns:a16="http://schemas.microsoft.com/office/drawing/2014/main" id="{4043C35F-88AE-C4C6-CC9F-2E85A67EE4F1}"/>
              </a:ext>
            </a:extLst>
          </p:cNvPr>
          <p:cNvSpPr/>
          <p:nvPr/>
        </p:nvSpPr>
        <p:spPr>
          <a:xfrm>
            <a:off x="3242082" y="5660385"/>
            <a:ext cx="648000" cy="288000"/>
          </a:xfrm>
          <a:prstGeom prst="roundRect">
            <a:avLst/>
          </a:prstGeom>
          <a:solidFill>
            <a:srgbClr val="B6D3EC"/>
          </a:solidFill>
          <a:ln w="6350"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HUB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6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/>
              </a:rPr>
              <a:t>-</a:t>
            </a:r>
            <a:endParaRPr kumimoji="0" lang="fr-FR" sz="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4" name="BA_NPC">
            <a:extLst>
              <a:ext uri="{FF2B5EF4-FFF2-40B4-BE49-F238E27FC236}">
                <a16:creationId xmlns:a16="http://schemas.microsoft.com/office/drawing/2014/main" id="{1104829C-85BC-EBBA-7123-BA1CCFBA0A7F}"/>
              </a:ext>
            </a:extLst>
          </p:cNvPr>
          <p:cNvSpPr/>
          <p:nvPr/>
        </p:nvSpPr>
        <p:spPr>
          <a:xfrm>
            <a:off x="3515693" y="5337169"/>
            <a:ext cx="648000" cy="288000"/>
          </a:xfrm>
          <a:prstGeom prst="roundRect">
            <a:avLst/>
          </a:prstGeom>
          <a:solidFill>
            <a:srgbClr val="B6D3EC"/>
          </a:solidFill>
          <a:ln w="6350"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NPC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6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/>
              </a:rPr>
              <a:t>-</a:t>
            </a:r>
            <a:endParaRPr kumimoji="0" lang="fr-FR" sz="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5" name="BA_Microservices">
            <a:extLst>
              <a:ext uri="{FF2B5EF4-FFF2-40B4-BE49-F238E27FC236}">
                <a16:creationId xmlns:a16="http://schemas.microsoft.com/office/drawing/2014/main" id="{8D6647EF-3AB1-D183-B45B-C1DC15F4DD78}"/>
              </a:ext>
            </a:extLst>
          </p:cNvPr>
          <p:cNvSpPr/>
          <p:nvPr/>
        </p:nvSpPr>
        <p:spPr>
          <a:xfrm>
            <a:off x="1867224" y="5336000"/>
            <a:ext cx="925408" cy="288000"/>
          </a:xfrm>
          <a:prstGeom prst="roundRect">
            <a:avLst/>
          </a:prstGeom>
          <a:solidFill>
            <a:srgbClr val="B6D3EC"/>
          </a:solidFill>
          <a:ln w="6350"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Microservices</a:t>
            </a:r>
            <a:endParaRPr kumimoji="0" lang="fr-FR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6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/>
              </a:rPr>
              <a:t>-</a:t>
            </a:r>
            <a:endParaRPr kumimoji="0" lang="fr-FR" sz="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6" name="BA_SIG9">
            <a:extLst>
              <a:ext uri="{FF2B5EF4-FFF2-40B4-BE49-F238E27FC236}">
                <a16:creationId xmlns:a16="http://schemas.microsoft.com/office/drawing/2014/main" id="{79FE3BA8-EAF4-8281-7DA3-931526236B7C}"/>
              </a:ext>
            </a:extLst>
          </p:cNvPr>
          <p:cNvSpPr/>
          <p:nvPr/>
        </p:nvSpPr>
        <p:spPr>
          <a:xfrm>
            <a:off x="4203138" y="5331299"/>
            <a:ext cx="648000" cy="288000"/>
          </a:xfrm>
          <a:prstGeom prst="roundRect">
            <a:avLst/>
          </a:prstGeom>
          <a:solidFill>
            <a:srgbClr val="B6D3EC"/>
          </a:solidFill>
          <a:ln w="6350"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SIG9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6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/>
              </a:rPr>
              <a:t>-</a:t>
            </a:r>
            <a:endParaRPr kumimoji="0" lang="fr-FR" sz="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7" name="Gr_MVS">
            <a:extLst>
              <a:ext uri="{FF2B5EF4-FFF2-40B4-BE49-F238E27FC236}">
                <a16:creationId xmlns:a16="http://schemas.microsoft.com/office/drawing/2014/main" id="{10CAF726-7DA2-66F9-25C0-447D066A82CA}"/>
              </a:ext>
            </a:extLst>
          </p:cNvPr>
          <p:cNvSpPr/>
          <p:nvPr/>
        </p:nvSpPr>
        <p:spPr>
          <a:xfrm>
            <a:off x="560497" y="1111645"/>
            <a:ext cx="2901105" cy="1661382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  <a:effectLst>
            <a:outerShdw blurRad="50800" dist="38100" dir="2700000" algn="ctr" rotWithShape="0">
              <a:schemeClr val="tx1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/>
            </a:endParaRPr>
          </a:p>
        </p:txBody>
      </p:sp>
      <p:sp>
        <p:nvSpPr>
          <p:cNvPr id="238" name="BA_CICS_LCL">
            <a:extLst>
              <a:ext uri="{FF2B5EF4-FFF2-40B4-BE49-F238E27FC236}">
                <a16:creationId xmlns:a16="http://schemas.microsoft.com/office/drawing/2014/main" id="{3574FD68-428D-D445-564B-61D64E16A7E7}"/>
              </a:ext>
            </a:extLst>
          </p:cNvPr>
          <p:cNvSpPr/>
          <p:nvPr/>
        </p:nvSpPr>
        <p:spPr>
          <a:xfrm>
            <a:off x="623669" y="1641943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CICS</a:t>
            </a:r>
          </a:p>
        </p:txBody>
      </p:sp>
      <p:sp>
        <p:nvSpPr>
          <p:cNvPr id="239" name="BA_DB2_LCL">
            <a:extLst>
              <a:ext uri="{FF2B5EF4-FFF2-40B4-BE49-F238E27FC236}">
                <a16:creationId xmlns:a16="http://schemas.microsoft.com/office/drawing/2014/main" id="{D6EFA9C1-31B8-14BA-D1D5-347F87F14FEF}"/>
              </a:ext>
            </a:extLst>
          </p:cNvPr>
          <p:cNvSpPr/>
          <p:nvPr/>
        </p:nvSpPr>
        <p:spPr>
          <a:xfrm>
            <a:off x="1307275" y="1641222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DB2</a:t>
            </a:r>
          </a:p>
        </p:txBody>
      </p:sp>
      <p:sp>
        <p:nvSpPr>
          <p:cNvPr id="240" name="ZT_MVS">
            <a:extLst>
              <a:ext uri="{FF2B5EF4-FFF2-40B4-BE49-F238E27FC236}">
                <a16:creationId xmlns:a16="http://schemas.microsoft.com/office/drawing/2014/main" id="{53C3DE20-17FB-04F3-E82B-E61261C51E9E}"/>
              </a:ext>
            </a:extLst>
          </p:cNvPr>
          <p:cNvSpPr txBox="1"/>
          <p:nvPr/>
        </p:nvSpPr>
        <p:spPr>
          <a:xfrm>
            <a:off x="560496" y="1111645"/>
            <a:ext cx="2901106" cy="246221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MVS Z/OS (</a:t>
            </a:r>
            <a:r>
              <a:rPr kumimoji="0" lang="fr-FR" sz="1000" b="1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Ingenium</a:t>
            </a:r>
            <a:r>
              <a:rPr kumimoji="0" lang="fr-FR" sz="1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)</a:t>
            </a:r>
            <a:endParaRPr kumimoji="0" lang="fr-FR" sz="1000" b="1" i="1" u="none" strike="noStrike" kern="1200" cap="none" spc="0" normalizeH="0" baseline="0" noProof="0" dirty="0">
              <a:ln>
                <a:noFill/>
              </a:ln>
              <a:solidFill>
                <a:srgbClr val="ED7D3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1" name="BA_ING_CA">
            <a:extLst>
              <a:ext uri="{FF2B5EF4-FFF2-40B4-BE49-F238E27FC236}">
                <a16:creationId xmlns:a16="http://schemas.microsoft.com/office/drawing/2014/main" id="{FCB4AEA3-7FA8-6F6A-25B4-B5439202FC76}"/>
              </a:ext>
            </a:extLst>
          </p:cNvPr>
          <p:cNvSpPr/>
          <p:nvPr/>
        </p:nvSpPr>
        <p:spPr>
          <a:xfrm>
            <a:off x="2043446" y="1970146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INVI/VC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Ingenium</a:t>
            </a: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 CA</a:t>
            </a:r>
          </a:p>
        </p:txBody>
      </p:sp>
      <p:sp>
        <p:nvSpPr>
          <p:cNvPr id="242" name="BA_PE_CA">
            <a:extLst>
              <a:ext uri="{FF2B5EF4-FFF2-40B4-BE49-F238E27FC236}">
                <a16:creationId xmlns:a16="http://schemas.microsoft.com/office/drawing/2014/main" id="{6BFBD7A2-2855-0DCF-21D0-5170A4526F82}"/>
              </a:ext>
            </a:extLst>
          </p:cNvPr>
          <p:cNvSpPr/>
          <p:nvPr/>
        </p:nvSpPr>
        <p:spPr>
          <a:xfrm>
            <a:off x="2716487" y="1971824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PE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Base Pers CA</a:t>
            </a:r>
          </a:p>
        </p:txBody>
      </p:sp>
      <p:sp>
        <p:nvSpPr>
          <p:cNvPr id="243" name="BA_Autre_CA">
            <a:extLst>
              <a:ext uri="{FF2B5EF4-FFF2-40B4-BE49-F238E27FC236}">
                <a16:creationId xmlns:a16="http://schemas.microsoft.com/office/drawing/2014/main" id="{DD583130-8301-F25B-28F0-320FF4652204}"/>
              </a:ext>
            </a:extLst>
          </p:cNvPr>
          <p:cNvSpPr/>
          <p:nvPr/>
        </p:nvSpPr>
        <p:spPr>
          <a:xfrm>
            <a:off x="2377796" y="2309491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…</a:t>
            </a:r>
          </a:p>
        </p:txBody>
      </p:sp>
      <p:sp>
        <p:nvSpPr>
          <p:cNvPr id="244" name="BA_ING_LCL">
            <a:extLst>
              <a:ext uri="{FF2B5EF4-FFF2-40B4-BE49-F238E27FC236}">
                <a16:creationId xmlns:a16="http://schemas.microsoft.com/office/drawing/2014/main" id="{DD29DE95-B993-CEC4-9847-DD11E56FCADD}"/>
              </a:ext>
            </a:extLst>
          </p:cNvPr>
          <p:cNvSpPr/>
          <p:nvPr/>
        </p:nvSpPr>
        <p:spPr>
          <a:xfrm>
            <a:off x="619469" y="1964817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INVI/VC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Ingenium</a:t>
            </a: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 LCL</a:t>
            </a:r>
          </a:p>
        </p:txBody>
      </p:sp>
      <p:sp>
        <p:nvSpPr>
          <p:cNvPr id="245" name="BA_PE_LCL">
            <a:extLst>
              <a:ext uri="{FF2B5EF4-FFF2-40B4-BE49-F238E27FC236}">
                <a16:creationId xmlns:a16="http://schemas.microsoft.com/office/drawing/2014/main" id="{42203C71-0F78-0DE4-08C8-EF7B30F29859}"/>
              </a:ext>
            </a:extLst>
          </p:cNvPr>
          <p:cNvSpPr/>
          <p:nvPr/>
        </p:nvSpPr>
        <p:spPr>
          <a:xfrm>
            <a:off x="1305439" y="1963152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PE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Base Pers LCL</a:t>
            </a:r>
          </a:p>
        </p:txBody>
      </p:sp>
      <p:sp>
        <p:nvSpPr>
          <p:cNvPr id="246" name="BA_Autre_LCL">
            <a:extLst>
              <a:ext uri="{FF2B5EF4-FFF2-40B4-BE49-F238E27FC236}">
                <a16:creationId xmlns:a16="http://schemas.microsoft.com/office/drawing/2014/main" id="{FDE832AA-89E4-0F3F-D5DA-910C2D944E07}"/>
              </a:ext>
            </a:extLst>
          </p:cNvPr>
          <p:cNvSpPr/>
          <p:nvPr/>
        </p:nvSpPr>
        <p:spPr>
          <a:xfrm>
            <a:off x="1010215" y="2285082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…</a:t>
            </a:r>
          </a:p>
        </p:txBody>
      </p:sp>
      <p:cxnSp>
        <p:nvCxnSpPr>
          <p:cNvPr id="247" name="Connecteur droit">
            <a:extLst>
              <a:ext uri="{FF2B5EF4-FFF2-40B4-BE49-F238E27FC236}">
                <a16:creationId xmlns:a16="http://schemas.microsoft.com/office/drawing/2014/main" id="{611E719B-AC5F-B37E-E8D0-BD194D1278CA}"/>
              </a:ext>
            </a:extLst>
          </p:cNvPr>
          <p:cNvCxnSpPr/>
          <p:nvPr/>
        </p:nvCxnSpPr>
        <p:spPr>
          <a:xfrm>
            <a:off x="1984365" y="1430388"/>
            <a:ext cx="4993" cy="1220450"/>
          </a:xfrm>
          <a:prstGeom prst="line">
            <a:avLst/>
          </a:prstGeom>
          <a:ln w="9525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8" name="ZT_CA">
            <a:extLst>
              <a:ext uri="{FF2B5EF4-FFF2-40B4-BE49-F238E27FC236}">
                <a16:creationId xmlns:a16="http://schemas.microsoft.com/office/drawing/2014/main" id="{563CB9C8-F2D7-2629-15B3-F83ADF892B12}"/>
              </a:ext>
            </a:extLst>
          </p:cNvPr>
          <p:cNvSpPr txBox="1"/>
          <p:nvPr/>
        </p:nvSpPr>
        <p:spPr>
          <a:xfrm>
            <a:off x="2418813" y="1371697"/>
            <a:ext cx="551086" cy="246221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CA</a:t>
            </a:r>
            <a:endParaRPr kumimoji="0" lang="fr-FR" sz="1000" b="1" i="1" u="none" strike="noStrike" kern="1200" cap="none" spc="0" normalizeH="0" baseline="0" noProof="0" dirty="0">
              <a:ln>
                <a:noFill/>
              </a:ln>
              <a:solidFill>
                <a:srgbClr val="ED7D3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9" name="ZT_LCL">
            <a:extLst>
              <a:ext uri="{FF2B5EF4-FFF2-40B4-BE49-F238E27FC236}">
                <a16:creationId xmlns:a16="http://schemas.microsoft.com/office/drawing/2014/main" id="{65B51311-94BD-E045-E31C-53E57EACF786}"/>
              </a:ext>
            </a:extLst>
          </p:cNvPr>
          <p:cNvSpPr txBox="1"/>
          <p:nvPr/>
        </p:nvSpPr>
        <p:spPr>
          <a:xfrm>
            <a:off x="1032399" y="1378099"/>
            <a:ext cx="551086" cy="246221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LCL</a:t>
            </a:r>
            <a:endParaRPr kumimoji="0" lang="fr-FR" sz="1000" b="1" i="1" u="none" strike="noStrike" kern="1200" cap="none" spc="0" normalizeH="0" baseline="0" noProof="0" dirty="0">
              <a:ln>
                <a:noFill/>
              </a:ln>
              <a:solidFill>
                <a:srgbClr val="ED7D3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0" name="BA_CICS_CA">
            <a:extLst>
              <a:ext uri="{FF2B5EF4-FFF2-40B4-BE49-F238E27FC236}">
                <a16:creationId xmlns:a16="http://schemas.microsoft.com/office/drawing/2014/main" id="{49525A67-9C2C-E1A2-4A5D-C1EC7D4A2A18}"/>
              </a:ext>
            </a:extLst>
          </p:cNvPr>
          <p:cNvSpPr/>
          <p:nvPr/>
        </p:nvSpPr>
        <p:spPr>
          <a:xfrm>
            <a:off x="2021573" y="1646459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CICS</a:t>
            </a:r>
          </a:p>
        </p:txBody>
      </p:sp>
      <p:sp>
        <p:nvSpPr>
          <p:cNvPr id="251" name="BA_DB2_CA">
            <a:extLst>
              <a:ext uri="{FF2B5EF4-FFF2-40B4-BE49-F238E27FC236}">
                <a16:creationId xmlns:a16="http://schemas.microsoft.com/office/drawing/2014/main" id="{CEEC055C-FE1B-7283-1199-06145D6E0270}"/>
              </a:ext>
            </a:extLst>
          </p:cNvPr>
          <p:cNvSpPr/>
          <p:nvPr/>
        </p:nvSpPr>
        <p:spPr>
          <a:xfrm>
            <a:off x="2717879" y="1645738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DB2</a:t>
            </a:r>
          </a:p>
        </p:txBody>
      </p:sp>
      <p:sp>
        <p:nvSpPr>
          <p:cNvPr id="252" name="BA_GG">
            <a:extLst>
              <a:ext uri="{FF2B5EF4-FFF2-40B4-BE49-F238E27FC236}">
                <a16:creationId xmlns:a16="http://schemas.microsoft.com/office/drawing/2014/main" id="{02B6069C-DB85-53F2-9987-B44297D25679}"/>
              </a:ext>
            </a:extLst>
          </p:cNvPr>
          <p:cNvSpPr/>
          <p:nvPr/>
        </p:nvSpPr>
        <p:spPr>
          <a:xfrm>
            <a:off x="5540187" y="2498620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GG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Sim.Prév</a:t>
            </a: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. Décès</a:t>
            </a:r>
          </a:p>
        </p:txBody>
      </p:sp>
      <p:sp>
        <p:nvSpPr>
          <p:cNvPr id="253" name="BA_GH">
            <a:extLst>
              <a:ext uri="{FF2B5EF4-FFF2-40B4-BE49-F238E27FC236}">
                <a16:creationId xmlns:a16="http://schemas.microsoft.com/office/drawing/2014/main" id="{4121542F-61EC-F581-A536-896CBCE91D3B}"/>
              </a:ext>
            </a:extLst>
          </p:cNvPr>
          <p:cNvSpPr/>
          <p:nvPr/>
        </p:nvSpPr>
        <p:spPr>
          <a:xfrm>
            <a:off x="6247379" y="2507699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GH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Moteur </a:t>
            </a:r>
            <a:r>
              <a:rPr kumimoji="0" lang="fr-FR" sz="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Epicaste</a:t>
            </a:r>
            <a:endParaRPr kumimoji="0" lang="fr-FR" sz="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4" name="Gr_Editique">
            <a:extLst>
              <a:ext uri="{FF2B5EF4-FFF2-40B4-BE49-F238E27FC236}">
                <a16:creationId xmlns:a16="http://schemas.microsoft.com/office/drawing/2014/main" id="{74CC486D-616F-9C14-0624-4B60B94EA2A1}"/>
              </a:ext>
            </a:extLst>
          </p:cNvPr>
          <p:cNvSpPr/>
          <p:nvPr/>
        </p:nvSpPr>
        <p:spPr>
          <a:xfrm>
            <a:off x="6994566" y="3106138"/>
            <a:ext cx="754043" cy="61200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  <a:effectLst>
            <a:outerShdw blurRad="50800" dist="38100" dir="2700000" algn="ctr" rotWithShape="0">
              <a:schemeClr val="tx1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/>
            </a:endParaRPr>
          </a:p>
        </p:txBody>
      </p:sp>
      <p:sp>
        <p:nvSpPr>
          <p:cNvPr id="255" name="ZT_Editique">
            <a:extLst>
              <a:ext uri="{FF2B5EF4-FFF2-40B4-BE49-F238E27FC236}">
                <a16:creationId xmlns:a16="http://schemas.microsoft.com/office/drawing/2014/main" id="{0AA20822-0F28-CC1A-6A4A-385BE0F4B128}"/>
              </a:ext>
            </a:extLst>
          </p:cNvPr>
          <p:cNvSpPr txBox="1"/>
          <p:nvPr/>
        </p:nvSpPr>
        <p:spPr>
          <a:xfrm>
            <a:off x="6967388" y="3133723"/>
            <a:ext cx="781221" cy="246221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Editique</a:t>
            </a:r>
          </a:p>
        </p:txBody>
      </p:sp>
      <p:sp>
        <p:nvSpPr>
          <p:cNvPr id="256" name="BA_ONDM">
            <a:extLst>
              <a:ext uri="{FF2B5EF4-FFF2-40B4-BE49-F238E27FC236}">
                <a16:creationId xmlns:a16="http://schemas.microsoft.com/office/drawing/2014/main" id="{1F6508BB-A56F-84CE-0D0C-18847C525C4A}"/>
              </a:ext>
            </a:extLst>
          </p:cNvPr>
          <p:cNvSpPr/>
          <p:nvPr/>
        </p:nvSpPr>
        <p:spPr>
          <a:xfrm>
            <a:off x="7053165" y="3363079"/>
            <a:ext cx="648000" cy="276281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ONDM</a:t>
            </a:r>
            <a:endParaRPr kumimoji="0" lang="fr-FR" sz="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On </a:t>
            </a:r>
            <a:r>
              <a:rPr kumimoji="0" lang="fr-FR" sz="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Demand</a:t>
            </a:r>
            <a:endParaRPr kumimoji="0" lang="fr-FR" sz="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257" name="Groupe_Retour">
            <a:extLst>
              <a:ext uri="{FF2B5EF4-FFF2-40B4-BE49-F238E27FC236}">
                <a16:creationId xmlns:a16="http://schemas.microsoft.com/office/drawing/2014/main" id="{5BE108CA-0558-8091-1C7E-5458D7AE80DB}"/>
              </a:ext>
            </a:extLst>
          </p:cNvPr>
          <p:cNvGrpSpPr/>
          <p:nvPr/>
        </p:nvGrpSpPr>
        <p:grpSpPr>
          <a:xfrm>
            <a:off x="0" y="0"/>
            <a:ext cx="1417975" cy="461665"/>
            <a:chOff x="0" y="0"/>
            <a:chExt cx="1417975" cy="461665"/>
          </a:xfrm>
        </p:grpSpPr>
        <p:sp>
          <p:nvSpPr>
            <p:cNvPr id="258" name="Rectangle 257">
              <a:hlinkClick r:id="rId3" action="ppaction://hlinksldjump"/>
              <a:extLst>
                <a:ext uri="{FF2B5EF4-FFF2-40B4-BE49-F238E27FC236}">
                  <a16:creationId xmlns:a16="http://schemas.microsoft.com/office/drawing/2014/main" id="{9ABD01CB-40A0-16A1-0388-98B44EA81236}"/>
                </a:ext>
              </a:extLst>
            </p:cNvPr>
            <p:cNvSpPr/>
            <p:nvPr/>
          </p:nvSpPr>
          <p:spPr>
            <a:xfrm>
              <a:off x="0" y="0"/>
              <a:ext cx="768479" cy="461665"/>
            </a:xfrm>
            <a:prstGeom prst="rect">
              <a:avLst/>
            </a:prstGeom>
            <a:noFill/>
          </p:spPr>
          <p:txBody>
            <a:bodyPr wrap="square" lIns="91440" tIns="45720" rIns="91440" bIns="45720" anchor="ctr">
              <a:spAutoFit/>
            </a:bodyPr>
            <a:lstStyle/>
            <a:p>
              <a:pPr algn="ctr"/>
              <a:r>
                <a:rPr lang="fr-FR" sz="2400" b="1" spc="50" dirty="0">
                  <a:ln w="9525" cmpd="sng">
                    <a:solidFill>
                      <a:schemeClr val="accent1"/>
                    </a:solidFill>
                    <a:prstDash val="solid"/>
                  </a:ln>
                  <a:solidFill>
                    <a:srgbClr val="70AD47">
                      <a:tint val="1000"/>
                    </a:srgbClr>
                  </a:solidFill>
                  <a:effectLst>
                    <a:glow rad="38100">
                      <a:schemeClr val="accent1">
                        <a:alpha val="40000"/>
                      </a:schemeClr>
                    </a:glow>
                  </a:effectLst>
                  <a:latin typeface="HoloLens MDL2 Assets" panose="050A0102010101010101" pitchFamily="18" charset="0"/>
                </a:rPr>
                <a:t></a:t>
              </a:r>
              <a:endParaRPr lang="fr-FR" sz="1400" dirty="0">
                <a:solidFill>
                  <a:srgbClr val="5B9BD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/>
              </a:endParaRPr>
            </a:p>
          </p:txBody>
        </p:sp>
        <p:sp>
          <p:nvSpPr>
            <p:cNvPr id="259" name="ZoneTexte 258">
              <a:extLst>
                <a:ext uri="{FF2B5EF4-FFF2-40B4-BE49-F238E27FC236}">
                  <a16:creationId xmlns:a16="http://schemas.microsoft.com/office/drawing/2014/main" id="{369111D5-F738-1804-282F-88AF7DF2DD68}"/>
                </a:ext>
              </a:extLst>
            </p:cNvPr>
            <p:cNvSpPr txBox="1"/>
            <p:nvPr/>
          </p:nvSpPr>
          <p:spPr>
            <a:xfrm>
              <a:off x="525450" y="71273"/>
              <a:ext cx="89252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1400" dirty="0">
                  <a:solidFill>
                    <a:srgbClr val="5B9BD5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libri" panose="020F0502020204030204"/>
                </a:rPr>
                <a:t>Retour</a:t>
              </a:r>
              <a:endParaRPr lang="fr-FR" sz="1400" dirty="0"/>
            </a:p>
          </p:txBody>
        </p:sp>
      </p:grpSp>
      <p:sp>
        <p:nvSpPr>
          <p:cNvPr id="260" name="BA_PW">
            <a:extLst>
              <a:ext uri="{FF2B5EF4-FFF2-40B4-BE49-F238E27FC236}">
                <a16:creationId xmlns:a16="http://schemas.microsoft.com/office/drawing/2014/main" id="{009A503D-1C95-A1F8-1E20-86C1663B44CA}"/>
              </a:ext>
            </a:extLst>
          </p:cNvPr>
          <p:cNvSpPr/>
          <p:nvPr/>
        </p:nvSpPr>
        <p:spPr>
          <a:xfrm>
            <a:off x="4517645" y="1819606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PW</a:t>
            </a:r>
            <a:br>
              <a:rPr lang="fr-FR" sz="10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/>
              </a:rPr>
            </a:b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SFC</a:t>
            </a:r>
          </a:p>
        </p:txBody>
      </p:sp>
      <p:sp>
        <p:nvSpPr>
          <p:cNvPr id="2" name="Étoile à 5 branches">
            <a:extLst>
              <a:ext uri="{FF2B5EF4-FFF2-40B4-BE49-F238E27FC236}">
                <a16:creationId xmlns:a16="http://schemas.microsoft.com/office/drawing/2014/main" id="{A7C59C13-FF3D-1010-F52E-49AED270760D}"/>
              </a:ext>
            </a:extLst>
          </p:cNvPr>
          <p:cNvSpPr/>
          <p:nvPr/>
        </p:nvSpPr>
        <p:spPr>
          <a:xfrm>
            <a:off x="9368151" y="554532"/>
            <a:ext cx="108000" cy="108000"/>
          </a:xfrm>
          <a:prstGeom prst="star5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Légende_Nouveau_Bloc">
            <a:extLst>
              <a:ext uri="{FF2B5EF4-FFF2-40B4-BE49-F238E27FC236}">
                <a16:creationId xmlns:a16="http://schemas.microsoft.com/office/drawing/2014/main" id="{2094A4F0-B7D2-94A7-96D4-6F12814C831F}"/>
              </a:ext>
            </a:extLst>
          </p:cNvPr>
          <p:cNvSpPr txBox="1"/>
          <p:nvPr/>
        </p:nvSpPr>
        <p:spPr>
          <a:xfrm>
            <a:off x="9464720" y="491658"/>
            <a:ext cx="934871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Nouveau bloc</a:t>
            </a:r>
          </a:p>
        </p:txBody>
      </p:sp>
      <p:sp>
        <p:nvSpPr>
          <p:cNvPr id="4" name="Légende_Nouveau_Bloc">
            <a:extLst>
              <a:ext uri="{FF2B5EF4-FFF2-40B4-BE49-F238E27FC236}">
                <a16:creationId xmlns:a16="http://schemas.microsoft.com/office/drawing/2014/main" id="{F5884EA2-C120-D7ED-CA9B-AF49CAC18A9A}"/>
              </a:ext>
            </a:extLst>
          </p:cNvPr>
          <p:cNvSpPr txBox="1"/>
          <p:nvPr/>
        </p:nvSpPr>
        <p:spPr>
          <a:xfrm>
            <a:off x="9467926" y="723619"/>
            <a:ext cx="963725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Bloc supprimé</a:t>
            </a:r>
          </a:p>
        </p:txBody>
      </p:sp>
      <p:sp>
        <p:nvSpPr>
          <p:cNvPr id="5" name="Croix 4">
            <a:extLst>
              <a:ext uri="{FF2B5EF4-FFF2-40B4-BE49-F238E27FC236}">
                <a16:creationId xmlns:a16="http://schemas.microsoft.com/office/drawing/2014/main" id="{895321AC-2C5F-5545-D00B-0E5E566AD5F5}"/>
              </a:ext>
            </a:extLst>
          </p:cNvPr>
          <p:cNvSpPr/>
          <p:nvPr/>
        </p:nvSpPr>
        <p:spPr>
          <a:xfrm rot="2700000">
            <a:off x="9371629" y="785103"/>
            <a:ext cx="108000" cy="108000"/>
          </a:xfrm>
          <a:prstGeom prst="plus">
            <a:avLst>
              <a:gd name="adj" fmla="val 45756"/>
            </a:avLst>
          </a:prstGeom>
          <a:solidFill>
            <a:schemeClr val="tx1"/>
          </a:solidFill>
          <a:ln>
            <a:solidFill>
              <a:srgbClr val="FF0000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BA_GH">
            <a:extLst>
              <a:ext uri="{FF2B5EF4-FFF2-40B4-BE49-F238E27FC236}">
                <a16:creationId xmlns:a16="http://schemas.microsoft.com/office/drawing/2014/main" id="{FC545A41-89B4-2CAB-0C19-CCC55D1B611F}"/>
              </a:ext>
            </a:extLst>
          </p:cNvPr>
          <p:cNvSpPr/>
          <p:nvPr/>
        </p:nvSpPr>
        <p:spPr>
          <a:xfrm>
            <a:off x="6247379" y="1786384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HJ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Contenus statiques</a:t>
            </a:r>
          </a:p>
        </p:txBody>
      </p:sp>
      <p:sp>
        <p:nvSpPr>
          <p:cNvPr id="16" name="BA_H4">
            <a:extLst>
              <a:ext uri="{FF2B5EF4-FFF2-40B4-BE49-F238E27FC236}">
                <a16:creationId xmlns:a16="http://schemas.microsoft.com/office/drawing/2014/main" id="{7299F47F-871C-A0CF-F251-DB17D2E2F0BA}"/>
              </a:ext>
            </a:extLst>
          </p:cNvPr>
          <p:cNvSpPr/>
          <p:nvPr/>
        </p:nvSpPr>
        <p:spPr>
          <a:xfrm>
            <a:off x="9490384" y="2374473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H4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API VR </a:t>
            </a:r>
            <a:r>
              <a:rPr kumimoji="0" lang="fr-FR" sz="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Selfcare</a:t>
            </a:r>
            <a:endParaRPr kumimoji="0" lang="fr-FR" sz="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BA_HH">
            <a:extLst>
              <a:ext uri="{FF2B5EF4-FFF2-40B4-BE49-F238E27FC236}">
                <a16:creationId xmlns:a16="http://schemas.microsoft.com/office/drawing/2014/main" id="{BB0E9EF0-10DA-9950-5DE0-FE51107DACAD}"/>
              </a:ext>
            </a:extLst>
          </p:cNvPr>
          <p:cNvSpPr/>
          <p:nvPr/>
        </p:nvSpPr>
        <p:spPr>
          <a:xfrm>
            <a:off x="10160477" y="2374473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HH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API Sim. épargne</a:t>
            </a:r>
          </a:p>
        </p:txBody>
      </p:sp>
      <p:sp>
        <p:nvSpPr>
          <p:cNvPr id="23" name="Gr_LCL">
            <a:extLst>
              <a:ext uri="{FF2B5EF4-FFF2-40B4-BE49-F238E27FC236}">
                <a16:creationId xmlns:a16="http://schemas.microsoft.com/office/drawing/2014/main" id="{D064DB89-F6F7-C41E-82F4-1C9CFF7C9572}"/>
              </a:ext>
            </a:extLst>
          </p:cNvPr>
          <p:cNvSpPr/>
          <p:nvPr/>
        </p:nvSpPr>
        <p:spPr>
          <a:xfrm>
            <a:off x="6075866" y="5122749"/>
            <a:ext cx="5632947" cy="1248594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ZT_CATS">
            <a:extLst>
              <a:ext uri="{FF2B5EF4-FFF2-40B4-BE49-F238E27FC236}">
                <a16:creationId xmlns:a16="http://schemas.microsoft.com/office/drawing/2014/main" id="{952813C1-4C51-C26F-08E2-DB8D173F8EF0}"/>
              </a:ext>
            </a:extLst>
          </p:cNvPr>
          <p:cNvSpPr txBox="1"/>
          <p:nvPr/>
        </p:nvSpPr>
        <p:spPr>
          <a:xfrm>
            <a:off x="6122619" y="5107819"/>
            <a:ext cx="5399528" cy="246221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LCL</a:t>
            </a:r>
            <a:endParaRPr kumimoji="0" lang="fr-FR" sz="1000" b="1" i="1" u="none" strike="noStrike" kern="1200" cap="none" spc="0" normalizeH="0" baseline="0" noProof="0" dirty="0">
              <a:ln>
                <a:noFill/>
              </a:ln>
              <a:solidFill>
                <a:srgbClr val="7030A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BA_BEL">
            <a:extLst>
              <a:ext uri="{FF2B5EF4-FFF2-40B4-BE49-F238E27FC236}">
                <a16:creationId xmlns:a16="http://schemas.microsoft.com/office/drawing/2014/main" id="{A3D76698-3C2E-676B-0A57-FFEFBE23019D}"/>
              </a:ext>
            </a:extLst>
          </p:cNvPr>
          <p:cNvSpPr/>
          <p:nvPr/>
        </p:nvSpPr>
        <p:spPr>
          <a:xfrm>
            <a:off x="6135322" y="5643027"/>
            <a:ext cx="648000" cy="288000"/>
          </a:xfrm>
          <a:prstGeom prst="roundRect">
            <a:avLst/>
          </a:prstGeom>
          <a:solidFill>
            <a:srgbClr val="B6D3EC"/>
          </a:solidFill>
          <a:ln w="6350">
            <a:solidFill>
              <a:schemeClr val="accent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BEL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6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/>
              </a:rPr>
              <a:t>-</a:t>
            </a:r>
            <a:endParaRPr kumimoji="0" lang="fr-FR" sz="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BA_Docapost">
            <a:extLst>
              <a:ext uri="{FF2B5EF4-FFF2-40B4-BE49-F238E27FC236}">
                <a16:creationId xmlns:a16="http://schemas.microsoft.com/office/drawing/2014/main" id="{C9BA8EDE-9F2F-A432-DD07-9D01C733223C}"/>
              </a:ext>
            </a:extLst>
          </p:cNvPr>
          <p:cNvSpPr/>
          <p:nvPr/>
        </p:nvSpPr>
        <p:spPr>
          <a:xfrm>
            <a:off x="6145849" y="5987729"/>
            <a:ext cx="648000" cy="288000"/>
          </a:xfrm>
          <a:prstGeom prst="roundRect">
            <a:avLst/>
          </a:prstGeom>
          <a:solidFill>
            <a:srgbClr val="B6D3EC"/>
          </a:solidFill>
          <a:ln w="6350">
            <a:solidFill>
              <a:schemeClr val="accent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Docapost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6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/>
              </a:rPr>
              <a:t>-</a:t>
            </a:r>
            <a:endParaRPr kumimoji="0" lang="fr-FR" sz="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BA_Mescomptes">
            <a:extLst>
              <a:ext uri="{FF2B5EF4-FFF2-40B4-BE49-F238E27FC236}">
                <a16:creationId xmlns:a16="http://schemas.microsoft.com/office/drawing/2014/main" id="{D0C8E828-9008-B67A-1CD0-A40DED3E0F7F}"/>
              </a:ext>
            </a:extLst>
          </p:cNvPr>
          <p:cNvSpPr/>
          <p:nvPr/>
        </p:nvSpPr>
        <p:spPr>
          <a:xfrm>
            <a:off x="6135322" y="5323284"/>
            <a:ext cx="1326281" cy="288000"/>
          </a:xfrm>
          <a:prstGeom prst="roundRect">
            <a:avLst/>
          </a:prstGeom>
          <a:solidFill>
            <a:srgbClr val="B6D3EC"/>
          </a:solidFill>
          <a:ln w="6350">
            <a:solidFill>
              <a:schemeClr val="accent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MesComptes</a:t>
            </a:r>
            <a:endParaRPr kumimoji="0" lang="fr-FR" sz="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Gr_SimulAssur">
            <a:extLst>
              <a:ext uri="{FF2B5EF4-FFF2-40B4-BE49-F238E27FC236}">
                <a16:creationId xmlns:a16="http://schemas.microsoft.com/office/drawing/2014/main" id="{C625CD19-3C74-0CD4-D1EC-062EE1899F78}"/>
              </a:ext>
            </a:extLst>
          </p:cNvPr>
          <p:cNvSpPr/>
          <p:nvPr/>
        </p:nvSpPr>
        <p:spPr>
          <a:xfrm>
            <a:off x="4476637" y="3792663"/>
            <a:ext cx="1627675" cy="1021008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  <a:effectLst>
            <a:outerShdw blurRad="50800" dist="38100" dir="2700000" algn="ctr" rotWithShape="0">
              <a:schemeClr val="tx1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/>
            </a:endParaRPr>
          </a:p>
        </p:txBody>
      </p:sp>
      <p:sp>
        <p:nvSpPr>
          <p:cNvPr id="8" name="ZT_SimulAssur">
            <a:extLst>
              <a:ext uri="{FF2B5EF4-FFF2-40B4-BE49-F238E27FC236}">
                <a16:creationId xmlns:a16="http://schemas.microsoft.com/office/drawing/2014/main" id="{4C907536-2839-4FB9-C8C1-FF6D8EDE24E8}"/>
              </a:ext>
            </a:extLst>
          </p:cNvPr>
          <p:cNvSpPr txBox="1"/>
          <p:nvPr/>
        </p:nvSpPr>
        <p:spPr>
          <a:xfrm>
            <a:off x="4500323" y="3819978"/>
            <a:ext cx="1714025" cy="246221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1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SimulAssur</a:t>
            </a:r>
            <a:endParaRPr kumimoji="0" lang="fr-FR" sz="1000" b="1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BA_VS">
            <a:extLst>
              <a:ext uri="{FF2B5EF4-FFF2-40B4-BE49-F238E27FC236}">
                <a16:creationId xmlns:a16="http://schemas.microsoft.com/office/drawing/2014/main" id="{41530FB3-C69C-7E0E-C7FB-E6F21B61F4C1}"/>
              </a:ext>
            </a:extLst>
          </p:cNvPr>
          <p:cNvSpPr/>
          <p:nvPr/>
        </p:nvSpPr>
        <p:spPr>
          <a:xfrm>
            <a:off x="4611474" y="4115819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0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/>
              </a:rPr>
              <a:t>VS</a:t>
            </a:r>
            <a:endParaRPr kumimoji="0" lang="fr-FR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Sim, </a:t>
            </a:r>
            <a:r>
              <a:rPr kumimoji="0" lang="fr-FR" sz="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Ass.V</a:t>
            </a: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 pour LCL</a:t>
            </a:r>
          </a:p>
        </p:txBody>
      </p:sp>
      <p:sp>
        <p:nvSpPr>
          <p:cNvPr id="10" name="BA_RS">
            <a:extLst>
              <a:ext uri="{FF2B5EF4-FFF2-40B4-BE49-F238E27FC236}">
                <a16:creationId xmlns:a16="http://schemas.microsoft.com/office/drawing/2014/main" id="{F3FBC01E-CD15-7DF8-0282-D889D906AD3F}"/>
              </a:ext>
            </a:extLst>
          </p:cNvPr>
          <p:cNvSpPr/>
          <p:nvPr/>
        </p:nvSpPr>
        <p:spPr>
          <a:xfrm>
            <a:off x="5363789" y="4119805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SR</a:t>
            </a:r>
          </a:p>
          <a:p>
            <a:pPr lvl="0" algn="ctr">
              <a:defRPr/>
            </a:pPr>
            <a:r>
              <a:rPr lang="fr-FR" sz="6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Sim, </a:t>
            </a:r>
            <a:r>
              <a:rPr lang="fr-FR" sz="600" dirty="0" err="1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Ass.V</a:t>
            </a:r>
            <a:r>
              <a:rPr lang="fr-FR" sz="6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pour CA</a:t>
            </a:r>
          </a:p>
        </p:txBody>
      </p:sp>
      <p:sp>
        <p:nvSpPr>
          <p:cNvPr id="11" name="BA_EP">
            <a:extLst>
              <a:ext uri="{FF2B5EF4-FFF2-40B4-BE49-F238E27FC236}">
                <a16:creationId xmlns:a16="http://schemas.microsoft.com/office/drawing/2014/main" id="{9C65042C-C2F7-6985-62AF-26E671A74DDF}"/>
              </a:ext>
            </a:extLst>
          </p:cNvPr>
          <p:cNvSpPr/>
          <p:nvPr/>
        </p:nvSpPr>
        <p:spPr>
          <a:xfrm>
            <a:off x="4611474" y="4500624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0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/>
              </a:rPr>
              <a:t>EP</a:t>
            </a:r>
            <a:endParaRPr kumimoji="0" lang="fr-FR" sz="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Sim, EPICASTE</a:t>
            </a:r>
          </a:p>
        </p:txBody>
      </p:sp>
      <p:sp>
        <p:nvSpPr>
          <p:cNvPr id="12" name="BA_Autre_PFD">
            <a:extLst>
              <a:ext uri="{FF2B5EF4-FFF2-40B4-BE49-F238E27FC236}">
                <a16:creationId xmlns:a16="http://schemas.microsoft.com/office/drawing/2014/main" id="{AFA3C241-E623-E149-D2D2-FF0A04A922E0}"/>
              </a:ext>
            </a:extLst>
          </p:cNvPr>
          <p:cNvSpPr/>
          <p:nvPr/>
        </p:nvSpPr>
        <p:spPr>
          <a:xfrm>
            <a:off x="5363789" y="4472097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20429036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782955-1FA6-6490-51AC-51A6E12847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r_Global">
            <a:extLst>
              <a:ext uri="{FF2B5EF4-FFF2-40B4-BE49-F238E27FC236}">
                <a16:creationId xmlns:a16="http://schemas.microsoft.com/office/drawing/2014/main" id="{EBEDD875-9144-BB4E-B3BB-CB5CFDB7AB72}"/>
              </a:ext>
            </a:extLst>
          </p:cNvPr>
          <p:cNvSpPr/>
          <p:nvPr/>
        </p:nvSpPr>
        <p:spPr>
          <a:xfrm>
            <a:off x="156924" y="1028327"/>
            <a:ext cx="11860567" cy="5512742"/>
          </a:xfrm>
          <a:prstGeom prst="roundRect">
            <a:avLst/>
          </a:prstGeom>
          <a:solidFill>
            <a:schemeClr val="bg1"/>
          </a:solidFill>
          <a:ln>
            <a:solidFill>
              <a:schemeClr val="accent1"/>
            </a:solidFill>
          </a:ln>
          <a:effectLst>
            <a:outerShdw blurRad="50800" dist="38100" dir="2700000" algn="tl" rotWithShape="0">
              <a:schemeClr val="tx1"/>
            </a:outerShdw>
          </a:effectLst>
        </p:spPr>
        <p:txBody>
          <a:bodyPr wrap="none" lIns="0" rIns="0" rtlCol="0" anchor="ctr">
            <a:noAutofit/>
          </a:bodyPr>
          <a:lstStyle/>
          <a:p>
            <a:pPr algn="ctr"/>
            <a:endParaRPr lang="fr-FR" sz="1600" b="1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1" name="Gr_NOVA">
            <a:extLst>
              <a:ext uri="{FF2B5EF4-FFF2-40B4-BE49-F238E27FC236}">
                <a16:creationId xmlns:a16="http://schemas.microsoft.com/office/drawing/2014/main" id="{49E30DEC-AA70-D57A-5E55-8325461B5FC2}"/>
              </a:ext>
            </a:extLst>
          </p:cNvPr>
          <p:cNvSpPr/>
          <p:nvPr/>
        </p:nvSpPr>
        <p:spPr>
          <a:xfrm>
            <a:off x="5407282" y="1111645"/>
            <a:ext cx="2350211" cy="1879964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  <a:effectLst>
            <a:outerShdw blurRad="50800" dist="38100" dir="2700000" algn="ctr" rotWithShape="0">
              <a:schemeClr val="tx1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/>
            </a:endParaRPr>
          </a:p>
        </p:txBody>
      </p:sp>
      <p:sp>
        <p:nvSpPr>
          <p:cNvPr id="92" name="ZT_NOVA">
            <a:extLst>
              <a:ext uri="{FF2B5EF4-FFF2-40B4-BE49-F238E27FC236}">
                <a16:creationId xmlns:a16="http://schemas.microsoft.com/office/drawing/2014/main" id="{BFE4B53F-E9D1-560D-61C2-1E9C9E5276F5}"/>
              </a:ext>
            </a:extLst>
          </p:cNvPr>
          <p:cNvSpPr txBox="1"/>
          <p:nvPr/>
        </p:nvSpPr>
        <p:spPr>
          <a:xfrm>
            <a:off x="5402982" y="1138960"/>
            <a:ext cx="2354511" cy="246221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NOVA</a:t>
            </a:r>
            <a:endParaRPr kumimoji="0" lang="fr-FR" sz="1000" b="1" i="1" u="none" strike="noStrike" kern="1200" cap="none" spc="0" normalizeH="0" baseline="0" noProof="0" dirty="0">
              <a:ln>
                <a:noFill/>
              </a:ln>
              <a:solidFill>
                <a:srgbClr val="ED7D3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8" name="BA_OX">
            <a:extLst>
              <a:ext uri="{FF2B5EF4-FFF2-40B4-BE49-F238E27FC236}">
                <a16:creationId xmlns:a16="http://schemas.microsoft.com/office/drawing/2014/main" id="{FAF9F7EB-1E42-E393-048F-4AB63D6E56AB}"/>
              </a:ext>
            </a:extLst>
          </p:cNvPr>
          <p:cNvSpPr/>
          <p:nvPr/>
        </p:nvSpPr>
        <p:spPr>
          <a:xfrm>
            <a:off x="5540187" y="1434370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OX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Opérations </a:t>
            </a:r>
            <a:r>
              <a:rPr kumimoji="0" lang="fr-FR" sz="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Ass</a:t>
            </a: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.</a:t>
            </a:r>
          </a:p>
        </p:txBody>
      </p:sp>
      <p:sp>
        <p:nvSpPr>
          <p:cNvPr id="99" name="BA_MX">
            <a:extLst>
              <a:ext uri="{FF2B5EF4-FFF2-40B4-BE49-F238E27FC236}">
                <a16:creationId xmlns:a16="http://schemas.microsoft.com/office/drawing/2014/main" id="{1FDBC37A-E34C-5321-F5C2-AF58AD83AF68}"/>
              </a:ext>
            </a:extLst>
          </p:cNvPr>
          <p:cNvSpPr/>
          <p:nvPr/>
        </p:nvSpPr>
        <p:spPr>
          <a:xfrm>
            <a:off x="6247379" y="1434370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MX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Services  internes</a:t>
            </a:r>
          </a:p>
        </p:txBody>
      </p:sp>
      <p:sp>
        <p:nvSpPr>
          <p:cNvPr id="108" name="BA_SX">
            <a:extLst>
              <a:ext uri="{FF2B5EF4-FFF2-40B4-BE49-F238E27FC236}">
                <a16:creationId xmlns:a16="http://schemas.microsoft.com/office/drawing/2014/main" id="{F493174C-5E83-2604-0E44-90FD9BA6157B}"/>
              </a:ext>
            </a:extLst>
          </p:cNvPr>
          <p:cNvSpPr/>
          <p:nvPr/>
        </p:nvSpPr>
        <p:spPr>
          <a:xfrm>
            <a:off x="6957409" y="1434370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SX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Socle Exposition</a:t>
            </a:r>
          </a:p>
        </p:txBody>
      </p:sp>
      <p:sp>
        <p:nvSpPr>
          <p:cNvPr id="117" name="BA_HX">
            <a:extLst>
              <a:ext uri="{FF2B5EF4-FFF2-40B4-BE49-F238E27FC236}">
                <a16:creationId xmlns:a16="http://schemas.microsoft.com/office/drawing/2014/main" id="{CF523C01-2F74-75BB-8D54-E4F181E5E1B0}"/>
              </a:ext>
            </a:extLst>
          </p:cNvPr>
          <p:cNvSpPr/>
          <p:nvPr/>
        </p:nvSpPr>
        <p:spPr>
          <a:xfrm>
            <a:off x="5540187" y="1791450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HX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Habilitations PCO</a:t>
            </a:r>
          </a:p>
        </p:txBody>
      </p:sp>
      <p:sp>
        <p:nvSpPr>
          <p:cNvPr id="119" name="BA_RX">
            <a:extLst>
              <a:ext uri="{FF2B5EF4-FFF2-40B4-BE49-F238E27FC236}">
                <a16:creationId xmlns:a16="http://schemas.microsoft.com/office/drawing/2014/main" id="{096007B3-CC42-034A-C76E-CBC6961AA5F8}"/>
              </a:ext>
            </a:extLst>
          </p:cNvPr>
          <p:cNvSpPr/>
          <p:nvPr/>
        </p:nvSpPr>
        <p:spPr>
          <a:xfrm>
            <a:off x="6957409" y="1791450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RX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Socle Editique</a:t>
            </a:r>
          </a:p>
        </p:txBody>
      </p:sp>
      <p:sp>
        <p:nvSpPr>
          <p:cNvPr id="120" name="BA_WP">
            <a:extLst>
              <a:ext uri="{FF2B5EF4-FFF2-40B4-BE49-F238E27FC236}">
                <a16:creationId xmlns:a16="http://schemas.microsoft.com/office/drawing/2014/main" id="{DE01A694-1AEB-38CE-2CA5-12378A81936C}"/>
              </a:ext>
            </a:extLst>
          </p:cNvPr>
          <p:cNvSpPr/>
          <p:nvPr/>
        </p:nvSpPr>
        <p:spPr>
          <a:xfrm>
            <a:off x="5542712" y="2146978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WP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Lanceur PCO</a:t>
            </a:r>
          </a:p>
        </p:txBody>
      </p:sp>
      <p:sp>
        <p:nvSpPr>
          <p:cNvPr id="121" name="BA_FM">
            <a:extLst>
              <a:ext uri="{FF2B5EF4-FFF2-40B4-BE49-F238E27FC236}">
                <a16:creationId xmlns:a16="http://schemas.microsoft.com/office/drawing/2014/main" id="{14D2A062-9316-2252-977D-BCC6AD100BBF}"/>
              </a:ext>
            </a:extLst>
          </p:cNvPr>
          <p:cNvSpPr/>
          <p:nvPr/>
        </p:nvSpPr>
        <p:spPr>
          <a:xfrm>
            <a:off x="6251156" y="2146978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FM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Fonctions IHM</a:t>
            </a:r>
          </a:p>
        </p:txBody>
      </p:sp>
      <p:sp>
        <p:nvSpPr>
          <p:cNvPr id="123" name="BA_JF">
            <a:extLst>
              <a:ext uri="{FF2B5EF4-FFF2-40B4-BE49-F238E27FC236}">
                <a16:creationId xmlns:a16="http://schemas.microsoft.com/office/drawing/2014/main" id="{91AA7A26-9597-83A0-20E4-9A56C9E61B88}"/>
              </a:ext>
            </a:extLst>
          </p:cNvPr>
          <p:cNvSpPr/>
          <p:nvPr/>
        </p:nvSpPr>
        <p:spPr>
          <a:xfrm>
            <a:off x="6955140" y="2146978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JF</a:t>
            </a:r>
            <a:endParaRPr kumimoji="0" lang="fr-FR" sz="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Animation </a:t>
            </a:r>
            <a:r>
              <a:rPr kumimoji="0" lang="fr-FR" sz="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comm</a:t>
            </a: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.</a:t>
            </a:r>
          </a:p>
        </p:txBody>
      </p:sp>
      <p:sp>
        <p:nvSpPr>
          <p:cNvPr id="124" name="Gr_Avanet">
            <a:extLst>
              <a:ext uri="{FF2B5EF4-FFF2-40B4-BE49-F238E27FC236}">
                <a16:creationId xmlns:a16="http://schemas.microsoft.com/office/drawing/2014/main" id="{2A5ADED5-6C7B-C249-AF96-A8FF21424C92}"/>
              </a:ext>
            </a:extLst>
          </p:cNvPr>
          <p:cNvSpPr/>
          <p:nvPr/>
        </p:nvSpPr>
        <p:spPr>
          <a:xfrm>
            <a:off x="3593887" y="1111645"/>
            <a:ext cx="1690030" cy="117785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  <a:effectLst>
            <a:outerShdw blurRad="50800" dist="38100" dir="2700000" algn="ctr" rotWithShape="0">
              <a:schemeClr val="tx1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/>
            </a:endParaRPr>
          </a:p>
        </p:txBody>
      </p:sp>
      <p:sp>
        <p:nvSpPr>
          <p:cNvPr id="125" name="ZT_Avanet">
            <a:extLst>
              <a:ext uri="{FF2B5EF4-FFF2-40B4-BE49-F238E27FC236}">
                <a16:creationId xmlns:a16="http://schemas.microsoft.com/office/drawing/2014/main" id="{FC97EC36-740E-E17C-2352-353C84CFE63C}"/>
              </a:ext>
            </a:extLst>
          </p:cNvPr>
          <p:cNvSpPr txBox="1"/>
          <p:nvPr/>
        </p:nvSpPr>
        <p:spPr>
          <a:xfrm>
            <a:off x="3603262" y="1138960"/>
            <a:ext cx="1680655" cy="246221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1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Avanet</a:t>
            </a:r>
            <a:endParaRPr kumimoji="0" lang="fr-FR" sz="1000" b="1" i="1" u="none" strike="noStrike" kern="1200" cap="none" spc="0" normalizeH="0" baseline="0" noProof="0" dirty="0">
              <a:ln>
                <a:noFill/>
              </a:ln>
              <a:solidFill>
                <a:srgbClr val="ED7D3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6" name="BA_W5">
            <a:extLst>
              <a:ext uri="{FF2B5EF4-FFF2-40B4-BE49-F238E27FC236}">
                <a16:creationId xmlns:a16="http://schemas.microsoft.com/office/drawing/2014/main" id="{49A464F4-AD0D-07BB-0C39-B1DD40C7B047}"/>
              </a:ext>
            </a:extLst>
          </p:cNvPr>
          <p:cNvSpPr/>
          <p:nvPr/>
        </p:nvSpPr>
        <p:spPr>
          <a:xfrm>
            <a:off x="3726791" y="1434801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W5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Av@net</a:t>
            </a:r>
            <a:endParaRPr kumimoji="0" lang="fr-FR" sz="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7" name="BA_AEDI">
            <a:extLst>
              <a:ext uri="{FF2B5EF4-FFF2-40B4-BE49-F238E27FC236}">
                <a16:creationId xmlns:a16="http://schemas.microsoft.com/office/drawing/2014/main" id="{0564852C-C4E1-1988-4439-A9F087BDC116}"/>
              </a:ext>
            </a:extLst>
          </p:cNvPr>
          <p:cNvSpPr/>
          <p:nvPr/>
        </p:nvSpPr>
        <p:spPr>
          <a:xfrm>
            <a:off x="4521017" y="1438787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AEDI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API-EDI</a:t>
            </a:r>
          </a:p>
        </p:txBody>
      </p:sp>
      <p:sp>
        <p:nvSpPr>
          <p:cNvPr id="128" name="BA_SVOD">
            <a:extLst>
              <a:ext uri="{FF2B5EF4-FFF2-40B4-BE49-F238E27FC236}">
                <a16:creationId xmlns:a16="http://schemas.microsoft.com/office/drawing/2014/main" id="{54A022C0-0596-B946-D269-C3D0F3CB6324}"/>
              </a:ext>
            </a:extLst>
          </p:cNvPr>
          <p:cNvSpPr/>
          <p:nvPr/>
        </p:nvSpPr>
        <p:spPr>
          <a:xfrm>
            <a:off x="3726791" y="1819606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SVOD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SAS </a:t>
            </a:r>
            <a:r>
              <a:rPr kumimoji="0" lang="fr-FR" sz="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Valid</a:t>
            </a: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.</a:t>
            </a:r>
          </a:p>
        </p:txBody>
      </p:sp>
      <p:sp>
        <p:nvSpPr>
          <p:cNvPr id="129" name="Gr_PFD">
            <a:extLst>
              <a:ext uri="{FF2B5EF4-FFF2-40B4-BE49-F238E27FC236}">
                <a16:creationId xmlns:a16="http://schemas.microsoft.com/office/drawing/2014/main" id="{B4B8FEC2-090D-E789-6F86-AD8794E8A7D7}"/>
              </a:ext>
            </a:extLst>
          </p:cNvPr>
          <p:cNvSpPr/>
          <p:nvPr/>
        </p:nvSpPr>
        <p:spPr>
          <a:xfrm>
            <a:off x="6161552" y="3780520"/>
            <a:ext cx="1627675" cy="1021008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  <a:effectLst>
            <a:outerShdw blurRad="50800" dist="38100" dir="2700000" algn="ctr" rotWithShape="0">
              <a:schemeClr val="tx1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/>
            </a:endParaRPr>
          </a:p>
        </p:txBody>
      </p:sp>
      <p:sp>
        <p:nvSpPr>
          <p:cNvPr id="130" name="ZT_PFD">
            <a:extLst>
              <a:ext uri="{FF2B5EF4-FFF2-40B4-BE49-F238E27FC236}">
                <a16:creationId xmlns:a16="http://schemas.microsoft.com/office/drawing/2014/main" id="{DF7E66A9-10CC-3170-B12E-F96D7BD6BFBB}"/>
              </a:ext>
            </a:extLst>
          </p:cNvPr>
          <p:cNvSpPr txBox="1"/>
          <p:nvPr/>
        </p:nvSpPr>
        <p:spPr>
          <a:xfrm>
            <a:off x="6185238" y="3807835"/>
            <a:ext cx="1714025" cy="246221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Plateforme Data (PFD)</a:t>
            </a:r>
          </a:p>
        </p:txBody>
      </p:sp>
      <p:sp>
        <p:nvSpPr>
          <p:cNvPr id="131" name="BA_J2">
            <a:extLst>
              <a:ext uri="{FF2B5EF4-FFF2-40B4-BE49-F238E27FC236}">
                <a16:creationId xmlns:a16="http://schemas.microsoft.com/office/drawing/2014/main" id="{A64077FC-5448-8548-2ED0-1459E325FE5D}"/>
              </a:ext>
            </a:extLst>
          </p:cNvPr>
          <p:cNvSpPr/>
          <p:nvPr/>
        </p:nvSpPr>
        <p:spPr>
          <a:xfrm>
            <a:off x="6296389" y="4103676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J2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Exposition PFD</a:t>
            </a:r>
          </a:p>
        </p:txBody>
      </p:sp>
      <p:sp>
        <p:nvSpPr>
          <p:cNvPr id="136" name="BA_J6">
            <a:extLst>
              <a:ext uri="{FF2B5EF4-FFF2-40B4-BE49-F238E27FC236}">
                <a16:creationId xmlns:a16="http://schemas.microsoft.com/office/drawing/2014/main" id="{E33B41A1-7E1D-D767-1895-052712096F59}"/>
              </a:ext>
            </a:extLst>
          </p:cNvPr>
          <p:cNvSpPr/>
          <p:nvPr/>
        </p:nvSpPr>
        <p:spPr>
          <a:xfrm>
            <a:off x="7048704" y="4107662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J6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Restit</a:t>
            </a: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. </a:t>
            </a:r>
            <a:r>
              <a:rPr kumimoji="0" lang="fr-FR" sz="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Régl</a:t>
            </a: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.</a:t>
            </a:r>
          </a:p>
        </p:txBody>
      </p:sp>
      <p:sp>
        <p:nvSpPr>
          <p:cNvPr id="147" name="BA_J8">
            <a:extLst>
              <a:ext uri="{FF2B5EF4-FFF2-40B4-BE49-F238E27FC236}">
                <a16:creationId xmlns:a16="http://schemas.microsoft.com/office/drawing/2014/main" id="{95E153FC-8851-72F8-6EA3-A11427E6B379}"/>
              </a:ext>
            </a:extLst>
          </p:cNvPr>
          <p:cNvSpPr/>
          <p:nvPr/>
        </p:nvSpPr>
        <p:spPr>
          <a:xfrm>
            <a:off x="6296389" y="4488481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J8</a:t>
            </a:r>
            <a:endParaRPr kumimoji="0" lang="fr-FR" sz="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Données Contrats</a:t>
            </a:r>
          </a:p>
        </p:txBody>
      </p:sp>
      <p:sp>
        <p:nvSpPr>
          <p:cNvPr id="149" name="Gr_Prediweb1">
            <a:extLst>
              <a:ext uri="{FF2B5EF4-FFF2-40B4-BE49-F238E27FC236}">
                <a16:creationId xmlns:a16="http://schemas.microsoft.com/office/drawing/2014/main" id="{2CF96FB7-7887-0FD1-585E-67E548D2597C}"/>
              </a:ext>
            </a:extLst>
          </p:cNvPr>
          <p:cNvSpPr/>
          <p:nvPr/>
        </p:nvSpPr>
        <p:spPr>
          <a:xfrm>
            <a:off x="3588010" y="2368814"/>
            <a:ext cx="1695907" cy="671739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  <a:effectLst>
            <a:outerShdw blurRad="50800" dist="38100" dir="2700000" algn="ctr" rotWithShape="0">
              <a:schemeClr val="tx1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/>
            </a:endParaRPr>
          </a:p>
        </p:txBody>
      </p:sp>
      <p:sp>
        <p:nvSpPr>
          <p:cNvPr id="151" name="ZT_Prediweb1">
            <a:extLst>
              <a:ext uri="{FF2B5EF4-FFF2-40B4-BE49-F238E27FC236}">
                <a16:creationId xmlns:a16="http://schemas.microsoft.com/office/drawing/2014/main" id="{F6057489-9856-76FF-A486-B3452D1C3296}"/>
              </a:ext>
            </a:extLst>
          </p:cNvPr>
          <p:cNvSpPr txBox="1"/>
          <p:nvPr/>
        </p:nvSpPr>
        <p:spPr>
          <a:xfrm>
            <a:off x="3595208" y="2396399"/>
            <a:ext cx="1688709" cy="246221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1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Prediweb</a:t>
            </a:r>
            <a:r>
              <a:rPr kumimoji="0" lang="fr-FR" sz="1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 1</a:t>
            </a:r>
            <a:endParaRPr kumimoji="0" lang="fr-FR" sz="1000" b="1" i="1" u="none" strike="noStrike" kern="1200" cap="none" spc="0" normalizeH="0" baseline="0" noProof="0" dirty="0">
              <a:ln>
                <a:noFill/>
              </a:ln>
              <a:solidFill>
                <a:srgbClr val="ED7D3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3" name="BA_BD">
            <a:extLst>
              <a:ext uri="{FF2B5EF4-FFF2-40B4-BE49-F238E27FC236}">
                <a16:creationId xmlns:a16="http://schemas.microsoft.com/office/drawing/2014/main" id="{58999864-6C06-9F40-4A96-0791ACCA8857}"/>
              </a:ext>
            </a:extLst>
          </p:cNvPr>
          <p:cNvSpPr/>
          <p:nvPr/>
        </p:nvSpPr>
        <p:spPr>
          <a:xfrm>
            <a:off x="3720914" y="2691969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BD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Prediweb</a:t>
            </a:r>
            <a:endParaRPr kumimoji="0" lang="fr-FR" sz="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6" name="BA_SGR">
            <a:extLst>
              <a:ext uri="{FF2B5EF4-FFF2-40B4-BE49-F238E27FC236}">
                <a16:creationId xmlns:a16="http://schemas.microsoft.com/office/drawing/2014/main" id="{03621C7E-E782-DA01-9E41-340BA51C6E08}"/>
              </a:ext>
            </a:extLst>
          </p:cNvPr>
          <p:cNvSpPr/>
          <p:nvPr/>
        </p:nvSpPr>
        <p:spPr>
          <a:xfrm>
            <a:off x="4496225" y="2696226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SGR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Lanceur SGR</a:t>
            </a:r>
          </a:p>
        </p:txBody>
      </p:sp>
      <p:sp>
        <p:nvSpPr>
          <p:cNvPr id="158" name="BA_Autre_PFD">
            <a:extLst>
              <a:ext uri="{FF2B5EF4-FFF2-40B4-BE49-F238E27FC236}">
                <a16:creationId xmlns:a16="http://schemas.microsoft.com/office/drawing/2014/main" id="{6A3DF889-BB4A-BE32-C9EA-D7B6A717DC66}"/>
              </a:ext>
            </a:extLst>
          </p:cNvPr>
          <p:cNvSpPr/>
          <p:nvPr/>
        </p:nvSpPr>
        <p:spPr>
          <a:xfrm>
            <a:off x="7048704" y="4459954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…</a:t>
            </a:r>
          </a:p>
        </p:txBody>
      </p:sp>
      <p:sp>
        <p:nvSpPr>
          <p:cNvPr id="159" name="Gr_AIA">
            <a:extLst>
              <a:ext uri="{FF2B5EF4-FFF2-40B4-BE49-F238E27FC236}">
                <a16:creationId xmlns:a16="http://schemas.microsoft.com/office/drawing/2014/main" id="{ED33E6C9-6978-F8BE-3D1F-123615F34AFB}"/>
              </a:ext>
            </a:extLst>
          </p:cNvPr>
          <p:cNvSpPr/>
          <p:nvPr/>
        </p:nvSpPr>
        <p:spPr>
          <a:xfrm>
            <a:off x="600429" y="2842718"/>
            <a:ext cx="927635" cy="550924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  <a:effectLst>
            <a:outerShdw blurRad="50800" dist="38100" dir="2700000" algn="ctr" rotWithShape="0">
              <a:schemeClr val="tx1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/>
            </a:endParaRPr>
          </a:p>
        </p:txBody>
      </p:sp>
      <p:sp>
        <p:nvSpPr>
          <p:cNvPr id="160" name="ZT_AIA">
            <a:extLst>
              <a:ext uri="{FF2B5EF4-FFF2-40B4-BE49-F238E27FC236}">
                <a16:creationId xmlns:a16="http://schemas.microsoft.com/office/drawing/2014/main" id="{6EBEF32D-BEB4-F5B2-D9DC-4DAE42ABCC23}"/>
              </a:ext>
            </a:extLst>
          </p:cNvPr>
          <p:cNvSpPr txBox="1"/>
          <p:nvPr/>
        </p:nvSpPr>
        <p:spPr>
          <a:xfrm>
            <a:off x="520497" y="2870168"/>
            <a:ext cx="1080000" cy="246221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AIA V4 (Sinistres)</a:t>
            </a:r>
          </a:p>
        </p:txBody>
      </p:sp>
      <p:sp>
        <p:nvSpPr>
          <p:cNvPr id="161" name="BA_AJ">
            <a:extLst>
              <a:ext uri="{FF2B5EF4-FFF2-40B4-BE49-F238E27FC236}">
                <a16:creationId xmlns:a16="http://schemas.microsoft.com/office/drawing/2014/main" id="{EAA33125-B930-0EDA-043C-3335F7A9774E}"/>
              </a:ext>
            </a:extLst>
          </p:cNvPr>
          <p:cNvSpPr/>
          <p:nvPr/>
        </p:nvSpPr>
        <p:spPr>
          <a:xfrm>
            <a:off x="741487" y="3087886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AJ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AIA </a:t>
            </a:r>
            <a:r>
              <a:rPr kumimoji="0" lang="fr-FR" sz="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Sinitres</a:t>
            </a:r>
            <a:endParaRPr kumimoji="0" lang="fr-FR" sz="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2" name="Gr_Prediweb2">
            <a:extLst>
              <a:ext uri="{FF2B5EF4-FFF2-40B4-BE49-F238E27FC236}">
                <a16:creationId xmlns:a16="http://schemas.microsoft.com/office/drawing/2014/main" id="{A9C34182-EDAD-EB4D-68D4-52EA8FBAE4D0}"/>
              </a:ext>
            </a:extLst>
          </p:cNvPr>
          <p:cNvSpPr/>
          <p:nvPr/>
        </p:nvSpPr>
        <p:spPr>
          <a:xfrm>
            <a:off x="6172824" y="3106138"/>
            <a:ext cx="754043" cy="61200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  <a:effectLst>
            <a:outerShdw blurRad="50800" dist="38100" dir="2700000" algn="ctr" rotWithShape="0">
              <a:schemeClr val="tx1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/>
            </a:endParaRPr>
          </a:p>
        </p:txBody>
      </p:sp>
      <p:sp>
        <p:nvSpPr>
          <p:cNvPr id="163" name="ZT_Prediweb2">
            <a:extLst>
              <a:ext uri="{FF2B5EF4-FFF2-40B4-BE49-F238E27FC236}">
                <a16:creationId xmlns:a16="http://schemas.microsoft.com/office/drawing/2014/main" id="{A66D4F69-9D5D-BFDC-ECC5-DD1414C8AB3F}"/>
              </a:ext>
            </a:extLst>
          </p:cNvPr>
          <p:cNvSpPr txBox="1"/>
          <p:nvPr/>
        </p:nvSpPr>
        <p:spPr>
          <a:xfrm>
            <a:off x="6145849" y="3133723"/>
            <a:ext cx="774251" cy="246221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1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Prediweb</a:t>
            </a:r>
            <a:r>
              <a:rPr kumimoji="0" lang="fr-FR" sz="1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 2</a:t>
            </a:r>
            <a:endParaRPr kumimoji="0" lang="fr-FR" sz="1000" b="1" i="1" u="none" strike="noStrike" kern="1200" cap="none" spc="0" normalizeH="0" baseline="0" noProof="0" dirty="0">
              <a:ln>
                <a:noFill/>
              </a:ln>
              <a:solidFill>
                <a:srgbClr val="ED7D3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4" name="BA_PY">
            <a:extLst>
              <a:ext uri="{FF2B5EF4-FFF2-40B4-BE49-F238E27FC236}">
                <a16:creationId xmlns:a16="http://schemas.microsoft.com/office/drawing/2014/main" id="{F5A18076-A08F-848B-3B5D-DB6A75F862C1}"/>
              </a:ext>
            </a:extLst>
          </p:cNvPr>
          <p:cNvSpPr/>
          <p:nvPr/>
        </p:nvSpPr>
        <p:spPr>
          <a:xfrm>
            <a:off x="6219320" y="3376340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PY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Prediweb</a:t>
            </a: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 2</a:t>
            </a:r>
          </a:p>
        </p:txBody>
      </p:sp>
      <p:sp>
        <p:nvSpPr>
          <p:cNvPr id="165" name="Gr_NewNOVA">
            <a:extLst>
              <a:ext uri="{FF2B5EF4-FFF2-40B4-BE49-F238E27FC236}">
                <a16:creationId xmlns:a16="http://schemas.microsoft.com/office/drawing/2014/main" id="{93D234E8-44D4-368E-5291-526368DF2711}"/>
              </a:ext>
            </a:extLst>
          </p:cNvPr>
          <p:cNvSpPr/>
          <p:nvPr/>
        </p:nvSpPr>
        <p:spPr>
          <a:xfrm>
            <a:off x="7894317" y="1093890"/>
            <a:ext cx="3975128" cy="3939748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  <a:effectLst>
            <a:outerShdw blurRad="50800" dist="38100" dir="2700000" algn="ctr" rotWithShape="0">
              <a:schemeClr val="tx1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/>
            </a:endParaRPr>
          </a:p>
        </p:txBody>
      </p:sp>
      <p:sp>
        <p:nvSpPr>
          <p:cNvPr id="166" name="ZT_NewNOVA">
            <a:extLst>
              <a:ext uri="{FF2B5EF4-FFF2-40B4-BE49-F238E27FC236}">
                <a16:creationId xmlns:a16="http://schemas.microsoft.com/office/drawing/2014/main" id="{FC5669AC-8862-4816-D840-B09157D31C81}"/>
              </a:ext>
            </a:extLst>
          </p:cNvPr>
          <p:cNvSpPr txBox="1"/>
          <p:nvPr/>
        </p:nvSpPr>
        <p:spPr>
          <a:xfrm>
            <a:off x="7959719" y="1121206"/>
            <a:ext cx="2930793" cy="246221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New NOVA (K8S+AWS)</a:t>
            </a:r>
            <a:endParaRPr kumimoji="0" lang="fr-FR" sz="1000" b="1" i="1" u="none" strike="noStrike" kern="1200" cap="none" spc="0" normalizeH="0" baseline="0" noProof="0" dirty="0">
              <a:ln>
                <a:noFill/>
              </a:ln>
              <a:solidFill>
                <a:srgbClr val="ED7D3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7" name="BA_APPE">
            <a:extLst>
              <a:ext uri="{FF2B5EF4-FFF2-40B4-BE49-F238E27FC236}">
                <a16:creationId xmlns:a16="http://schemas.microsoft.com/office/drawing/2014/main" id="{9BF9AF48-2B24-7BCB-1656-BBA651869C5B}"/>
              </a:ext>
            </a:extLst>
          </p:cNvPr>
          <p:cNvSpPr/>
          <p:nvPr/>
        </p:nvSpPr>
        <p:spPr>
          <a:xfrm>
            <a:off x="8114072" y="1417047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APPE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API Personne</a:t>
            </a:r>
          </a:p>
        </p:txBody>
      </p:sp>
      <p:sp>
        <p:nvSpPr>
          <p:cNvPr id="168" name="BA_CJNI">
            <a:extLst>
              <a:ext uri="{FF2B5EF4-FFF2-40B4-BE49-F238E27FC236}">
                <a16:creationId xmlns:a16="http://schemas.microsoft.com/office/drawing/2014/main" id="{AD1B9A48-04B8-F264-C6ED-9857E60D7235}"/>
              </a:ext>
            </a:extLst>
          </p:cNvPr>
          <p:cNvSpPr/>
          <p:nvPr/>
        </p:nvSpPr>
        <p:spPr>
          <a:xfrm>
            <a:off x="8803280" y="1417047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CJNI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Jeton SSO</a:t>
            </a:r>
          </a:p>
        </p:txBody>
      </p:sp>
      <p:sp>
        <p:nvSpPr>
          <p:cNvPr id="169" name="BA_C8">
            <a:extLst>
              <a:ext uri="{FF2B5EF4-FFF2-40B4-BE49-F238E27FC236}">
                <a16:creationId xmlns:a16="http://schemas.microsoft.com/office/drawing/2014/main" id="{9709D13A-4B00-F37C-4B0E-5754AD89E540}"/>
              </a:ext>
            </a:extLst>
          </p:cNvPr>
          <p:cNvSpPr/>
          <p:nvPr/>
        </p:nvSpPr>
        <p:spPr>
          <a:xfrm>
            <a:off x="9490384" y="1417047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C8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Consentements</a:t>
            </a:r>
          </a:p>
        </p:txBody>
      </p:sp>
      <p:sp>
        <p:nvSpPr>
          <p:cNvPr id="170" name="BA_D9">
            <a:extLst>
              <a:ext uri="{FF2B5EF4-FFF2-40B4-BE49-F238E27FC236}">
                <a16:creationId xmlns:a16="http://schemas.microsoft.com/office/drawing/2014/main" id="{6EFE879C-A3A8-0E4E-7AFD-DF74A4D500D3}"/>
              </a:ext>
            </a:extLst>
          </p:cNvPr>
          <p:cNvSpPr/>
          <p:nvPr/>
        </p:nvSpPr>
        <p:spPr>
          <a:xfrm>
            <a:off x="10160477" y="1417047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D9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Base Doc AWS</a:t>
            </a:r>
          </a:p>
        </p:txBody>
      </p:sp>
      <p:sp>
        <p:nvSpPr>
          <p:cNvPr id="171" name="BA_F3">
            <a:extLst>
              <a:ext uri="{FF2B5EF4-FFF2-40B4-BE49-F238E27FC236}">
                <a16:creationId xmlns:a16="http://schemas.microsoft.com/office/drawing/2014/main" id="{98F4874A-F0AF-93DB-60C7-DD205051AC56}"/>
              </a:ext>
            </a:extLst>
          </p:cNvPr>
          <p:cNvSpPr/>
          <p:nvPr/>
        </p:nvSpPr>
        <p:spPr>
          <a:xfrm>
            <a:off x="8114072" y="1734468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F3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Versement Libre</a:t>
            </a:r>
          </a:p>
        </p:txBody>
      </p:sp>
      <p:sp>
        <p:nvSpPr>
          <p:cNvPr id="172" name="BA_F4">
            <a:extLst>
              <a:ext uri="{FF2B5EF4-FFF2-40B4-BE49-F238E27FC236}">
                <a16:creationId xmlns:a16="http://schemas.microsoft.com/office/drawing/2014/main" id="{D2A51954-8758-7086-8E0A-5B533192DA6A}"/>
              </a:ext>
            </a:extLst>
          </p:cNvPr>
          <p:cNvSpPr/>
          <p:nvPr/>
        </p:nvSpPr>
        <p:spPr>
          <a:xfrm>
            <a:off x="8803280" y="1734468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F4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Synthèse </a:t>
            </a:r>
            <a:r>
              <a:rPr kumimoji="0" lang="fr-FR" sz="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Opér</a:t>
            </a: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.</a:t>
            </a:r>
          </a:p>
        </p:txBody>
      </p:sp>
      <p:sp>
        <p:nvSpPr>
          <p:cNvPr id="173" name="BA_F5">
            <a:extLst>
              <a:ext uri="{FF2B5EF4-FFF2-40B4-BE49-F238E27FC236}">
                <a16:creationId xmlns:a16="http://schemas.microsoft.com/office/drawing/2014/main" id="{E64013F2-A777-016A-5DBA-0686C0D12C36}"/>
              </a:ext>
            </a:extLst>
          </p:cNvPr>
          <p:cNvSpPr/>
          <p:nvPr/>
        </p:nvSpPr>
        <p:spPr>
          <a:xfrm>
            <a:off x="9490384" y="1734468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F5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Conf</a:t>
            </a: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. New Nova</a:t>
            </a:r>
          </a:p>
        </p:txBody>
      </p:sp>
      <p:sp>
        <p:nvSpPr>
          <p:cNvPr id="174" name="BA_F6">
            <a:extLst>
              <a:ext uri="{FF2B5EF4-FFF2-40B4-BE49-F238E27FC236}">
                <a16:creationId xmlns:a16="http://schemas.microsoft.com/office/drawing/2014/main" id="{F2E8BA0B-907C-6B57-1FBE-4EDFB32A1D45}"/>
              </a:ext>
            </a:extLst>
          </p:cNvPr>
          <p:cNvSpPr/>
          <p:nvPr/>
        </p:nvSpPr>
        <p:spPr>
          <a:xfrm>
            <a:off x="10160477" y="1734468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F6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API Adhésion</a:t>
            </a:r>
          </a:p>
        </p:txBody>
      </p:sp>
      <p:sp>
        <p:nvSpPr>
          <p:cNvPr id="175" name="BA_F7">
            <a:extLst>
              <a:ext uri="{FF2B5EF4-FFF2-40B4-BE49-F238E27FC236}">
                <a16:creationId xmlns:a16="http://schemas.microsoft.com/office/drawing/2014/main" id="{4129E204-3CF3-D596-7CF7-F964858C5133}"/>
              </a:ext>
            </a:extLst>
          </p:cNvPr>
          <p:cNvSpPr/>
          <p:nvPr/>
        </p:nvSpPr>
        <p:spPr>
          <a:xfrm>
            <a:off x="8114072" y="2047150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F7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Arbitrage</a:t>
            </a:r>
          </a:p>
        </p:txBody>
      </p:sp>
      <p:sp>
        <p:nvSpPr>
          <p:cNvPr id="176" name="BA_G3">
            <a:extLst>
              <a:ext uri="{FF2B5EF4-FFF2-40B4-BE49-F238E27FC236}">
                <a16:creationId xmlns:a16="http://schemas.microsoft.com/office/drawing/2014/main" id="{222E8684-B838-48BA-7045-CDC8E79FB4BF}"/>
              </a:ext>
            </a:extLst>
          </p:cNvPr>
          <p:cNvSpPr/>
          <p:nvPr/>
        </p:nvSpPr>
        <p:spPr>
          <a:xfrm>
            <a:off x="9490384" y="2047150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G3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Pièces médicales</a:t>
            </a:r>
          </a:p>
        </p:txBody>
      </p:sp>
      <p:sp>
        <p:nvSpPr>
          <p:cNvPr id="177" name="BA_G4">
            <a:extLst>
              <a:ext uri="{FF2B5EF4-FFF2-40B4-BE49-F238E27FC236}">
                <a16:creationId xmlns:a16="http://schemas.microsoft.com/office/drawing/2014/main" id="{504C646E-5CD3-27CE-5B8A-695A6B6F74D0}"/>
              </a:ext>
            </a:extLst>
          </p:cNvPr>
          <p:cNvSpPr/>
          <p:nvPr/>
        </p:nvSpPr>
        <p:spPr>
          <a:xfrm>
            <a:off x="10160477" y="2047150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G4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API FRC</a:t>
            </a:r>
          </a:p>
        </p:txBody>
      </p:sp>
      <p:sp>
        <p:nvSpPr>
          <p:cNvPr id="178" name="BA_G6">
            <a:extLst>
              <a:ext uri="{FF2B5EF4-FFF2-40B4-BE49-F238E27FC236}">
                <a16:creationId xmlns:a16="http://schemas.microsoft.com/office/drawing/2014/main" id="{3AFC02A9-B417-CC0A-C22C-CE383E3B3B12}"/>
              </a:ext>
            </a:extLst>
          </p:cNvPr>
          <p:cNvSpPr/>
          <p:nvPr/>
        </p:nvSpPr>
        <p:spPr>
          <a:xfrm>
            <a:off x="8114072" y="2368438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G6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API </a:t>
            </a:r>
            <a:r>
              <a:rPr kumimoji="0" lang="fr-FR" sz="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Passport</a:t>
            </a:r>
            <a:endParaRPr kumimoji="0" lang="fr-FR" sz="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9" name="BA_GQ">
            <a:extLst>
              <a:ext uri="{FF2B5EF4-FFF2-40B4-BE49-F238E27FC236}">
                <a16:creationId xmlns:a16="http://schemas.microsoft.com/office/drawing/2014/main" id="{FE6A0307-A2F4-8236-94FE-6E5E535A761F}"/>
              </a:ext>
            </a:extLst>
          </p:cNvPr>
          <p:cNvSpPr/>
          <p:nvPr/>
        </p:nvSpPr>
        <p:spPr>
          <a:xfrm>
            <a:off x="8803280" y="2368438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GQ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GED Prévoyance</a:t>
            </a:r>
          </a:p>
        </p:txBody>
      </p:sp>
      <p:sp>
        <p:nvSpPr>
          <p:cNvPr id="180" name="BA_I5">
            <a:extLst>
              <a:ext uri="{FF2B5EF4-FFF2-40B4-BE49-F238E27FC236}">
                <a16:creationId xmlns:a16="http://schemas.microsoft.com/office/drawing/2014/main" id="{491F05E1-4CA5-1F7E-5E90-0405858BC96D}"/>
              </a:ext>
            </a:extLst>
          </p:cNvPr>
          <p:cNvSpPr/>
          <p:nvPr/>
        </p:nvSpPr>
        <p:spPr>
          <a:xfrm>
            <a:off x="8114072" y="2696076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I5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Lanceur New Nova</a:t>
            </a:r>
          </a:p>
        </p:txBody>
      </p:sp>
      <p:sp>
        <p:nvSpPr>
          <p:cNvPr id="181" name="BA_I9">
            <a:extLst>
              <a:ext uri="{FF2B5EF4-FFF2-40B4-BE49-F238E27FC236}">
                <a16:creationId xmlns:a16="http://schemas.microsoft.com/office/drawing/2014/main" id="{86586879-A757-B176-E4A1-D3C09565A262}"/>
              </a:ext>
            </a:extLst>
          </p:cNvPr>
          <p:cNvSpPr/>
          <p:nvPr/>
        </p:nvSpPr>
        <p:spPr>
          <a:xfrm>
            <a:off x="8803280" y="2696076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I9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Keycloak</a:t>
            </a: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 Intranet</a:t>
            </a:r>
          </a:p>
        </p:txBody>
      </p:sp>
      <p:sp>
        <p:nvSpPr>
          <p:cNvPr id="182" name="BA_K7">
            <a:extLst>
              <a:ext uri="{FF2B5EF4-FFF2-40B4-BE49-F238E27FC236}">
                <a16:creationId xmlns:a16="http://schemas.microsoft.com/office/drawing/2014/main" id="{499ED398-CCF9-DE6C-DD8A-2421D15C5785}"/>
              </a:ext>
            </a:extLst>
          </p:cNvPr>
          <p:cNvSpPr/>
          <p:nvPr/>
        </p:nvSpPr>
        <p:spPr>
          <a:xfrm>
            <a:off x="9490384" y="2696076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K7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Aiguilleur</a:t>
            </a:r>
          </a:p>
        </p:txBody>
      </p:sp>
      <p:sp>
        <p:nvSpPr>
          <p:cNvPr id="183" name="BA_K9">
            <a:extLst>
              <a:ext uri="{FF2B5EF4-FFF2-40B4-BE49-F238E27FC236}">
                <a16:creationId xmlns:a16="http://schemas.microsoft.com/office/drawing/2014/main" id="{AA754DCD-B58D-5A31-61D8-DF9C85B0F167}"/>
              </a:ext>
            </a:extLst>
          </p:cNvPr>
          <p:cNvSpPr/>
          <p:nvPr/>
        </p:nvSpPr>
        <p:spPr>
          <a:xfrm>
            <a:off x="10160477" y="2696076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K9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Keycloak</a:t>
            </a: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 Internet</a:t>
            </a:r>
          </a:p>
        </p:txBody>
      </p:sp>
      <p:sp>
        <p:nvSpPr>
          <p:cNvPr id="184" name="BA_L8">
            <a:extLst>
              <a:ext uri="{FF2B5EF4-FFF2-40B4-BE49-F238E27FC236}">
                <a16:creationId xmlns:a16="http://schemas.microsoft.com/office/drawing/2014/main" id="{42F9621C-517D-FB89-3DAC-6DADF0D9D289}"/>
              </a:ext>
            </a:extLst>
          </p:cNvPr>
          <p:cNvSpPr/>
          <p:nvPr/>
        </p:nvSpPr>
        <p:spPr>
          <a:xfrm>
            <a:off x="8114072" y="3027052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L8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API Archivage</a:t>
            </a:r>
          </a:p>
        </p:txBody>
      </p:sp>
      <p:sp>
        <p:nvSpPr>
          <p:cNvPr id="185" name="BA_L9">
            <a:extLst>
              <a:ext uri="{FF2B5EF4-FFF2-40B4-BE49-F238E27FC236}">
                <a16:creationId xmlns:a16="http://schemas.microsoft.com/office/drawing/2014/main" id="{6E3AFC95-1F20-1521-9136-8FF0037F21A8}"/>
              </a:ext>
            </a:extLst>
          </p:cNvPr>
          <p:cNvSpPr/>
          <p:nvPr/>
        </p:nvSpPr>
        <p:spPr>
          <a:xfrm>
            <a:off x="8803280" y="3027052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L9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API Structure</a:t>
            </a:r>
          </a:p>
        </p:txBody>
      </p:sp>
      <p:sp>
        <p:nvSpPr>
          <p:cNvPr id="186" name="BA_N6">
            <a:extLst>
              <a:ext uri="{FF2B5EF4-FFF2-40B4-BE49-F238E27FC236}">
                <a16:creationId xmlns:a16="http://schemas.microsoft.com/office/drawing/2014/main" id="{4DFD6436-3F00-0A87-550D-8691027CF394}"/>
              </a:ext>
            </a:extLst>
          </p:cNvPr>
          <p:cNvSpPr/>
          <p:nvPr/>
        </p:nvSpPr>
        <p:spPr>
          <a:xfrm>
            <a:off x="9490384" y="3034498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N6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API produit</a:t>
            </a:r>
          </a:p>
        </p:txBody>
      </p:sp>
      <p:sp>
        <p:nvSpPr>
          <p:cNvPr id="187" name="BA_N8">
            <a:extLst>
              <a:ext uri="{FF2B5EF4-FFF2-40B4-BE49-F238E27FC236}">
                <a16:creationId xmlns:a16="http://schemas.microsoft.com/office/drawing/2014/main" id="{5C049A1A-04C5-7A69-345C-EBA02EF1D5FA}"/>
              </a:ext>
            </a:extLst>
          </p:cNvPr>
          <p:cNvSpPr/>
          <p:nvPr/>
        </p:nvSpPr>
        <p:spPr>
          <a:xfrm>
            <a:off x="10160477" y="3034498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N8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Notif</a:t>
            </a: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. Distributeur</a:t>
            </a:r>
          </a:p>
        </p:txBody>
      </p:sp>
      <p:sp>
        <p:nvSpPr>
          <p:cNvPr id="188" name="BA_P4">
            <a:extLst>
              <a:ext uri="{FF2B5EF4-FFF2-40B4-BE49-F238E27FC236}">
                <a16:creationId xmlns:a16="http://schemas.microsoft.com/office/drawing/2014/main" id="{B488BA1D-761F-8921-CCD2-6EFBAE8E8125}"/>
              </a:ext>
            </a:extLst>
          </p:cNvPr>
          <p:cNvSpPr/>
          <p:nvPr/>
        </p:nvSpPr>
        <p:spPr>
          <a:xfrm>
            <a:off x="8114072" y="3354466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P4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Services Editique</a:t>
            </a:r>
          </a:p>
        </p:txBody>
      </p:sp>
      <p:sp>
        <p:nvSpPr>
          <p:cNvPr id="189" name="BA_P5">
            <a:extLst>
              <a:ext uri="{FF2B5EF4-FFF2-40B4-BE49-F238E27FC236}">
                <a16:creationId xmlns:a16="http://schemas.microsoft.com/office/drawing/2014/main" id="{2CC6D46B-8703-D275-6296-AEF3F53DA474}"/>
              </a:ext>
            </a:extLst>
          </p:cNvPr>
          <p:cNvSpPr/>
          <p:nvPr/>
        </p:nvSpPr>
        <p:spPr>
          <a:xfrm>
            <a:off x="8803280" y="3354466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P5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API Contrat</a:t>
            </a:r>
          </a:p>
        </p:txBody>
      </p:sp>
      <p:sp>
        <p:nvSpPr>
          <p:cNvPr id="190" name="BA_P6">
            <a:extLst>
              <a:ext uri="{FF2B5EF4-FFF2-40B4-BE49-F238E27FC236}">
                <a16:creationId xmlns:a16="http://schemas.microsoft.com/office/drawing/2014/main" id="{032A36FF-50B2-58E9-3DA1-E5B710A5C3B2}"/>
              </a:ext>
            </a:extLst>
          </p:cNvPr>
          <p:cNvSpPr/>
          <p:nvPr/>
        </p:nvSpPr>
        <p:spPr>
          <a:xfrm>
            <a:off x="9490384" y="3369007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P6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API Support</a:t>
            </a:r>
          </a:p>
        </p:txBody>
      </p:sp>
      <p:sp>
        <p:nvSpPr>
          <p:cNvPr id="191" name="BA_P7">
            <a:extLst>
              <a:ext uri="{FF2B5EF4-FFF2-40B4-BE49-F238E27FC236}">
                <a16:creationId xmlns:a16="http://schemas.microsoft.com/office/drawing/2014/main" id="{9E06B0FF-D14A-FA07-3A90-A821CE885AA5}"/>
              </a:ext>
            </a:extLst>
          </p:cNvPr>
          <p:cNvSpPr/>
          <p:nvPr/>
        </p:nvSpPr>
        <p:spPr>
          <a:xfrm>
            <a:off x="10160477" y="3369007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P7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Campagnes et Frais</a:t>
            </a:r>
          </a:p>
        </p:txBody>
      </p:sp>
      <p:sp>
        <p:nvSpPr>
          <p:cNvPr id="192" name="BA_P8">
            <a:extLst>
              <a:ext uri="{FF2B5EF4-FFF2-40B4-BE49-F238E27FC236}">
                <a16:creationId xmlns:a16="http://schemas.microsoft.com/office/drawing/2014/main" id="{14957F8E-A3B8-FB9D-8F17-8EB03584A146}"/>
              </a:ext>
            </a:extLst>
          </p:cNvPr>
          <p:cNvSpPr/>
          <p:nvPr/>
        </p:nvSpPr>
        <p:spPr>
          <a:xfrm>
            <a:off x="8114072" y="3698914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P8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Habilit</a:t>
            </a: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. &amp;  </a:t>
            </a:r>
            <a:r>
              <a:rPr kumimoji="0" lang="fr-FR" sz="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Délég</a:t>
            </a: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.</a:t>
            </a:r>
          </a:p>
        </p:txBody>
      </p:sp>
      <p:sp>
        <p:nvSpPr>
          <p:cNvPr id="193" name="BA_Q1">
            <a:extLst>
              <a:ext uri="{FF2B5EF4-FFF2-40B4-BE49-F238E27FC236}">
                <a16:creationId xmlns:a16="http://schemas.microsoft.com/office/drawing/2014/main" id="{B0752199-88DE-6A6B-DBA9-DBDE3DEA008E}"/>
              </a:ext>
            </a:extLst>
          </p:cNvPr>
          <p:cNvSpPr/>
          <p:nvPr/>
        </p:nvSpPr>
        <p:spPr>
          <a:xfrm>
            <a:off x="8803280" y="3698914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Q1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API </a:t>
            </a:r>
            <a:r>
              <a:rPr kumimoji="0" lang="fr-FR" sz="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Déciséo</a:t>
            </a:r>
            <a:endParaRPr kumimoji="0" lang="fr-FR" sz="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4" name="BA_W1">
            <a:extLst>
              <a:ext uri="{FF2B5EF4-FFF2-40B4-BE49-F238E27FC236}">
                <a16:creationId xmlns:a16="http://schemas.microsoft.com/office/drawing/2014/main" id="{470D2FCA-0A6A-E6DB-715A-2CFB9B9F159F}"/>
              </a:ext>
            </a:extLst>
          </p:cNvPr>
          <p:cNvSpPr/>
          <p:nvPr/>
        </p:nvSpPr>
        <p:spPr>
          <a:xfrm>
            <a:off x="8114072" y="4023294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W1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API Signature</a:t>
            </a:r>
          </a:p>
        </p:txBody>
      </p:sp>
      <p:sp>
        <p:nvSpPr>
          <p:cNvPr id="195" name="BA_W2">
            <a:extLst>
              <a:ext uri="{FF2B5EF4-FFF2-40B4-BE49-F238E27FC236}">
                <a16:creationId xmlns:a16="http://schemas.microsoft.com/office/drawing/2014/main" id="{0189D371-6F8B-311D-EF3B-62AAC65ADF94}"/>
              </a:ext>
            </a:extLst>
          </p:cNvPr>
          <p:cNvSpPr/>
          <p:nvPr/>
        </p:nvSpPr>
        <p:spPr>
          <a:xfrm>
            <a:off x="8803280" y="4023294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W2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Clause </a:t>
            </a:r>
            <a:r>
              <a:rPr kumimoji="0" lang="fr-FR" sz="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Bénéf</a:t>
            </a: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.</a:t>
            </a:r>
          </a:p>
        </p:txBody>
      </p:sp>
      <p:sp>
        <p:nvSpPr>
          <p:cNvPr id="196" name="BA_W4">
            <a:extLst>
              <a:ext uri="{FF2B5EF4-FFF2-40B4-BE49-F238E27FC236}">
                <a16:creationId xmlns:a16="http://schemas.microsoft.com/office/drawing/2014/main" id="{AA619AC4-9617-3E7E-706A-CAE6C6EC6F4C}"/>
              </a:ext>
            </a:extLst>
          </p:cNvPr>
          <p:cNvSpPr/>
          <p:nvPr/>
        </p:nvSpPr>
        <p:spPr>
          <a:xfrm>
            <a:off x="9490384" y="4047213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W4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Modif</a:t>
            </a: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. </a:t>
            </a:r>
            <a:r>
              <a:rPr kumimoji="0" lang="fr-FR" sz="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Gar</a:t>
            </a: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. </a:t>
            </a:r>
            <a:r>
              <a:rPr kumimoji="0" lang="fr-FR" sz="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Prév</a:t>
            </a: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.</a:t>
            </a:r>
          </a:p>
        </p:txBody>
      </p:sp>
      <p:sp>
        <p:nvSpPr>
          <p:cNvPr id="197" name="Gr_REFUC">
            <a:extLst>
              <a:ext uri="{FF2B5EF4-FFF2-40B4-BE49-F238E27FC236}">
                <a16:creationId xmlns:a16="http://schemas.microsoft.com/office/drawing/2014/main" id="{753A10F8-2B76-3CF9-F952-C4322AE86C3E}"/>
              </a:ext>
            </a:extLst>
          </p:cNvPr>
          <p:cNvSpPr/>
          <p:nvPr/>
        </p:nvSpPr>
        <p:spPr>
          <a:xfrm>
            <a:off x="4497472" y="3115682"/>
            <a:ext cx="769204" cy="591273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  <a:effectLst>
            <a:outerShdw blurRad="50800" dist="38100" dir="2700000" algn="ctr" rotWithShape="0">
              <a:schemeClr val="tx1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/>
            </a:endParaRPr>
          </a:p>
        </p:txBody>
      </p:sp>
      <p:sp>
        <p:nvSpPr>
          <p:cNvPr id="198" name="ZT_REFUC">
            <a:extLst>
              <a:ext uri="{FF2B5EF4-FFF2-40B4-BE49-F238E27FC236}">
                <a16:creationId xmlns:a16="http://schemas.microsoft.com/office/drawing/2014/main" id="{52885B67-37DA-30C8-B407-FBEA3B5D2EAB}"/>
              </a:ext>
            </a:extLst>
          </p:cNvPr>
          <p:cNvSpPr txBox="1"/>
          <p:nvPr/>
        </p:nvSpPr>
        <p:spPr>
          <a:xfrm>
            <a:off x="4585812" y="3143267"/>
            <a:ext cx="664123" cy="246221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REFUC</a:t>
            </a:r>
          </a:p>
        </p:txBody>
      </p:sp>
      <p:sp>
        <p:nvSpPr>
          <p:cNvPr id="199" name="BA_VL">
            <a:extLst>
              <a:ext uri="{FF2B5EF4-FFF2-40B4-BE49-F238E27FC236}">
                <a16:creationId xmlns:a16="http://schemas.microsoft.com/office/drawing/2014/main" id="{43A91A51-C757-81A3-3290-B78B79BEBB23}"/>
              </a:ext>
            </a:extLst>
          </p:cNvPr>
          <p:cNvSpPr/>
          <p:nvPr/>
        </p:nvSpPr>
        <p:spPr>
          <a:xfrm>
            <a:off x="4562134" y="3360904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VL</a:t>
            </a:r>
            <a:endParaRPr kumimoji="0" lang="fr-FR" sz="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Référ</a:t>
            </a: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. UC</a:t>
            </a:r>
          </a:p>
        </p:txBody>
      </p:sp>
      <p:sp>
        <p:nvSpPr>
          <p:cNvPr id="200" name="Gr_EBX">
            <a:extLst>
              <a:ext uri="{FF2B5EF4-FFF2-40B4-BE49-F238E27FC236}">
                <a16:creationId xmlns:a16="http://schemas.microsoft.com/office/drawing/2014/main" id="{D36D6704-75B6-FCD9-951F-2B51F643C9ED}"/>
              </a:ext>
            </a:extLst>
          </p:cNvPr>
          <p:cNvSpPr/>
          <p:nvPr/>
        </p:nvSpPr>
        <p:spPr>
          <a:xfrm>
            <a:off x="3593887" y="3113812"/>
            <a:ext cx="834318" cy="61200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  <a:effectLst>
            <a:outerShdw blurRad="50800" dist="38100" dir="2700000" algn="ctr" rotWithShape="0">
              <a:schemeClr val="tx1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/>
            </a:endParaRPr>
          </a:p>
        </p:txBody>
      </p:sp>
      <p:sp>
        <p:nvSpPr>
          <p:cNvPr id="201" name="ZT_EBX">
            <a:extLst>
              <a:ext uri="{FF2B5EF4-FFF2-40B4-BE49-F238E27FC236}">
                <a16:creationId xmlns:a16="http://schemas.microsoft.com/office/drawing/2014/main" id="{4FCA78AA-811F-FF78-DDD4-2786205C0430}"/>
              </a:ext>
            </a:extLst>
          </p:cNvPr>
          <p:cNvSpPr txBox="1"/>
          <p:nvPr/>
        </p:nvSpPr>
        <p:spPr>
          <a:xfrm>
            <a:off x="3603261" y="3141397"/>
            <a:ext cx="824943" cy="246221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EBX</a:t>
            </a:r>
          </a:p>
        </p:txBody>
      </p:sp>
      <p:sp>
        <p:nvSpPr>
          <p:cNvPr id="202" name="BA_EBX">
            <a:extLst>
              <a:ext uri="{FF2B5EF4-FFF2-40B4-BE49-F238E27FC236}">
                <a16:creationId xmlns:a16="http://schemas.microsoft.com/office/drawing/2014/main" id="{53B1948D-DDF0-A649-52BA-DF7D79C73B0C}"/>
              </a:ext>
            </a:extLst>
          </p:cNvPr>
          <p:cNvSpPr/>
          <p:nvPr/>
        </p:nvSpPr>
        <p:spPr>
          <a:xfrm>
            <a:off x="3697255" y="3370753"/>
            <a:ext cx="648000" cy="276281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EBX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EBX-Platform</a:t>
            </a:r>
          </a:p>
        </p:txBody>
      </p:sp>
      <p:sp>
        <p:nvSpPr>
          <p:cNvPr id="203" name="ZoneProjet">
            <a:extLst>
              <a:ext uri="{FF2B5EF4-FFF2-40B4-BE49-F238E27FC236}">
                <a16:creationId xmlns:a16="http://schemas.microsoft.com/office/drawing/2014/main" id="{044A93EE-A5D4-4DF0-A338-94449E82A455}"/>
              </a:ext>
            </a:extLst>
          </p:cNvPr>
          <p:cNvSpPr txBox="1"/>
          <p:nvPr/>
        </p:nvSpPr>
        <p:spPr>
          <a:xfrm>
            <a:off x="976318" y="524643"/>
            <a:ext cx="1692771" cy="553998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>
            <a:defPPr>
              <a:defRPr lang="fr-FR"/>
            </a:defPPr>
            <a:lvl1pPr lvl="0" algn="ctr">
              <a:defRPr b="1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fr-FR" dirty="0"/>
              <a:t>Ouverture VLC </a:t>
            </a:r>
          </a:p>
          <a:p>
            <a:r>
              <a:rPr lang="fr-FR" sz="1100" dirty="0"/>
              <a:t>pour le produit PER</a:t>
            </a:r>
          </a:p>
        </p:txBody>
      </p:sp>
      <p:sp>
        <p:nvSpPr>
          <p:cNvPr id="204" name="ZT_Titre">
            <a:extLst>
              <a:ext uri="{FF2B5EF4-FFF2-40B4-BE49-F238E27FC236}">
                <a16:creationId xmlns:a16="http://schemas.microsoft.com/office/drawing/2014/main" id="{2DF5AFF5-BE08-C247-74E4-C60C272ACD35}"/>
              </a:ext>
            </a:extLst>
          </p:cNvPr>
          <p:cNvSpPr txBox="1"/>
          <p:nvPr/>
        </p:nvSpPr>
        <p:spPr>
          <a:xfrm>
            <a:off x="0" y="-124544"/>
            <a:ext cx="12192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800" b="0" i="0" u="none" strike="noStrike" kern="1200" cap="none" spc="0" normalizeH="0" baseline="0" noProof="0" dirty="0">
                <a:ln>
                  <a:noFill/>
                </a:ln>
                <a:solidFill>
                  <a:srgbClr val="5B9BD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Identification des composants applicatifs</a:t>
            </a:r>
          </a:p>
        </p:txBody>
      </p:sp>
      <p:sp>
        <p:nvSpPr>
          <p:cNvPr id="205" name="Gr_BDOC">
            <a:extLst>
              <a:ext uri="{FF2B5EF4-FFF2-40B4-BE49-F238E27FC236}">
                <a16:creationId xmlns:a16="http://schemas.microsoft.com/office/drawing/2014/main" id="{826E5044-3DAF-3A08-6FF4-F9B618EBA59B}"/>
              </a:ext>
            </a:extLst>
          </p:cNvPr>
          <p:cNvSpPr/>
          <p:nvPr/>
        </p:nvSpPr>
        <p:spPr>
          <a:xfrm>
            <a:off x="5353697" y="3111592"/>
            <a:ext cx="744111" cy="61200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  <a:effectLst>
            <a:outerShdw blurRad="50800" dist="38100" dir="2700000" algn="ctr" rotWithShape="0">
              <a:schemeClr val="tx1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/>
            </a:endParaRPr>
          </a:p>
        </p:txBody>
      </p:sp>
      <p:sp>
        <p:nvSpPr>
          <p:cNvPr id="206" name="ZT_BDOC">
            <a:extLst>
              <a:ext uri="{FF2B5EF4-FFF2-40B4-BE49-F238E27FC236}">
                <a16:creationId xmlns:a16="http://schemas.microsoft.com/office/drawing/2014/main" id="{801BD38F-F12F-4146-7B3A-AD0D5A202EA3}"/>
              </a:ext>
            </a:extLst>
          </p:cNvPr>
          <p:cNvSpPr txBox="1"/>
          <p:nvPr/>
        </p:nvSpPr>
        <p:spPr>
          <a:xfrm>
            <a:off x="5429887" y="3139177"/>
            <a:ext cx="623531" cy="246221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BDOC</a:t>
            </a:r>
          </a:p>
        </p:txBody>
      </p:sp>
      <p:sp>
        <p:nvSpPr>
          <p:cNvPr id="207" name="BA_BX">
            <a:extLst>
              <a:ext uri="{FF2B5EF4-FFF2-40B4-BE49-F238E27FC236}">
                <a16:creationId xmlns:a16="http://schemas.microsoft.com/office/drawing/2014/main" id="{60127C44-A5DD-4D60-FD21-1CEEED32BB23}"/>
              </a:ext>
            </a:extLst>
          </p:cNvPr>
          <p:cNvSpPr/>
          <p:nvPr/>
        </p:nvSpPr>
        <p:spPr>
          <a:xfrm>
            <a:off x="5405378" y="3393901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BX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BDOC WEB</a:t>
            </a:r>
          </a:p>
        </p:txBody>
      </p:sp>
      <p:sp>
        <p:nvSpPr>
          <p:cNvPr id="208" name="ZT_MàJ">
            <a:extLst>
              <a:ext uri="{FF2B5EF4-FFF2-40B4-BE49-F238E27FC236}">
                <a16:creationId xmlns:a16="http://schemas.microsoft.com/office/drawing/2014/main" id="{396B7096-4CAF-2C06-A2E5-0A41967A6CA3}"/>
              </a:ext>
            </a:extLst>
          </p:cNvPr>
          <p:cNvSpPr txBox="1"/>
          <p:nvPr/>
        </p:nvSpPr>
        <p:spPr>
          <a:xfrm>
            <a:off x="390525" y="6491355"/>
            <a:ext cx="169950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Mise à jour : xx/xx/2026</a:t>
            </a:r>
          </a:p>
        </p:txBody>
      </p:sp>
      <p:sp>
        <p:nvSpPr>
          <p:cNvPr id="209" name="ZT_Validité">
            <a:extLst>
              <a:ext uri="{FF2B5EF4-FFF2-40B4-BE49-F238E27FC236}">
                <a16:creationId xmlns:a16="http://schemas.microsoft.com/office/drawing/2014/main" id="{49B18DAF-FF1B-9521-C8D4-0349FEEFA9A6}"/>
              </a:ext>
            </a:extLst>
          </p:cNvPr>
          <p:cNvSpPr txBox="1"/>
          <p:nvPr/>
        </p:nvSpPr>
        <p:spPr>
          <a:xfrm>
            <a:off x="10479876" y="6501427"/>
            <a:ext cx="126444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Validité : T2 2026</a:t>
            </a:r>
          </a:p>
        </p:txBody>
      </p:sp>
      <p:sp>
        <p:nvSpPr>
          <p:cNvPr id="210" name="Légende_Comp3">
            <a:extLst>
              <a:ext uri="{FF2B5EF4-FFF2-40B4-BE49-F238E27FC236}">
                <a16:creationId xmlns:a16="http://schemas.microsoft.com/office/drawing/2014/main" id="{BA20BC02-C20B-4A5F-1C0C-D00A41518DCE}"/>
              </a:ext>
            </a:extLst>
          </p:cNvPr>
          <p:cNvSpPr/>
          <p:nvPr/>
        </p:nvSpPr>
        <p:spPr>
          <a:xfrm>
            <a:off x="6567797" y="549933"/>
            <a:ext cx="1080000" cy="360000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Composant </a:t>
            </a:r>
            <a:b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créé ou modifié</a:t>
            </a:r>
          </a:p>
        </p:txBody>
      </p:sp>
      <p:sp>
        <p:nvSpPr>
          <p:cNvPr id="211" name="Légende_Comp2">
            <a:extLst>
              <a:ext uri="{FF2B5EF4-FFF2-40B4-BE49-F238E27FC236}">
                <a16:creationId xmlns:a16="http://schemas.microsoft.com/office/drawing/2014/main" id="{65F59C99-BAAA-CF20-0875-825AE071D5E5}"/>
              </a:ext>
            </a:extLst>
          </p:cNvPr>
          <p:cNvSpPr/>
          <p:nvPr/>
        </p:nvSpPr>
        <p:spPr>
          <a:xfrm>
            <a:off x="5383906" y="547517"/>
            <a:ext cx="1080000" cy="360000"/>
          </a:xfrm>
          <a:prstGeom prst="round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Composant utilisé</a:t>
            </a:r>
          </a:p>
        </p:txBody>
      </p:sp>
      <p:sp>
        <p:nvSpPr>
          <p:cNvPr id="212" name="Légende_Comp1">
            <a:extLst>
              <a:ext uri="{FF2B5EF4-FFF2-40B4-BE49-F238E27FC236}">
                <a16:creationId xmlns:a16="http://schemas.microsoft.com/office/drawing/2014/main" id="{C13F50A1-DAA5-03B8-2A77-491E421ABA34}"/>
              </a:ext>
            </a:extLst>
          </p:cNvPr>
          <p:cNvSpPr/>
          <p:nvPr/>
        </p:nvSpPr>
        <p:spPr>
          <a:xfrm>
            <a:off x="4200015" y="542942"/>
            <a:ext cx="1080000" cy="360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Composant non exploité</a:t>
            </a:r>
          </a:p>
        </p:txBody>
      </p:sp>
      <p:sp>
        <p:nvSpPr>
          <p:cNvPr id="213" name="BA_T2">
            <a:extLst>
              <a:ext uri="{FF2B5EF4-FFF2-40B4-BE49-F238E27FC236}">
                <a16:creationId xmlns:a16="http://schemas.microsoft.com/office/drawing/2014/main" id="{D8618FF5-9B65-50F6-FFE1-8858A51655C8}"/>
              </a:ext>
            </a:extLst>
          </p:cNvPr>
          <p:cNvSpPr/>
          <p:nvPr/>
        </p:nvSpPr>
        <p:spPr>
          <a:xfrm>
            <a:off x="9490384" y="3696185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T2</a:t>
            </a:r>
            <a:endParaRPr kumimoji="0" lang="fr-FR" sz="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KConnect</a:t>
            </a: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 MUTU</a:t>
            </a:r>
          </a:p>
        </p:txBody>
      </p:sp>
      <p:sp>
        <p:nvSpPr>
          <p:cNvPr id="214" name="BA_T3">
            <a:extLst>
              <a:ext uri="{FF2B5EF4-FFF2-40B4-BE49-F238E27FC236}">
                <a16:creationId xmlns:a16="http://schemas.microsoft.com/office/drawing/2014/main" id="{C5BF8E12-0E69-8D70-507E-9B115A93A5B8}"/>
              </a:ext>
            </a:extLst>
          </p:cNvPr>
          <p:cNvSpPr/>
          <p:nvPr/>
        </p:nvSpPr>
        <p:spPr>
          <a:xfrm>
            <a:off x="10160477" y="3696185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T3</a:t>
            </a:r>
            <a:endParaRPr kumimoji="0" lang="fr-FR" sz="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KConnect</a:t>
            </a: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 CAA</a:t>
            </a:r>
          </a:p>
        </p:txBody>
      </p:sp>
      <p:sp>
        <p:nvSpPr>
          <p:cNvPr id="215" name="BA_F8">
            <a:extLst>
              <a:ext uri="{FF2B5EF4-FFF2-40B4-BE49-F238E27FC236}">
                <a16:creationId xmlns:a16="http://schemas.microsoft.com/office/drawing/2014/main" id="{D4ED7745-EBE6-64FC-29FE-7ED31759943F}"/>
              </a:ext>
            </a:extLst>
          </p:cNvPr>
          <p:cNvSpPr/>
          <p:nvPr/>
        </p:nvSpPr>
        <p:spPr>
          <a:xfrm>
            <a:off x="8803280" y="2047150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F8</a:t>
            </a:r>
            <a:endParaRPr kumimoji="0" lang="fr-FR" sz="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API MOOP</a:t>
            </a:r>
          </a:p>
        </p:txBody>
      </p:sp>
      <p:sp>
        <p:nvSpPr>
          <p:cNvPr id="216" name="Gr_ETL">
            <a:extLst>
              <a:ext uri="{FF2B5EF4-FFF2-40B4-BE49-F238E27FC236}">
                <a16:creationId xmlns:a16="http://schemas.microsoft.com/office/drawing/2014/main" id="{CE1FBA72-BC72-616F-6912-D4D72E442E3F}"/>
              </a:ext>
            </a:extLst>
          </p:cNvPr>
          <p:cNvSpPr/>
          <p:nvPr/>
        </p:nvSpPr>
        <p:spPr>
          <a:xfrm>
            <a:off x="1617823" y="2849127"/>
            <a:ext cx="862923" cy="561929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  <a:effectLst>
            <a:outerShdw blurRad="50800" dist="38100" dir="2700000" algn="ctr" rotWithShape="0">
              <a:schemeClr val="tx1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/>
            </a:endParaRPr>
          </a:p>
        </p:txBody>
      </p:sp>
      <p:sp>
        <p:nvSpPr>
          <p:cNvPr id="217" name="ZT_ETL">
            <a:extLst>
              <a:ext uri="{FF2B5EF4-FFF2-40B4-BE49-F238E27FC236}">
                <a16:creationId xmlns:a16="http://schemas.microsoft.com/office/drawing/2014/main" id="{6950818D-600B-A0B2-42EF-C48C995B0782}"/>
              </a:ext>
            </a:extLst>
          </p:cNvPr>
          <p:cNvSpPr txBox="1"/>
          <p:nvPr/>
        </p:nvSpPr>
        <p:spPr>
          <a:xfrm>
            <a:off x="1611935" y="2858784"/>
            <a:ext cx="898650" cy="246221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ETL</a:t>
            </a:r>
          </a:p>
        </p:txBody>
      </p:sp>
      <p:sp>
        <p:nvSpPr>
          <p:cNvPr id="218" name="BA_PWC2">
            <a:extLst>
              <a:ext uri="{FF2B5EF4-FFF2-40B4-BE49-F238E27FC236}">
                <a16:creationId xmlns:a16="http://schemas.microsoft.com/office/drawing/2014/main" id="{5BECC05E-B794-63F0-9D24-13FD8DDE6700}"/>
              </a:ext>
            </a:extLst>
          </p:cNvPr>
          <p:cNvSpPr/>
          <p:nvPr/>
        </p:nvSpPr>
        <p:spPr>
          <a:xfrm>
            <a:off x="1715817" y="3076593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PWC2</a:t>
            </a:r>
            <a:endParaRPr kumimoji="0" lang="fr-FR" sz="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ETL PREDICA</a:t>
            </a:r>
          </a:p>
        </p:txBody>
      </p:sp>
      <p:sp>
        <p:nvSpPr>
          <p:cNvPr id="219" name="Légende_Date1">
            <a:extLst>
              <a:ext uri="{FF2B5EF4-FFF2-40B4-BE49-F238E27FC236}">
                <a16:creationId xmlns:a16="http://schemas.microsoft.com/office/drawing/2014/main" id="{BBDE824B-423C-E2A0-9E7C-A91781B674FC}"/>
              </a:ext>
            </a:extLst>
          </p:cNvPr>
          <p:cNvSpPr txBox="1"/>
          <p:nvPr/>
        </p:nvSpPr>
        <p:spPr>
          <a:xfrm rot="19102564">
            <a:off x="7647306" y="559123"/>
            <a:ext cx="927160" cy="369332"/>
          </a:xfrm>
          <a:prstGeom prst="rect">
            <a:avLst/>
          </a:prstGeom>
          <a:noFill/>
          <a:ln cap="flat">
            <a:noFill/>
            <a:prstDash val="solid"/>
          </a:ln>
          <a:effectLst>
            <a:softEdge rad="0"/>
          </a:effectLst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900" b="0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Date de </a:t>
            </a:r>
            <a:r>
              <a:rPr kumimoji="0" lang="fr-FR" sz="900" b="0" i="0" u="none" strike="noStrike" kern="1200" cap="none" spc="0" normalizeH="0" baseline="0" noProof="0" dirty="0" err="1">
                <a:ln>
                  <a:noFill/>
                </a:ln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MeP</a:t>
            </a:r>
            <a:r>
              <a:rPr kumimoji="0" lang="fr-FR" sz="900" b="0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 prévue</a:t>
            </a:r>
          </a:p>
        </p:txBody>
      </p:sp>
      <p:sp>
        <p:nvSpPr>
          <p:cNvPr id="222" name="Légende_Date2">
            <a:extLst>
              <a:ext uri="{FF2B5EF4-FFF2-40B4-BE49-F238E27FC236}">
                <a16:creationId xmlns:a16="http://schemas.microsoft.com/office/drawing/2014/main" id="{DF59DED2-42E5-B5BE-9140-4C2C33A98609}"/>
              </a:ext>
            </a:extLst>
          </p:cNvPr>
          <p:cNvSpPr txBox="1"/>
          <p:nvPr/>
        </p:nvSpPr>
        <p:spPr>
          <a:xfrm rot="19102564">
            <a:off x="8343008" y="568799"/>
            <a:ext cx="927160" cy="369332"/>
          </a:xfrm>
          <a:prstGeom prst="rect">
            <a:avLst/>
          </a:prstGeom>
          <a:noFill/>
          <a:ln cap="flat">
            <a:noFill/>
            <a:prstDash val="solid"/>
          </a:ln>
          <a:effectLst>
            <a:softEdge rad="0"/>
          </a:effectLst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900" b="0" i="0" u="none" strike="noStrike" kern="1200" cap="none" spc="0" normalizeH="0" baseline="0" noProof="0" dirty="0">
                <a:ln>
                  <a:noFill/>
                </a:ln>
                <a:solidFill>
                  <a:srgbClr val="70AD4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Date de </a:t>
            </a:r>
            <a:r>
              <a:rPr kumimoji="0" lang="fr-FR" sz="900" b="0" i="0" u="none" strike="noStrike" kern="1200" cap="none" spc="0" normalizeH="0" baseline="0" noProof="0" dirty="0" err="1">
                <a:ln>
                  <a:noFill/>
                </a:ln>
                <a:solidFill>
                  <a:srgbClr val="70AD4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MeP</a:t>
            </a:r>
            <a:r>
              <a:rPr kumimoji="0" lang="fr-FR" sz="900" b="0" i="0" u="none" strike="noStrike" kern="1200" cap="none" spc="0" normalizeH="0" baseline="0" noProof="0" dirty="0">
                <a:ln>
                  <a:noFill/>
                </a:ln>
                <a:solidFill>
                  <a:srgbClr val="70AD4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 effective</a:t>
            </a:r>
          </a:p>
        </p:txBody>
      </p:sp>
      <p:sp>
        <p:nvSpPr>
          <p:cNvPr id="223" name="Gr_CATS">
            <a:extLst>
              <a:ext uri="{FF2B5EF4-FFF2-40B4-BE49-F238E27FC236}">
                <a16:creationId xmlns:a16="http://schemas.microsoft.com/office/drawing/2014/main" id="{0A2E6033-7683-1CAD-4213-697B2056515B}"/>
              </a:ext>
            </a:extLst>
          </p:cNvPr>
          <p:cNvSpPr/>
          <p:nvPr/>
        </p:nvSpPr>
        <p:spPr>
          <a:xfrm>
            <a:off x="447324" y="5119889"/>
            <a:ext cx="5579420" cy="1254012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4" name="ZT_CATS">
            <a:extLst>
              <a:ext uri="{FF2B5EF4-FFF2-40B4-BE49-F238E27FC236}">
                <a16:creationId xmlns:a16="http://schemas.microsoft.com/office/drawing/2014/main" id="{ED40DA19-9719-69D5-BD71-2AF7B87272D0}"/>
              </a:ext>
            </a:extLst>
          </p:cNvPr>
          <p:cNvSpPr txBox="1"/>
          <p:nvPr/>
        </p:nvSpPr>
        <p:spPr>
          <a:xfrm>
            <a:off x="370835" y="5083258"/>
            <a:ext cx="5409144" cy="246221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CA-TS</a:t>
            </a:r>
            <a:endParaRPr kumimoji="0" lang="fr-FR" sz="1000" b="1" i="1" u="none" strike="noStrike" kern="1200" cap="none" spc="0" normalizeH="0" baseline="0" noProof="0" dirty="0">
              <a:ln>
                <a:noFill/>
              </a:ln>
              <a:solidFill>
                <a:srgbClr val="7030A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5" name="BA_PDI9">
            <a:extLst>
              <a:ext uri="{FF2B5EF4-FFF2-40B4-BE49-F238E27FC236}">
                <a16:creationId xmlns:a16="http://schemas.microsoft.com/office/drawing/2014/main" id="{D39B01D5-5347-E9DE-9150-00B73BA2BE82}"/>
              </a:ext>
            </a:extLst>
          </p:cNvPr>
          <p:cNvSpPr/>
          <p:nvPr/>
        </p:nvSpPr>
        <p:spPr>
          <a:xfrm>
            <a:off x="506780" y="5666800"/>
            <a:ext cx="648000" cy="288000"/>
          </a:xfrm>
          <a:prstGeom prst="roundRect">
            <a:avLst/>
          </a:prstGeom>
          <a:solidFill>
            <a:srgbClr val="B6D3EC"/>
          </a:solidFill>
          <a:ln w="6350"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PDI9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6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/>
              </a:rPr>
              <a:t>-</a:t>
            </a:r>
            <a:endParaRPr kumimoji="0" lang="fr-FR" sz="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6" name="BA_XConnect">
            <a:extLst>
              <a:ext uri="{FF2B5EF4-FFF2-40B4-BE49-F238E27FC236}">
                <a16:creationId xmlns:a16="http://schemas.microsoft.com/office/drawing/2014/main" id="{1F859F4A-C8EB-800F-E759-EE547CF035F7}"/>
              </a:ext>
            </a:extLst>
          </p:cNvPr>
          <p:cNvSpPr/>
          <p:nvPr/>
        </p:nvSpPr>
        <p:spPr>
          <a:xfrm>
            <a:off x="1189563" y="5663009"/>
            <a:ext cx="648000" cy="288000"/>
          </a:xfrm>
          <a:prstGeom prst="roundRect">
            <a:avLst/>
          </a:prstGeom>
          <a:solidFill>
            <a:srgbClr val="B6D3EC"/>
          </a:solidFill>
          <a:ln w="6350"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Xconnect</a:t>
            </a:r>
            <a:endParaRPr kumimoji="0" lang="fr-FR" sz="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6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/>
              </a:rPr>
              <a:t>-</a:t>
            </a:r>
            <a:endParaRPr kumimoji="0" lang="fr-FR" sz="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7" name="BA_SIMM">
            <a:extLst>
              <a:ext uri="{FF2B5EF4-FFF2-40B4-BE49-F238E27FC236}">
                <a16:creationId xmlns:a16="http://schemas.microsoft.com/office/drawing/2014/main" id="{D01C8512-74E4-0B42-B8B9-E2447E43201D}"/>
              </a:ext>
            </a:extLst>
          </p:cNvPr>
          <p:cNvSpPr/>
          <p:nvPr/>
        </p:nvSpPr>
        <p:spPr>
          <a:xfrm>
            <a:off x="2557693" y="5660385"/>
            <a:ext cx="648000" cy="288000"/>
          </a:xfrm>
          <a:prstGeom prst="roundRect">
            <a:avLst/>
          </a:prstGeom>
          <a:solidFill>
            <a:srgbClr val="B6D3EC"/>
          </a:solidFill>
          <a:ln w="6350"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SIMM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6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/>
              </a:rPr>
              <a:t>-</a:t>
            </a:r>
            <a:endParaRPr kumimoji="0" lang="fr-FR" sz="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8" name="BA_BAM">
            <a:extLst>
              <a:ext uri="{FF2B5EF4-FFF2-40B4-BE49-F238E27FC236}">
                <a16:creationId xmlns:a16="http://schemas.microsoft.com/office/drawing/2014/main" id="{F48D7E80-FBE4-21D3-F311-164793709BA0}"/>
              </a:ext>
            </a:extLst>
          </p:cNvPr>
          <p:cNvSpPr/>
          <p:nvPr/>
        </p:nvSpPr>
        <p:spPr>
          <a:xfrm>
            <a:off x="2833493" y="5340532"/>
            <a:ext cx="648000" cy="288000"/>
          </a:xfrm>
          <a:prstGeom prst="roundRect">
            <a:avLst/>
          </a:prstGeom>
          <a:solidFill>
            <a:srgbClr val="B6D3EC"/>
          </a:solidFill>
          <a:ln w="6350"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BAM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6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/>
              </a:rPr>
              <a:t>-</a:t>
            </a:r>
            <a:endParaRPr kumimoji="0" lang="fr-FR" sz="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9" name="BA_RAC">
            <a:extLst>
              <a:ext uri="{FF2B5EF4-FFF2-40B4-BE49-F238E27FC236}">
                <a16:creationId xmlns:a16="http://schemas.microsoft.com/office/drawing/2014/main" id="{BB841045-13A2-92D1-D1F7-9D6E1DE7F4A6}"/>
              </a:ext>
            </a:extLst>
          </p:cNvPr>
          <p:cNvSpPr/>
          <p:nvPr/>
        </p:nvSpPr>
        <p:spPr>
          <a:xfrm>
            <a:off x="4892893" y="5338051"/>
            <a:ext cx="648000" cy="288000"/>
          </a:xfrm>
          <a:prstGeom prst="roundRect">
            <a:avLst/>
          </a:prstGeom>
          <a:solidFill>
            <a:srgbClr val="B6D3EC"/>
          </a:solidFill>
          <a:ln w="6350"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RAC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6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/>
              </a:rPr>
              <a:t>-</a:t>
            </a:r>
            <a:endParaRPr kumimoji="0" lang="fr-FR" sz="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0" name="BA_DétContratNatifMB">
            <a:extLst>
              <a:ext uri="{FF2B5EF4-FFF2-40B4-BE49-F238E27FC236}">
                <a16:creationId xmlns:a16="http://schemas.microsoft.com/office/drawing/2014/main" id="{262E4D64-EAD8-0ADA-8825-7CE51D270AC6}"/>
              </a:ext>
            </a:extLst>
          </p:cNvPr>
          <p:cNvSpPr/>
          <p:nvPr/>
        </p:nvSpPr>
        <p:spPr>
          <a:xfrm>
            <a:off x="506780" y="5329301"/>
            <a:ext cx="1326281" cy="288000"/>
          </a:xfrm>
          <a:prstGeom prst="roundRect">
            <a:avLst/>
          </a:prstGeom>
          <a:solidFill>
            <a:srgbClr val="B6D3EC"/>
          </a:solidFill>
          <a:ln w="6350"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Dét</a:t>
            </a: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. Contrat natif MB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6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/>
              </a:rPr>
              <a:t>-</a:t>
            </a:r>
            <a:endParaRPr kumimoji="0" lang="fr-FR" sz="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1" name="BA_BPM">
            <a:extLst>
              <a:ext uri="{FF2B5EF4-FFF2-40B4-BE49-F238E27FC236}">
                <a16:creationId xmlns:a16="http://schemas.microsoft.com/office/drawing/2014/main" id="{61946E24-4152-4F52-B904-4B60245FC426}"/>
              </a:ext>
            </a:extLst>
          </p:cNvPr>
          <p:cNvSpPr/>
          <p:nvPr/>
        </p:nvSpPr>
        <p:spPr>
          <a:xfrm>
            <a:off x="1875772" y="5663009"/>
            <a:ext cx="648000" cy="288000"/>
          </a:xfrm>
          <a:prstGeom prst="roundRect">
            <a:avLst/>
          </a:prstGeom>
          <a:solidFill>
            <a:srgbClr val="B6D3EC"/>
          </a:solidFill>
          <a:ln w="6350"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BPM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6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/>
              </a:rPr>
              <a:t>-</a:t>
            </a:r>
            <a:endParaRPr kumimoji="0" lang="fr-FR" sz="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2" name="BA_APX9">
            <a:extLst>
              <a:ext uri="{FF2B5EF4-FFF2-40B4-BE49-F238E27FC236}">
                <a16:creationId xmlns:a16="http://schemas.microsoft.com/office/drawing/2014/main" id="{BD79FA2B-BEF6-1F4E-9E3B-DC38D3BAEF6B}"/>
              </a:ext>
            </a:extLst>
          </p:cNvPr>
          <p:cNvSpPr/>
          <p:nvPr/>
        </p:nvSpPr>
        <p:spPr>
          <a:xfrm>
            <a:off x="511818" y="6003252"/>
            <a:ext cx="648000" cy="288000"/>
          </a:xfrm>
          <a:prstGeom prst="roundRect">
            <a:avLst/>
          </a:prstGeom>
          <a:solidFill>
            <a:srgbClr val="B6D3EC"/>
          </a:solidFill>
          <a:ln w="6350"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APX9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6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/>
              </a:rPr>
              <a:t>-</a:t>
            </a:r>
            <a:endParaRPr kumimoji="0" lang="fr-FR" sz="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3" name="BA_HUB">
            <a:extLst>
              <a:ext uri="{FF2B5EF4-FFF2-40B4-BE49-F238E27FC236}">
                <a16:creationId xmlns:a16="http://schemas.microsoft.com/office/drawing/2014/main" id="{9B234C13-E5E9-0139-CF7B-8880A3CFC3CA}"/>
              </a:ext>
            </a:extLst>
          </p:cNvPr>
          <p:cNvSpPr/>
          <p:nvPr/>
        </p:nvSpPr>
        <p:spPr>
          <a:xfrm>
            <a:off x="3242082" y="5660385"/>
            <a:ext cx="648000" cy="288000"/>
          </a:xfrm>
          <a:prstGeom prst="roundRect">
            <a:avLst/>
          </a:prstGeom>
          <a:solidFill>
            <a:srgbClr val="B6D3EC"/>
          </a:solidFill>
          <a:ln w="6350"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HUB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6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/>
              </a:rPr>
              <a:t>-</a:t>
            </a:r>
            <a:endParaRPr kumimoji="0" lang="fr-FR" sz="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4" name="BA_NPC">
            <a:extLst>
              <a:ext uri="{FF2B5EF4-FFF2-40B4-BE49-F238E27FC236}">
                <a16:creationId xmlns:a16="http://schemas.microsoft.com/office/drawing/2014/main" id="{C3AA59EB-BEBA-60A5-EF53-A89BBDA46FEC}"/>
              </a:ext>
            </a:extLst>
          </p:cNvPr>
          <p:cNvSpPr/>
          <p:nvPr/>
        </p:nvSpPr>
        <p:spPr>
          <a:xfrm>
            <a:off x="3515693" y="5337169"/>
            <a:ext cx="648000" cy="288000"/>
          </a:xfrm>
          <a:prstGeom prst="roundRect">
            <a:avLst/>
          </a:prstGeom>
          <a:solidFill>
            <a:srgbClr val="B6D3EC"/>
          </a:solidFill>
          <a:ln w="6350"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NPC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6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/>
              </a:rPr>
              <a:t>-</a:t>
            </a:r>
            <a:endParaRPr kumimoji="0" lang="fr-FR" sz="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5" name="BA_Microservices">
            <a:extLst>
              <a:ext uri="{FF2B5EF4-FFF2-40B4-BE49-F238E27FC236}">
                <a16:creationId xmlns:a16="http://schemas.microsoft.com/office/drawing/2014/main" id="{16F9B45C-E38C-86F0-B87E-243D0C729DFA}"/>
              </a:ext>
            </a:extLst>
          </p:cNvPr>
          <p:cNvSpPr/>
          <p:nvPr/>
        </p:nvSpPr>
        <p:spPr>
          <a:xfrm>
            <a:off x="1867224" y="5336000"/>
            <a:ext cx="925408" cy="288000"/>
          </a:xfrm>
          <a:prstGeom prst="roundRect">
            <a:avLst/>
          </a:prstGeom>
          <a:solidFill>
            <a:srgbClr val="B6D3EC"/>
          </a:solidFill>
          <a:ln w="6350"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Microservices</a:t>
            </a:r>
            <a:endParaRPr kumimoji="0" lang="fr-FR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6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/>
              </a:rPr>
              <a:t>-</a:t>
            </a:r>
            <a:endParaRPr kumimoji="0" lang="fr-FR" sz="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6" name="BA_SIG9">
            <a:extLst>
              <a:ext uri="{FF2B5EF4-FFF2-40B4-BE49-F238E27FC236}">
                <a16:creationId xmlns:a16="http://schemas.microsoft.com/office/drawing/2014/main" id="{888C4197-4740-B29C-4C13-0886DFC63975}"/>
              </a:ext>
            </a:extLst>
          </p:cNvPr>
          <p:cNvSpPr/>
          <p:nvPr/>
        </p:nvSpPr>
        <p:spPr>
          <a:xfrm>
            <a:off x="4203138" y="5331299"/>
            <a:ext cx="648000" cy="288000"/>
          </a:xfrm>
          <a:prstGeom prst="roundRect">
            <a:avLst/>
          </a:prstGeom>
          <a:solidFill>
            <a:srgbClr val="B6D3EC"/>
          </a:solidFill>
          <a:ln w="6350"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SIG9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6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/>
              </a:rPr>
              <a:t>-</a:t>
            </a:r>
            <a:endParaRPr kumimoji="0" lang="fr-FR" sz="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7" name="Gr_MVS">
            <a:extLst>
              <a:ext uri="{FF2B5EF4-FFF2-40B4-BE49-F238E27FC236}">
                <a16:creationId xmlns:a16="http://schemas.microsoft.com/office/drawing/2014/main" id="{876DDF07-B117-8C50-2303-B810A1B0CB6D}"/>
              </a:ext>
            </a:extLst>
          </p:cNvPr>
          <p:cNvSpPr/>
          <p:nvPr/>
        </p:nvSpPr>
        <p:spPr>
          <a:xfrm>
            <a:off x="560497" y="1111645"/>
            <a:ext cx="2901105" cy="1661382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  <a:effectLst>
            <a:outerShdw blurRad="50800" dist="38100" dir="2700000" algn="ctr" rotWithShape="0">
              <a:schemeClr val="tx1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/>
            </a:endParaRPr>
          </a:p>
        </p:txBody>
      </p:sp>
      <p:sp>
        <p:nvSpPr>
          <p:cNvPr id="238" name="BA_CICS_LCL">
            <a:extLst>
              <a:ext uri="{FF2B5EF4-FFF2-40B4-BE49-F238E27FC236}">
                <a16:creationId xmlns:a16="http://schemas.microsoft.com/office/drawing/2014/main" id="{678E88A2-9A24-BB40-C0B2-5CF7E24AFA9D}"/>
              </a:ext>
            </a:extLst>
          </p:cNvPr>
          <p:cNvSpPr/>
          <p:nvPr/>
        </p:nvSpPr>
        <p:spPr>
          <a:xfrm>
            <a:off x="623669" y="1641943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CICS</a:t>
            </a:r>
          </a:p>
        </p:txBody>
      </p:sp>
      <p:sp>
        <p:nvSpPr>
          <p:cNvPr id="239" name="BA_DB2_LCL">
            <a:extLst>
              <a:ext uri="{FF2B5EF4-FFF2-40B4-BE49-F238E27FC236}">
                <a16:creationId xmlns:a16="http://schemas.microsoft.com/office/drawing/2014/main" id="{E35768D4-C08C-7088-AFA3-7FF7A14D3B54}"/>
              </a:ext>
            </a:extLst>
          </p:cNvPr>
          <p:cNvSpPr/>
          <p:nvPr/>
        </p:nvSpPr>
        <p:spPr>
          <a:xfrm>
            <a:off x="1307275" y="1641222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DB2</a:t>
            </a:r>
          </a:p>
        </p:txBody>
      </p:sp>
      <p:sp>
        <p:nvSpPr>
          <p:cNvPr id="240" name="ZT_MVS">
            <a:extLst>
              <a:ext uri="{FF2B5EF4-FFF2-40B4-BE49-F238E27FC236}">
                <a16:creationId xmlns:a16="http://schemas.microsoft.com/office/drawing/2014/main" id="{5EA70DA4-8D09-7AFC-09C2-1867DD4890FA}"/>
              </a:ext>
            </a:extLst>
          </p:cNvPr>
          <p:cNvSpPr txBox="1"/>
          <p:nvPr/>
        </p:nvSpPr>
        <p:spPr>
          <a:xfrm>
            <a:off x="560496" y="1111645"/>
            <a:ext cx="2901106" cy="246221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MVS Z/OS (</a:t>
            </a:r>
            <a:r>
              <a:rPr kumimoji="0" lang="fr-FR" sz="1000" b="1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Ingenium</a:t>
            </a:r>
            <a:r>
              <a:rPr kumimoji="0" lang="fr-FR" sz="1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)</a:t>
            </a:r>
            <a:endParaRPr kumimoji="0" lang="fr-FR" sz="1000" b="1" i="1" u="none" strike="noStrike" kern="1200" cap="none" spc="0" normalizeH="0" baseline="0" noProof="0" dirty="0">
              <a:ln>
                <a:noFill/>
              </a:ln>
              <a:solidFill>
                <a:srgbClr val="ED7D3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1" name="BA_ING_CA">
            <a:extLst>
              <a:ext uri="{FF2B5EF4-FFF2-40B4-BE49-F238E27FC236}">
                <a16:creationId xmlns:a16="http://schemas.microsoft.com/office/drawing/2014/main" id="{E141B95D-4307-B42C-B4FE-DD74BECB8287}"/>
              </a:ext>
            </a:extLst>
          </p:cNvPr>
          <p:cNvSpPr/>
          <p:nvPr/>
        </p:nvSpPr>
        <p:spPr>
          <a:xfrm>
            <a:off x="2043446" y="1970146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INVI/VC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Ingenium</a:t>
            </a: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 CA</a:t>
            </a:r>
          </a:p>
        </p:txBody>
      </p:sp>
      <p:sp>
        <p:nvSpPr>
          <p:cNvPr id="242" name="BA_PE_CA">
            <a:extLst>
              <a:ext uri="{FF2B5EF4-FFF2-40B4-BE49-F238E27FC236}">
                <a16:creationId xmlns:a16="http://schemas.microsoft.com/office/drawing/2014/main" id="{E9E56EBE-0F55-B815-172F-418F80961B19}"/>
              </a:ext>
            </a:extLst>
          </p:cNvPr>
          <p:cNvSpPr/>
          <p:nvPr/>
        </p:nvSpPr>
        <p:spPr>
          <a:xfrm>
            <a:off x="2716487" y="1971824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PE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Base Pers CA</a:t>
            </a:r>
          </a:p>
        </p:txBody>
      </p:sp>
      <p:sp>
        <p:nvSpPr>
          <p:cNvPr id="243" name="BA_Autre_CA">
            <a:extLst>
              <a:ext uri="{FF2B5EF4-FFF2-40B4-BE49-F238E27FC236}">
                <a16:creationId xmlns:a16="http://schemas.microsoft.com/office/drawing/2014/main" id="{D5AC0303-8534-6FB0-EBA3-2E4AEE94839B}"/>
              </a:ext>
            </a:extLst>
          </p:cNvPr>
          <p:cNvSpPr/>
          <p:nvPr/>
        </p:nvSpPr>
        <p:spPr>
          <a:xfrm>
            <a:off x="2377796" y="2309491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…</a:t>
            </a:r>
          </a:p>
        </p:txBody>
      </p:sp>
      <p:sp>
        <p:nvSpPr>
          <p:cNvPr id="244" name="BA_ING_LCL">
            <a:extLst>
              <a:ext uri="{FF2B5EF4-FFF2-40B4-BE49-F238E27FC236}">
                <a16:creationId xmlns:a16="http://schemas.microsoft.com/office/drawing/2014/main" id="{3D55233C-503A-FC88-1BC8-F55B9C427BCA}"/>
              </a:ext>
            </a:extLst>
          </p:cNvPr>
          <p:cNvSpPr/>
          <p:nvPr/>
        </p:nvSpPr>
        <p:spPr>
          <a:xfrm>
            <a:off x="619469" y="1964817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INVI/VC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Ingenium</a:t>
            </a: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 LCL</a:t>
            </a:r>
          </a:p>
        </p:txBody>
      </p:sp>
      <p:sp>
        <p:nvSpPr>
          <p:cNvPr id="245" name="BA_PE_LCL">
            <a:extLst>
              <a:ext uri="{FF2B5EF4-FFF2-40B4-BE49-F238E27FC236}">
                <a16:creationId xmlns:a16="http://schemas.microsoft.com/office/drawing/2014/main" id="{E5E0FCEE-EB79-2095-919A-ACC114523089}"/>
              </a:ext>
            </a:extLst>
          </p:cNvPr>
          <p:cNvSpPr/>
          <p:nvPr/>
        </p:nvSpPr>
        <p:spPr>
          <a:xfrm>
            <a:off x="1305439" y="1963152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PE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Base Pers LCL</a:t>
            </a:r>
          </a:p>
        </p:txBody>
      </p:sp>
      <p:sp>
        <p:nvSpPr>
          <p:cNvPr id="246" name="BA_Autre_LCL">
            <a:extLst>
              <a:ext uri="{FF2B5EF4-FFF2-40B4-BE49-F238E27FC236}">
                <a16:creationId xmlns:a16="http://schemas.microsoft.com/office/drawing/2014/main" id="{441F205E-B2BF-01DC-AD47-C15075810B70}"/>
              </a:ext>
            </a:extLst>
          </p:cNvPr>
          <p:cNvSpPr/>
          <p:nvPr/>
        </p:nvSpPr>
        <p:spPr>
          <a:xfrm>
            <a:off x="1010215" y="2285082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…</a:t>
            </a:r>
          </a:p>
        </p:txBody>
      </p:sp>
      <p:cxnSp>
        <p:nvCxnSpPr>
          <p:cNvPr id="247" name="Connecteur droit">
            <a:extLst>
              <a:ext uri="{FF2B5EF4-FFF2-40B4-BE49-F238E27FC236}">
                <a16:creationId xmlns:a16="http://schemas.microsoft.com/office/drawing/2014/main" id="{75984CC7-4684-B235-6E4E-812F50630ED8}"/>
              </a:ext>
            </a:extLst>
          </p:cNvPr>
          <p:cNvCxnSpPr/>
          <p:nvPr/>
        </p:nvCxnSpPr>
        <p:spPr>
          <a:xfrm>
            <a:off x="1984365" y="1430388"/>
            <a:ext cx="4993" cy="1220450"/>
          </a:xfrm>
          <a:prstGeom prst="line">
            <a:avLst/>
          </a:prstGeom>
          <a:ln w="9525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8" name="ZT_CA">
            <a:extLst>
              <a:ext uri="{FF2B5EF4-FFF2-40B4-BE49-F238E27FC236}">
                <a16:creationId xmlns:a16="http://schemas.microsoft.com/office/drawing/2014/main" id="{B0A6F10A-7D08-AE30-9997-24115D03771D}"/>
              </a:ext>
            </a:extLst>
          </p:cNvPr>
          <p:cNvSpPr txBox="1"/>
          <p:nvPr/>
        </p:nvSpPr>
        <p:spPr>
          <a:xfrm>
            <a:off x="2418813" y="1371697"/>
            <a:ext cx="551086" cy="246221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CA</a:t>
            </a:r>
            <a:endParaRPr kumimoji="0" lang="fr-FR" sz="1000" b="1" i="1" u="none" strike="noStrike" kern="1200" cap="none" spc="0" normalizeH="0" baseline="0" noProof="0" dirty="0">
              <a:ln>
                <a:noFill/>
              </a:ln>
              <a:solidFill>
                <a:srgbClr val="ED7D3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9" name="ZT_LCL">
            <a:extLst>
              <a:ext uri="{FF2B5EF4-FFF2-40B4-BE49-F238E27FC236}">
                <a16:creationId xmlns:a16="http://schemas.microsoft.com/office/drawing/2014/main" id="{D1D87C93-D007-765C-B674-1EB9DD01B3E5}"/>
              </a:ext>
            </a:extLst>
          </p:cNvPr>
          <p:cNvSpPr txBox="1"/>
          <p:nvPr/>
        </p:nvSpPr>
        <p:spPr>
          <a:xfrm>
            <a:off x="1032399" y="1378099"/>
            <a:ext cx="551086" cy="246221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LCL</a:t>
            </a:r>
            <a:endParaRPr kumimoji="0" lang="fr-FR" sz="1000" b="1" i="1" u="none" strike="noStrike" kern="1200" cap="none" spc="0" normalizeH="0" baseline="0" noProof="0" dirty="0">
              <a:ln>
                <a:noFill/>
              </a:ln>
              <a:solidFill>
                <a:srgbClr val="ED7D3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0" name="BA_CICS_CA">
            <a:extLst>
              <a:ext uri="{FF2B5EF4-FFF2-40B4-BE49-F238E27FC236}">
                <a16:creationId xmlns:a16="http://schemas.microsoft.com/office/drawing/2014/main" id="{7515F72D-936A-1402-0AB1-D078313F213B}"/>
              </a:ext>
            </a:extLst>
          </p:cNvPr>
          <p:cNvSpPr/>
          <p:nvPr/>
        </p:nvSpPr>
        <p:spPr>
          <a:xfrm>
            <a:off x="2021573" y="1646459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CICS</a:t>
            </a:r>
          </a:p>
        </p:txBody>
      </p:sp>
      <p:sp>
        <p:nvSpPr>
          <p:cNvPr id="251" name="BA_DB2_CA">
            <a:extLst>
              <a:ext uri="{FF2B5EF4-FFF2-40B4-BE49-F238E27FC236}">
                <a16:creationId xmlns:a16="http://schemas.microsoft.com/office/drawing/2014/main" id="{2D77B22B-9281-BBD9-ED59-78E3EA9FB3CC}"/>
              </a:ext>
            </a:extLst>
          </p:cNvPr>
          <p:cNvSpPr/>
          <p:nvPr/>
        </p:nvSpPr>
        <p:spPr>
          <a:xfrm>
            <a:off x="2717879" y="1645738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DB2</a:t>
            </a:r>
          </a:p>
        </p:txBody>
      </p:sp>
      <p:sp>
        <p:nvSpPr>
          <p:cNvPr id="252" name="BA_GG">
            <a:extLst>
              <a:ext uri="{FF2B5EF4-FFF2-40B4-BE49-F238E27FC236}">
                <a16:creationId xmlns:a16="http://schemas.microsoft.com/office/drawing/2014/main" id="{FB8C339F-C2A3-CEEB-40CB-2B18752A6848}"/>
              </a:ext>
            </a:extLst>
          </p:cNvPr>
          <p:cNvSpPr/>
          <p:nvPr/>
        </p:nvSpPr>
        <p:spPr>
          <a:xfrm>
            <a:off x="5540187" y="2498620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GG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Sim.Prév</a:t>
            </a: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. Décès</a:t>
            </a:r>
          </a:p>
        </p:txBody>
      </p:sp>
      <p:sp>
        <p:nvSpPr>
          <p:cNvPr id="253" name="BA_GH">
            <a:extLst>
              <a:ext uri="{FF2B5EF4-FFF2-40B4-BE49-F238E27FC236}">
                <a16:creationId xmlns:a16="http://schemas.microsoft.com/office/drawing/2014/main" id="{9AE100A1-46C9-53D6-A420-8A975D0C7E35}"/>
              </a:ext>
            </a:extLst>
          </p:cNvPr>
          <p:cNvSpPr/>
          <p:nvPr/>
        </p:nvSpPr>
        <p:spPr>
          <a:xfrm>
            <a:off x="6247379" y="2507699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GH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Moteur </a:t>
            </a:r>
            <a:r>
              <a:rPr kumimoji="0" lang="fr-FR" sz="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Epicaste</a:t>
            </a:r>
            <a:endParaRPr kumimoji="0" lang="fr-FR" sz="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4" name="Gr_Editique">
            <a:extLst>
              <a:ext uri="{FF2B5EF4-FFF2-40B4-BE49-F238E27FC236}">
                <a16:creationId xmlns:a16="http://schemas.microsoft.com/office/drawing/2014/main" id="{75E90551-906B-9286-983C-25C3101543AE}"/>
              </a:ext>
            </a:extLst>
          </p:cNvPr>
          <p:cNvSpPr/>
          <p:nvPr/>
        </p:nvSpPr>
        <p:spPr>
          <a:xfrm>
            <a:off x="6994566" y="3106138"/>
            <a:ext cx="754043" cy="61200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  <a:effectLst>
            <a:outerShdw blurRad="50800" dist="38100" dir="2700000" algn="ctr" rotWithShape="0">
              <a:schemeClr val="tx1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/>
            </a:endParaRPr>
          </a:p>
        </p:txBody>
      </p:sp>
      <p:sp>
        <p:nvSpPr>
          <p:cNvPr id="255" name="ZT_Editique">
            <a:extLst>
              <a:ext uri="{FF2B5EF4-FFF2-40B4-BE49-F238E27FC236}">
                <a16:creationId xmlns:a16="http://schemas.microsoft.com/office/drawing/2014/main" id="{BBF75AFD-65A3-5431-310D-66EECE75EEEA}"/>
              </a:ext>
            </a:extLst>
          </p:cNvPr>
          <p:cNvSpPr txBox="1"/>
          <p:nvPr/>
        </p:nvSpPr>
        <p:spPr>
          <a:xfrm>
            <a:off x="6967388" y="3133723"/>
            <a:ext cx="781221" cy="246221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Editique</a:t>
            </a:r>
          </a:p>
        </p:txBody>
      </p:sp>
      <p:sp>
        <p:nvSpPr>
          <p:cNvPr id="256" name="BA_ONDM">
            <a:extLst>
              <a:ext uri="{FF2B5EF4-FFF2-40B4-BE49-F238E27FC236}">
                <a16:creationId xmlns:a16="http://schemas.microsoft.com/office/drawing/2014/main" id="{7AD9CCEF-0B1B-4582-6EF7-8420CB061A7E}"/>
              </a:ext>
            </a:extLst>
          </p:cNvPr>
          <p:cNvSpPr/>
          <p:nvPr/>
        </p:nvSpPr>
        <p:spPr>
          <a:xfrm>
            <a:off x="7053165" y="3363079"/>
            <a:ext cx="648000" cy="276281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ONDM</a:t>
            </a:r>
            <a:endParaRPr kumimoji="0" lang="fr-FR" sz="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On </a:t>
            </a:r>
            <a:r>
              <a:rPr kumimoji="0" lang="fr-FR" sz="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Demand</a:t>
            </a:r>
            <a:endParaRPr kumimoji="0" lang="fr-FR" sz="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257" name="Groupe_Retour">
            <a:extLst>
              <a:ext uri="{FF2B5EF4-FFF2-40B4-BE49-F238E27FC236}">
                <a16:creationId xmlns:a16="http://schemas.microsoft.com/office/drawing/2014/main" id="{C41974F2-9BF3-1BDF-FEDD-C3638BFAF224}"/>
              </a:ext>
            </a:extLst>
          </p:cNvPr>
          <p:cNvGrpSpPr/>
          <p:nvPr/>
        </p:nvGrpSpPr>
        <p:grpSpPr>
          <a:xfrm>
            <a:off x="0" y="0"/>
            <a:ext cx="1417975" cy="461665"/>
            <a:chOff x="0" y="0"/>
            <a:chExt cx="1417975" cy="461665"/>
          </a:xfrm>
        </p:grpSpPr>
        <p:sp>
          <p:nvSpPr>
            <p:cNvPr id="258" name="Rectangle 257">
              <a:hlinkClick r:id="rId3" action="ppaction://hlinksldjump"/>
              <a:extLst>
                <a:ext uri="{FF2B5EF4-FFF2-40B4-BE49-F238E27FC236}">
                  <a16:creationId xmlns:a16="http://schemas.microsoft.com/office/drawing/2014/main" id="{E7230FD2-CFD1-3019-80BC-2A2F00FE31F4}"/>
                </a:ext>
              </a:extLst>
            </p:cNvPr>
            <p:cNvSpPr/>
            <p:nvPr/>
          </p:nvSpPr>
          <p:spPr>
            <a:xfrm>
              <a:off x="0" y="0"/>
              <a:ext cx="768479" cy="461665"/>
            </a:xfrm>
            <a:prstGeom prst="rect">
              <a:avLst/>
            </a:prstGeom>
            <a:noFill/>
          </p:spPr>
          <p:txBody>
            <a:bodyPr wrap="square" lIns="91440" tIns="45720" rIns="91440" bIns="45720" anchor="ctr">
              <a:spAutoFit/>
            </a:bodyPr>
            <a:lstStyle/>
            <a:p>
              <a:pPr algn="ctr"/>
              <a:r>
                <a:rPr lang="fr-FR" sz="2400" b="1" spc="50" dirty="0">
                  <a:ln w="9525" cmpd="sng">
                    <a:solidFill>
                      <a:schemeClr val="accent1"/>
                    </a:solidFill>
                    <a:prstDash val="solid"/>
                  </a:ln>
                  <a:solidFill>
                    <a:srgbClr val="70AD47">
                      <a:tint val="1000"/>
                    </a:srgbClr>
                  </a:solidFill>
                  <a:effectLst>
                    <a:glow rad="38100">
                      <a:schemeClr val="accent1">
                        <a:alpha val="40000"/>
                      </a:schemeClr>
                    </a:glow>
                  </a:effectLst>
                  <a:latin typeface="HoloLens MDL2 Assets" panose="050A0102010101010101" pitchFamily="18" charset="0"/>
                </a:rPr>
                <a:t></a:t>
              </a:r>
              <a:endParaRPr lang="fr-FR" sz="1400" dirty="0">
                <a:solidFill>
                  <a:srgbClr val="5B9BD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/>
              </a:endParaRPr>
            </a:p>
          </p:txBody>
        </p:sp>
        <p:sp>
          <p:nvSpPr>
            <p:cNvPr id="259" name="ZoneTexte 258">
              <a:extLst>
                <a:ext uri="{FF2B5EF4-FFF2-40B4-BE49-F238E27FC236}">
                  <a16:creationId xmlns:a16="http://schemas.microsoft.com/office/drawing/2014/main" id="{A3B6E815-E2DC-C0E7-2557-41C99D91D915}"/>
                </a:ext>
              </a:extLst>
            </p:cNvPr>
            <p:cNvSpPr txBox="1"/>
            <p:nvPr/>
          </p:nvSpPr>
          <p:spPr>
            <a:xfrm>
              <a:off x="525450" y="71273"/>
              <a:ext cx="89252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1400" dirty="0">
                  <a:solidFill>
                    <a:srgbClr val="5B9BD5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libri" panose="020F0502020204030204"/>
                </a:rPr>
                <a:t>Retour</a:t>
              </a:r>
              <a:endParaRPr lang="fr-FR" sz="1400" dirty="0"/>
            </a:p>
          </p:txBody>
        </p:sp>
      </p:grpSp>
      <p:sp>
        <p:nvSpPr>
          <p:cNvPr id="260" name="BA_PW">
            <a:extLst>
              <a:ext uri="{FF2B5EF4-FFF2-40B4-BE49-F238E27FC236}">
                <a16:creationId xmlns:a16="http://schemas.microsoft.com/office/drawing/2014/main" id="{972AE1F1-6D56-38B9-812A-2F5C34369B9F}"/>
              </a:ext>
            </a:extLst>
          </p:cNvPr>
          <p:cNvSpPr/>
          <p:nvPr/>
        </p:nvSpPr>
        <p:spPr>
          <a:xfrm>
            <a:off x="4517645" y="1819606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PW</a:t>
            </a:r>
            <a:br>
              <a:rPr lang="fr-FR" sz="10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/>
              </a:rPr>
            </a:b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SFC</a:t>
            </a:r>
          </a:p>
        </p:txBody>
      </p:sp>
      <p:sp>
        <p:nvSpPr>
          <p:cNvPr id="2" name="Étoile à 5 branches">
            <a:extLst>
              <a:ext uri="{FF2B5EF4-FFF2-40B4-BE49-F238E27FC236}">
                <a16:creationId xmlns:a16="http://schemas.microsoft.com/office/drawing/2014/main" id="{07B9095D-A3C6-61CA-51CB-210632CC2067}"/>
              </a:ext>
            </a:extLst>
          </p:cNvPr>
          <p:cNvSpPr/>
          <p:nvPr/>
        </p:nvSpPr>
        <p:spPr>
          <a:xfrm>
            <a:off x="9368151" y="554532"/>
            <a:ext cx="108000" cy="108000"/>
          </a:xfrm>
          <a:prstGeom prst="star5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Légende_Nouveau_Bloc">
            <a:extLst>
              <a:ext uri="{FF2B5EF4-FFF2-40B4-BE49-F238E27FC236}">
                <a16:creationId xmlns:a16="http://schemas.microsoft.com/office/drawing/2014/main" id="{9BDA2988-5D99-6C74-5051-0435706461C5}"/>
              </a:ext>
            </a:extLst>
          </p:cNvPr>
          <p:cNvSpPr txBox="1"/>
          <p:nvPr/>
        </p:nvSpPr>
        <p:spPr>
          <a:xfrm>
            <a:off x="9464720" y="491658"/>
            <a:ext cx="934871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Nouveau bloc</a:t>
            </a:r>
          </a:p>
        </p:txBody>
      </p:sp>
      <p:sp>
        <p:nvSpPr>
          <p:cNvPr id="4" name="Légende_Nouveau_Bloc">
            <a:extLst>
              <a:ext uri="{FF2B5EF4-FFF2-40B4-BE49-F238E27FC236}">
                <a16:creationId xmlns:a16="http://schemas.microsoft.com/office/drawing/2014/main" id="{0A25446F-81D3-AF4C-CFCF-9DE1F7834677}"/>
              </a:ext>
            </a:extLst>
          </p:cNvPr>
          <p:cNvSpPr txBox="1"/>
          <p:nvPr/>
        </p:nvSpPr>
        <p:spPr>
          <a:xfrm>
            <a:off x="9467926" y="723619"/>
            <a:ext cx="963725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Bloc supprimé</a:t>
            </a:r>
          </a:p>
        </p:txBody>
      </p:sp>
      <p:sp>
        <p:nvSpPr>
          <p:cNvPr id="5" name="Croix 4">
            <a:extLst>
              <a:ext uri="{FF2B5EF4-FFF2-40B4-BE49-F238E27FC236}">
                <a16:creationId xmlns:a16="http://schemas.microsoft.com/office/drawing/2014/main" id="{2B2C70FF-1A1F-97D1-4418-7F9A1385DED3}"/>
              </a:ext>
            </a:extLst>
          </p:cNvPr>
          <p:cNvSpPr/>
          <p:nvPr/>
        </p:nvSpPr>
        <p:spPr>
          <a:xfrm rot="2700000">
            <a:off x="9371629" y="785103"/>
            <a:ext cx="108000" cy="108000"/>
          </a:xfrm>
          <a:prstGeom prst="plus">
            <a:avLst>
              <a:gd name="adj" fmla="val 45756"/>
            </a:avLst>
          </a:prstGeom>
          <a:solidFill>
            <a:schemeClr val="tx1"/>
          </a:solidFill>
          <a:ln>
            <a:solidFill>
              <a:srgbClr val="FF0000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BA_GH">
            <a:extLst>
              <a:ext uri="{FF2B5EF4-FFF2-40B4-BE49-F238E27FC236}">
                <a16:creationId xmlns:a16="http://schemas.microsoft.com/office/drawing/2014/main" id="{C1528D59-BD4D-3616-3436-0E7B6BEE0235}"/>
              </a:ext>
            </a:extLst>
          </p:cNvPr>
          <p:cNvSpPr/>
          <p:nvPr/>
        </p:nvSpPr>
        <p:spPr>
          <a:xfrm>
            <a:off x="6247379" y="1786384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HJ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Contenus statiques</a:t>
            </a:r>
          </a:p>
        </p:txBody>
      </p:sp>
      <p:sp>
        <p:nvSpPr>
          <p:cNvPr id="16" name="BA_H4">
            <a:extLst>
              <a:ext uri="{FF2B5EF4-FFF2-40B4-BE49-F238E27FC236}">
                <a16:creationId xmlns:a16="http://schemas.microsoft.com/office/drawing/2014/main" id="{6C129FFC-18B0-D0E7-93D0-8323B1587793}"/>
              </a:ext>
            </a:extLst>
          </p:cNvPr>
          <p:cNvSpPr/>
          <p:nvPr/>
        </p:nvSpPr>
        <p:spPr>
          <a:xfrm>
            <a:off x="9490384" y="2374473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H4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API VR </a:t>
            </a:r>
            <a:r>
              <a:rPr kumimoji="0" lang="fr-FR" sz="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Selfcare</a:t>
            </a:r>
            <a:endParaRPr kumimoji="0" lang="fr-FR" sz="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BA_HH">
            <a:extLst>
              <a:ext uri="{FF2B5EF4-FFF2-40B4-BE49-F238E27FC236}">
                <a16:creationId xmlns:a16="http://schemas.microsoft.com/office/drawing/2014/main" id="{B359A008-D490-9E34-F3B5-E89FDB659C42}"/>
              </a:ext>
            </a:extLst>
          </p:cNvPr>
          <p:cNvSpPr/>
          <p:nvPr/>
        </p:nvSpPr>
        <p:spPr>
          <a:xfrm>
            <a:off x="10160477" y="2374473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HH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API Sim. épargne</a:t>
            </a:r>
          </a:p>
        </p:txBody>
      </p:sp>
      <p:sp>
        <p:nvSpPr>
          <p:cNvPr id="23" name="Gr_LCL">
            <a:extLst>
              <a:ext uri="{FF2B5EF4-FFF2-40B4-BE49-F238E27FC236}">
                <a16:creationId xmlns:a16="http://schemas.microsoft.com/office/drawing/2014/main" id="{12888F72-2A61-2560-8303-1FE59D73193B}"/>
              </a:ext>
            </a:extLst>
          </p:cNvPr>
          <p:cNvSpPr/>
          <p:nvPr/>
        </p:nvSpPr>
        <p:spPr>
          <a:xfrm>
            <a:off x="6075866" y="5122749"/>
            <a:ext cx="5632947" cy="1248594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ZT_CATS">
            <a:extLst>
              <a:ext uri="{FF2B5EF4-FFF2-40B4-BE49-F238E27FC236}">
                <a16:creationId xmlns:a16="http://schemas.microsoft.com/office/drawing/2014/main" id="{CC668877-62D9-D3DA-27E4-8B367D4510D9}"/>
              </a:ext>
            </a:extLst>
          </p:cNvPr>
          <p:cNvSpPr txBox="1"/>
          <p:nvPr/>
        </p:nvSpPr>
        <p:spPr>
          <a:xfrm>
            <a:off x="6122619" y="5107819"/>
            <a:ext cx="5399528" cy="246221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LCL</a:t>
            </a:r>
            <a:endParaRPr kumimoji="0" lang="fr-FR" sz="1000" b="1" i="1" u="none" strike="noStrike" kern="1200" cap="none" spc="0" normalizeH="0" baseline="0" noProof="0" dirty="0">
              <a:ln>
                <a:noFill/>
              </a:ln>
              <a:solidFill>
                <a:srgbClr val="7030A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BA_BEL">
            <a:extLst>
              <a:ext uri="{FF2B5EF4-FFF2-40B4-BE49-F238E27FC236}">
                <a16:creationId xmlns:a16="http://schemas.microsoft.com/office/drawing/2014/main" id="{C4B46FBC-A21A-FEDD-D830-FBAFFEC7787C}"/>
              </a:ext>
            </a:extLst>
          </p:cNvPr>
          <p:cNvSpPr/>
          <p:nvPr/>
        </p:nvSpPr>
        <p:spPr>
          <a:xfrm>
            <a:off x="6135322" y="5643027"/>
            <a:ext cx="648000" cy="288000"/>
          </a:xfrm>
          <a:prstGeom prst="roundRect">
            <a:avLst/>
          </a:prstGeom>
          <a:solidFill>
            <a:srgbClr val="B6D3EC"/>
          </a:solidFill>
          <a:ln w="6350">
            <a:solidFill>
              <a:schemeClr val="accent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BEL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6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/>
              </a:rPr>
              <a:t>-</a:t>
            </a:r>
            <a:endParaRPr kumimoji="0" lang="fr-FR" sz="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BA_Docapost">
            <a:extLst>
              <a:ext uri="{FF2B5EF4-FFF2-40B4-BE49-F238E27FC236}">
                <a16:creationId xmlns:a16="http://schemas.microsoft.com/office/drawing/2014/main" id="{820CC779-A978-8D6A-1C89-D20850B07C1E}"/>
              </a:ext>
            </a:extLst>
          </p:cNvPr>
          <p:cNvSpPr/>
          <p:nvPr/>
        </p:nvSpPr>
        <p:spPr>
          <a:xfrm>
            <a:off x="6145849" y="5987729"/>
            <a:ext cx="648000" cy="288000"/>
          </a:xfrm>
          <a:prstGeom prst="roundRect">
            <a:avLst/>
          </a:prstGeom>
          <a:solidFill>
            <a:srgbClr val="B6D3EC"/>
          </a:solidFill>
          <a:ln w="6350">
            <a:solidFill>
              <a:schemeClr val="accent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Docapost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6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/>
              </a:rPr>
              <a:t>-</a:t>
            </a:r>
            <a:endParaRPr kumimoji="0" lang="fr-FR" sz="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BA_Mescomptes">
            <a:extLst>
              <a:ext uri="{FF2B5EF4-FFF2-40B4-BE49-F238E27FC236}">
                <a16:creationId xmlns:a16="http://schemas.microsoft.com/office/drawing/2014/main" id="{E3CF480E-0016-F244-8047-FE2A68261ABC}"/>
              </a:ext>
            </a:extLst>
          </p:cNvPr>
          <p:cNvSpPr/>
          <p:nvPr/>
        </p:nvSpPr>
        <p:spPr>
          <a:xfrm>
            <a:off x="6135322" y="5323284"/>
            <a:ext cx="1326281" cy="288000"/>
          </a:xfrm>
          <a:prstGeom prst="roundRect">
            <a:avLst/>
          </a:prstGeom>
          <a:solidFill>
            <a:srgbClr val="B6D3EC"/>
          </a:solidFill>
          <a:ln w="6350">
            <a:solidFill>
              <a:schemeClr val="accent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MesComptes</a:t>
            </a:r>
            <a:endParaRPr kumimoji="0" lang="fr-FR" sz="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Gr_SimulAssur">
            <a:extLst>
              <a:ext uri="{FF2B5EF4-FFF2-40B4-BE49-F238E27FC236}">
                <a16:creationId xmlns:a16="http://schemas.microsoft.com/office/drawing/2014/main" id="{1D0E7A85-04B2-F3FD-5E8C-0B29908A9DF1}"/>
              </a:ext>
            </a:extLst>
          </p:cNvPr>
          <p:cNvSpPr/>
          <p:nvPr/>
        </p:nvSpPr>
        <p:spPr>
          <a:xfrm>
            <a:off x="4476637" y="3792663"/>
            <a:ext cx="1627675" cy="1021008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  <a:effectLst>
            <a:outerShdw blurRad="50800" dist="38100" dir="2700000" algn="ctr" rotWithShape="0">
              <a:schemeClr val="tx1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/>
            </a:endParaRPr>
          </a:p>
        </p:txBody>
      </p:sp>
      <p:sp>
        <p:nvSpPr>
          <p:cNvPr id="8" name="ZT_SimulAssur">
            <a:extLst>
              <a:ext uri="{FF2B5EF4-FFF2-40B4-BE49-F238E27FC236}">
                <a16:creationId xmlns:a16="http://schemas.microsoft.com/office/drawing/2014/main" id="{A1927CB3-99BD-B14A-3D63-13752DA7D7C2}"/>
              </a:ext>
            </a:extLst>
          </p:cNvPr>
          <p:cNvSpPr txBox="1"/>
          <p:nvPr/>
        </p:nvSpPr>
        <p:spPr>
          <a:xfrm>
            <a:off x="4500323" y="3819978"/>
            <a:ext cx="1714025" cy="246221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1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SimulAssur</a:t>
            </a:r>
            <a:endParaRPr kumimoji="0" lang="fr-FR" sz="1000" b="1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BA_VS">
            <a:extLst>
              <a:ext uri="{FF2B5EF4-FFF2-40B4-BE49-F238E27FC236}">
                <a16:creationId xmlns:a16="http://schemas.microsoft.com/office/drawing/2014/main" id="{FD2853F2-12BF-3A0C-0CA2-910A6F1EE258}"/>
              </a:ext>
            </a:extLst>
          </p:cNvPr>
          <p:cNvSpPr/>
          <p:nvPr/>
        </p:nvSpPr>
        <p:spPr>
          <a:xfrm>
            <a:off x="4611474" y="4115819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0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/>
              </a:rPr>
              <a:t>VS</a:t>
            </a:r>
            <a:endParaRPr kumimoji="0" lang="fr-FR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Sim, </a:t>
            </a:r>
            <a:r>
              <a:rPr kumimoji="0" lang="fr-FR" sz="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Ass.V</a:t>
            </a: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 pour LCL</a:t>
            </a:r>
          </a:p>
        </p:txBody>
      </p:sp>
      <p:sp>
        <p:nvSpPr>
          <p:cNvPr id="10" name="BA_RS">
            <a:extLst>
              <a:ext uri="{FF2B5EF4-FFF2-40B4-BE49-F238E27FC236}">
                <a16:creationId xmlns:a16="http://schemas.microsoft.com/office/drawing/2014/main" id="{F174798C-C7CA-3EAB-CE58-B472D84B8C40}"/>
              </a:ext>
            </a:extLst>
          </p:cNvPr>
          <p:cNvSpPr/>
          <p:nvPr/>
        </p:nvSpPr>
        <p:spPr>
          <a:xfrm>
            <a:off x="5363789" y="4119805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SR</a:t>
            </a:r>
          </a:p>
          <a:p>
            <a:pPr lvl="0" algn="ctr">
              <a:defRPr/>
            </a:pPr>
            <a:r>
              <a:rPr lang="fr-FR" sz="6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Sim, </a:t>
            </a:r>
            <a:r>
              <a:rPr lang="fr-FR" sz="600" dirty="0" err="1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Ass.V</a:t>
            </a:r>
            <a:r>
              <a:rPr lang="fr-FR" sz="6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pour CA</a:t>
            </a:r>
          </a:p>
        </p:txBody>
      </p:sp>
      <p:sp>
        <p:nvSpPr>
          <p:cNvPr id="11" name="BA_EP">
            <a:extLst>
              <a:ext uri="{FF2B5EF4-FFF2-40B4-BE49-F238E27FC236}">
                <a16:creationId xmlns:a16="http://schemas.microsoft.com/office/drawing/2014/main" id="{DAD31199-5DAF-ECFF-B630-51009C0F11B8}"/>
              </a:ext>
            </a:extLst>
          </p:cNvPr>
          <p:cNvSpPr/>
          <p:nvPr/>
        </p:nvSpPr>
        <p:spPr>
          <a:xfrm>
            <a:off x="4611474" y="4500624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0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/>
              </a:rPr>
              <a:t>EP</a:t>
            </a:r>
            <a:endParaRPr kumimoji="0" lang="fr-FR" sz="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Sim, EPICASTE</a:t>
            </a:r>
          </a:p>
        </p:txBody>
      </p:sp>
      <p:sp>
        <p:nvSpPr>
          <p:cNvPr id="12" name="BA_Autre_PFD">
            <a:extLst>
              <a:ext uri="{FF2B5EF4-FFF2-40B4-BE49-F238E27FC236}">
                <a16:creationId xmlns:a16="http://schemas.microsoft.com/office/drawing/2014/main" id="{1670CE7C-BC4F-CA66-9045-172B597E20C8}"/>
              </a:ext>
            </a:extLst>
          </p:cNvPr>
          <p:cNvSpPr/>
          <p:nvPr/>
        </p:nvSpPr>
        <p:spPr>
          <a:xfrm>
            <a:off x="5363789" y="4472097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957944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44A43A-1C6B-7928-0135-E82A0FCE00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r_Global">
            <a:extLst>
              <a:ext uri="{FF2B5EF4-FFF2-40B4-BE49-F238E27FC236}">
                <a16:creationId xmlns:a16="http://schemas.microsoft.com/office/drawing/2014/main" id="{DE734ABB-A77C-3AFC-25FB-1A6D80514296}"/>
              </a:ext>
            </a:extLst>
          </p:cNvPr>
          <p:cNvSpPr/>
          <p:nvPr/>
        </p:nvSpPr>
        <p:spPr>
          <a:xfrm>
            <a:off x="156924" y="1028327"/>
            <a:ext cx="11860567" cy="5512742"/>
          </a:xfrm>
          <a:prstGeom prst="roundRect">
            <a:avLst/>
          </a:prstGeom>
          <a:solidFill>
            <a:schemeClr val="bg1"/>
          </a:solidFill>
          <a:ln>
            <a:solidFill>
              <a:schemeClr val="accent1"/>
            </a:solidFill>
          </a:ln>
          <a:effectLst>
            <a:outerShdw blurRad="50800" dist="38100" dir="2700000" algn="tl" rotWithShape="0">
              <a:schemeClr val="tx1"/>
            </a:outerShdw>
          </a:effectLst>
        </p:spPr>
        <p:txBody>
          <a:bodyPr wrap="none" lIns="0" rIns="0" rtlCol="0" anchor="ctr">
            <a:noAutofit/>
          </a:bodyPr>
          <a:lstStyle/>
          <a:p>
            <a:pPr algn="ctr"/>
            <a:endParaRPr lang="fr-FR" sz="1600" b="1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1" name="Gr_NOVA">
            <a:extLst>
              <a:ext uri="{FF2B5EF4-FFF2-40B4-BE49-F238E27FC236}">
                <a16:creationId xmlns:a16="http://schemas.microsoft.com/office/drawing/2014/main" id="{53B3A667-C7FC-F58B-E732-28BC34E9E4E1}"/>
              </a:ext>
            </a:extLst>
          </p:cNvPr>
          <p:cNvSpPr/>
          <p:nvPr/>
        </p:nvSpPr>
        <p:spPr>
          <a:xfrm>
            <a:off x="5407282" y="1111645"/>
            <a:ext cx="2350211" cy="1879964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  <a:effectLst>
            <a:outerShdw blurRad="50800" dist="38100" dir="2700000" algn="ctr" rotWithShape="0">
              <a:schemeClr val="tx1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/>
            </a:endParaRPr>
          </a:p>
        </p:txBody>
      </p:sp>
      <p:sp>
        <p:nvSpPr>
          <p:cNvPr id="92" name="ZT_NOVA">
            <a:extLst>
              <a:ext uri="{FF2B5EF4-FFF2-40B4-BE49-F238E27FC236}">
                <a16:creationId xmlns:a16="http://schemas.microsoft.com/office/drawing/2014/main" id="{1D0CD3EF-6E69-691B-4C65-41483E11F308}"/>
              </a:ext>
            </a:extLst>
          </p:cNvPr>
          <p:cNvSpPr txBox="1"/>
          <p:nvPr/>
        </p:nvSpPr>
        <p:spPr>
          <a:xfrm>
            <a:off x="5402982" y="1138960"/>
            <a:ext cx="2354511" cy="246221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NOVA</a:t>
            </a:r>
            <a:endParaRPr kumimoji="0" lang="fr-FR" sz="1000" b="1" i="1" u="none" strike="noStrike" kern="1200" cap="none" spc="0" normalizeH="0" baseline="0" noProof="0" dirty="0">
              <a:ln>
                <a:noFill/>
              </a:ln>
              <a:solidFill>
                <a:srgbClr val="ED7D3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8" name="BA_OX">
            <a:extLst>
              <a:ext uri="{FF2B5EF4-FFF2-40B4-BE49-F238E27FC236}">
                <a16:creationId xmlns:a16="http://schemas.microsoft.com/office/drawing/2014/main" id="{B0A20F8B-11D7-85A2-B9EB-27F080DEB9A0}"/>
              </a:ext>
            </a:extLst>
          </p:cNvPr>
          <p:cNvSpPr/>
          <p:nvPr/>
        </p:nvSpPr>
        <p:spPr>
          <a:xfrm>
            <a:off x="5540187" y="1434370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OX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Opérations </a:t>
            </a:r>
            <a:r>
              <a:rPr kumimoji="0" lang="fr-FR" sz="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Ass</a:t>
            </a: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.</a:t>
            </a:r>
          </a:p>
        </p:txBody>
      </p:sp>
      <p:sp>
        <p:nvSpPr>
          <p:cNvPr id="99" name="BA_MX">
            <a:extLst>
              <a:ext uri="{FF2B5EF4-FFF2-40B4-BE49-F238E27FC236}">
                <a16:creationId xmlns:a16="http://schemas.microsoft.com/office/drawing/2014/main" id="{96548CD8-878A-D875-8D6E-835DE1C866F4}"/>
              </a:ext>
            </a:extLst>
          </p:cNvPr>
          <p:cNvSpPr/>
          <p:nvPr/>
        </p:nvSpPr>
        <p:spPr>
          <a:xfrm>
            <a:off x="6247379" y="1434370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MX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Services  internes</a:t>
            </a:r>
          </a:p>
        </p:txBody>
      </p:sp>
      <p:sp>
        <p:nvSpPr>
          <p:cNvPr id="108" name="BA_SX">
            <a:extLst>
              <a:ext uri="{FF2B5EF4-FFF2-40B4-BE49-F238E27FC236}">
                <a16:creationId xmlns:a16="http://schemas.microsoft.com/office/drawing/2014/main" id="{9C69476D-0AD3-2209-194D-5996F2903A79}"/>
              </a:ext>
            </a:extLst>
          </p:cNvPr>
          <p:cNvSpPr/>
          <p:nvPr/>
        </p:nvSpPr>
        <p:spPr>
          <a:xfrm>
            <a:off x="6957409" y="1434370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SX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Socle Exposition</a:t>
            </a:r>
          </a:p>
        </p:txBody>
      </p:sp>
      <p:sp>
        <p:nvSpPr>
          <p:cNvPr id="117" name="BA_HX">
            <a:extLst>
              <a:ext uri="{FF2B5EF4-FFF2-40B4-BE49-F238E27FC236}">
                <a16:creationId xmlns:a16="http://schemas.microsoft.com/office/drawing/2014/main" id="{31DB818F-BA01-E9CC-8FA3-E3CEC4A622BC}"/>
              </a:ext>
            </a:extLst>
          </p:cNvPr>
          <p:cNvSpPr/>
          <p:nvPr/>
        </p:nvSpPr>
        <p:spPr>
          <a:xfrm>
            <a:off x="5540187" y="1791450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HX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Habilitations PCO</a:t>
            </a:r>
          </a:p>
        </p:txBody>
      </p:sp>
      <p:sp>
        <p:nvSpPr>
          <p:cNvPr id="119" name="BA_RX">
            <a:extLst>
              <a:ext uri="{FF2B5EF4-FFF2-40B4-BE49-F238E27FC236}">
                <a16:creationId xmlns:a16="http://schemas.microsoft.com/office/drawing/2014/main" id="{4B85165D-4874-32FA-056F-4CCA2DD7FD4D}"/>
              </a:ext>
            </a:extLst>
          </p:cNvPr>
          <p:cNvSpPr/>
          <p:nvPr/>
        </p:nvSpPr>
        <p:spPr>
          <a:xfrm>
            <a:off x="6957409" y="1791450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RX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Socle Editique</a:t>
            </a:r>
          </a:p>
        </p:txBody>
      </p:sp>
      <p:sp>
        <p:nvSpPr>
          <p:cNvPr id="120" name="BA_WP">
            <a:extLst>
              <a:ext uri="{FF2B5EF4-FFF2-40B4-BE49-F238E27FC236}">
                <a16:creationId xmlns:a16="http://schemas.microsoft.com/office/drawing/2014/main" id="{CAF46420-B8B0-6CAA-9997-C2804D745EC9}"/>
              </a:ext>
            </a:extLst>
          </p:cNvPr>
          <p:cNvSpPr/>
          <p:nvPr/>
        </p:nvSpPr>
        <p:spPr>
          <a:xfrm>
            <a:off x="5542712" y="2146978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WP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Lanceur PCO</a:t>
            </a:r>
          </a:p>
        </p:txBody>
      </p:sp>
      <p:sp>
        <p:nvSpPr>
          <p:cNvPr id="121" name="BA_FM">
            <a:extLst>
              <a:ext uri="{FF2B5EF4-FFF2-40B4-BE49-F238E27FC236}">
                <a16:creationId xmlns:a16="http://schemas.microsoft.com/office/drawing/2014/main" id="{39653B47-434F-FDDE-3955-5429DD268C01}"/>
              </a:ext>
            </a:extLst>
          </p:cNvPr>
          <p:cNvSpPr/>
          <p:nvPr/>
        </p:nvSpPr>
        <p:spPr>
          <a:xfrm>
            <a:off x="6251156" y="2146978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FM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Fonctions IHM</a:t>
            </a:r>
          </a:p>
        </p:txBody>
      </p:sp>
      <p:sp>
        <p:nvSpPr>
          <p:cNvPr id="123" name="BA_JF">
            <a:extLst>
              <a:ext uri="{FF2B5EF4-FFF2-40B4-BE49-F238E27FC236}">
                <a16:creationId xmlns:a16="http://schemas.microsoft.com/office/drawing/2014/main" id="{A331000E-0242-0021-61C6-3712B670941E}"/>
              </a:ext>
            </a:extLst>
          </p:cNvPr>
          <p:cNvSpPr/>
          <p:nvPr/>
        </p:nvSpPr>
        <p:spPr>
          <a:xfrm>
            <a:off x="6955140" y="2146978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JF</a:t>
            </a:r>
            <a:endParaRPr kumimoji="0" lang="fr-FR" sz="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Animation </a:t>
            </a:r>
            <a:r>
              <a:rPr kumimoji="0" lang="fr-FR" sz="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comm</a:t>
            </a: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.</a:t>
            </a:r>
          </a:p>
        </p:txBody>
      </p:sp>
      <p:sp>
        <p:nvSpPr>
          <p:cNvPr id="124" name="Gr_Avanet">
            <a:extLst>
              <a:ext uri="{FF2B5EF4-FFF2-40B4-BE49-F238E27FC236}">
                <a16:creationId xmlns:a16="http://schemas.microsoft.com/office/drawing/2014/main" id="{81F9F9A6-EFB4-6A47-3726-4D129FEE8053}"/>
              </a:ext>
            </a:extLst>
          </p:cNvPr>
          <p:cNvSpPr/>
          <p:nvPr/>
        </p:nvSpPr>
        <p:spPr>
          <a:xfrm>
            <a:off x="3593887" y="1111645"/>
            <a:ext cx="1690030" cy="117785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  <a:effectLst>
            <a:outerShdw blurRad="50800" dist="38100" dir="2700000" algn="ctr" rotWithShape="0">
              <a:schemeClr val="tx1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/>
            </a:endParaRPr>
          </a:p>
        </p:txBody>
      </p:sp>
      <p:sp>
        <p:nvSpPr>
          <p:cNvPr id="125" name="ZT_Avanet">
            <a:extLst>
              <a:ext uri="{FF2B5EF4-FFF2-40B4-BE49-F238E27FC236}">
                <a16:creationId xmlns:a16="http://schemas.microsoft.com/office/drawing/2014/main" id="{2B18B193-BA5E-D9CD-C2AC-49B2DA8791A8}"/>
              </a:ext>
            </a:extLst>
          </p:cNvPr>
          <p:cNvSpPr txBox="1"/>
          <p:nvPr/>
        </p:nvSpPr>
        <p:spPr>
          <a:xfrm>
            <a:off x="3603262" y="1138960"/>
            <a:ext cx="1680655" cy="246221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1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Avanet</a:t>
            </a:r>
            <a:endParaRPr kumimoji="0" lang="fr-FR" sz="1000" b="1" i="1" u="none" strike="noStrike" kern="1200" cap="none" spc="0" normalizeH="0" baseline="0" noProof="0" dirty="0">
              <a:ln>
                <a:noFill/>
              </a:ln>
              <a:solidFill>
                <a:srgbClr val="ED7D3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6" name="BA_W5">
            <a:extLst>
              <a:ext uri="{FF2B5EF4-FFF2-40B4-BE49-F238E27FC236}">
                <a16:creationId xmlns:a16="http://schemas.microsoft.com/office/drawing/2014/main" id="{0656F13D-7CBB-158E-756D-757E17E6E621}"/>
              </a:ext>
            </a:extLst>
          </p:cNvPr>
          <p:cNvSpPr/>
          <p:nvPr/>
        </p:nvSpPr>
        <p:spPr>
          <a:xfrm>
            <a:off x="3726791" y="1434801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W5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Av@net</a:t>
            </a:r>
            <a:endParaRPr kumimoji="0" lang="fr-FR" sz="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7" name="BA_AEDI">
            <a:extLst>
              <a:ext uri="{FF2B5EF4-FFF2-40B4-BE49-F238E27FC236}">
                <a16:creationId xmlns:a16="http://schemas.microsoft.com/office/drawing/2014/main" id="{0682874C-5561-225E-02BD-2DC68051AB5D}"/>
              </a:ext>
            </a:extLst>
          </p:cNvPr>
          <p:cNvSpPr/>
          <p:nvPr/>
        </p:nvSpPr>
        <p:spPr>
          <a:xfrm>
            <a:off x="4521017" y="1438787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AEDI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API-EDI</a:t>
            </a:r>
          </a:p>
        </p:txBody>
      </p:sp>
      <p:sp>
        <p:nvSpPr>
          <p:cNvPr id="128" name="BA_SVOD">
            <a:extLst>
              <a:ext uri="{FF2B5EF4-FFF2-40B4-BE49-F238E27FC236}">
                <a16:creationId xmlns:a16="http://schemas.microsoft.com/office/drawing/2014/main" id="{95F95595-EC03-C51B-D946-31E244FE7576}"/>
              </a:ext>
            </a:extLst>
          </p:cNvPr>
          <p:cNvSpPr/>
          <p:nvPr/>
        </p:nvSpPr>
        <p:spPr>
          <a:xfrm>
            <a:off x="3726791" y="1819606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SVOD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SAS </a:t>
            </a:r>
            <a:r>
              <a:rPr kumimoji="0" lang="fr-FR" sz="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Valid</a:t>
            </a: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.</a:t>
            </a:r>
          </a:p>
        </p:txBody>
      </p:sp>
      <p:sp>
        <p:nvSpPr>
          <p:cNvPr id="129" name="Gr_PFD">
            <a:extLst>
              <a:ext uri="{FF2B5EF4-FFF2-40B4-BE49-F238E27FC236}">
                <a16:creationId xmlns:a16="http://schemas.microsoft.com/office/drawing/2014/main" id="{33FCC483-C182-337A-6918-92CC775A93AA}"/>
              </a:ext>
            </a:extLst>
          </p:cNvPr>
          <p:cNvSpPr/>
          <p:nvPr/>
        </p:nvSpPr>
        <p:spPr>
          <a:xfrm>
            <a:off x="6161552" y="3780520"/>
            <a:ext cx="1627675" cy="1021008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  <a:effectLst>
            <a:outerShdw blurRad="50800" dist="38100" dir="2700000" algn="ctr" rotWithShape="0">
              <a:schemeClr val="tx1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/>
            </a:endParaRPr>
          </a:p>
        </p:txBody>
      </p:sp>
      <p:sp>
        <p:nvSpPr>
          <p:cNvPr id="130" name="ZT_PFD">
            <a:extLst>
              <a:ext uri="{FF2B5EF4-FFF2-40B4-BE49-F238E27FC236}">
                <a16:creationId xmlns:a16="http://schemas.microsoft.com/office/drawing/2014/main" id="{98AC1528-B75B-50BE-BE51-8333017233CA}"/>
              </a:ext>
            </a:extLst>
          </p:cNvPr>
          <p:cNvSpPr txBox="1"/>
          <p:nvPr/>
        </p:nvSpPr>
        <p:spPr>
          <a:xfrm>
            <a:off x="6185238" y="3807835"/>
            <a:ext cx="1714025" cy="246221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Plateforme Data (PFD)</a:t>
            </a:r>
          </a:p>
        </p:txBody>
      </p:sp>
      <p:sp>
        <p:nvSpPr>
          <p:cNvPr id="131" name="BA_J2">
            <a:extLst>
              <a:ext uri="{FF2B5EF4-FFF2-40B4-BE49-F238E27FC236}">
                <a16:creationId xmlns:a16="http://schemas.microsoft.com/office/drawing/2014/main" id="{561EC14B-EA23-A009-E45E-1B0C03DC5247}"/>
              </a:ext>
            </a:extLst>
          </p:cNvPr>
          <p:cNvSpPr/>
          <p:nvPr/>
        </p:nvSpPr>
        <p:spPr>
          <a:xfrm>
            <a:off x="6296389" y="4103676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J2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Exposition PFD</a:t>
            </a:r>
          </a:p>
        </p:txBody>
      </p:sp>
      <p:sp>
        <p:nvSpPr>
          <p:cNvPr id="136" name="BA_J6">
            <a:extLst>
              <a:ext uri="{FF2B5EF4-FFF2-40B4-BE49-F238E27FC236}">
                <a16:creationId xmlns:a16="http://schemas.microsoft.com/office/drawing/2014/main" id="{53641A75-9B9F-3C5A-FAD1-4990C9A27DA0}"/>
              </a:ext>
            </a:extLst>
          </p:cNvPr>
          <p:cNvSpPr/>
          <p:nvPr/>
        </p:nvSpPr>
        <p:spPr>
          <a:xfrm>
            <a:off x="7048704" y="4107662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J6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Restit</a:t>
            </a: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. </a:t>
            </a:r>
            <a:r>
              <a:rPr kumimoji="0" lang="fr-FR" sz="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Régl</a:t>
            </a: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.</a:t>
            </a:r>
          </a:p>
        </p:txBody>
      </p:sp>
      <p:sp>
        <p:nvSpPr>
          <p:cNvPr id="147" name="BA_J8">
            <a:extLst>
              <a:ext uri="{FF2B5EF4-FFF2-40B4-BE49-F238E27FC236}">
                <a16:creationId xmlns:a16="http://schemas.microsoft.com/office/drawing/2014/main" id="{F4FEA0A2-CA34-60E2-8992-3AA0C74005CD}"/>
              </a:ext>
            </a:extLst>
          </p:cNvPr>
          <p:cNvSpPr/>
          <p:nvPr/>
        </p:nvSpPr>
        <p:spPr>
          <a:xfrm>
            <a:off x="6296389" y="4488481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J8</a:t>
            </a:r>
            <a:endParaRPr kumimoji="0" lang="fr-FR" sz="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Données Contrats</a:t>
            </a:r>
          </a:p>
        </p:txBody>
      </p:sp>
      <p:sp>
        <p:nvSpPr>
          <p:cNvPr id="149" name="Gr_Prediweb1">
            <a:extLst>
              <a:ext uri="{FF2B5EF4-FFF2-40B4-BE49-F238E27FC236}">
                <a16:creationId xmlns:a16="http://schemas.microsoft.com/office/drawing/2014/main" id="{49E6BAB8-F8B4-F493-5EB5-5DA836AAF457}"/>
              </a:ext>
            </a:extLst>
          </p:cNvPr>
          <p:cNvSpPr/>
          <p:nvPr/>
        </p:nvSpPr>
        <p:spPr>
          <a:xfrm>
            <a:off x="3588010" y="2368814"/>
            <a:ext cx="1695907" cy="671739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  <a:effectLst>
            <a:outerShdw blurRad="50800" dist="38100" dir="2700000" algn="ctr" rotWithShape="0">
              <a:schemeClr val="tx1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/>
            </a:endParaRPr>
          </a:p>
        </p:txBody>
      </p:sp>
      <p:sp>
        <p:nvSpPr>
          <p:cNvPr id="151" name="ZT_Prediweb1">
            <a:extLst>
              <a:ext uri="{FF2B5EF4-FFF2-40B4-BE49-F238E27FC236}">
                <a16:creationId xmlns:a16="http://schemas.microsoft.com/office/drawing/2014/main" id="{F78847B6-19DE-EBE0-FFEA-B2B4FFCF2A70}"/>
              </a:ext>
            </a:extLst>
          </p:cNvPr>
          <p:cNvSpPr txBox="1"/>
          <p:nvPr/>
        </p:nvSpPr>
        <p:spPr>
          <a:xfrm>
            <a:off x="3595208" y="2396399"/>
            <a:ext cx="1688709" cy="246221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1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Prediweb</a:t>
            </a:r>
            <a:r>
              <a:rPr kumimoji="0" lang="fr-FR" sz="1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 1</a:t>
            </a:r>
            <a:endParaRPr kumimoji="0" lang="fr-FR" sz="1000" b="1" i="1" u="none" strike="noStrike" kern="1200" cap="none" spc="0" normalizeH="0" baseline="0" noProof="0" dirty="0">
              <a:ln>
                <a:noFill/>
              </a:ln>
              <a:solidFill>
                <a:srgbClr val="ED7D3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3" name="BA_BD">
            <a:extLst>
              <a:ext uri="{FF2B5EF4-FFF2-40B4-BE49-F238E27FC236}">
                <a16:creationId xmlns:a16="http://schemas.microsoft.com/office/drawing/2014/main" id="{3A5DFFBF-68D3-96D9-CBC4-6B8E722AF33C}"/>
              </a:ext>
            </a:extLst>
          </p:cNvPr>
          <p:cNvSpPr/>
          <p:nvPr/>
        </p:nvSpPr>
        <p:spPr>
          <a:xfrm>
            <a:off x="3720914" y="2691969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BD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Prediweb</a:t>
            </a:r>
            <a:endParaRPr kumimoji="0" lang="fr-FR" sz="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6" name="BA_SGR">
            <a:extLst>
              <a:ext uri="{FF2B5EF4-FFF2-40B4-BE49-F238E27FC236}">
                <a16:creationId xmlns:a16="http://schemas.microsoft.com/office/drawing/2014/main" id="{76E8C7AD-1666-F458-F1D9-8A9A4EA0A1E5}"/>
              </a:ext>
            </a:extLst>
          </p:cNvPr>
          <p:cNvSpPr/>
          <p:nvPr/>
        </p:nvSpPr>
        <p:spPr>
          <a:xfrm>
            <a:off x="4496225" y="2696226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SGR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Lanceur SGR</a:t>
            </a:r>
          </a:p>
        </p:txBody>
      </p:sp>
      <p:sp>
        <p:nvSpPr>
          <p:cNvPr id="158" name="BA_Autre_PFD">
            <a:extLst>
              <a:ext uri="{FF2B5EF4-FFF2-40B4-BE49-F238E27FC236}">
                <a16:creationId xmlns:a16="http://schemas.microsoft.com/office/drawing/2014/main" id="{21460A24-F287-4F95-F26F-F020DA4E84D9}"/>
              </a:ext>
            </a:extLst>
          </p:cNvPr>
          <p:cNvSpPr/>
          <p:nvPr/>
        </p:nvSpPr>
        <p:spPr>
          <a:xfrm>
            <a:off x="7048704" y="4459954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…</a:t>
            </a:r>
          </a:p>
        </p:txBody>
      </p:sp>
      <p:sp>
        <p:nvSpPr>
          <p:cNvPr id="159" name="Gr_AIA">
            <a:extLst>
              <a:ext uri="{FF2B5EF4-FFF2-40B4-BE49-F238E27FC236}">
                <a16:creationId xmlns:a16="http://schemas.microsoft.com/office/drawing/2014/main" id="{D5037D71-2EED-B62A-8B23-8ADABB85993F}"/>
              </a:ext>
            </a:extLst>
          </p:cNvPr>
          <p:cNvSpPr/>
          <p:nvPr/>
        </p:nvSpPr>
        <p:spPr>
          <a:xfrm>
            <a:off x="600429" y="2842718"/>
            <a:ext cx="927635" cy="550924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  <a:effectLst>
            <a:outerShdw blurRad="50800" dist="38100" dir="2700000" algn="ctr" rotWithShape="0">
              <a:schemeClr val="tx1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/>
            </a:endParaRPr>
          </a:p>
        </p:txBody>
      </p:sp>
      <p:sp>
        <p:nvSpPr>
          <p:cNvPr id="160" name="ZT_AIA">
            <a:extLst>
              <a:ext uri="{FF2B5EF4-FFF2-40B4-BE49-F238E27FC236}">
                <a16:creationId xmlns:a16="http://schemas.microsoft.com/office/drawing/2014/main" id="{BCB7725B-5432-DEC7-F692-ECD70ED04719}"/>
              </a:ext>
            </a:extLst>
          </p:cNvPr>
          <p:cNvSpPr txBox="1"/>
          <p:nvPr/>
        </p:nvSpPr>
        <p:spPr>
          <a:xfrm>
            <a:off x="520497" y="2870168"/>
            <a:ext cx="1080000" cy="246221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AIA V4 (Sinistres)</a:t>
            </a:r>
          </a:p>
        </p:txBody>
      </p:sp>
      <p:sp>
        <p:nvSpPr>
          <p:cNvPr id="161" name="BA_AJ">
            <a:extLst>
              <a:ext uri="{FF2B5EF4-FFF2-40B4-BE49-F238E27FC236}">
                <a16:creationId xmlns:a16="http://schemas.microsoft.com/office/drawing/2014/main" id="{1EDEF07B-F34F-C968-3121-8C4A4FCFA23D}"/>
              </a:ext>
            </a:extLst>
          </p:cNvPr>
          <p:cNvSpPr/>
          <p:nvPr/>
        </p:nvSpPr>
        <p:spPr>
          <a:xfrm>
            <a:off x="741487" y="3087886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AJ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AIA </a:t>
            </a:r>
            <a:r>
              <a:rPr kumimoji="0" lang="fr-FR" sz="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Sinitres</a:t>
            </a:r>
            <a:endParaRPr kumimoji="0" lang="fr-FR" sz="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2" name="Gr_Prediweb2">
            <a:extLst>
              <a:ext uri="{FF2B5EF4-FFF2-40B4-BE49-F238E27FC236}">
                <a16:creationId xmlns:a16="http://schemas.microsoft.com/office/drawing/2014/main" id="{E04D4DF5-5252-34B0-04C8-E8CB552CFF2E}"/>
              </a:ext>
            </a:extLst>
          </p:cNvPr>
          <p:cNvSpPr/>
          <p:nvPr/>
        </p:nvSpPr>
        <p:spPr>
          <a:xfrm>
            <a:off x="6172824" y="3106138"/>
            <a:ext cx="754043" cy="61200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  <a:effectLst>
            <a:outerShdw blurRad="50800" dist="38100" dir="2700000" algn="ctr" rotWithShape="0">
              <a:schemeClr val="tx1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/>
            </a:endParaRPr>
          </a:p>
        </p:txBody>
      </p:sp>
      <p:sp>
        <p:nvSpPr>
          <p:cNvPr id="163" name="ZT_Prediweb2">
            <a:extLst>
              <a:ext uri="{FF2B5EF4-FFF2-40B4-BE49-F238E27FC236}">
                <a16:creationId xmlns:a16="http://schemas.microsoft.com/office/drawing/2014/main" id="{F2324652-A8B8-4786-1FC5-15528DEAADFA}"/>
              </a:ext>
            </a:extLst>
          </p:cNvPr>
          <p:cNvSpPr txBox="1"/>
          <p:nvPr/>
        </p:nvSpPr>
        <p:spPr>
          <a:xfrm>
            <a:off x="6145849" y="3133723"/>
            <a:ext cx="774251" cy="246221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1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Prediweb</a:t>
            </a:r>
            <a:r>
              <a:rPr kumimoji="0" lang="fr-FR" sz="1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 2</a:t>
            </a:r>
            <a:endParaRPr kumimoji="0" lang="fr-FR" sz="1000" b="1" i="1" u="none" strike="noStrike" kern="1200" cap="none" spc="0" normalizeH="0" baseline="0" noProof="0" dirty="0">
              <a:ln>
                <a:noFill/>
              </a:ln>
              <a:solidFill>
                <a:srgbClr val="ED7D3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4" name="BA_PY">
            <a:extLst>
              <a:ext uri="{FF2B5EF4-FFF2-40B4-BE49-F238E27FC236}">
                <a16:creationId xmlns:a16="http://schemas.microsoft.com/office/drawing/2014/main" id="{727F7D02-94F4-DF90-5923-91CFFDD4D1BD}"/>
              </a:ext>
            </a:extLst>
          </p:cNvPr>
          <p:cNvSpPr/>
          <p:nvPr/>
        </p:nvSpPr>
        <p:spPr>
          <a:xfrm>
            <a:off x="6219320" y="3376340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PY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Prediweb</a:t>
            </a: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 2</a:t>
            </a:r>
          </a:p>
        </p:txBody>
      </p:sp>
      <p:sp>
        <p:nvSpPr>
          <p:cNvPr id="165" name="Gr_NewNOVA">
            <a:extLst>
              <a:ext uri="{FF2B5EF4-FFF2-40B4-BE49-F238E27FC236}">
                <a16:creationId xmlns:a16="http://schemas.microsoft.com/office/drawing/2014/main" id="{55FBD12E-D839-0A42-2310-239E16893025}"/>
              </a:ext>
            </a:extLst>
          </p:cNvPr>
          <p:cNvSpPr/>
          <p:nvPr/>
        </p:nvSpPr>
        <p:spPr>
          <a:xfrm>
            <a:off x="7894317" y="1093890"/>
            <a:ext cx="3975128" cy="3939748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  <a:effectLst>
            <a:outerShdw blurRad="50800" dist="38100" dir="2700000" algn="ctr" rotWithShape="0">
              <a:schemeClr val="tx1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/>
            </a:endParaRPr>
          </a:p>
        </p:txBody>
      </p:sp>
      <p:sp>
        <p:nvSpPr>
          <p:cNvPr id="166" name="ZT_NewNOVA">
            <a:extLst>
              <a:ext uri="{FF2B5EF4-FFF2-40B4-BE49-F238E27FC236}">
                <a16:creationId xmlns:a16="http://schemas.microsoft.com/office/drawing/2014/main" id="{01D6F1CD-B65D-0815-DF4B-0C284D7806A8}"/>
              </a:ext>
            </a:extLst>
          </p:cNvPr>
          <p:cNvSpPr txBox="1"/>
          <p:nvPr/>
        </p:nvSpPr>
        <p:spPr>
          <a:xfrm>
            <a:off x="7959719" y="1121206"/>
            <a:ext cx="2930793" cy="246221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New NOVA (K8S+AWS)</a:t>
            </a:r>
            <a:endParaRPr kumimoji="0" lang="fr-FR" sz="1000" b="1" i="1" u="none" strike="noStrike" kern="1200" cap="none" spc="0" normalizeH="0" baseline="0" noProof="0" dirty="0">
              <a:ln>
                <a:noFill/>
              </a:ln>
              <a:solidFill>
                <a:srgbClr val="ED7D3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7" name="BA_APPE">
            <a:extLst>
              <a:ext uri="{FF2B5EF4-FFF2-40B4-BE49-F238E27FC236}">
                <a16:creationId xmlns:a16="http://schemas.microsoft.com/office/drawing/2014/main" id="{990E5AD5-E2B8-029A-E470-E8EB94B2899E}"/>
              </a:ext>
            </a:extLst>
          </p:cNvPr>
          <p:cNvSpPr/>
          <p:nvPr/>
        </p:nvSpPr>
        <p:spPr>
          <a:xfrm>
            <a:off x="8114072" y="1417047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APPE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API Personne</a:t>
            </a:r>
          </a:p>
        </p:txBody>
      </p:sp>
      <p:sp>
        <p:nvSpPr>
          <p:cNvPr id="168" name="BA_CJNI">
            <a:extLst>
              <a:ext uri="{FF2B5EF4-FFF2-40B4-BE49-F238E27FC236}">
                <a16:creationId xmlns:a16="http://schemas.microsoft.com/office/drawing/2014/main" id="{7A98C77B-554E-9188-A12E-A5BB4A8E2AAE}"/>
              </a:ext>
            </a:extLst>
          </p:cNvPr>
          <p:cNvSpPr/>
          <p:nvPr/>
        </p:nvSpPr>
        <p:spPr>
          <a:xfrm>
            <a:off x="8803280" y="1417047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CJNI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Jeton SSO</a:t>
            </a:r>
          </a:p>
        </p:txBody>
      </p:sp>
      <p:sp>
        <p:nvSpPr>
          <p:cNvPr id="169" name="BA_C8">
            <a:extLst>
              <a:ext uri="{FF2B5EF4-FFF2-40B4-BE49-F238E27FC236}">
                <a16:creationId xmlns:a16="http://schemas.microsoft.com/office/drawing/2014/main" id="{48DE0D52-85C9-36AD-BF36-EECF2DD716EA}"/>
              </a:ext>
            </a:extLst>
          </p:cNvPr>
          <p:cNvSpPr/>
          <p:nvPr/>
        </p:nvSpPr>
        <p:spPr>
          <a:xfrm>
            <a:off x="9490384" y="1417047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C8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Consentements</a:t>
            </a:r>
          </a:p>
        </p:txBody>
      </p:sp>
      <p:sp>
        <p:nvSpPr>
          <p:cNvPr id="170" name="BA_D9">
            <a:extLst>
              <a:ext uri="{FF2B5EF4-FFF2-40B4-BE49-F238E27FC236}">
                <a16:creationId xmlns:a16="http://schemas.microsoft.com/office/drawing/2014/main" id="{29DD2D1C-158E-2E02-E21B-BBCC9E2DE6D0}"/>
              </a:ext>
            </a:extLst>
          </p:cNvPr>
          <p:cNvSpPr/>
          <p:nvPr/>
        </p:nvSpPr>
        <p:spPr>
          <a:xfrm>
            <a:off x="10160477" y="1417047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D9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Base Doc AWS</a:t>
            </a:r>
          </a:p>
        </p:txBody>
      </p:sp>
      <p:sp>
        <p:nvSpPr>
          <p:cNvPr id="171" name="BA_F3">
            <a:extLst>
              <a:ext uri="{FF2B5EF4-FFF2-40B4-BE49-F238E27FC236}">
                <a16:creationId xmlns:a16="http://schemas.microsoft.com/office/drawing/2014/main" id="{88BC1996-DC68-33A3-72D5-AFA7D8CC7688}"/>
              </a:ext>
            </a:extLst>
          </p:cNvPr>
          <p:cNvSpPr/>
          <p:nvPr/>
        </p:nvSpPr>
        <p:spPr>
          <a:xfrm>
            <a:off x="8114072" y="1734468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F3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Versement Libre</a:t>
            </a:r>
          </a:p>
        </p:txBody>
      </p:sp>
      <p:sp>
        <p:nvSpPr>
          <p:cNvPr id="172" name="BA_F4">
            <a:extLst>
              <a:ext uri="{FF2B5EF4-FFF2-40B4-BE49-F238E27FC236}">
                <a16:creationId xmlns:a16="http://schemas.microsoft.com/office/drawing/2014/main" id="{E2C65798-9215-8E04-E945-76CE70523FF2}"/>
              </a:ext>
            </a:extLst>
          </p:cNvPr>
          <p:cNvSpPr/>
          <p:nvPr/>
        </p:nvSpPr>
        <p:spPr>
          <a:xfrm>
            <a:off x="8803280" y="1734468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F4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Synthèse </a:t>
            </a:r>
            <a:r>
              <a:rPr kumimoji="0" lang="fr-FR" sz="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Opér</a:t>
            </a: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.</a:t>
            </a:r>
          </a:p>
        </p:txBody>
      </p:sp>
      <p:sp>
        <p:nvSpPr>
          <p:cNvPr id="173" name="BA_F5">
            <a:extLst>
              <a:ext uri="{FF2B5EF4-FFF2-40B4-BE49-F238E27FC236}">
                <a16:creationId xmlns:a16="http://schemas.microsoft.com/office/drawing/2014/main" id="{BAD0C84D-BE33-7C02-5F87-2FC8B2060C32}"/>
              </a:ext>
            </a:extLst>
          </p:cNvPr>
          <p:cNvSpPr/>
          <p:nvPr/>
        </p:nvSpPr>
        <p:spPr>
          <a:xfrm>
            <a:off x="9490384" y="1734468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F5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Conf</a:t>
            </a: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. New Nova</a:t>
            </a:r>
          </a:p>
        </p:txBody>
      </p:sp>
      <p:sp>
        <p:nvSpPr>
          <p:cNvPr id="174" name="BA_F6">
            <a:extLst>
              <a:ext uri="{FF2B5EF4-FFF2-40B4-BE49-F238E27FC236}">
                <a16:creationId xmlns:a16="http://schemas.microsoft.com/office/drawing/2014/main" id="{283917D0-57FD-B167-2094-3999F9C76634}"/>
              </a:ext>
            </a:extLst>
          </p:cNvPr>
          <p:cNvSpPr/>
          <p:nvPr/>
        </p:nvSpPr>
        <p:spPr>
          <a:xfrm>
            <a:off x="10160477" y="1734468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F6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API Adhésion</a:t>
            </a:r>
          </a:p>
        </p:txBody>
      </p:sp>
      <p:sp>
        <p:nvSpPr>
          <p:cNvPr id="175" name="BA_F7">
            <a:extLst>
              <a:ext uri="{FF2B5EF4-FFF2-40B4-BE49-F238E27FC236}">
                <a16:creationId xmlns:a16="http://schemas.microsoft.com/office/drawing/2014/main" id="{3152064F-5AFD-8D7B-9202-CF15765B4F61}"/>
              </a:ext>
            </a:extLst>
          </p:cNvPr>
          <p:cNvSpPr/>
          <p:nvPr/>
        </p:nvSpPr>
        <p:spPr>
          <a:xfrm>
            <a:off x="8114072" y="2047150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F7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Arbitrage</a:t>
            </a:r>
          </a:p>
        </p:txBody>
      </p:sp>
      <p:sp>
        <p:nvSpPr>
          <p:cNvPr id="176" name="BA_G3">
            <a:extLst>
              <a:ext uri="{FF2B5EF4-FFF2-40B4-BE49-F238E27FC236}">
                <a16:creationId xmlns:a16="http://schemas.microsoft.com/office/drawing/2014/main" id="{B2E08634-2E0A-4EE1-7805-5EFD97C94DF5}"/>
              </a:ext>
            </a:extLst>
          </p:cNvPr>
          <p:cNvSpPr/>
          <p:nvPr/>
        </p:nvSpPr>
        <p:spPr>
          <a:xfrm>
            <a:off x="9490384" y="2047150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G3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Pièces médicales</a:t>
            </a:r>
          </a:p>
        </p:txBody>
      </p:sp>
      <p:sp>
        <p:nvSpPr>
          <p:cNvPr id="177" name="BA_G4">
            <a:extLst>
              <a:ext uri="{FF2B5EF4-FFF2-40B4-BE49-F238E27FC236}">
                <a16:creationId xmlns:a16="http://schemas.microsoft.com/office/drawing/2014/main" id="{466BA7DF-26DF-417E-A486-DE60D422B059}"/>
              </a:ext>
            </a:extLst>
          </p:cNvPr>
          <p:cNvSpPr/>
          <p:nvPr/>
        </p:nvSpPr>
        <p:spPr>
          <a:xfrm>
            <a:off x="10160477" y="2047150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G4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API FRC</a:t>
            </a:r>
          </a:p>
        </p:txBody>
      </p:sp>
      <p:sp>
        <p:nvSpPr>
          <p:cNvPr id="178" name="BA_G6">
            <a:extLst>
              <a:ext uri="{FF2B5EF4-FFF2-40B4-BE49-F238E27FC236}">
                <a16:creationId xmlns:a16="http://schemas.microsoft.com/office/drawing/2014/main" id="{DFE4907C-FCC7-82C4-8B87-CF35BA8DD96A}"/>
              </a:ext>
            </a:extLst>
          </p:cNvPr>
          <p:cNvSpPr/>
          <p:nvPr/>
        </p:nvSpPr>
        <p:spPr>
          <a:xfrm>
            <a:off x="8114072" y="2368438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G6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API </a:t>
            </a:r>
            <a:r>
              <a:rPr kumimoji="0" lang="fr-FR" sz="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Passport</a:t>
            </a:r>
            <a:endParaRPr kumimoji="0" lang="fr-FR" sz="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9" name="BA_GQ">
            <a:extLst>
              <a:ext uri="{FF2B5EF4-FFF2-40B4-BE49-F238E27FC236}">
                <a16:creationId xmlns:a16="http://schemas.microsoft.com/office/drawing/2014/main" id="{86F7FB45-A444-4326-16EB-7409DBBE41EA}"/>
              </a:ext>
            </a:extLst>
          </p:cNvPr>
          <p:cNvSpPr/>
          <p:nvPr/>
        </p:nvSpPr>
        <p:spPr>
          <a:xfrm>
            <a:off x="8803280" y="2368438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GQ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GED Prévoyance</a:t>
            </a:r>
          </a:p>
        </p:txBody>
      </p:sp>
      <p:sp>
        <p:nvSpPr>
          <p:cNvPr id="180" name="BA_I5">
            <a:extLst>
              <a:ext uri="{FF2B5EF4-FFF2-40B4-BE49-F238E27FC236}">
                <a16:creationId xmlns:a16="http://schemas.microsoft.com/office/drawing/2014/main" id="{59D3ED1E-33AF-8F23-0D1C-D42065839475}"/>
              </a:ext>
            </a:extLst>
          </p:cNvPr>
          <p:cNvSpPr/>
          <p:nvPr/>
        </p:nvSpPr>
        <p:spPr>
          <a:xfrm>
            <a:off x="8114072" y="2696076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I5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Lanceur New Nova</a:t>
            </a:r>
          </a:p>
        </p:txBody>
      </p:sp>
      <p:sp>
        <p:nvSpPr>
          <p:cNvPr id="181" name="BA_I9">
            <a:extLst>
              <a:ext uri="{FF2B5EF4-FFF2-40B4-BE49-F238E27FC236}">
                <a16:creationId xmlns:a16="http://schemas.microsoft.com/office/drawing/2014/main" id="{52A74D3C-BBC0-B7A4-5B06-563D4F4F32EB}"/>
              </a:ext>
            </a:extLst>
          </p:cNvPr>
          <p:cNvSpPr/>
          <p:nvPr/>
        </p:nvSpPr>
        <p:spPr>
          <a:xfrm>
            <a:off x="8803280" y="2696076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I9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Keycloak</a:t>
            </a: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 Intranet</a:t>
            </a:r>
          </a:p>
        </p:txBody>
      </p:sp>
      <p:sp>
        <p:nvSpPr>
          <p:cNvPr id="182" name="BA_K7">
            <a:extLst>
              <a:ext uri="{FF2B5EF4-FFF2-40B4-BE49-F238E27FC236}">
                <a16:creationId xmlns:a16="http://schemas.microsoft.com/office/drawing/2014/main" id="{44CEB8E2-4FCC-232D-7E7F-865F29859571}"/>
              </a:ext>
            </a:extLst>
          </p:cNvPr>
          <p:cNvSpPr/>
          <p:nvPr/>
        </p:nvSpPr>
        <p:spPr>
          <a:xfrm>
            <a:off x="9490384" y="2696076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K7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Aiguilleur</a:t>
            </a:r>
          </a:p>
        </p:txBody>
      </p:sp>
      <p:sp>
        <p:nvSpPr>
          <p:cNvPr id="183" name="BA_K9">
            <a:extLst>
              <a:ext uri="{FF2B5EF4-FFF2-40B4-BE49-F238E27FC236}">
                <a16:creationId xmlns:a16="http://schemas.microsoft.com/office/drawing/2014/main" id="{96D19F21-5152-6AFE-CC19-30E1CFD92D54}"/>
              </a:ext>
            </a:extLst>
          </p:cNvPr>
          <p:cNvSpPr/>
          <p:nvPr/>
        </p:nvSpPr>
        <p:spPr>
          <a:xfrm>
            <a:off x="10160477" y="2696076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K9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Keycloak</a:t>
            </a: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 Internet</a:t>
            </a:r>
          </a:p>
        </p:txBody>
      </p:sp>
      <p:sp>
        <p:nvSpPr>
          <p:cNvPr id="184" name="BA_L8">
            <a:extLst>
              <a:ext uri="{FF2B5EF4-FFF2-40B4-BE49-F238E27FC236}">
                <a16:creationId xmlns:a16="http://schemas.microsoft.com/office/drawing/2014/main" id="{FB4CFE21-B5ED-DFEF-A71C-48110C860129}"/>
              </a:ext>
            </a:extLst>
          </p:cNvPr>
          <p:cNvSpPr/>
          <p:nvPr/>
        </p:nvSpPr>
        <p:spPr>
          <a:xfrm>
            <a:off x="8114072" y="3027052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L8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API Archivage</a:t>
            </a:r>
          </a:p>
        </p:txBody>
      </p:sp>
      <p:sp>
        <p:nvSpPr>
          <p:cNvPr id="185" name="BA_L9">
            <a:extLst>
              <a:ext uri="{FF2B5EF4-FFF2-40B4-BE49-F238E27FC236}">
                <a16:creationId xmlns:a16="http://schemas.microsoft.com/office/drawing/2014/main" id="{C820EA49-8E62-BBA4-5DD9-6836536ECF16}"/>
              </a:ext>
            </a:extLst>
          </p:cNvPr>
          <p:cNvSpPr/>
          <p:nvPr/>
        </p:nvSpPr>
        <p:spPr>
          <a:xfrm>
            <a:off x="8803280" y="3027052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L9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API Structure</a:t>
            </a:r>
          </a:p>
        </p:txBody>
      </p:sp>
      <p:sp>
        <p:nvSpPr>
          <p:cNvPr id="186" name="BA_N6">
            <a:extLst>
              <a:ext uri="{FF2B5EF4-FFF2-40B4-BE49-F238E27FC236}">
                <a16:creationId xmlns:a16="http://schemas.microsoft.com/office/drawing/2014/main" id="{99B1C26E-2745-63B2-F46D-8899B6422C43}"/>
              </a:ext>
            </a:extLst>
          </p:cNvPr>
          <p:cNvSpPr/>
          <p:nvPr/>
        </p:nvSpPr>
        <p:spPr>
          <a:xfrm>
            <a:off x="9490384" y="3034498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N6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API produit</a:t>
            </a:r>
          </a:p>
        </p:txBody>
      </p:sp>
      <p:sp>
        <p:nvSpPr>
          <p:cNvPr id="187" name="BA_N8">
            <a:extLst>
              <a:ext uri="{FF2B5EF4-FFF2-40B4-BE49-F238E27FC236}">
                <a16:creationId xmlns:a16="http://schemas.microsoft.com/office/drawing/2014/main" id="{58F61FCD-AEF7-932D-241F-F5B05586D1B1}"/>
              </a:ext>
            </a:extLst>
          </p:cNvPr>
          <p:cNvSpPr/>
          <p:nvPr/>
        </p:nvSpPr>
        <p:spPr>
          <a:xfrm>
            <a:off x="10160477" y="3034498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N8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Notif</a:t>
            </a: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. Distributeur</a:t>
            </a:r>
          </a:p>
        </p:txBody>
      </p:sp>
      <p:sp>
        <p:nvSpPr>
          <p:cNvPr id="188" name="BA_P4">
            <a:extLst>
              <a:ext uri="{FF2B5EF4-FFF2-40B4-BE49-F238E27FC236}">
                <a16:creationId xmlns:a16="http://schemas.microsoft.com/office/drawing/2014/main" id="{CC186AB0-C1FC-A92F-3CC8-058D9B6F4FC8}"/>
              </a:ext>
            </a:extLst>
          </p:cNvPr>
          <p:cNvSpPr/>
          <p:nvPr/>
        </p:nvSpPr>
        <p:spPr>
          <a:xfrm>
            <a:off x="8114072" y="3354466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P4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Services Editique</a:t>
            </a:r>
          </a:p>
        </p:txBody>
      </p:sp>
      <p:sp>
        <p:nvSpPr>
          <p:cNvPr id="189" name="BA_P5">
            <a:extLst>
              <a:ext uri="{FF2B5EF4-FFF2-40B4-BE49-F238E27FC236}">
                <a16:creationId xmlns:a16="http://schemas.microsoft.com/office/drawing/2014/main" id="{6BB3310B-9479-16F6-7EA0-FDFB6953098A}"/>
              </a:ext>
            </a:extLst>
          </p:cNvPr>
          <p:cNvSpPr/>
          <p:nvPr/>
        </p:nvSpPr>
        <p:spPr>
          <a:xfrm>
            <a:off x="8803280" y="3354466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P5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API Contrat</a:t>
            </a:r>
          </a:p>
        </p:txBody>
      </p:sp>
      <p:sp>
        <p:nvSpPr>
          <p:cNvPr id="190" name="BA_P6">
            <a:extLst>
              <a:ext uri="{FF2B5EF4-FFF2-40B4-BE49-F238E27FC236}">
                <a16:creationId xmlns:a16="http://schemas.microsoft.com/office/drawing/2014/main" id="{1E4792C4-1A79-0A28-1A32-73CC82720CA5}"/>
              </a:ext>
            </a:extLst>
          </p:cNvPr>
          <p:cNvSpPr/>
          <p:nvPr/>
        </p:nvSpPr>
        <p:spPr>
          <a:xfrm>
            <a:off x="9490384" y="3369007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P6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API Support</a:t>
            </a:r>
          </a:p>
        </p:txBody>
      </p:sp>
      <p:sp>
        <p:nvSpPr>
          <p:cNvPr id="191" name="BA_P7">
            <a:extLst>
              <a:ext uri="{FF2B5EF4-FFF2-40B4-BE49-F238E27FC236}">
                <a16:creationId xmlns:a16="http://schemas.microsoft.com/office/drawing/2014/main" id="{326CC86D-FF9F-D19E-FB32-B2887BCCA61F}"/>
              </a:ext>
            </a:extLst>
          </p:cNvPr>
          <p:cNvSpPr/>
          <p:nvPr/>
        </p:nvSpPr>
        <p:spPr>
          <a:xfrm>
            <a:off x="10160477" y="3369007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P7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Campagnes et Frais</a:t>
            </a:r>
          </a:p>
        </p:txBody>
      </p:sp>
      <p:sp>
        <p:nvSpPr>
          <p:cNvPr id="192" name="BA_P8">
            <a:extLst>
              <a:ext uri="{FF2B5EF4-FFF2-40B4-BE49-F238E27FC236}">
                <a16:creationId xmlns:a16="http://schemas.microsoft.com/office/drawing/2014/main" id="{DA235400-806E-E754-F61F-DC2CA5E101B8}"/>
              </a:ext>
            </a:extLst>
          </p:cNvPr>
          <p:cNvSpPr/>
          <p:nvPr/>
        </p:nvSpPr>
        <p:spPr>
          <a:xfrm>
            <a:off x="8114072" y="3698914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P8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Habilit</a:t>
            </a: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. &amp;  </a:t>
            </a:r>
            <a:r>
              <a:rPr kumimoji="0" lang="fr-FR" sz="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Délég</a:t>
            </a: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.</a:t>
            </a:r>
          </a:p>
        </p:txBody>
      </p:sp>
      <p:sp>
        <p:nvSpPr>
          <p:cNvPr id="193" name="BA_Q1">
            <a:extLst>
              <a:ext uri="{FF2B5EF4-FFF2-40B4-BE49-F238E27FC236}">
                <a16:creationId xmlns:a16="http://schemas.microsoft.com/office/drawing/2014/main" id="{F315876A-E470-14FD-D127-3F1E3B58C2F8}"/>
              </a:ext>
            </a:extLst>
          </p:cNvPr>
          <p:cNvSpPr/>
          <p:nvPr/>
        </p:nvSpPr>
        <p:spPr>
          <a:xfrm>
            <a:off x="8803280" y="3698914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Q1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API </a:t>
            </a:r>
            <a:r>
              <a:rPr kumimoji="0" lang="fr-FR" sz="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Déciséo</a:t>
            </a:r>
            <a:endParaRPr kumimoji="0" lang="fr-FR" sz="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4" name="BA_W1">
            <a:extLst>
              <a:ext uri="{FF2B5EF4-FFF2-40B4-BE49-F238E27FC236}">
                <a16:creationId xmlns:a16="http://schemas.microsoft.com/office/drawing/2014/main" id="{456D8891-1500-9BA4-5D71-3FE33218BCC9}"/>
              </a:ext>
            </a:extLst>
          </p:cNvPr>
          <p:cNvSpPr/>
          <p:nvPr/>
        </p:nvSpPr>
        <p:spPr>
          <a:xfrm>
            <a:off x="8114072" y="4023294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W1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API Signature</a:t>
            </a:r>
          </a:p>
        </p:txBody>
      </p:sp>
      <p:sp>
        <p:nvSpPr>
          <p:cNvPr id="195" name="BA_W2">
            <a:extLst>
              <a:ext uri="{FF2B5EF4-FFF2-40B4-BE49-F238E27FC236}">
                <a16:creationId xmlns:a16="http://schemas.microsoft.com/office/drawing/2014/main" id="{548175DD-6A1C-956A-A60A-799154ED648C}"/>
              </a:ext>
            </a:extLst>
          </p:cNvPr>
          <p:cNvSpPr/>
          <p:nvPr/>
        </p:nvSpPr>
        <p:spPr>
          <a:xfrm>
            <a:off x="8803280" y="4023294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W2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Clause </a:t>
            </a:r>
            <a:r>
              <a:rPr kumimoji="0" lang="fr-FR" sz="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Bénéf</a:t>
            </a: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.</a:t>
            </a:r>
          </a:p>
        </p:txBody>
      </p:sp>
      <p:sp>
        <p:nvSpPr>
          <p:cNvPr id="196" name="BA_W4">
            <a:extLst>
              <a:ext uri="{FF2B5EF4-FFF2-40B4-BE49-F238E27FC236}">
                <a16:creationId xmlns:a16="http://schemas.microsoft.com/office/drawing/2014/main" id="{1A92B11C-F6BF-2B44-0CEC-1BC825AB8804}"/>
              </a:ext>
            </a:extLst>
          </p:cNvPr>
          <p:cNvSpPr/>
          <p:nvPr/>
        </p:nvSpPr>
        <p:spPr>
          <a:xfrm>
            <a:off x="9490384" y="4047213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W4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Modif</a:t>
            </a: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. </a:t>
            </a:r>
            <a:r>
              <a:rPr kumimoji="0" lang="fr-FR" sz="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Gar</a:t>
            </a: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. </a:t>
            </a:r>
            <a:r>
              <a:rPr kumimoji="0" lang="fr-FR" sz="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Prév</a:t>
            </a: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.</a:t>
            </a:r>
          </a:p>
        </p:txBody>
      </p:sp>
      <p:sp>
        <p:nvSpPr>
          <p:cNvPr id="197" name="Gr_REFUC">
            <a:extLst>
              <a:ext uri="{FF2B5EF4-FFF2-40B4-BE49-F238E27FC236}">
                <a16:creationId xmlns:a16="http://schemas.microsoft.com/office/drawing/2014/main" id="{8D92A6DD-606C-16F7-2E44-4F032070756C}"/>
              </a:ext>
            </a:extLst>
          </p:cNvPr>
          <p:cNvSpPr/>
          <p:nvPr/>
        </p:nvSpPr>
        <p:spPr>
          <a:xfrm>
            <a:off x="4497472" y="3115682"/>
            <a:ext cx="769204" cy="591273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  <a:effectLst>
            <a:outerShdw blurRad="50800" dist="38100" dir="2700000" algn="ctr" rotWithShape="0">
              <a:schemeClr val="tx1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/>
            </a:endParaRPr>
          </a:p>
        </p:txBody>
      </p:sp>
      <p:sp>
        <p:nvSpPr>
          <p:cNvPr id="198" name="ZT_REFUC">
            <a:extLst>
              <a:ext uri="{FF2B5EF4-FFF2-40B4-BE49-F238E27FC236}">
                <a16:creationId xmlns:a16="http://schemas.microsoft.com/office/drawing/2014/main" id="{C55F4464-35AB-D86D-A304-C7FDD959C7CF}"/>
              </a:ext>
            </a:extLst>
          </p:cNvPr>
          <p:cNvSpPr txBox="1"/>
          <p:nvPr/>
        </p:nvSpPr>
        <p:spPr>
          <a:xfrm>
            <a:off x="4585812" y="3143267"/>
            <a:ext cx="664123" cy="246221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REFUC</a:t>
            </a:r>
          </a:p>
        </p:txBody>
      </p:sp>
      <p:sp>
        <p:nvSpPr>
          <p:cNvPr id="199" name="BA_VL">
            <a:extLst>
              <a:ext uri="{FF2B5EF4-FFF2-40B4-BE49-F238E27FC236}">
                <a16:creationId xmlns:a16="http://schemas.microsoft.com/office/drawing/2014/main" id="{10D5E6EE-9951-7B2E-8F55-7FD3413DA907}"/>
              </a:ext>
            </a:extLst>
          </p:cNvPr>
          <p:cNvSpPr/>
          <p:nvPr/>
        </p:nvSpPr>
        <p:spPr>
          <a:xfrm>
            <a:off x="4562134" y="3360904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VL</a:t>
            </a:r>
            <a:endParaRPr kumimoji="0" lang="fr-FR" sz="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Référ</a:t>
            </a: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. UC</a:t>
            </a:r>
          </a:p>
        </p:txBody>
      </p:sp>
      <p:sp>
        <p:nvSpPr>
          <p:cNvPr id="200" name="Gr_EBX">
            <a:extLst>
              <a:ext uri="{FF2B5EF4-FFF2-40B4-BE49-F238E27FC236}">
                <a16:creationId xmlns:a16="http://schemas.microsoft.com/office/drawing/2014/main" id="{645B86BB-F964-6079-2063-918FED812CC5}"/>
              </a:ext>
            </a:extLst>
          </p:cNvPr>
          <p:cNvSpPr/>
          <p:nvPr/>
        </p:nvSpPr>
        <p:spPr>
          <a:xfrm>
            <a:off x="3593887" y="3113812"/>
            <a:ext cx="834318" cy="61200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  <a:effectLst>
            <a:outerShdw blurRad="50800" dist="38100" dir="2700000" algn="ctr" rotWithShape="0">
              <a:schemeClr val="tx1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/>
            </a:endParaRPr>
          </a:p>
        </p:txBody>
      </p:sp>
      <p:sp>
        <p:nvSpPr>
          <p:cNvPr id="201" name="ZT_EBX">
            <a:extLst>
              <a:ext uri="{FF2B5EF4-FFF2-40B4-BE49-F238E27FC236}">
                <a16:creationId xmlns:a16="http://schemas.microsoft.com/office/drawing/2014/main" id="{8A35FDAF-CBC1-EDD1-95BB-A4D16880890B}"/>
              </a:ext>
            </a:extLst>
          </p:cNvPr>
          <p:cNvSpPr txBox="1"/>
          <p:nvPr/>
        </p:nvSpPr>
        <p:spPr>
          <a:xfrm>
            <a:off x="3603261" y="3141397"/>
            <a:ext cx="824943" cy="246221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EBX</a:t>
            </a:r>
          </a:p>
        </p:txBody>
      </p:sp>
      <p:sp>
        <p:nvSpPr>
          <p:cNvPr id="202" name="BA_EBX">
            <a:extLst>
              <a:ext uri="{FF2B5EF4-FFF2-40B4-BE49-F238E27FC236}">
                <a16:creationId xmlns:a16="http://schemas.microsoft.com/office/drawing/2014/main" id="{9BC4AE30-2F25-8CB0-7560-BBEE2F0F2E77}"/>
              </a:ext>
            </a:extLst>
          </p:cNvPr>
          <p:cNvSpPr/>
          <p:nvPr/>
        </p:nvSpPr>
        <p:spPr>
          <a:xfrm>
            <a:off x="3697255" y="3370753"/>
            <a:ext cx="648000" cy="276281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EBX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EBX-Platform</a:t>
            </a:r>
          </a:p>
        </p:txBody>
      </p:sp>
      <p:sp>
        <p:nvSpPr>
          <p:cNvPr id="203" name="ZoneProjet">
            <a:extLst>
              <a:ext uri="{FF2B5EF4-FFF2-40B4-BE49-F238E27FC236}">
                <a16:creationId xmlns:a16="http://schemas.microsoft.com/office/drawing/2014/main" id="{7EAC042E-355D-EDEF-37E9-CD36EFE91CFC}"/>
              </a:ext>
            </a:extLst>
          </p:cNvPr>
          <p:cNvSpPr txBox="1"/>
          <p:nvPr/>
        </p:nvSpPr>
        <p:spPr>
          <a:xfrm>
            <a:off x="140641" y="445133"/>
            <a:ext cx="3364126" cy="646331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>
            <a:defPPr>
              <a:defRPr lang="fr-FR"/>
            </a:defPPr>
            <a:lvl1pPr lvl="0" algn="ctr">
              <a:defRPr b="1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fr-FR" dirty="0"/>
              <a:t>Ouverture Arbitrage Conseiller</a:t>
            </a:r>
          </a:p>
          <a:p>
            <a:r>
              <a:rPr lang="fr-FR" dirty="0"/>
              <a:t> </a:t>
            </a:r>
            <a:r>
              <a:rPr lang="fr-FR" sz="1100" dirty="0"/>
              <a:t>pour le produit PER</a:t>
            </a:r>
          </a:p>
        </p:txBody>
      </p:sp>
      <p:sp>
        <p:nvSpPr>
          <p:cNvPr id="204" name="ZT_Titre">
            <a:extLst>
              <a:ext uri="{FF2B5EF4-FFF2-40B4-BE49-F238E27FC236}">
                <a16:creationId xmlns:a16="http://schemas.microsoft.com/office/drawing/2014/main" id="{665AE5F5-BABB-088B-7D1B-26064BB81D5A}"/>
              </a:ext>
            </a:extLst>
          </p:cNvPr>
          <p:cNvSpPr txBox="1"/>
          <p:nvPr/>
        </p:nvSpPr>
        <p:spPr>
          <a:xfrm>
            <a:off x="0" y="-124544"/>
            <a:ext cx="12192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800" b="0" i="0" u="none" strike="noStrike" kern="1200" cap="none" spc="0" normalizeH="0" baseline="0" noProof="0" dirty="0">
                <a:ln>
                  <a:noFill/>
                </a:ln>
                <a:solidFill>
                  <a:srgbClr val="5B9BD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Identification des composants applicatifs</a:t>
            </a:r>
          </a:p>
        </p:txBody>
      </p:sp>
      <p:sp>
        <p:nvSpPr>
          <p:cNvPr id="205" name="Gr_BDOC">
            <a:extLst>
              <a:ext uri="{FF2B5EF4-FFF2-40B4-BE49-F238E27FC236}">
                <a16:creationId xmlns:a16="http://schemas.microsoft.com/office/drawing/2014/main" id="{3EFAEDE6-5BA8-5AEC-0669-82666FF25882}"/>
              </a:ext>
            </a:extLst>
          </p:cNvPr>
          <p:cNvSpPr/>
          <p:nvPr/>
        </p:nvSpPr>
        <p:spPr>
          <a:xfrm>
            <a:off x="5353697" y="3111592"/>
            <a:ext cx="744111" cy="61200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  <a:effectLst>
            <a:outerShdw blurRad="50800" dist="38100" dir="2700000" algn="ctr" rotWithShape="0">
              <a:schemeClr val="tx1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/>
            </a:endParaRPr>
          </a:p>
        </p:txBody>
      </p:sp>
      <p:sp>
        <p:nvSpPr>
          <p:cNvPr id="206" name="ZT_BDOC">
            <a:extLst>
              <a:ext uri="{FF2B5EF4-FFF2-40B4-BE49-F238E27FC236}">
                <a16:creationId xmlns:a16="http://schemas.microsoft.com/office/drawing/2014/main" id="{E23CA262-A724-E371-9EAC-EEFD7895CCD2}"/>
              </a:ext>
            </a:extLst>
          </p:cNvPr>
          <p:cNvSpPr txBox="1"/>
          <p:nvPr/>
        </p:nvSpPr>
        <p:spPr>
          <a:xfrm>
            <a:off x="5429887" y="3139177"/>
            <a:ext cx="623531" cy="246221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BDOC</a:t>
            </a:r>
          </a:p>
        </p:txBody>
      </p:sp>
      <p:sp>
        <p:nvSpPr>
          <p:cNvPr id="207" name="BA_BX">
            <a:extLst>
              <a:ext uri="{FF2B5EF4-FFF2-40B4-BE49-F238E27FC236}">
                <a16:creationId xmlns:a16="http://schemas.microsoft.com/office/drawing/2014/main" id="{7E81FAC2-71FE-59A4-A7C7-5D31DCD64D41}"/>
              </a:ext>
            </a:extLst>
          </p:cNvPr>
          <p:cNvSpPr/>
          <p:nvPr/>
        </p:nvSpPr>
        <p:spPr>
          <a:xfrm>
            <a:off x="5405378" y="3393901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BX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BDOC WEB</a:t>
            </a:r>
          </a:p>
        </p:txBody>
      </p:sp>
      <p:sp>
        <p:nvSpPr>
          <p:cNvPr id="208" name="ZT_MàJ">
            <a:extLst>
              <a:ext uri="{FF2B5EF4-FFF2-40B4-BE49-F238E27FC236}">
                <a16:creationId xmlns:a16="http://schemas.microsoft.com/office/drawing/2014/main" id="{4AE5411D-47D0-9855-D40E-17EAEF39A47F}"/>
              </a:ext>
            </a:extLst>
          </p:cNvPr>
          <p:cNvSpPr txBox="1"/>
          <p:nvPr/>
        </p:nvSpPr>
        <p:spPr>
          <a:xfrm>
            <a:off x="390525" y="6491355"/>
            <a:ext cx="169950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Mise à jour : xx/xx/2026</a:t>
            </a:r>
          </a:p>
        </p:txBody>
      </p:sp>
      <p:sp>
        <p:nvSpPr>
          <p:cNvPr id="209" name="ZT_Validité">
            <a:extLst>
              <a:ext uri="{FF2B5EF4-FFF2-40B4-BE49-F238E27FC236}">
                <a16:creationId xmlns:a16="http://schemas.microsoft.com/office/drawing/2014/main" id="{040EF21A-38BF-70E5-EA65-95E5F9F9F323}"/>
              </a:ext>
            </a:extLst>
          </p:cNvPr>
          <p:cNvSpPr txBox="1"/>
          <p:nvPr/>
        </p:nvSpPr>
        <p:spPr>
          <a:xfrm>
            <a:off x="10479876" y="6501427"/>
            <a:ext cx="126444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Validité : T2 2026</a:t>
            </a:r>
          </a:p>
        </p:txBody>
      </p:sp>
      <p:sp>
        <p:nvSpPr>
          <p:cNvPr id="210" name="Légende_Comp3">
            <a:extLst>
              <a:ext uri="{FF2B5EF4-FFF2-40B4-BE49-F238E27FC236}">
                <a16:creationId xmlns:a16="http://schemas.microsoft.com/office/drawing/2014/main" id="{39210F87-98CB-5F34-D55C-771805D6A6AD}"/>
              </a:ext>
            </a:extLst>
          </p:cNvPr>
          <p:cNvSpPr/>
          <p:nvPr/>
        </p:nvSpPr>
        <p:spPr>
          <a:xfrm>
            <a:off x="6567797" y="549933"/>
            <a:ext cx="1080000" cy="360000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Composant </a:t>
            </a:r>
            <a:b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créé ou modifié</a:t>
            </a:r>
          </a:p>
        </p:txBody>
      </p:sp>
      <p:sp>
        <p:nvSpPr>
          <p:cNvPr id="211" name="Légende_Comp2">
            <a:extLst>
              <a:ext uri="{FF2B5EF4-FFF2-40B4-BE49-F238E27FC236}">
                <a16:creationId xmlns:a16="http://schemas.microsoft.com/office/drawing/2014/main" id="{EBA7E006-09BB-25EF-B2CD-CAB15AFBC731}"/>
              </a:ext>
            </a:extLst>
          </p:cNvPr>
          <p:cNvSpPr/>
          <p:nvPr/>
        </p:nvSpPr>
        <p:spPr>
          <a:xfrm>
            <a:off x="5383906" y="547517"/>
            <a:ext cx="1080000" cy="360000"/>
          </a:xfrm>
          <a:prstGeom prst="round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Composant utilisé</a:t>
            </a:r>
          </a:p>
        </p:txBody>
      </p:sp>
      <p:sp>
        <p:nvSpPr>
          <p:cNvPr id="212" name="Légende_Comp1">
            <a:extLst>
              <a:ext uri="{FF2B5EF4-FFF2-40B4-BE49-F238E27FC236}">
                <a16:creationId xmlns:a16="http://schemas.microsoft.com/office/drawing/2014/main" id="{4D7D92DB-BC32-576E-256E-E7081BEB5954}"/>
              </a:ext>
            </a:extLst>
          </p:cNvPr>
          <p:cNvSpPr/>
          <p:nvPr/>
        </p:nvSpPr>
        <p:spPr>
          <a:xfrm>
            <a:off x="4200015" y="542942"/>
            <a:ext cx="1080000" cy="360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Composant non exploité</a:t>
            </a:r>
          </a:p>
        </p:txBody>
      </p:sp>
      <p:sp>
        <p:nvSpPr>
          <p:cNvPr id="213" name="BA_T2">
            <a:extLst>
              <a:ext uri="{FF2B5EF4-FFF2-40B4-BE49-F238E27FC236}">
                <a16:creationId xmlns:a16="http://schemas.microsoft.com/office/drawing/2014/main" id="{2942D1A2-AEB6-5593-34EB-0D771843B37A}"/>
              </a:ext>
            </a:extLst>
          </p:cNvPr>
          <p:cNvSpPr/>
          <p:nvPr/>
        </p:nvSpPr>
        <p:spPr>
          <a:xfrm>
            <a:off x="9490384" y="3696185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T2</a:t>
            </a:r>
            <a:endParaRPr kumimoji="0" lang="fr-FR" sz="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KConnect</a:t>
            </a: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 MUTU</a:t>
            </a:r>
          </a:p>
        </p:txBody>
      </p:sp>
      <p:sp>
        <p:nvSpPr>
          <p:cNvPr id="214" name="BA_T3">
            <a:extLst>
              <a:ext uri="{FF2B5EF4-FFF2-40B4-BE49-F238E27FC236}">
                <a16:creationId xmlns:a16="http://schemas.microsoft.com/office/drawing/2014/main" id="{4CA9F74D-BBF8-1432-1F9F-78C466C23ACD}"/>
              </a:ext>
            </a:extLst>
          </p:cNvPr>
          <p:cNvSpPr/>
          <p:nvPr/>
        </p:nvSpPr>
        <p:spPr>
          <a:xfrm>
            <a:off x="10160477" y="3696185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T3</a:t>
            </a:r>
            <a:endParaRPr kumimoji="0" lang="fr-FR" sz="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KConnect</a:t>
            </a: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 CAA</a:t>
            </a:r>
          </a:p>
        </p:txBody>
      </p:sp>
      <p:sp>
        <p:nvSpPr>
          <p:cNvPr id="215" name="BA_F8">
            <a:extLst>
              <a:ext uri="{FF2B5EF4-FFF2-40B4-BE49-F238E27FC236}">
                <a16:creationId xmlns:a16="http://schemas.microsoft.com/office/drawing/2014/main" id="{96B00CCD-6157-5A3A-F6E6-C7994F85EA6B}"/>
              </a:ext>
            </a:extLst>
          </p:cNvPr>
          <p:cNvSpPr/>
          <p:nvPr/>
        </p:nvSpPr>
        <p:spPr>
          <a:xfrm>
            <a:off x="8803280" y="2047150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F8</a:t>
            </a:r>
            <a:endParaRPr kumimoji="0" lang="fr-FR" sz="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API MOOP</a:t>
            </a:r>
          </a:p>
        </p:txBody>
      </p:sp>
      <p:sp>
        <p:nvSpPr>
          <p:cNvPr id="216" name="Gr_ETL">
            <a:extLst>
              <a:ext uri="{FF2B5EF4-FFF2-40B4-BE49-F238E27FC236}">
                <a16:creationId xmlns:a16="http://schemas.microsoft.com/office/drawing/2014/main" id="{9736EA2F-6739-2EFE-C8BF-3B15FBEE2461}"/>
              </a:ext>
            </a:extLst>
          </p:cNvPr>
          <p:cNvSpPr/>
          <p:nvPr/>
        </p:nvSpPr>
        <p:spPr>
          <a:xfrm>
            <a:off x="1617823" y="2849127"/>
            <a:ext cx="862923" cy="561929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  <a:effectLst>
            <a:outerShdw blurRad="50800" dist="38100" dir="2700000" algn="ctr" rotWithShape="0">
              <a:schemeClr val="tx1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/>
            </a:endParaRPr>
          </a:p>
        </p:txBody>
      </p:sp>
      <p:sp>
        <p:nvSpPr>
          <p:cNvPr id="217" name="ZT_ETL">
            <a:extLst>
              <a:ext uri="{FF2B5EF4-FFF2-40B4-BE49-F238E27FC236}">
                <a16:creationId xmlns:a16="http://schemas.microsoft.com/office/drawing/2014/main" id="{354C04DE-4EEA-F138-A917-4B9C5FE4BD12}"/>
              </a:ext>
            </a:extLst>
          </p:cNvPr>
          <p:cNvSpPr txBox="1"/>
          <p:nvPr/>
        </p:nvSpPr>
        <p:spPr>
          <a:xfrm>
            <a:off x="1611935" y="2858784"/>
            <a:ext cx="898650" cy="246221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ETL</a:t>
            </a:r>
          </a:p>
        </p:txBody>
      </p:sp>
      <p:sp>
        <p:nvSpPr>
          <p:cNvPr id="218" name="BA_PWC2">
            <a:extLst>
              <a:ext uri="{FF2B5EF4-FFF2-40B4-BE49-F238E27FC236}">
                <a16:creationId xmlns:a16="http://schemas.microsoft.com/office/drawing/2014/main" id="{B6FCDFF6-3367-91E7-64E4-AAFACB47364B}"/>
              </a:ext>
            </a:extLst>
          </p:cNvPr>
          <p:cNvSpPr/>
          <p:nvPr/>
        </p:nvSpPr>
        <p:spPr>
          <a:xfrm>
            <a:off x="1715817" y="3076593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PWC2</a:t>
            </a:r>
            <a:endParaRPr kumimoji="0" lang="fr-FR" sz="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ETL PREDICA</a:t>
            </a:r>
          </a:p>
        </p:txBody>
      </p:sp>
      <p:sp>
        <p:nvSpPr>
          <p:cNvPr id="219" name="Légende_Date1">
            <a:extLst>
              <a:ext uri="{FF2B5EF4-FFF2-40B4-BE49-F238E27FC236}">
                <a16:creationId xmlns:a16="http://schemas.microsoft.com/office/drawing/2014/main" id="{C2CEA5E9-6005-5C21-48D6-111332DD4D95}"/>
              </a:ext>
            </a:extLst>
          </p:cNvPr>
          <p:cNvSpPr txBox="1"/>
          <p:nvPr/>
        </p:nvSpPr>
        <p:spPr>
          <a:xfrm rot="19102564">
            <a:off x="7647306" y="559123"/>
            <a:ext cx="927160" cy="369332"/>
          </a:xfrm>
          <a:prstGeom prst="rect">
            <a:avLst/>
          </a:prstGeom>
          <a:noFill/>
          <a:ln cap="flat">
            <a:noFill/>
            <a:prstDash val="solid"/>
          </a:ln>
          <a:effectLst>
            <a:softEdge rad="0"/>
          </a:effectLst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900" b="0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Date de </a:t>
            </a:r>
            <a:r>
              <a:rPr kumimoji="0" lang="fr-FR" sz="900" b="0" i="0" u="none" strike="noStrike" kern="1200" cap="none" spc="0" normalizeH="0" baseline="0" noProof="0" dirty="0" err="1">
                <a:ln>
                  <a:noFill/>
                </a:ln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MeP</a:t>
            </a:r>
            <a:r>
              <a:rPr kumimoji="0" lang="fr-FR" sz="900" b="0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 prévue</a:t>
            </a:r>
          </a:p>
        </p:txBody>
      </p:sp>
      <p:sp>
        <p:nvSpPr>
          <p:cNvPr id="222" name="Légende_Date2">
            <a:extLst>
              <a:ext uri="{FF2B5EF4-FFF2-40B4-BE49-F238E27FC236}">
                <a16:creationId xmlns:a16="http://schemas.microsoft.com/office/drawing/2014/main" id="{49679818-56E0-4784-08F9-1E71D918AA9F}"/>
              </a:ext>
            </a:extLst>
          </p:cNvPr>
          <p:cNvSpPr txBox="1"/>
          <p:nvPr/>
        </p:nvSpPr>
        <p:spPr>
          <a:xfrm rot="19102564">
            <a:off x="8343008" y="568799"/>
            <a:ext cx="927160" cy="369332"/>
          </a:xfrm>
          <a:prstGeom prst="rect">
            <a:avLst/>
          </a:prstGeom>
          <a:noFill/>
          <a:ln cap="flat">
            <a:noFill/>
            <a:prstDash val="solid"/>
          </a:ln>
          <a:effectLst>
            <a:softEdge rad="0"/>
          </a:effectLst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900" b="0" i="0" u="none" strike="noStrike" kern="1200" cap="none" spc="0" normalizeH="0" baseline="0" noProof="0" dirty="0">
                <a:ln>
                  <a:noFill/>
                </a:ln>
                <a:solidFill>
                  <a:srgbClr val="70AD4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Date de </a:t>
            </a:r>
            <a:r>
              <a:rPr kumimoji="0" lang="fr-FR" sz="900" b="0" i="0" u="none" strike="noStrike" kern="1200" cap="none" spc="0" normalizeH="0" baseline="0" noProof="0" dirty="0" err="1">
                <a:ln>
                  <a:noFill/>
                </a:ln>
                <a:solidFill>
                  <a:srgbClr val="70AD4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MeP</a:t>
            </a:r>
            <a:r>
              <a:rPr kumimoji="0" lang="fr-FR" sz="900" b="0" i="0" u="none" strike="noStrike" kern="1200" cap="none" spc="0" normalizeH="0" baseline="0" noProof="0" dirty="0">
                <a:ln>
                  <a:noFill/>
                </a:ln>
                <a:solidFill>
                  <a:srgbClr val="70AD4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 effective</a:t>
            </a:r>
          </a:p>
        </p:txBody>
      </p:sp>
      <p:sp>
        <p:nvSpPr>
          <p:cNvPr id="223" name="Gr_CATS">
            <a:extLst>
              <a:ext uri="{FF2B5EF4-FFF2-40B4-BE49-F238E27FC236}">
                <a16:creationId xmlns:a16="http://schemas.microsoft.com/office/drawing/2014/main" id="{6478CE85-1F37-9C3D-8806-F7FD6631AD73}"/>
              </a:ext>
            </a:extLst>
          </p:cNvPr>
          <p:cNvSpPr/>
          <p:nvPr/>
        </p:nvSpPr>
        <p:spPr>
          <a:xfrm>
            <a:off x="447324" y="5119889"/>
            <a:ext cx="5579420" cy="1254012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4" name="ZT_CATS">
            <a:extLst>
              <a:ext uri="{FF2B5EF4-FFF2-40B4-BE49-F238E27FC236}">
                <a16:creationId xmlns:a16="http://schemas.microsoft.com/office/drawing/2014/main" id="{A1C10B70-538E-0BFA-BBDD-C40DFC971B52}"/>
              </a:ext>
            </a:extLst>
          </p:cNvPr>
          <p:cNvSpPr txBox="1"/>
          <p:nvPr/>
        </p:nvSpPr>
        <p:spPr>
          <a:xfrm>
            <a:off x="370835" y="5083258"/>
            <a:ext cx="5409144" cy="246221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CA-TS</a:t>
            </a:r>
            <a:endParaRPr kumimoji="0" lang="fr-FR" sz="1000" b="1" i="1" u="none" strike="noStrike" kern="1200" cap="none" spc="0" normalizeH="0" baseline="0" noProof="0" dirty="0">
              <a:ln>
                <a:noFill/>
              </a:ln>
              <a:solidFill>
                <a:srgbClr val="7030A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5" name="BA_PDI9">
            <a:extLst>
              <a:ext uri="{FF2B5EF4-FFF2-40B4-BE49-F238E27FC236}">
                <a16:creationId xmlns:a16="http://schemas.microsoft.com/office/drawing/2014/main" id="{A4D4D373-EA14-D136-DD93-FC1F309AF7A3}"/>
              </a:ext>
            </a:extLst>
          </p:cNvPr>
          <p:cNvSpPr/>
          <p:nvPr/>
        </p:nvSpPr>
        <p:spPr>
          <a:xfrm>
            <a:off x="506780" y="5666800"/>
            <a:ext cx="648000" cy="288000"/>
          </a:xfrm>
          <a:prstGeom prst="roundRect">
            <a:avLst/>
          </a:prstGeom>
          <a:solidFill>
            <a:srgbClr val="B6D3EC"/>
          </a:solidFill>
          <a:ln w="6350"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PDI9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6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/>
              </a:rPr>
              <a:t>-</a:t>
            </a:r>
            <a:endParaRPr kumimoji="0" lang="fr-FR" sz="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6" name="BA_XConnect">
            <a:extLst>
              <a:ext uri="{FF2B5EF4-FFF2-40B4-BE49-F238E27FC236}">
                <a16:creationId xmlns:a16="http://schemas.microsoft.com/office/drawing/2014/main" id="{0052BFE0-5BFE-44C1-6E82-13CD816790EC}"/>
              </a:ext>
            </a:extLst>
          </p:cNvPr>
          <p:cNvSpPr/>
          <p:nvPr/>
        </p:nvSpPr>
        <p:spPr>
          <a:xfrm>
            <a:off x="1189563" y="5663009"/>
            <a:ext cx="648000" cy="288000"/>
          </a:xfrm>
          <a:prstGeom prst="roundRect">
            <a:avLst/>
          </a:prstGeom>
          <a:solidFill>
            <a:srgbClr val="B6D3EC"/>
          </a:solidFill>
          <a:ln w="6350"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Xconnect</a:t>
            </a:r>
            <a:endParaRPr kumimoji="0" lang="fr-FR" sz="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6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/>
              </a:rPr>
              <a:t>-</a:t>
            </a:r>
            <a:endParaRPr kumimoji="0" lang="fr-FR" sz="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7" name="BA_SIMM">
            <a:extLst>
              <a:ext uri="{FF2B5EF4-FFF2-40B4-BE49-F238E27FC236}">
                <a16:creationId xmlns:a16="http://schemas.microsoft.com/office/drawing/2014/main" id="{4031ED54-5123-EA17-25A6-4D57CE733743}"/>
              </a:ext>
            </a:extLst>
          </p:cNvPr>
          <p:cNvSpPr/>
          <p:nvPr/>
        </p:nvSpPr>
        <p:spPr>
          <a:xfrm>
            <a:off x="2557693" y="5660385"/>
            <a:ext cx="648000" cy="288000"/>
          </a:xfrm>
          <a:prstGeom prst="roundRect">
            <a:avLst/>
          </a:prstGeom>
          <a:solidFill>
            <a:srgbClr val="B6D3EC"/>
          </a:solidFill>
          <a:ln w="6350"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SIMM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6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/>
              </a:rPr>
              <a:t>-</a:t>
            </a:r>
            <a:endParaRPr kumimoji="0" lang="fr-FR" sz="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8" name="BA_BAM">
            <a:extLst>
              <a:ext uri="{FF2B5EF4-FFF2-40B4-BE49-F238E27FC236}">
                <a16:creationId xmlns:a16="http://schemas.microsoft.com/office/drawing/2014/main" id="{F0174647-1C2C-63BE-27FD-0F00708FC660}"/>
              </a:ext>
            </a:extLst>
          </p:cNvPr>
          <p:cNvSpPr/>
          <p:nvPr/>
        </p:nvSpPr>
        <p:spPr>
          <a:xfrm>
            <a:off x="2833493" y="5340532"/>
            <a:ext cx="648000" cy="288000"/>
          </a:xfrm>
          <a:prstGeom prst="roundRect">
            <a:avLst/>
          </a:prstGeom>
          <a:solidFill>
            <a:srgbClr val="B6D3EC"/>
          </a:solidFill>
          <a:ln w="6350"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BAM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6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/>
              </a:rPr>
              <a:t>-</a:t>
            </a:r>
            <a:endParaRPr kumimoji="0" lang="fr-FR" sz="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9" name="BA_RAC">
            <a:extLst>
              <a:ext uri="{FF2B5EF4-FFF2-40B4-BE49-F238E27FC236}">
                <a16:creationId xmlns:a16="http://schemas.microsoft.com/office/drawing/2014/main" id="{33650794-71BD-AA98-6538-6254F3E609C3}"/>
              </a:ext>
            </a:extLst>
          </p:cNvPr>
          <p:cNvSpPr/>
          <p:nvPr/>
        </p:nvSpPr>
        <p:spPr>
          <a:xfrm>
            <a:off x="4892893" y="5338051"/>
            <a:ext cx="648000" cy="288000"/>
          </a:xfrm>
          <a:prstGeom prst="roundRect">
            <a:avLst/>
          </a:prstGeom>
          <a:solidFill>
            <a:srgbClr val="B6D3EC"/>
          </a:solidFill>
          <a:ln w="6350"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RAC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6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/>
              </a:rPr>
              <a:t>-</a:t>
            </a:r>
            <a:endParaRPr kumimoji="0" lang="fr-FR" sz="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0" name="BA_DétContratNatifMB">
            <a:extLst>
              <a:ext uri="{FF2B5EF4-FFF2-40B4-BE49-F238E27FC236}">
                <a16:creationId xmlns:a16="http://schemas.microsoft.com/office/drawing/2014/main" id="{BDB22843-6283-13F2-0A89-FC6D061DEA4F}"/>
              </a:ext>
            </a:extLst>
          </p:cNvPr>
          <p:cNvSpPr/>
          <p:nvPr/>
        </p:nvSpPr>
        <p:spPr>
          <a:xfrm>
            <a:off x="506780" y="5329301"/>
            <a:ext cx="1326281" cy="288000"/>
          </a:xfrm>
          <a:prstGeom prst="roundRect">
            <a:avLst/>
          </a:prstGeom>
          <a:solidFill>
            <a:srgbClr val="B6D3EC"/>
          </a:solidFill>
          <a:ln w="6350"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Dét</a:t>
            </a: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. Contrat natif MB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6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/>
              </a:rPr>
              <a:t>-</a:t>
            </a:r>
            <a:endParaRPr kumimoji="0" lang="fr-FR" sz="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1" name="BA_BPM">
            <a:extLst>
              <a:ext uri="{FF2B5EF4-FFF2-40B4-BE49-F238E27FC236}">
                <a16:creationId xmlns:a16="http://schemas.microsoft.com/office/drawing/2014/main" id="{46275230-2D8D-B0F0-77D4-96FBD82379AE}"/>
              </a:ext>
            </a:extLst>
          </p:cNvPr>
          <p:cNvSpPr/>
          <p:nvPr/>
        </p:nvSpPr>
        <p:spPr>
          <a:xfrm>
            <a:off x="1875772" y="5663009"/>
            <a:ext cx="648000" cy="288000"/>
          </a:xfrm>
          <a:prstGeom prst="roundRect">
            <a:avLst/>
          </a:prstGeom>
          <a:solidFill>
            <a:srgbClr val="B6D3EC"/>
          </a:solidFill>
          <a:ln w="6350"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BPM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6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/>
              </a:rPr>
              <a:t>-</a:t>
            </a:r>
            <a:endParaRPr kumimoji="0" lang="fr-FR" sz="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2" name="BA_APX9">
            <a:extLst>
              <a:ext uri="{FF2B5EF4-FFF2-40B4-BE49-F238E27FC236}">
                <a16:creationId xmlns:a16="http://schemas.microsoft.com/office/drawing/2014/main" id="{E3E339FF-9BEB-F400-0956-635031B26023}"/>
              </a:ext>
            </a:extLst>
          </p:cNvPr>
          <p:cNvSpPr/>
          <p:nvPr/>
        </p:nvSpPr>
        <p:spPr>
          <a:xfrm>
            <a:off x="511818" y="6003252"/>
            <a:ext cx="648000" cy="288000"/>
          </a:xfrm>
          <a:prstGeom prst="roundRect">
            <a:avLst/>
          </a:prstGeom>
          <a:solidFill>
            <a:srgbClr val="B6D3EC"/>
          </a:solidFill>
          <a:ln w="6350"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APX9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6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/>
              </a:rPr>
              <a:t>-</a:t>
            </a:r>
            <a:endParaRPr kumimoji="0" lang="fr-FR" sz="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3" name="BA_HUB">
            <a:extLst>
              <a:ext uri="{FF2B5EF4-FFF2-40B4-BE49-F238E27FC236}">
                <a16:creationId xmlns:a16="http://schemas.microsoft.com/office/drawing/2014/main" id="{C7709B24-AF99-978E-151D-AF8BD7F40D2E}"/>
              </a:ext>
            </a:extLst>
          </p:cNvPr>
          <p:cNvSpPr/>
          <p:nvPr/>
        </p:nvSpPr>
        <p:spPr>
          <a:xfrm>
            <a:off x="3242082" y="5660385"/>
            <a:ext cx="648000" cy="288000"/>
          </a:xfrm>
          <a:prstGeom prst="roundRect">
            <a:avLst/>
          </a:prstGeom>
          <a:solidFill>
            <a:srgbClr val="B6D3EC"/>
          </a:solidFill>
          <a:ln w="6350"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HUB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6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/>
              </a:rPr>
              <a:t>-</a:t>
            </a:r>
            <a:endParaRPr kumimoji="0" lang="fr-FR" sz="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4" name="BA_NPC">
            <a:extLst>
              <a:ext uri="{FF2B5EF4-FFF2-40B4-BE49-F238E27FC236}">
                <a16:creationId xmlns:a16="http://schemas.microsoft.com/office/drawing/2014/main" id="{EEA9DD4B-0F94-C69A-FF34-2771C5BD8125}"/>
              </a:ext>
            </a:extLst>
          </p:cNvPr>
          <p:cNvSpPr/>
          <p:nvPr/>
        </p:nvSpPr>
        <p:spPr>
          <a:xfrm>
            <a:off x="3515693" y="5337169"/>
            <a:ext cx="648000" cy="288000"/>
          </a:xfrm>
          <a:prstGeom prst="roundRect">
            <a:avLst/>
          </a:prstGeom>
          <a:solidFill>
            <a:srgbClr val="B6D3EC"/>
          </a:solidFill>
          <a:ln w="6350"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NPC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6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/>
              </a:rPr>
              <a:t>-</a:t>
            </a:r>
            <a:endParaRPr kumimoji="0" lang="fr-FR" sz="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5" name="BA_Microservices">
            <a:extLst>
              <a:ext uri="{FF2B5EF4-FFF2-40B4-BE49-F238E27FC236}">
                <a16:creationId xmlns:a16="http://schemas.microsoft.com/office/drawing/2014/main" id="{34888C07-4546-36B5-094C-B7D70BD88C45}"/>
              </a:ext>
            </a:extLst>
          </p:cNvPr>
          <p:cNvSpPr/>
          <p:nvPr/>
        </p:nvSpPr>
        <p:spPr>
          <a:xfrm>
            <a:off x="1867224" y="5336000"/>
            <a:ext cx="925408" cy="288000"/>
          </a:xfrm>
          <a:prstGeom prst="roundRect">
            <a:avLst/>
          </a:prstGeom>
          <a:solidFill>
            <a:srgbClr val="B6D3EC"/>
          </a:solidFill>
          <a:ln w="6350"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Microservices</a:t>
            </a:r>
            <a:endParaRPr kumimoji="0" lang="fr-FR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6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/>
              </a:rPr>
              <a:t>-</a:t>
            </a:r>
            <a:endParaRPr kumimoji="0" lang="fr-FR" sz="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6" name="BA_SIG9">
            <a:extLst>
              <a:ext uri="{FF2B5EF4-FFF2-40B4-BE49-F238E27FC236}">
                <a16:creationId xmlns:a16="http://schemas.microsoft.com/office/drawing/2014/main" id="{66094BBB-24E2-CCCE-624A-DF68E24D40C3}"/>
              </a:ext>
            </a:extLst>
          </p:cNvPr>
          <p:cNvSpPr/>
          <p:nvPr/>
        </p:nvSpPr>
        <p:spPr>
          <a:xfrm>
            <a:off x="4203138" y="5331299"/>
            <a:ext cx="648000" cy="288000"/>
          </a:xfrm>
          <a:prstGeom prst="roundRect">
            <a:avLst/>
          </a:prstGeom>
          <a:solidFill>
            <a:srgbClr val="B6D3EC"/>
          </a:solidFill>
          <a:ln w="6350"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SIG9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6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/>
              </a:rPr>
              <a:t>-</a:t>
            </a:r>
            <a:endParaRPr kumimoji="0" lang="fr-FR" sz="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7" name="Gr_MVS">
            <a:extLst>
              <a:ext uri="{FF2B5EF4-FFF2-40B4-BE49-F238E27FC236}">
                <a16:creationId xmlns:a16="http://schemas.microsoft.com/office/drawing/2014/main" id="{1CCF05AE-284B-3D07-D620-A9ED82594A57}"/>
              </a:ext>
            </a:extLst>
          </p:cNvPr>
          <p:cNvSpPr/>
          <p:nvPr/>
        </p:nvSpPr>
        <p:spPr>
          <a:xfrm>
            <a:off x="560497" y="1111645"/>
            <a:ext cx="2901105" cy="1661382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  <a:effectLst>
            <a:outerShdw blurRad="50800" dist="38100" dir="2700000" algn="ctr" rotWithShape="0">
              <a:schemeClr val="tx1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/>
            </a:endParaRPr>
          </a:p>
        </p:txBody>
      </p:sp>
      <p:sp>
        <p:nvSpPr>
          <p:cNvPr id="238" name="BA_CICS_LCL">
            <a:extLst>
              <a:ext uri="{FF2B5EF4-FFF2-40B4-BE49-F238E27FC236}">
                <a16:creationId xmlns:a16="http://schemas.microsoft.com/office/drawing/2014/main" id="{52E31940-3D2C-6976-1CB5-680050F86835}"/>
              </a:ext>
            </a:extLst>
          </p:cNvPr>
          <p:cNvSpPr/>
          <p:nvPr/>
        </p:nvSpPr>
        <p:spPr>
          <a:xfrm>
            <a:off x="623669" y="1641943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CICS</a:t>
            </a:r>
          </a:p>
        </p:txBody>
      </p:sp>
      <p:sp>
        <p:nvSpPr>
          <p:cNvPr id="239" name="BA_DB2_LCL">
            <a:extLst>
              <a:ext uri="{FF2B5EF4-FFF2-40B4-BE49-F238E27FC236}">
                <a16:creationId xmlns:a16="http://schemas.microsoft.com/office/drawing/2014/main" id="{FF9BA0A2-C932-16EB-999C-27298C9946E7}"/>
              </a:ext>
            </a:extLst>
          </p:cNvPr>
          <p:cNvSpPr/>
          <p:nvPr/>
        </p:nvSpPr>
        <p:spPr>
          <a:xfrm>
            <a:off x="1307275" y="1641222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DB2</a:t>
            </a:r>
          </a:p>
        </p:txBody>
      </p:sp>
      <p:sp>
        <p:nvSpPr>
          <p:cNvPr id="240" name="ZT_MVS">
            <a:extLst>
              <a:ext uri="{FF2B5EF4-FFF2-40B4-BE49-F238E27FC236}">
                <a16:creationId xmlns:a16="http://schemas.microsoft.com/office/drawing/2014/main" id="{D140E56F-45CB-4D62-E300-3471681CB757}"/>
              </a:ext>
            </a:extLst>
          </p:cNvPr>
          <p:cNvSpPr txBox="1"/>
          <p:nvPr/>
        </p:nvSpPr>
        <p:spPr>
          <a:xfrm>
            <a:off x="560496" y="1111645"/>
            <a:ext cx="2901106" cy="246221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MVS Z/OS (</a:t>
            </a:r>
            <a:r>
              <a:rPr kumimoji="0" lang="fr-FR" sz="1000" b="1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Ingenium</a:t>
            </a:r>
            <a:r>
              <a:rPr kumimoji="0" lang="fr-FR" sz="1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)</a:t>
            </a:r>
            <a:endParaRPr kumimoji="0" lang="fr-FR" sz="1000" b="1" i="1" u="none" strike="noStrike" kern="1200" cap="none" spc="0" normalizeH="0" baseline="0" noProof="0" dirty="0">
              <a:ln>
                <a:noFill/>
              </a:ln>
              <a:solidFill>
                <a:srgbClr val="ED7D3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1" name="BA_ING_CA">
            <a:extLst>
              <a:ext uri="{FF2B5EF4-FFF2-40B4-BE49-F238E27FC236}">
                <a16:creationId xmlns:a16="http://schemas.microsoft.com/office/drawing/2014/main" id="{5C92AE35-F48D-E830-0965-D2E5CF4252C7}"/>
              </a:ext>
            </a:extLst>
          </p:cNvPr>
          <p:cNvSpPr/>
          <p:nvPr/>
        </p:nvSpPr>
        <p:spPr>
          <a:xfrm>
            <a:off x="2043446" y="1970146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INVI/VC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Ingenium</a:t>
            </a: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 CA</a:t>
            </a:r>
          </a:p>
        </p:txBody>
      </p:sp>
      <p:sp>
        <p:nvSpPr>
          <p:cNvPr id="242" name="BA_PE_CA">
            <a:extLst>
              <a:ext uri="{FF2B5EF4-FFF2-40B4-BE49-F238E27FC236}">
                <a16:creationId xmlns:a16="http://schemas.microsoft.com/office/drawing/2014/main" id="{58BFB90A-638B-82A2-CBE7-B45504417FF9}"/>
              </a:ext>
            </a:extLst>
          </p:cNvPr>
          <p:cNvSpPr/>
          <p:nvPr/>
        </p:nvSpPr>
        <p:spPr>
          <a:xfrm>
            <a:off x="2716487" y="1971824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PE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Base Pers CA</a:t>
            </a:r>
          </a:p>
        </p:txBody>
      </p:sp>
      <p:sp>
        <p:nvSpPr>
          <p:cNvPr id="243" name="BA_Autre_CA">
            <a:extLst>
              <a:ext uri="{FF2B5EF4-FFF2-40B4-BE49-F238E27FC236}">
                <a16:creationId xmlns:a16="http://schemas.microsoft.com/office/drawing/2014/main" id="{7E6AB013-481D-7766-8167-9C47863D4F5D}"/>
              </a:ext>
            </a:extLst>
          </p:cNvPr>
          <p:cNvSpPr/>
          <p:nvPr/>
        </p:nvSpPr>
        <p:spPr>
          <a:xfrm>
            <a:off x="2377796" y="2309491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…</a:t>
            </a:r>
          </a:p>
        </p:txBody>
      </p:sp>
      <p:sp>
        <p:nvSpPr>
          <p:cNvPr id="244" name="BA_ING_LCL">
            <a:extLst>
              <a:ext uri="{FF2B5EF4-FFF2-40B4-BE49-F238E27FC236}">
                <a16:creationId xmlns:a16="http://schemas.microsoft.com/office/drawing/2014/main" id="{F05D24C0-27DE-E90E-C41F-D87D804C6400}"/>
              </a:ext>
            </a:extLst>
          </p:cNvPr>
          <p:cNvSpPr/>
          <p:nvPr/>
        </p:nvSpPr>
        <p:spPr>
          <a:xfrm>
            <a:off x="619469" y="1964817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INVI/VC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Ingenium</a:t>
            </a: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 LCL</a:t>
            </a:r>
          </a:p>
        </p:txBody>
      </p:sp>
      <p:sp>
        <p:nvSpPr>
          <p:cNvPr id="245" name="BA_PE_LCL">
            <a:extLst>
              <a:ext uri="{FF2B5EF4-FFF2-40B4-BE49-F238E27FC236}">
                <a16:creationId xmlns:a16="http://schemas.microsoft.com/office/drawing/2014/main" id="{ABC481AA-28C7-E33B-94B9-98C6BE536C5F}"/>
              </a:ext>
            </a:extLst>
          </p:cNvPr>
          <p:cNvSpPr/>
          <p:nvPr/>
        </p:nvSpPr>
        <p:spPr>
          <a:xfrm>
            <a:off x="1305439" y="1963152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PE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Base Pers LCL</a:t>
            </a:r>
          </a:p>
        </p:txBody>
      </p:sp>
      <p:sp>
        <p:nvSpPr>
          <p:cNvPr id="246" name="BA_Autre_LCL">
            <a:extLst>
              <a:ext uri="{FF2B5EF4-FFF2-40B4-BE49-F238E27FC236}">
                <a16:creationId xmlns:a16="http://schemas.microsoft.com/office/drawing/2014/main" id="{6934D20E-7798-AAA5-AC1D-4D8551771AD7}"/>
              </a:ext>
            </a:extLst>
          </p:cNvPr>
          <p:cNvSpPr/>
          <p:nvPr/>
        </p:nvSpPr>
        <p:spPr>
          <a:xfrm>
            <a:off x="1010215" y="2285082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…</a:t>
            </a:r>
          </a:p>
        </p:txBody>
      </p:sp>
      <p:cxnSp>
        <p:nvCxnSpPr>
          <p:cNvPr id="247" name="Connecteur droit">
            <a:extLst>
              <a:ext uri="{FF2B5EF4-FFF2-40B4-BE49-F238E27FC236}">
                <a16:creationId xmlns:a16="http://schemas.microsoft.com/office/drawing/2014/main" id="{51C78762-0739-C0BA-C865-C5A8F1C58C44}"/>
              </a:ext>
            </a:extLst>
          </p:cNvPr>
          <p:cNvCxnSpPr/>
          <p:nvPr/>
        </p:nvCxnSpPr>
        <p:spPr>
          <a:xfrm>
            <a:off x="1984365" y="1430388"/>
            <a:ext cx="4993" cy="1220450"/>
          </a:xfrm>
          <a:prstGeom prst="line">
            <a:avLst/>
          </a:prstGeom>
          <a:ln w="9525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8" name="ZT_CA">
            <a:extLst>
              <a:ext uri="{FF2B5EF4-FFF2-40B4-BE49-F238E27FC236}">
                <a16:creationId xmlns:a16="http://schemas.microsoft.com/office/drawing/2014/main" id="{EF566DF0-9702-B50F-6CEE-91415BF50172}"/>
              </a:ext>
            </a:extLst>
          </p:cNvPr>
          <p:cNvSpPr txBox="1"/>
          <p:nvPr/>
        </p:nvSpPr>
        <p:spPr>
          <a:xfrm>
            <a:off x="2418813" y="1371697"/>
            <a:ext cx="551086" cy="246221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CA</a:t>
            </a:r>
            <a:endParaRPr kumimoji="0" lang="fr-FR" sz="1000" b="1" i="1" u="none" strike="noStrike" kern="1200" cap="none" spc="0" normalizeH="0" baseline="0" noProof="0" dirty="0">
              <a:ln>
                <a:noFill/>
              </a:ln>
              <a:solidFill>
                <a:srgbClr val="ED7D3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9" name="ZT_LCL">
            <a:extLst>
              <a:ext uri="{FF2B5EF4-FFF2-40B4-BE49-F238E27FC236}">
                <a16:creationId xmlns:a16="http://schemas.microsoft.com/office/drawing/2014/main" id="{BFFB5823-15FE-6B33-BC89-8A53755CB772}"/>
              </a:ext>
            </a:extLst>
          </p:cNvPr>
          <p:cNvSpPr txBox="1"/>
          <p:nvPr/>
        </p:nvSpPr>
        <p:spPr>
          <a:xfrm>
            <a:off x="1032399" y="1378099"/>
            <a:ext cx="551086" cy="246221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LCL</a:t>
            </a:r>
            <a:endParaRPr kumimoji="0" lang="fr-FR" sz="1000" b="1" i="1" u="none" strike="noStrike" kern="1200" cap="none" spc="0" normalizeH="0" baseline="0" noProof="0" dirty="0">
              <a:ln>
                <a:noFill/>
              </a:ln>
              <a:solidFill>
                <a:srgbClr val="ED7D3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0" name="BA_CICS_CA">
            <a:extLst>
              <a:ext uri="{FF2B5EF4-FFF2-40B4-BE49-F238E27FC236}">
                <a16:creationId xmlns:a16="http://schemas.microsoft.com/office/drawing/2014/main" id="{67B7BA4E-6308-9C68-2419-18DEF0E155A9}"/>
              </a:ext>
            </a:extLst>
          </p:cNvPr>
          <p:cNvSpPr/>
          <p:nvPr/>
        </p:nvSpPr>
        <p:spPr>
          <a:xfrm>
            <a:off x="2021573" y="1646459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CICS</a:t>
            </a:r>
          </a:p>
        </p:txBody>
      </p:sp>
      <p:sp>
        <p:nvSpPr>
          <p:cNvPr id="251" name="BA_DB2_CA">
            <a:extLst>
              <a:ext uri="{FF2B5EF4-FFF2-40B4-BE49-F238E27FC236}">
                <a16:creationId xmlns:a16="http://schemas.microsoft.com/office/drawing/2014/main" id="{F9A9F6CA-2061-5FB4-974E-0F80598D80CA}"/>
              </a:ext>
            </a:extLst>
          </p:cNvPr>
          <p:cNvSpPr/>
          <p:nvPr/>
        </p:nvSpPr>
        <p:spPr>
          <a:xfrm>
            <a:off x="2717879" y="1645738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DB2</a:t>
            </a:r>
          </a:p>
        </p:txBody>
      </p:sp>
      <p:sp>
        <p:nvSpPr>
          <p:cNvPr id="252" name="BA_GG">
            <a:extLst>
              <a:ext uri="{FF2B5EF4-FFF2-40B4-BE49-F238E27FC236}">
                <a16:creationId xmlns:a16="http://schemas.microsoft.com/office/drawing/2014/main" id="{B455F8F2-14AE-03C3-876C-B9546FE2BC4A}"/>
              </a:ext>
            </a:extLst>
          </p:cNvPr>
          <p:cNvSpPr/>
          <p:nvPr/>
        </p:nvSpPr>
        <p:spPr>
          <a:xfrm>
            <a:off x="5540187" y="2498620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GG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Sim.Prév</a:t>
            </a: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. Décès</a:t>
            </a:r>
          </a:p>
        </p:txBody>
      </p:sp>
      <p:sp>
        <p:nvSpPr>
          <p:cNvPr id="253" name="BA_GH">
            <a:extLst>
              <a:ext uri="{FF2B5EF4-FFF2-40B4-BE49-F238E27FC236}">
                <a16:creationId xmlns:a16="http://schemas.microsoft.com/office/drawing/2014/main" id="{EF8B3CC1-A61B-ABF6-8F2D-B237CDB1C7DE}"/>
              </a:ext>
            </a:extLst>
          </p:cNvPr>
          <p:cNvSpPr/>
          <p:nvPr/>
        </p:nvSpPr>
        <p:spPr>
          <a:xfrm>
            <a:off x="6247379" y="2507699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GH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Moteur </a:t>
            </a:r>
            <a:r>
              <a:rPr kumimoji="0" lang="fr-FR" sz="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Epicaste</a:t>
            </a:r>
            <a:endParaRPr kumimoji="0" lang="fr-FR" sz="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4" name="Gr_Editique">
            <a:extLst>
              <a:ext uri="{FF2B5EF4-FFF2-40B4-BE49-F238E27FC236}">
                <a16:creationId xmlns:a16="http://schemas.microsoft.com/office/drawing/2014/main" id="{4DC6B2E5-C5E4-C7E7-C6DB-E3D696D74D95}"/>
              </a:ext>
            </a:extLst>
          </p:cNvPr>
          <p:cNvSpPr/>
          <p:nvPr/>
        </p:nvSpPr>
        <p:spPr>
          <a:xfrm>
            <a:off x="6994566" y="3106138"/>
            <a:ext cx="754043" cy="61200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  <a:effectLst>
            <a:outerShdw blurRad="50800" dist="38100" dir="2700000" algn="ctr" rotWithShape="0">
              <a:schemeClr val="tx1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/>
            </a:endParaRPr>
          </a:p>
        </p:txBody>
      </p:sp>
      <p:sp>
        <p:nvSpPr>
          <p:cNvPr id="255" name="ZT_Editique">
            <a:extLst>
              <a:ext uri="{FF2B5EF4-FFF2-40B4-BE49-F238E27FC236}">
                <a16:creationId xmlns:a16="http://schemas.microsoft.com/office/drawing/2014/main" id="{585F9F59-74F4-3CF2-7FE5-65D8CF9FE409}"/>
              </a:ext>
            </a:extLst>
          </p:cNvPr>
          <p:cNvSpPr txBox="1"/>
          <p:nvPr/>
        </p:nvSpPr>
        <p:spPr>
          <a:xfrm>
            <a:off x="6967388" y="3133723"/>
            <a:ext cx="781221" cy="246221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Editique</a:t>
            </a:r>
          </a:p>
        </p:txBody>
      </p:sp>
      <p:sp>
        <p:nvSpPr>
          <p:cNvPr id="256" name="BA_ONDM">
            <a:extLst>
              <a:ext uri="{FF2B5EF4-FFF2-40B4-BE49-F238E27FC236}">
                <a16:creationId xmlns:a16="http://schemas.microsoft.com/office/drawing/2014/main" id="{F999C051-249C-9778-74BF-82F667A1A0A8}"/>
              </a:ext>
            </a:extLst>
          </p:cNvPr>
          <p:cNvSpPr/>
          <p:nvPr/>
        </p:nvSpPr>
        <p:spPr>
          <a:xfrm>
            <a:off x="7053165" y="3363079"/>
            <a:ext cx="648000" cy="276281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ONDM</a:t>
            </a:r>
            <a:endParaRPr kumimoji="0" lang="fr-FR" sz="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On </a:t>
            </a:r>
            <a:r>
              <a:rPr kumimoji="0" lang="fr-FR" sz="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Demand</a:t>
            </a:r>
            <a:endParaRPr kumimoji="0" lang="fr-FR" sz="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257" name="Groupe_Retour">
            <a:extLst>
              <a:ext uri="{FF2B5EF4-FFF2-40B4-BE49-F238E27FC236}">
                <a16:creationId xmlns:a16="http://schemas.microsoft.com/office/drawing/2014/main" id="{B595ECB5-BC02-9053-2378-DC9179134694}"/>
              </a:ext>
            </a:extLst>
          </p:cNvPr>
          <p:cNvGrpSpPr/>
          <p:nvPr/>
        </p:nvGrpSpPr>
        <p:grpSpPr>
          <a:xfrm>
            <a:off x="0" y="0"/>
            <a:ext cx="1417975" cy="461665"/>
            <a:chOff x="0" y="0"/>
            <a:chExt cx="1417975" cy="461665"/>
          </a:xfrm>
        </p:grpSpPr>
        <p:sp>
          <p:nvSpPr>
            <p:cNvPr id="258" name="Rectangle 257">
              <a:hlinkClick r:id="rId3" action="ppaction://hlinksldjump"/>
              <a:extLst>
                <a:ext uri="{FF2B5EF4-FFF2-40B4-BE49-F238E27FC236}">
                  <a16:creationId xmlns:a16="http://schemas.microsoft.com/office/drawing/2014/main" id="{151BF4B5-853B-28A7-E35D-B99C35EA9BC0}"/>
                </a:ext>
              </a:extLst>
            </p:cNvPr>
            <p:cNvSpPr/>
            <p:nvPr/>
          </p:nvSpPr>
          <p:spPr>
            <a:xfrm>
              <a:off x="0" y="0"/>
              <a:ext cx="768479" cy="461665"/>
            </a:xfrm>
            <a:prstGeom prst="rect">
              <a:avLst/>
            </a:prstGeom>
            <a:noFill/>
          </p:spPr>
          <p:txBody>
            <a:bodyPr wrap="square" lIns="91440" tIns="45720" rIns="91440" bIns="45720" anchor="ctr">
              <a:spAutoFit/>
            </a:bodyPr>
            <a:lstStyle/>
            <a:p>
              <a:pPr algn="ctr"/>
              <a:r>
                <a:rPr lang="fr-FR" sz="2400" b="1" spc="50" dirty="0">
                  <a:ln w="9525" cmpd="sng">
                    <a:solidFill>
                      <a:schemeClr val="accent1"/>
                    </a:solidFill>
                    <a:prstDash val="solid"/>
                  </a:ln>
                  <a:solidFill>
                    <a:srgbClr val="70AD47">
                      <a:tint val="1000"/>
                    </a:srgbClr>
                  </a:solidFill>
                  <a:effectLst>
                    <a:glow rad="38100">
                      <a:schemeClr val="accent1">
                        <a:alpha val="40000"/>
                      </a:schemeClr>
                    </a:glow>
                  </a:effectLst>
                  <a:latin typeface="HoloLens MDL2 Assets" panose="050A0102010101010101" pitchFamily="18" charset="0"/>
                </a:rPr>
                <a:t></a:t>
              </a:r>
              <a:endParaRPr lang="fr-FR" sz="1400" dirty="0">
                <a:solidFill>
                  <a:srgbClr val="5B9BD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/>
              </a:endParaRPr>
            </a:p>
          </p:txBody>
        </p:sp>
        <p:sp>
          <p:nvSpPr>
            <p:cNvPr id="259" name="ZoneTexte 258">
              <a:extLst>
                <a:ext uri="{FF2B5EF4-FFF2-40B4-BE49-F238E27FC236}">
                  <a16:creationId xmlns:a16="http://schemas.microsoft.com/office/drawing/2014/main" id="{3B2FC5FF-23A2-DA3D-D3F4-EBA16F87AE54}"/>
                </a:ext>
              </a:extLst>
            </p:cNvPr>
            <p:cNvSpPr txBox="1"/>
            <p:nvPr/>
          </p:nvSpPr>
          <p:spPr>
            <a:xfrm>
              <a:off x="525450" y="71273"/>
              <a:ext cx="89252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1400" dirty="0">
                  <a:solidFill>
                    <a:srgbClr val="5B9BD5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libri" panose="020F0502020204030204"/>
                </a:rPr>
                <a:t>Retour</a:t>
              </a:r>
              <a:endParaRPr lang="fr-FR" sz="1400" dirty="0"/>
            </a:p>
          </p:txBody>
        </p:sp>
      </p:grpSp>
      <p:sp>
        <p:nvSpPr>
          <p:cNvPr id="260" name="BA_PW">
            <a:extLst>
              <a:ext uri="{FF2B5EF4-FFF2-40B4-BE49-F238E27FC236}">
                <a16:creationId xmlns:a16="http://schemas.microsoft.com/office/drawing/2014/main" id="{FF78F183-7920-D9D1-2825-A3DB03EBF9FD}"/>
              </a:ext>
            </a:extLst>
          </p:cNvPr>
          <p:cNvSpPr/>
          <p:nvPr/>
        </p:nvSpPr>
        <p:spPr>
          <a:xfrm>
            <a:off x="4517645" y="1819606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PW</a:t>
            </a:r>
            <a:br>
              <a:rPr lang="fr-FR" sz="10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/>
              </a:rPr>
            </a:b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SFC</a:t>
            </a:r>
          </a:p>
        </p:txBody>
      </p:sp>
      <p:sp>
        <p:nvSpPr>
          <p:cNvPr id="2" name="Étoile à 5 branches">
            <a:extLst>
              <a:ext uri="{FF2B5EF4-FFF2-40B4-BE49-F238E27FC236}">
                <a16:creationId xmlns:a16="http://schemas.microsoft.com/office/drawing/2014/main" id="{79049FB2-B1A8-0BAD-1D29-A5144621D06B}"/>
              </a:ext>
            </a:extLst>
          </p:cNvPr>
          <p:cNvSpPr/>
          <p:nvPr/>
        </p:nvSpPr>
        <p:spPr>
          <a:xfrm>
            <a:off x="9368151" y="554532"/>
            <a:ext cx="108000" cy="108000"/>
          </a:xfrm>
          <a:prstGeom prst="star5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Légende_Nouveau_Bloc">
            <a:extLst>
              <a:ext uri="{FF2B5EF4-FFF2-40B4-BE49-F238E27FC236}">
                <a16:creationId xmlns:a16="http://schemas.microsoft.com/office/drawing/2014/main" id="{E483853D-9315-79F7-3875-161219FA4907}"/>
              </a:ext>
            </a:extLst>
          </p:cNvPr>
          <p:cNvSpPr txBox="1"/>
          <p:nvPr/>
        </p:nvSpPr>
        <p:spPr>
          <a:xfrm>
            <a:off x="9464720" y="491658"/>
            <a:ext cx="934871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Nouveau bloc</a:t>
            </a:r>
          </a:p>
        </p:txBody>
      </p:sp>
      <p:sp>
        <p:nvSpPr>
          <p:cNvPr id="4" name="Légende_Nouveau_Bloc">
            <a:extLst>
              <a:ext uri="{FF2B5EF4-FFF2-40B4-BE49-F238E27FC236}">
                <a16:creationId xmlns:a16="http://schemas.microsoft.com/office/drawing/2014/main" id="{EEEAEA5E-DF1E-B465-78B2-72D52BCCCBF7}"/>
              </a:ext>
            </a:extLst>
          </p:cNvPr>
          <p:cNvSpPr txBox="1"/>
          <p:nvPr/>
        </p:nvSpPr>
        <p:spPr>
          <a:xfrm>
            <a:off x="9467926" y="723619"/>
            <a:ext cx="963725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Bloc supprimé</a:t>
            </a:r>
          </a:p>
        </p:txBody>
      </p:sp>
      <p:sp>
        <p:nvSpPr>
          <p:cNvPr id="5" name="Croix 4">
            <a:extLst>
              <a:ext uri="{FF2B5EF4-FFF2-40B4-BE49-F238E27FC236}">
                <a16:creationId xmlns:a16="http://schemas.microsoft.com/office/drawing/2014/main" id="{5F1A30D8-4B96-3FFF-515C-554E1B343910}"/>
              </a:ext>
            </a:extLst>
          </p:cNvPr>
          <p:cNvSpPr/>
          <p:nvPr/>
        </p:nvSpPr>
        <p:spPr>
          <a:xfrm rot="2700000">
            <a:off x="9371629" y="785103"/>
            <a:ext cx="108000" cy="108000"/>
          </a:xfrm>
          <a:prstGeom prst="plus">
            <a:avLst>
              <a:gd name="adj" fmla="val 45756"/>
            </a:avLst>
          </a:prstGeom>
          <a:solidFill>
            <a:schemeClr val="tx1"/>
          </a:solidFill>
          <a:ln>
            <a:solidFill>
              <a:srgbClr val="FF0000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BA_GH">
            <a:extLst>
              <a:ext uri="{FF2B5EF4-FFF2-40B4-BE49-F238E27FC236}">
                <a16:creationId xmlns:a16="http://schemas.microsoft.com/office/drawing/2014/main" id="{0EAC1A3E-ADE4-5A42-BE3D-53A4B16A69C8}"/>
              </a:ext>
            </a:extLst>
          </p:cNvPr>
          <p:cNvSpPr/>
          <p:nvPr/>
        </p:nvSpPr>
        <p:spPr>
          <a:xfrm>
            <a:off x="6247379" y="1786384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HJ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Contenus statiques</a:t>
            </a:r>
          </a:p>
        </p:txBody>
      </p:sp>
      <p:sp>
        <p:nvSpPr>
          <p:cNvPr id="16" name="BA_H4">
            <a:extLst>
              <a:ext uri="{FF2B5EF4-FFF2-40B4-BE49-F238E27FC236}">
                <a16:creationId xmlns:a16="http://schemas.microsoft.com/office/drawing/2014/main" id="{312DDDF6-0751-FAE1-2648-840386FDC68E}"/>
              </a:ext>
            </a:extLst>
          </p:cNvPr>
          <p:cNvSpPr/>
          <p:nvPr/>
        </p:nvSpPr>
        <p:spPr>
          <a:xfrm>
            <a:off x="9490384" y="2374473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H4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API VR </a:t>
            </a:r>
            <a:r>
              <a:rPr kumimoji="0" lang="fr-FR" sz="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Selfcare</a:t>
            </a:r>
            <a:endParaRPr kumimoji="0" lang="fr-FR" sz="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BA_HH">
            <a:extLst>
              <a:ext uri="{FF2B5EF4-FFF2-40B4-BE49-F238E27FC236}">
                <a16:creationId xmlns:a16="http://schemas.microsoft.com/office/drawing/2014/main" id="{EE210226-4429-9E2B-0252-AB90B69FB9C4}"/>
              </a:ext>
            </a:extLst>
          </p:cNvPr>
          <p:cNvSpPr/>
          <p:nvPr/>
        </p:nvSpPr>
        <p:spPr>
          <a:xfrm>
            <a:off x="10160477" y="2374473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HH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API Sim. épargne</a:t>
            </a:r>
          </a:p>
        </p:txBody>
      </p:sp>
      <p:sp>
        <p:nvSpPr>
          <p:cNvPr id="23" name="Gr_LCL">
            <a:extLst>
              <a:ext uri="{FF2B5EF4-FFF2-40B4-BE49-F238E27FC236}">
                <a16:creationId xmlns:a16="http://schemas.microsoft.com/office/drawing/2014/main" id="{2C9313E5-1D32-0FE1-F80E-B306C56BD64A}"/>
              </a:ext>
            </a:extLst>
          </p:cNvPr>
          <p:cNvSpPr/>
          <p:nvPr/>
        </p:nvSpPr>
        <p:spPr>
          <a:xfrm>
            <a:off x="6075866" y="5122749"/>
            <a:ext cx="5632947" cy="1248594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ZT_CATS">
            <a:extLst>
              <a:ext uri="{FF2B5EF4-FFF2-40B4-BE49-F238E27FC236}">
                <a16:creationId xmlns:a16="http://schemas.microsoft.com/office/drawing/2014/main" id="{15BB3E79-D0D6-8302-C016-A698FEF80A0B}"/>
              </a:ext>
            </a:extLst>
          </p:cNvPr>
          <p:cNvSpPr txBox="1"/>
          <p:nvPr/>
        </p:nvSpPr>
        <p:spPr>
          <a:xfrm>
            <a:off x="6122619" y="5107819"/>
            <a:ext cx="5399528" cy="246221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LCL</a:t>
            </a:r>
            <a:endParaRPr kumimoji="0" lang="fr-FR" sz="1000" b="1" i="1" u="none" strike="noStrike" kern="1200" cap="none" spc="0" normalizeH="0" baseline="0" noProof="0" dirty="0">
              <a:ln>
                <a:noFill/>
              </a:ln>
              <a:solidFill>
                <a:srgbClr val="7030A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BA_BEL">
            <a:extLst>
              <a:ext uri="{FF2B5EF4-FFF2-40B4-BE49-F238E27FC236}">
                <a16:creationId xmlns:a16="http://schemas.microsoft.com/office/drawing/2014/main" id="{734F2B68-8F2C-49C6-3C9C-3A6583A4F436}"/>
              </a:ext>
            </a:extLst>
          </p:cNvPr>
          <p:cNvSpPr/>
          <p:nvPr/>
        </p:nvSpPr>
        <p:spPr>
          <a:xfrm>
            <a:off x="6135322" y="5643027"/>
            <a:ext cx="648000" cy="288000"/>
          </a:xfrm>
          <a:prstGeom prst="roundRect">
            <a:avLst/>
          </a:prstGeom>
          <a:solidFill>
            <a:srgbClr val="B6D3EC"/>
          </a:solidFill>
          <a:ln w="6350">
            <a:solidFill>
              <a:schemeClr val="accent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BEL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6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/>
              </a:rPr>
              <a:t>-</a:t>
            </a:r>
            <a:endParaRPr kumimoji="0" lang="fr-FR" sz="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BA_Docapost">
            <a:extLst>
              <a:ext uri="{FF2B5EF4-FFF2-40B4-BE49-F238E27FC236}">
                <a16:creationId xmlns:a16="http://schemas.microsoft.com/office/drawing/2014/main" id="{707C2F3D-BACC-F611-088F-4B5708C7E7EF}"/>
              </a:ext>
            </a:extLst>
          </p:cNvPr>
          <p:cNvSpPr/>
          <p:nvPr/>
        </p:nvSpPr>
        <p:spPr>
          <a:xfrm>
            <a:off x="6145849" y="5987729"/>
            <a:ext cx="648000" cy="288000"/>
          </a:xfrm>
          <a:prstGeom prst="roundRect">
            <a:avLst/>
          </a:prstGeom>
          <a:solidFill>
            <a:srgbClr val="B6D3EC"/>
          </a:solidFill>
          <a:ln w="6350">
            <a:solidFill>
              <a:schemeClr val="accent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Docapost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6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/>
              </a:rPr>
              <a:t>-</a:t>
            </a:r>
            <a:endParaRPr kumimoji="0" lang="fr-FR" sz="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BA_Mescomptes">
            <a:extLst>
              <a:ext uri="{FF2B5EF4-FFF2-40B4-BE49-F238E27FC236}">
                <a16:creationId xmlns:a16="http://schemas.microsoft.com/office/drawing/2014/main" id="{75A2C5F2-6B25-DF87-06F1-30D62ED09181}"/>
              </a:ext>
            </a:extLst>
          </p:cNvPr>
          <p:cNvSpPr/>
          <p:nvPr/>
        </p:nvSpPr>
        <p:spPr>
          <a:xfrm>
            <a:off x="6135322" y="5323284"/>
            <a:ext cx="1326281" cy="288000"/>
          </a:xfrm>
          <a:prstGeom prst="roundRect">
            <a:avLst/>
          </a:prstGeom>
          <a:solidFill>
            <a:srgbClr val="B6D3EC"/>
          </a:solidFill>
          <a:ln w="6350">
            <a:solidFill>
              <a:schemeClr val="accent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MesComptes</a:t>
            </a:r>
            <a:endParaRPr kumimoji="0" lang="fr-FR" sz="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Gr_SimulAssur">
            <a:extLst>
              <a:ext uri="{FF2B5EF4-FFF2-40B4-BE49-F238E27FC236}">
                <a16:creationId xmlns:a16="http://schemas.microsoft.com/office/drawing/2014/main" id="{49FA4A0F-4254-A466-9441-0EF4F1A90F97}"/>
              </a:ext>
            </a:extLst>
          </p:cNvPr>
          <p:cNvSpPr/>
          <p:nvPr/>
        </p:nvSpPr>
        <p:spPr>
          <a:xfrm>
            <a:off x="4476637" y="3792663"/>
            <a:ext cx="1627675" cy="1021008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  <a:effectLst>
            <a:outerShdw blurRad="50800" dist="38100" dir="2700000" algn="ctr" rotWithShape="0">
              <a:schemeClr val="tx1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/>
            </a:endParaRPr>
          </a:p>
        </p:txBody>
      </p:sp>
      <p:sp>
        <p:nvSpPr>
          <p:cNvPr id="8" name="ZT_SimulAssur">
            <a:extLst>
              <a:ext uri="{FF2B5EF4-FFF2-40B4-BE49-F238E27FC236}">
                <a16:creationId xmlns:a16="http://schemas.microsoft.com/office/drawing/2014/main" id="{F54B576C-AE76-5B8A-83B0-2D430A1DA7F7}"/>
              </a:ext>
            </a:extLst>
          </p:cNvPr>
          <p:cNvSpPr txBox="1"/>
          <p:nvPr/>
        </p:nvSpPr>
        <p:spPr>
          <a:xfrm>
            <a:off x="4500323" y="3819978"/>
            <a:ext cx="1714025" cy="246221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1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SimulAssur</a:t>
            </a:r>
            <a:endParaRPr kumimoji="0" lang="fr-FR" sz="1000" b="1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BA_VS">
            <a:extLst>
              <a:ext uri="{FF2B5EF4-FFF2-40B4-BE49-F238E27FC236}">
                <a16:creationId xmlns:a16="http://schemas.microsoft.com/office/drawing/2014/main" id="{A72BFD06-89FC-D6B6-5CEA-AF73901D19F7}"/>
              </a:ext>
            </a:extLst>
          </p:cNvPr>
          <p:cNvSpPr/>
          <p:nvPr/>
        </p:nvSpPr>
        <p:spPr>
          <a:xfrm>
            <a:off x="4611474" y="4115819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0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/>
              </a:rPr>
              <a:t>VS</a:t>
            </a:r>
            <a:endParaRPr kumimoji="0" lang="fr-FR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Sim, </a:t>
            </a:r>
            <a:r>
              <a:rPr kumimoji="0" lang="fr-FR" sz="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Ass.V</a:t>
            </a: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 pour LCL</a:t>
            </a:r>
          </a:p>
        </p:txBody>
      </p:sp>
      <p:sp>
        <p:nvSpPr>
          <p:cNvPr id="10" name="BA_RS">
            <a:extLst>
              <a:ext uri="{FF2B5EF4-FFF2-40B4-BE49-F238E27FC236}">
                <a16:creationId xmlns:a16="http://schemas.microsoft.com/office/drawing/2014/main" id="{8952B6AF-ED31-AE01-3A54-404076DC5220}"/>
              </a:ext>
            </a:extLst>
          </p:cNvPr>
          <p:cNvSpPr/>
          <p:nvPr/>
        </p:nvSpPr>
        <p:spPr>
          <a:xfrm>
            <a:off x="5363789" y="4119805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SR</a:t>
            </a:r>
          </a:p>
          <a:p>
            <a:pPr lvl="0" algn="ctr">
              <a:defRPr/>
            </a:pPr>
            <a:r>
              <a:rPr lang="fr-FR" sz="6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Sim, </a:t>
            </a:r>
            <a:r>
              <a:rPr lang="fr-FR" sz="600" dirty="0" err="1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Ass.V</a:t>
            </a:r>
            <a:r>
              <a:rPr lang="fr-FR" sz="6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pour CA</a:t>
            </a:r>
          </a:p>
        </p:txBody>
      </p:sp>
      <p:sp>
        <p:nvSpPr>
          <p:cNvPr id="11" name="BA_EP">
            <a:extLst>
              <a:ext uri="{FF2B5EF4-FFF2-40B4-BE49-F238E27FC236}">
                <a16:creationId xmlns:a16="http://schemas.microsoft.com/office/drawing/2014/main" id="{71B57E2D-E6C8-8735-ECB1-E38A2E40E6D1}"/>
              </a:ext>
            </a:extLst>
          </p:cNvPr>
          <p:cNvSpPr/>
          <p:nvPr/>
        </p:nvSpPr>
        <p:spPr>
          <a:xfrm>
            <a:off x="4611474" y="4500624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0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/>
              </a:rPr>
              <a:t>EP</a:t>
            </a:r>
            <a:endParaRPr kumimoji="0" lang="fr-FR" sz="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Sim, EPICASTE</a:t>
            </a:r>
          </a:p>
        </p:txBody>
      </p:sp>
      <p:sp>
        <p:nvSpPr>
          <p:cNvPr id="12" name="BA_Autre_PFD">
            <a:extLst>
              <a:ext uri="{FF2B5EF4-FFF2-40B4-BE49-F238E27FC236}">
                <a16:creationId xmlns:a16="http://schemas.microsoft.com/office/drawing/2014/main" id="{94B95A59-DB12-35F7-C45A-25942D89E44A}"/>
              </a:ext>
            </a:extLst>
          </p:cNvPr>
          <p:cNvSpPr/>
          <p:nvPr/>
        </p:nvSpPr>
        <p:spPr>
          <a:xfrm>
            <a:off x="5363789" y="4472097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91303249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47B310-6B17-7AA0-CDC3-19BD90F70F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r_Global">
            <a:extLst>
              <a:ext uri="{FF2B5EF4-FFF2-40B4-BE49-F238E27FC236}">
                <a16:creationId xmlns:a16="http://schemas.microsoft.com/office/drawing/2014/main" id="{0D21DE73-FE5E-8A92-F65B-CDCD18471D86}"/>
              </a:ext>
            </a:extLst>
          </p:cNvPr>
          <p:cNvSpPr/>
          <p:nvPr/>
        </p:nvSpPr>
        <p:spPr>
          <a:xfrm>
            <a:off x="156924" y="1028327"/>
            <a:ext cx="11860567" cy="5512742"/>
          </a:xfrm>
          <a:prstGeom prst="roundRect">
            <a:avLst/>
          </a:prstGeom>
          <a:solidFill>
            <a:schemeClr val="bg1"/>
          </a:solidFill>
          <a:ln>
            <a:solidFill>
              <a:schemeClr val="accent1"/>
            </a:solidFill>
          </a:ln>
          <a:effectLst>
            <a:outerShdw blurRad="50800" dist="38100" dir="2700000" algn="tl" rotWithShape="0">
              <a:schemeClr val="tx1"/>
            </a:outerShdw>
          </a:effectLst>
        </p:spPr>
        <p:txBody>
          <a:bodyPr wrap="none" lIns="0" rIns="0" rtlCol="0" anchor="ctr">
            <a:noAutofit/>
          </a:bodyPr>
          <a:lstStyle/>
          <a:p>
            <a:pPr algn="ctr"/>
            <a:endParaRPr lang="fr-FR" sz="1600" b="1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1" name="Gr_NOVA">
            <a:extLst>
              <a:ext uri="{FF2B5EF4-FFF2-40B4-BE49-F238E27FC236}">
                <a16:creationId xmlns:a16="http://schemas.microsoft.com/office/drawing/2014/main" id="{9B32E067-DA09-E848-3102-19A948FEE72E}"/>
              </a:ext>
            </a:extLst>
          </p:cNvPr>
          <p:cNvSpPr/>
          <p:nvPr/>
        </p:nvSpPr>
        <p:spPr>
          <a:xfrm>
            <a:off x="5407282" y="1111645"/>
            <a:ext cx="2350211" cy="1879964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  <a:effectLst>
            <a:outerShdw blurRad="50800" dist="38100" dir="2700000" algn="ctr" rotWithShape="0">
              <a:schemeClr val="tx1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/>
            </a:endParaRPr>
          </a:p>
        </p:txBody>
      </p:sp>
      <p:sp>
        <p:nvSpPr>
          <p:cNvPr id="92" name="ZT_NOVA">
            <a:extLst>
              <a:ext uri="{FF2B5EF4-FFF2-40B4-BE49-F238E27FC236}">
                <a16:creationId xmlns:a16="http://schemas.microsoft.com/office/drawing/2014/main" id="{BBC1FEAD-2987-2E28-1922-57DD384BA81A}"/>
              </a:ext>
            </a:extLst>
          </p:cNvPr>
          <p:cNvSpPr txBox="1"/>
          <p:nvPr/>
        </p:nvSpPr>
        <p:spPr>
          <a:xfrm>
            <a:off x="5402982" y="1138960"/>
            <a:ext cx="2354511" cy="246221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NOVA</a:t>
            </a:r>
            <a:endParaRPr kumimoji="0" lang="fr-FR" sz="1000" b="1" i="1" u="none" strike="noStrike" kern="1200" cap="none" spc="0" normalizeH="0" baseline="0" noProof="0" dirty="0">
              <a:ln>
                <a:noFill/>
              </a:ln>
              <a:solidFill>
                <a:srgbClr val="ED7D3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8" name="BA_OX">
            <a:extLst>
              <a:ext uri="{FF2B5EF4-FFF2-40B4-BE49-F238E27FC236}">
                <a16:creationId xmlns:a16="http://schemas.microsoft.com/office/drawing/2014/main" id="{611BD0A1-B70D-483A-D049-23344FCB00C1}"/>
              </a:ext>
            </a:extLst>
          </p:cNvPr>
          <p:cNvSpPr/>
          <p:nvPr/>
        </p:nvSpPr>
        <p:spPr>
          <a:xfrm>
            <a:off x="5540187" y="1434370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OX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Opérations </a:t>
            </a:r>
            <a:r>
              <a:rPr kumimoji="0" lang="fr-FR" sz="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Ass</a:t>
            </a: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.</a:t>
            </a:r>
          </a:p>
        </p:txBody>
      </p:sp>
      <p:sp>
        <p:nvSpPr>
          <p:cNvPr id="99" name="BA_MX">
            <a:extLst>
              <a:ext uri="{FF2B5EF4-FFF2-40B4-BE49-F238E27FC236}">
                <a16:creationId xmlns:a16="http://schemas.microsoft.com/office/drawing/2014/main" id="{F5397C42-287E-EE4F-37CF-9C66E59EF8E3}"/>
              </a:ext>
            </a:extLst>
          </p:cNvPr>
          <p:cNvSpPr/>
          <p:nvPr/>
        </p:nvSpPr>
        <p:spPr>
          <a:xfrm>
            <a:off x="6247379" y="1434370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MX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Services  internes</a:t>
            </a:r>
          </a:p>
        </p:txBody>
      </p:sp>
      <p:sp>
        <p:nvSpPr>
          <p:cNvPr id="108" name="BA_SX">
            <a:extLst>
              <a:ext uri="{FF2B5EF4-FFF2-40B4-BE49-F238E27FC236}">
                <a16:creationId xmlns:a16="http://schemas.microsoft.com/office/drawing/2014/main" id="{346BD625-C909-3A4C-7B27-0B5CBE5E7C18}"/>
              </a:ext>
            </a:extLst>
          </p:cNvPr>
          <p:cNvSpPr/>
          <p:nvPr/>
        </p:nvSpPr>
        <p:spPr>
          <a:xfrm>
            <a:off x="6957409" y="1434370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SX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Socle Exposition</a:t>
            </a:r>
          </a:p>
        </p:txBody>
      </p:sp>
      <p:sp>
        <p:nvSpPr>
          <p:cNvPr id="117" name="BA_HX">
            <a:extLst>
              <a:ext uri="{FF2B5EF4-FFF2-40B4-BE49-F238E27FC236}">
                <a16:creationId xmlns:a16="http://schemas.microsoft.com/office/drawing/2014/main" id="{F756D095-4A79-EF75-3FA3-FE1C623B2B4F}"/>
              </a:ext>
            </a:extLst>
          </p:cNvPr>
          <p:cNvSpPr/>
          <p:nvPr/>
        </p:nvSpPr>
        <p:spPr>
          <a:xfrm>
            <a:off x="5540187" y="1791450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HX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Habilitations PCO</a:t>
            </a:r>
          </a:p>
        </p:txBody>
      </p:sp>
      <p:sp>
        <p:nvSpPr>
          <p:cNvPr id="119" name="BA_RX">
            <a:extLst>
              <a:ext uri="{FF2B5EF4-FFF2-40B4-BE49-F238E27FC236}">
                <a16:creationId xmlns:a16="http://schemas.microsoft.com/office/drawing/2014/main" id="{D1684498-70EB-960B-70D7-FF372617F93A}"/>
              </a:ext>
            </a:extLst>
          </p:cNvPr>
          <p:cNvSpPr/>
          <p:nvPr/>
        </p:nvSpPr>
        <p:spPr>
          <a:xfrm>
            <a:off x="6957409" y="1791450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RX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Socle Editique</a:t>
            </a:r>
          </a:p>
        </p:txBody>
      </p:sp>
      <p:sp>
        <p:nvSpPr>
          <p:cNvPr id="120" name="BA_WP">
            <a:extLst>
              <a:ext uri="{FF2B5EF4-FFF2-40B4-BE49-F238E27FC236}">
                <a16:creationId xmlns:a16="http://schemas.microsoft.com/office/drawing/2014/main" id="{157A6E70-8CA0-0420-5DCE-DFA1F9C3C122}"/>
              </a:ext>
            </a:extLst>
          </p:cNvPr>
          <p:cNvSpPr/>
          <p:nvPr/>
        </p:nvSpPr>
        <p:spPr>
          <a:xfrm>
            <a:off x="5542712" y="2146978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WP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Lanceur PCO</a:t>
            </a:r>
          </a:p>
        </p:txBody>
      </p:sp>
      <p:sp>
        <p:nvSpPr>
          <p:cNvPr id="121" name="BA_FM">
            <a:extLst>
              <a:ext uri="{FF2B5EF4-FFF2-40B4-BE49-F238E27FC236}">
                <a16:creationId xmlns:a16="http://schemas.microsoft.com/office/drawing/2014/main" id="{7D4077C7-0F39-207D-78C0-8F0C49BF3EF0}"/>
              </a:ext>
            </a:extLst>
          </p:cNvPr>
          <p:cNvSpPr/>
          <p:nvPr/>
        </p:nvSpPr>
        <p:spPr>
          <a:xfrm>
            <a:off x="6251156" y="2146978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FM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Fonctions IHM</a:t>
            </a:r>
          </a:p>
        </p:txBody>
      </p:sp>
      <p:sp>
        <p:nvSpPr>
          <p:cNvPr id="123" name="BA_JF">
            <a:extLst>
              <a:ext uri="{FF2B5EF4-FFF2-40B4-BE49-F238E27FC236}">
                <a16:creationId xmlns:a16="http://schemas.microsoft.com/office/drawing/2014/main" id="{2F732E0B-A902-226B-E84E-E05DC054F585}"/>
              </a:ext>
            </a:extLst>
          </p:cNvPr>
          <p:cNvSpPr/>
          <p:nvPr/>
        </p:nvSpPr>
        <p:spPr>
          <a:xfrm>
            <a:off x="6955140" y="2146978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JF</a:t>
            </a:r>
            <a:endParaRPr kumimoji="0" lang="fr-FR" sz="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Animation </a:t>
            </a:r>
            <a:r>
              <a:rPr kumimoji="0" lang="fr-FR" sz="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comm</a:t>
            </a: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.</a:t>
            </a:r>
          </a:p>
        </p:txBody>
      </p:sp>
      <p:sp>
        <p:nvSpPr>
          <p:cNvPr id="124" name="Gr_Avanet">
            <a:extLst>
              <a:ext uri="{FF2B5EF4-FFF2-40B4-BE49-F238E27FC236}">
                <a16:creationId xmlns:a16="http://schemas.microsoft.com/office/drawing/2014/main" id="{A25CB3FF-1200-A5A2-2595-8D3437250275}"/>
              </a:ext>
            </a:extLst>
          </p:cNvPr>
          <p:cNvSpPr/>
          <p:nvPr/>
        </p:nvSpPr>
        <p:spPr>
          <a:xfrm>
            <a:off x="3593887" y="1111645"/>
            <a:ext cx="1690030" cy="117785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  <a:effectLst>
            <a:outerShdw blurRad="50800" dist="38100" dir="2700000" algn="ctr" rotWithShape="0">
              <a:schemeClr val="tx1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/>
            </a:endParaRPr>
          </a:p>
        </p:txBody>
      </p:sp>
      <p:sp>
        <p:nvSpPr>
          <p:cNvPr id="125" name="ZT_Avanet">
            <a:extLst>
              <a:ext uri="{FF2B5EF4-FFF2-40B4-BE49-F238E27FC236}">
                <a16:creationId xmlns:a16="http://schemas.microsoft.com/office/drawing/2014/main" id="{A98F6201-E6D8-FE69-68EB-E9811291D5C4}"/>
              </a:ext>
            </a:extLst>
          </p:cNvPr>
          <p:cNvSpPr txBox="1"/>
          <p:nvPr/>
        </p:nvSpPr>
        <p:spPr>
          <a:xfrm>
            <a:off x="3603262" y="1138960"/>
            <a:ext cx="1680655" cy="246221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1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Avanet</a:t>
            </a:r>
            <a:endParaRPr kumimoji="0" lang="fr-FR" sz="1000" b="1" i="1" u="none" strike="noStrike" kern="1200" cap="none" spc="0" normalizeH="0" baseline="0" noProof="0" dirty="0">
              <a:ln>
                <a:noFill/>
              </a:ln>
              <a:solidFill>
                <a:srgbClr val="ED7D3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6" name="BA_W5">
            <a:extLst>
              <a:ext uri="{FF2B5EF4-FFF2-40B4-BE49-F238E27FC236}">
                <a16:creationId xmlns:a16="http://schemas.microsoft.com/office/drawing/2014/main" id="{2E88BBBB-643E-5959-555F-38FBD9631557}"/>
              </a:ext>
            </a:extLst>
          </p:cNvPr>
          <p:cNvSpPr/>
          <p:nvPr/>
        </p:nvSpPr>
        <p:spPr>
          <a:xfrm>
            <a:off x="3726791" y="1434801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W5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Av@net</a:t>
            </a:r>
            <a:endParaRPr kumimoji="0" lang="fr-FR" sz="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7" name="BA_AEDI">
            <a:extLst>
              <a:ext uri="{FF2B5EF4-FFF2-40B4-BE49-F238E27FC236}">
                <a16:creationId xmlns:a16="http://schemas.microsoft.com/office/drawing/2014/main" id="{36E5F35D-E65C-5117-C100-AC8B7760C678}"/>
              </a:ext>
            </a:extLst>
          </p:cNvPr>
          <p:cNvSpPr/>
          <p:nvPr/>
        </p:nvSpPr>
        <p:spPr>
          <a:xfrm>
            <a:off x="4521017" y="1438787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AEDI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API-EDI</a:t>
            </a:r>
          </a:p>
        </p:txBody>
      </p:sp>
      <p:sp>
        <p:nvSpPr>
          <p:cNvPr id="128" name="BA_SVOD">
            <a:extLst>
              <a:ext uri="{FF2B5EF4-FFF2-40B4-BE49-F238E27FC236}">
                <a16:creationId xmlns:a16="http://schemas.microsoft.com/office/drawing/2014/main" id="{C736BC37-C0ED-0264-4086-09693851824F}"/>
              </a:ext>
            </a:extLst>
          </p:cNvPr>
          <p:cNvSpPr/>
          <p:nvPr/>
        </p:nvSpPr>
        <p:spPr>
          <a:xfrm>
            <a:off x="3726791" y="1819606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SVOD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SAS </a:t>
            </a:r>
            <a:r>
              <a:rPr kumimoji="0" lang="fr-FR" sz="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Valid</a:t>
            </a: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.</a:t>
            </a:r>
          </a:p>
        </p:txBody>
      </p:sp>
      <p:sp>
        <p:nvSpPr>
          <p:cNvPr id="129" name="Gr_PFD">
            <a:extLst>
              <a:ext uri="{FF2B5EF4-FFF2-40B4-BE49-F238E27FC236}">
                <a16:creationId xmlns:a16="http://schemas.microsoft.com/office/drawing/2014/main" id="{DD9D2F95-8859-3560-8B89-7047662E5FA6}"/>
              </a:ext>
            </a:extLst>
          </p:cNvPr>
          <p:cNvSpPr/>
          <p:nvPr/>
        </p:nvSpPr>
        <p:spPr>
          <a:xfrm>
            <a:off x="6161552" y="3780520"/>
            <a:ext cx="1627675" cy="1021008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  <a:effectLst>
            <a:outerShdw blurRad="50800" dist="38100" dir="2700000" algn="ctr" rotWithShape="0">
              <a:schemeClr val="tx1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/>
            </a:endParaRPr>
          </a:p>
        </p:txBody>
      </p:sp>
      <p:sp>
        <p:nvSpPr>
          <p:cNvPr id="130" name="ZT_PFD">
            <a:extLst>
              <a:ext uri="{FF2B5EF4-FFF2-40B4-BE49-F238E27FC236}">
                <a16:creationId xmlns:a16="http://schemas.microsoft.com/office/drawing/2014/main" id="{CA3783FD-898C-F24C-558C-E63C01452E62}"/>
              </a:ext>
            </a:extLst>
          </p:cNvPr>
          <p:cNvSpPr txBox="1"/>
          <p:nvPr/>
        </p:nvSpPr>
        <p:spPr>
          <a:xfrm>
            <a:off x="6185238" y="3807835"/>
            <a:ext cx="1714025" cy="246221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Plateforme Data (PFD)</a:t>
            </a:r>
          </a:p>
        </p:txBody>
      </p:sp>
      <p:sp>
        <p:nvSpPr>
          <p:cNvPr id="131" name="BA_J2">
            <a:extLst>
              <a:ext uri="{FF2B5EF4-FFF2-40B4-BE49-F238E27FC236}">
                <a16:creationId xmlns:a16="http://schemas.microsoft.com/office/drawing/2014/main" id="{825B4D85-7798-3A28-75C0-6C84DBE1A317}"/>
              </a:ext>
            </a:extLst>
          </p:cNvPr>
          <p:cNvSpPr/>
          <p:nvPr/>
        </p:nvSpPr>
        <p:spPr>
          <a:xfrm>
            <a:off x="6296389" y="4103676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J2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Exposition PFD</a:t>
            </a:r>
          </a:p>
        </p:txBody>
      </p:sp>
      <p:sp>
        <p:nvSpPr>
          <p:cNvPr id="136" name="BA_J6">
            <a:extLst>
              <a:ext uri="{FF2B5EF4-FFF2-40B4-BE49-F238E27FC236}">
                <a16:creationId xmlns:a16="http://schemas.microsoft.com/office/drawing/2014/main" id="{B1F08970-3031-1505-032E-40138B27776A}"/>
              </a:ext>
            </a:extLst>
          </p:cNvPr>
          <p:cNvSpPr/>
          <p:nvPr/>
        </p:nvSpPr>
        <p:spPr>
          <a:xfrm>
            <a:off x="7048704" y="4107662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J6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Restit</a:t>
            </a: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. </a:t>
            </a:r>
            <a:r>
              <a:rPr kumimoji="0" lang="fr-FR" sz="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Régl</a:t>
            </a: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.</a:t>
            </a:r>
          </a:p>
        </p:txBody>
      </p:sp>
      <p:sp>
        <p:nvSpPr>
          <p:cNvPr id="147" name="BA_J8">
            <a:extLst>
              <a:ext uri="{FF2B5EF4-FFF2-40B4-BE49-F238E27FC236}">
                <a16:creationId xmlns:a16="http://schemas.microsoft.com/office/drawing/2014/main" id="{00BEA359-FA4B-4E2B-7F62-28A4649E1596}"/>
              </a:ext>
            </a:extLst>
          </p:cNvPr>
          <p:cNvSpPr/>
          <p:nvPr/>
        </p:nvSpPr>
        <p:spPr>
          <a:xfrm>
            <a:off x="6296389" y="4488481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J8</a:t>
            </a:r>
            <a:endParaRPr kumimoji="0" lang="fr-FR" sz="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Données Contrats</a:t>
            </a:r>
          </a:p>
        </p:txBody>
      </p:sp>
      <p:sp>
        <p:nvSpPr>
          <p:cNvPr id="149" name="Gr_Prediweb1">
            <a:extLst>
              <a:ext uri="{FF2B5EF4-FFF2-40B4-BE49-F238E27FC236}">
                <a16:creationId xmlns:a16="http://schemas.microsoft.com/office/drawing/2014/main" id="{1D0AA381-895A-3902-5094-0177D0BB790B}"/>
              </a:ext>
            </a:extLst>
          </p:cNvPr>
          <p:cNvSpPr/>
          <p:nvPr/>
        </p:nvSpPr>
        <p:spPr>
          <a:xfrm>
            <a:off x="3588010" y="2368814"/>
            <a:ext cx="1695907" cy="671739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  <a:effectLst>
            <a:outerShdw blurRad="50800" dist="38100" dir="2700000" algn="ctr" rotWithShape="0">
              <a:schemeClr val="tx1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/>
            </a:endParaRPr>
          </a:p>
        </p:txBody>
      </p:sp>
      <p:sp>
        <p:nvSpPr>
          <p:cNvPr id="151" name="ZT_Prediweb1">
            <a:extLst>
              <a:ext uri="{FF2B5EF4-FFF2-40B4-BE49-F238E27FC236}">
                <a16:creationId xmlns:a16="http://schemas.microsoft.com/office/drawing/2014/main" id="{C07D81D1-9464-A4D8-983D-1D530607672B}"/>
              </a:ext>
            </a:extLst>
          </p:cNvPr>
          <p:cNvSpPr txBox="1"/>
          <p:nvPr/>
        </p:nvSpPr>
        <p:spPr>
          <a:xfrm>
            <a:off x="3595208" y="2396399"/>
            <a:ext cx="1688709" cy="246221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1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Prediweb</a:t>
            </a:r>
            <a:r>
              <a:rPr kumimoji="0" lang="fr-FR" sz="1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 1</a:t>
            </a:r>
            <a:endParaRPr kumimoji="0" lang="fr-FR" sz="1000" b="1" i="1" u="none" strike="noStrike" kern="1200" cap="none" spc="0" normalizeH="0" baseline="0" noProof="0" dirty="0">
              <a:ln>
                <a:noFill/>
              </a:ln>
              <a:solidFill>
                <a:srgbClr val="ED7D3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3" name="BA_BD">
            <a:extLst>
              <a:ext uri="{FF2B5EF4-FFF2-40B4-BE49-F238E27FC236}">
                <a16:creationId xmlns:a16="http://schemas.microsoft.com/office/drawing/2014/main" id="{63B09BDA-41E9-BA40-D517-5EAE051762C0}"/>
              </a:ext>
            </a:extLst>
          </p:cNvPr>
          <p:cNvSpPr/>
          <p:nvPr/>
        </p:nvSpPr>
        <p:spPr>
          <a:xfrm>
            <a:off x="3720914" y="2691969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BD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Prediweb</a:t>
            </a:r>
            <a:endParaRPr kumimoji="0" lang="fr-FR" sz="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6" name="BA_SGR">
            <a:extLst>
              <a:ext uri="{FF2B5EF4-FFF2-40B4-BE49-F238E27FC236}">
                <a16:creationId xmlns:a16="http://schemas.microsoft.com/office/drawing/2014/main" id="{4A5BECF7-8755-6DE8-CA56-C30C69E6BE68}"/>
              </a:ext>
            </a:extLst>
          </p:cNvPr>
          <p:cNvSpPr/>
          <p:nvPr/>
        </p:nvSpPr>
        <p:spPr>
          <a:xfrm>
            <a:off x="4496225" y="2696226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SGR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Lanceur SGR</a:t>
            </a:r>
          </a:p>
        </p:txBody>
      </p:sp>
      <p:sp>
        <p:nvSpPr>
          <p:cNvPr id="158" name="BA_Autre_PFD">
            <a:extLst>
              <a:ext uri="{FF2B5EF4-FFF2-40B4-BE49-F238E27FC236}">
                <a16:creationId xmlns:a16="http://schemas.microsoft.com/office/drawing/2014/main" id="{BD18BA89-3BD1-B110-55DC-A038740F7E49}"/>
              </a:ext>
            </a:extLst>
          </p:cNvPr>
          <p:cNvSpPr/>
          <p:nvPr/>
        </p:nvSpPr>
        <p:spPr>
          <a:xfrm>
            <a:off x="7048704" y="4459954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…</a:t>
            </a:r>
          </a:p>
        </p:txBody>
      </p:sp>
      <p:sp>
        <p:nvSpPr>
          <p:cNvPr id="159" name="Gr_AIA">
            <a:extLst>
              <a:ext uri="{FF2B5EF4-FFF2-40B4-BE49-F238E27FC236}">
                <a16:creationId xmlns:a16="http://schemas.microsoft.com/office/drawing/2014/main" id="{B94C7B25-CA35-1198-B52F-52FFAFF71F6A}"/>
              </a:ext>
            </a:extLst>
          </p:cNvPr>
          <p:cNvSpPr/>
          <p:nvPr/>
        </p:nvSpPr>
        <p:spPr>
          <a:xfrm>
            <a:off x="600429" y="2842718"/>
            <a:ext cx="927635" cy="550924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  <a:effectLst>
            <a:outerShdw blurRad="50800" dist="38100" dir="2700000" algn="ctr" rotWithShape="0">
              <a:schemeClr val="tx1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/>
            </a:endParaRPr>
          </a:p>
        </p:txBody>
      </p:sp>
      <p:sp>
        <p:nvSpPr>
          <p:cNvPr id="160" name="ZT_AIA">
            <a:extLst>
              <a:ext uri="{FF2B5EF4-FFF2-40B4-BE49-F238E27FC236}">
                <a16:creationId xmlns:a16="http://schemas.microsoft.com/office/drawing/2014/main" id="{3D783763-73EA-2125-5CA3-A1A15C817739}"/>
              </a:ext>
            </a:extLst>
          </p:cNvPr>
          <p:cNvSpPr txBox="1"/>
          <p:nvPr/>
        </p:nvSpPr>
        <p:spPr>
          <a:xfrm>
            <a:off x="520497" y="2870168"/>
            <a:ext cx="1080000" cy="246221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AIA V4 (Sinistres)</a:t>
            </a:r>
          </a:p>
        </p:txBody>
      </p:sp>
      <p:sp>
        <p:nvSpPr>
          <p:cNvPr id="161" name="BA_AJ">
            <a:extLst>
              <a:ext uri="{FF2B5EF4-FFF2-40B4-BE49-F238E27FC236}">
                <a16:creationId xmlns:a16="http://schemas.microsoft.com/office/drawing/2014/main" id="{2E222305-F4C0-8FA3-43A7-AB92D4C26780}"/>
              </a:ext>
            </a:extLst>
          </p:cNvPr>
          <p:cNvSpPr/>
          <p:nvPr/>
        </p:nvSpPr>
        <p:spPr>
          <a:xfrm>
            <a:off x="741487" y="3087886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AJ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AIA </a:t>
            </a:r>
            <a:r>
              <a:rPr kumimoji="0" lang="fr-FR" sz="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Sinitres</a:t>
            </a:r>
            <a:endParaRPr kumimoji="0" lang="fr-FR" sz="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2" name="Gr_Prediweb2">
            <a:extLst>
              <a:ext uri="{FF2B5EF4-FFF2-40B4-BE49-F238E27FC236}">
                <a16:creationId xmlns:a16="http://schemas.microsoft.com/office/drawing/2014/main" id="{0AE459C5-E4D5-2CF5-6E0E-132A03C7293B}"/>
              </a:ext>
            </a:extLst>
          </p:cNvPr>
          <p:cNvSpPr/>
          <p:nvPr/>
        </p:nvSpPr>
        <p:spPr>
          <a:xfrm>
            <a:off x="6172824" y="3106138"/>
            <a:ext cx="754043" cy="61200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  <a:effectLst>
            <a:outerShdw blurRad="50800" dist="38100" dir="2700000" algn="ctr" rotWithShape="0">
              <a:schemeClr val="tx1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/>
            </a:endParaRPr>
          </a:p>
        </p:txBody>
      </p:sp>
      <p:sp>
        <p:nvSpPr>
          <p:cNvPr id="163" name="ZT_Prediweb2">
            <a:extLst>
              <a:ext uri="{FF2B5EF4-FFF2-40B4-BE49-F238E27FC236}">
                <a16:creationId xmlns:a16="http://schemas.microsoft.com/office/drawing/2014/main" id="{42BA99C7-1BD1-DC07-B851-00E7EBB2A6F5}"/>
              </a:ext>
            </a:extLst>
          </p:cNvPr>
          <p:cNvSpPr txBox="1"/>
          <p:nvPr/>
        </p:nvSpPr>
        <p:spPr>
          <a:xfrm>
            <a:off x="6145849" y="3133723"/>
            <a:ext cx="774251" cy="246221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1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Prediweb</a:t>
            </a:r>
            <a:r>
              <a:rPr kumimoji="0" lang="fr-FR" sz="1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 2</a:t>
            </a:r>
            <a:endParaRPr kumimoji="0" lang="fr-FR" sz="1000" b="1" i="1" u="none" strike="noStrike" kern="1200" cap="none" spc="0" normalizeH="0" baseline="0" noProof="0" dirty="0">
              <a:ln>
                <a:noFill/>
              </a:ln>
              <a:solidFill>
                <a:srgbClr val="ED7D3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4" name="BA_PY">
            <a:extLst>
              <a:ext uri="{FF2B5EF4-FFF2-40B4-BE49-F238E27FC236}">
                <a16:creationId xmlns:a16="http://schemas.microsoft.com/office/drawing/2014/main" id="{3A28B1DF-713B-29C9-16D5-69BFB1B0AB58}"/>
              </a:ext>
            </a:extLst>
          </p:cNvPr>
          <p:cNvSpPr/>
          <p:nvPr/>
        </p:nvSpPr>
        <p:spPr>
          <a:xfrm>
            <a:off x="6219320" y="3376340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PY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Prediweb</a:t>
            </a: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 2</a:t>
            </a:r>
          </a:p>
        </p:txBody>
      </p:sp>
      <p:sp>
        <p:nvSpPr>
          <p:cNvPr id="165" name="Gr_NewNOVA">
            <a:extLst>
              <a:ext uri="{FF2B5EF4-FFF2-40B4-BE49-F238E27FC236}">
                <a16:creationId xmlns:a16="http://schemas.microsoft.com/office/drawing/2014/main" id="{4FEBE6A9-2E46-7810-24FB-921E21101067}"/>
              </a:ext>
            </a:extLst>
          </p:cNvPr>
          <p:cNvSpPr/>
          <p:nvPr/>
        </p:nvSpPr>
        <p:spPr>
          <a:xfrm>
            <a:off x="7894317" y="1093890"/>
            <a:ext cx="3975128" cy="3939748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  <a:effectLst>
            <a:outerShdw blurRad="50800" dist="38100" dir="2700000" algn="ctr" rotWithShape="0">
              <a:schemeClr val="tx1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/>
            </a:endParaRPr>
          </a:p>
        </p:txBody>
      </p:sp>
      <p:sp>
        <p:nvSpPr>
          <p:cNvPr id="166" name="ZT_NewNOVA">
            <a:extLst>
              <a:ext uri="{FF2B5EF4-FFF2-40B4-BE49-F238E27FC236}">
                <a16:creationId xmlns:a16="http://schemas.microsoft.com/office/drawing/2014/main" id="{393727DD-BDD9-D6AF-2FCB-66B8C8895BE7}"/>
              </a:ext>
            </a:extLst>
          </p:cNvPr>
          <p:cNvSpPr txBox="1"/>
          <p:nvPr/>
        </p:nvSpPr>
        <p:spPr>
          <a:xfrm>
            <a:off x="7959719" y="1121206"/>
            <a:ext cx="2930793" cy="246221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New NOVA (K8S+AWS)</a:t>
            </a:r>
            <a:endParaRPr kumimoji="0" lang="fr-FR" sz="1000" b="1" i="1" u="none" strike="noStrike" kern="1200" cap="none" spc="0" normalizeH="0" baseline="0" noProof="0" dirty="0">
              <a:ln>
                <a:noFill/>
              </a:ln>
              <a:solidFill>
                <a:srgbClr val="ED7D3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7" name="BA_APPE">
            <a:extLst>
              <a:ext uri="{FF2B5EF4-FFF2-40B4-BE49-F238E27FC236}">
                <a16:creationId xmlns:a16="http://schemas.microsoft.com/office/drawing/2014/main" id="{64D8E206-3A8C-977B-4F4E-13D666B6620A}"/>
              </a:ext>
            </a:extLst>
          </p:cNvPr>
          <p:cNvSpPr/>
          <p:nvPr/>
        </p:nvSpPr>
        <p:spPr>
          <a:xfrm>
            <a:off x="8114072" y="1417047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APPE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API Personne</a:t>
            </a:r>
          </a:p>
        </p:txBody>
      </p:sp>
      <p:sp>
        <p:nvSpPr>
          <p:cNvPr id="168" name="BA_CJNI">
            <a:extLst>
              <a:ext uri="{FF2B5EF4-FFF2-40B4-BE49-F238E27FC236}">
                <a16:creationId xmlns:a16="http://schemas.microsoft.com/office/drawing/2014/main" id="{D292FE2E-8828-FA22-CBC6-C4B4B0135B87}"/>
              </a:ext>
            </a:extLst>
          </p:cNvPr>
          <p:cNvSpPr/>
          <p:nvPr/>
        </p:nvSpPr>
        <p:spPr>
          <a:xfrm>
            <a:off x="8803280" y="1417047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CJNI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Jeton SSO</a:t>
            </a:r>
          </a:p>
        </p:txBody>
      </p:sp>
      <p:sp>
        <p:nvSpPr>
          <p:cNvPr id="169" name="BA_C8">
            <a:extLst>
              <a:ext uri="{FF2B5EF4-FFF2-40B4-BE49-F238E27FC236}">
                <a16:creationId xmlns:a16="http://schemas.microsoft.com/office/drawing/2014/main" id="{FD6C4D66-A07A-673C-A9F4-5C19C40E7CD4}"/>
              </a:ext>
            </a:extLst>
          </p:cNvPr>
          <p:cNvSpPr/>
          <p:nvPr/>
        </p:nvSpPr>
        <p:spPr>
          <a:xfrm>
            <a:off x="9490384" y="1417047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C8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Consentements</a:t>
            </a:r>
          </a:p>
        </p:txBody>
      </p:sp>
      <p:sp>
        <p:nvSpPr>
          <p:cNvPr id="170" name="BA_D9">
            <a:extLst>
              <a:ext uri="{FF2B5EF4-FFF2-40B4-BE49-F238E27FC236}">
                <a16:creationId xmlns:a16="http://schemas.microsoft.com/office/drawing/2014/main" id="{C68D993B-DF3B-7137-3383-77BE93311C7D}"/>
              </a:ext>
            </a:extLst>
          </p:cNvPr>
          <p:cNvSpPr/>
          <p:nvPr/>
        </p:nvSpPr>
        <p:spPr>
          <a:xfrm>
            <a:off x="10160477" y="1417047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D9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Base Doc AWS</a:t>
            </a:r>
          </a:p>
        </p:txBody>
      </p:sp>
      <p:sp>
        <p:nvSpPr>
          <p:cNvPr id="171" name="BA_F3">
            <a:extLst>
              <a:ext uri="{FF2B5EF4-FFF2-40B4-BE49-F238E27FC236}">
                <a16:creationId xmlns:a16="http://schemas.microsoft.com/office/drawing/2014/main" id="{4DD7EF72-EC90-9A99-7A04-E5FD2234C859}"/>
              </a:ext>
            </a:extLst>
          </p:cNvPr>
          <p:cNvSpPr/>
          <p:nvPr/>
        </p:nvSpPr>
        <p:spPr>
          <a:xfrm>
            <a:off x="8114072" y="1734468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F3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Versement Libre</a:t>
            </a:r>
          </a:p>
        </p:txBody>
      </p:sp>
      <p:sp>
        <p:nvSpPr>
          <p:cNvPr id="172" name="BA_F4">
            <a:extLst>
              <a:ext uri="{FF2B5EF4-FFF2-40B4-BE49-F238E27FC236}">
                <a16:creationId xmlns:a16="http://schemas.microsoft.com/office/drawing/2014/main" id="{4A55E153-0780-1B3E-8692-C294A7252184}"/>
              </a:ext>
            </a:extLst>
          </p:cNvPr>
          <p:cNvSpPr/>
          <p:nvPr/>
        </p:nvSpPr>
        <p:spPr>
          <a:xfrm>
            <a:off x="8803280" y="1734468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F4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Synthèse </a:t>
            </a:r>
            <a:r>
              <a:rPr kumimoji="0" lang="fr-FR" sz="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Opér</a:t>
            </a: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.</a:t>
            </a:r>
          </a:p>
        </p:txBody>
      </p:sp>
      <p:sp>
        <p:nvSpPr>
          <p:cNvPr id="173" name="BA_F5">
            <a:extLst>
              <a:ext uri="{FF2B5EF4-FFF2-40B4-BE49-F238E27FC236}">
                <a16:creationId xmlns:a16="http://schemas.microsoft.com/office/drawing/2014/main" id="{E4CD77AD-DD4F-5EC3-486A-6398BD476758}"/>
              </a:ext>
            </a:extLst>
          </p:cNvPr>
          <p:cNvSpPr/>
          <p:nvPr/>
        </p:nvSpPr>
        <p:spPr>
          <a:xfrm>
            <a:off x="9490384" y="1734468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F5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Conf</a:t>
            </a: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. New Nova</a:t>
            </a:r>
          </a:p>
        </p:txBody>
      </p:sp>
      <p:sp>
        <p:nvSpPr>
          <p:cNvPr id="174" name="BA_F6">
            <a:extLst>
              <a:ext uri="{FF2B5EF4-FFF2-40B4-BE49-F238E27FC236}">
                <a16:creationId xmlns:a16="http://schemas.microsoft.com/office/drawing/2014/main" id="{AED608C2-B051-3B97-FBD0-64837C21FCB6}"/>
              </a:ext>
            </a:extLst>
          </p:cNvPr>
          <p:cNvSpPr/>
          <p:nvPr/>
        </p:nvSpPr>
        <p:spPr>
          <a:xfrm>
            <a:off x="10160477" y="1734468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F6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API Adhésion</a:t>
            </a:r>
          </a:p>
        </p:txBody>
      </p:sp>
      <p:sp>
        <p:nvSpPr>
          <p:cNvPr id="175" name="BA_F7">
            <a:extLst>
              <a:ext uri="{FF2B5EF4-FFF2-40B4-BE49-F238E27FC236}">
                <a16:creationId xmlns:a16="http://schemas.microsoft.com/office/drawing/2014/main" id="{154B78CE-BFD8-A2CF-1E53-2ED99506CDA0}"/>
              </a:ext>
            </a:extLst>
          </p:cNvPr>
          <p:cNvSpPr/>
          <p:nvPr/>
        </p:nvSpPr>
        <p:spPr>
          <a:xfrm>
            <a:off x="8114072" y="2047150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F7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Arbitrage</a:t>
            </a:r>
          </a:p>
        </p:txBody>
      </p:sp>
      <p:sp>
        <p:nvSpPr>
          <p:cNvPr id="176" name="BA_G3">
            <a:extLst>
              <a:ext uri="{FF2B5EF4-FFF2-40B4-BE49-F238E27FC236}">
                <a16:creationId xmlns:a16="http://schemas.microsoft.com/office/drawing/2014/main" id="{2C12CD1B-0B36-D84A-7479-D1B0EFB19E65}"/>
              </a:ext>
            </a:extLst>
          </p:cNvPr>
          <p:cNvSpPr/>
          <p:nvPr/>
        </p:nvSpPr>
        <p:spPr>
          <a:xfrm>
            <a:off x="9490384" y="2047150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G3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Pièces médicales</a:t>
            </a:r>
          </a:p>
        </p:txBody>
      </p:sp>
      <p:sp>
        <p:nvSpPr>
          <p:cNvPr id="177" name="BA_G4">
            <a:extLst>
              <a:ext uri="{FF2B5EF4-FFF2-40B4-BE49-F238E27FC236}">
                <a16:creationId xmlns:a16="http://schemas.microsoft.com/office/drawing/2014/main" id="{827DB718-82D0-96C9-BDC9-35D4AED2AE0C}"/>
              </a:ext>
            </a:extLst>
          </p:cNvPr>
          <p:cNvSpPr/>
          <p:nvPr/>
        </p:nvSpPr>
        <p:spPr>
          <a:xfrm>
            <a:off x="10160477" y="2047150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G4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API FRC</a:t>
            </a:r>
          </a:p>
        </p:txBody>
      </p:sp>
      <p:sp>
        <p:nvSpPr>
          <p:cNvPr id="178" name="BA_G6">
            <a:extLst>
              <a:ext uri="{FF2B5EF4-FFF2-40B4-BE49-F238E27FC236}">
                <a16:creationId xmlns:a16="http://schemas.microsoft.com/office/drawing/2014/main" id="{31F907C2-84AF-A22A-F485-5CA56B336AFE}"/>
              </a:ext>
            </a:extLst>
          </p:cNvPr>
          <p:cNvSpPr/>
          <p:nvPr/>
        </p:nvSpPr>
        <p:spPr>
          <a:xfrm>
            <a:off x="8114072" y="2368438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G6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API </a:t>
            </a:r>
            <a:r>
              <a:rPr kumimoji="0" lang="fr-FR" sz="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Passport</a:t>
            </a:r>
            <a:endParaRPr kumimoji="0" lang="fr-FR" sz="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9" name="BA_GQ">
            <a:extLst>
              <a:ext uri="{FF2B5EF4-FFF2-40B4-BE49-F238E27FC236}">
                <a16:creationId xmlns:a16="http://schemas.microsoft.com/office/drawing/2014/main" id="{686214B4-E7E6-ED6E-FD96-A3241203FA44}"/>
              </a:ext>
            </a:extLst>
          </p:cNvPr>
          <p:cNvSpPr/>
          <p:nvPr/>
        </p:nvSpPr>
        <p:spPr>
          <a:xfrm>
            <a:off x="8803280" y="2368438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GQ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GED Prévoyance</a:t>
            </a:r>
          </a:p>
        </p:txBody>
      </p:sp>
      <p:sp>
        <p:nvSpPr>
          <p:cNvPr id="180" name="BA_I5">
            <a:extLst>
              <a:ext uri="{FF2B5EF4-FFF2-40B4-BE49-F238E27FC236}">
                <a16:creationId xmlns:a16="http://schemas.microsoft.com/office/drawing/2014/main" id="{E9B76BF3-A989-34B7-81A6-D347AA30E361}"/>
              </a:ext>
            </a:extLst>
          </p:cNvPr>
          <p:cNvSpPr/>
          <p:nvPr/>
        </p:nvSpPr>
        <p:spPr>
          <a:xfrm>
            <a:off x="8114072" y="2696076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I5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Lanceur New Nova</a:t>
            </a:r>
          </a:p>
        </p:txBody>
      </p:sp>
      <p:sp>
        <p:nvSpPr>
          <p:cNvPr id="181" name="BA_I9">
            <a:extLst>
              <a:ext uri="{FF2B5EF4-FFF2-40B4-BE49-F238E27FC236}">
                <a16:creationId xmlns:a16="http://schemas.microsoft.com/office/drawing/2014/main" id="{A32C265F-0938-19EB-28B6-A75A9418DC95}"/>
              </a:ext>
            </a:extLst>
          </p:cNvPr>
          <p:cNvSpPr/>
          <p:nvPr/>
        </p:nvSpPr>
        <p:spPr>
          <a:xfrm>
            <a:off x="8803280" y="2696076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I9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Keycloak</a:t>
            </a: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 Intranet</a:t>
            </a:r>
          </a:p>
        </p:txBody>
      </p:sp>
      <p:sp>
        <p:nvSpPr>
          <p:cNvPr id="182" name="BA_K7">
            <a:extLst>
              <a:ext uri="{FF2B5EF4-FFF2-40B4-BE49-F238E27FC236}">
                <a16:creationId xmlns:a16="http://schemas.microsoft.com/office/drawing/2014/main" id="{5AB1E487-9099-7BA0-BF5C-E0CCF142DEA2}"/>
              </a:ext>
            </a:extLst>
          </p:cNvPr>
          <p:cNvSpPr/>
          <p:nvPr/>
        </p:nvSpPr>
        <p:spPr>
          <a:xfrm>
            <a:off x="9490384" y="2696076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K7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Aiguilleur</a:t>
            </a:r>
          </a:p>
        </p:txBody>
      </p:sp>
      <p:sp>
        <p:nvSpPr>
          <p:cNvPr id="183" name="BA_K9">
            <a:extLst>
              <a:ext uri="{FF2B5EF4-FFF2-40B4-BE49-F238E27FC236}">
                <a16:creationId xmlns:a16="http://schemas.microsoft.com/office/drawing/2014/main" id="{8C56423B-A669-12BC-7CB8-14E3D59FA2A9}"/>
              </a:ext>
            </a:extLst>
          </p:cNvPr>
          <p:cNvSpPr/>
          <p:nvPr/>
        </p:nvSpPr>
        <p:spPr>
          <a:xfrm>
            <a:off x="10160477" y="2696076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K9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Keycloak</a:t>
            </a: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 Internet</a:t>
            </a:r>
          </a:p>
        </p:txBody>
      </p:sp>
      <p:sp>
        <p:nvSpPr>
          <p:cNvPr id="184" name="BA_L8">
            <a:extLst>
              <a:ext uri="{FF2B5EF4-FFF2-40B4-BE49-F238E27FC236}">
                <a16:creationId xmlns:a16="http://schemas.microsoft.com/office/drawing/2014/main" id="{07817EE5-2529-E89F-49C4-D2747E7ED1C0}"/>
              </a:ext>
            </a:extLst>
          </p:cNvPr>
          <p:cNvSpPr/>
          <p:nvPr/>
        </p:nvSpPr>
        <p:spPr>
          <a:xfrm>
            <a:off x="8114072" y="3027052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L8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API Archivage</a:t>
            </a:r>
          </a:p>
        </p:txBody>
      </p:sp>
      <p:sp>
        <p:nvSpPr>
          <p:cNvPr id="185" name="BA_L9">
            <a:extLst>
              <a:ext uri="{FF2B5EF4-FFF2-40B4-BE49-F238E27FC236}">
                <a16:creationId xmlns:a16="http://schemas.microsoft.com/office/drawing/2014/main" id="{1BEE07C7-75F1-C9AB-EC35-E9D04B7EEBE7}"/>
              </a:ext>
            </a:extLst>
          </p:cNvPr>
          <p:cNvSpPr/>
          <p:nvPr/>
        </p:nvSpPr>
        <p:spPr>
          <a:xfrm>
            <a:off x="8803280" y="3027052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L9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API Structure</a:t>
            </a:r>
          </a:p>
        </p:txBody>
      </p:sp>
      <p:sp>
        <p:nvSpPr>
          <p:cNvPr id="186" name="BA_N6">
            <a:extLst>
              <a:ext uri="{FF2B5EF4-FFF2-40B4-BE49-F238E27FC236}">
                <a16:creationId xmlns:a16="http://schemas.microsoft.com/office/drawing/2014/main" id="{FA4A3AC4-8D97-5561-361F-B197BD13F0A1}"/>
              </a:ext>
            </a:extLst>
          </p:cNvPr>
          <p:cNvSpPr/>
          <p:nvPr/>
        </p:nvSpPr>
        <p:spPr>
          <a:xfrm>
            <a:off x="9490384" y="3034498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N6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API produit</a:t>
            </a:r>
          </a:p>
        </p:txBody>
      </p:sp>
      <p:sp>
        <p:nvSpPr>
          <p:cNvPr id="187" name="BA_N8">
            <a:extLst>
              <a:ext uri="{FF2B5EF4-FFF2-40B4-BE49-F238E27FC236}">
                <a16:creationId xmlns:a16="http://schemas.microsoft.com/office/drawing/2014/main" id="{33ECCCB8-F50B-CCA6-F1C8-2CDEB6522721}"/>
              </a:ext>
            </a:extLst>
          </p:cNvPr>
          <p:cNvSpPr/>
          <p:nvPr/>
        </p:nvSpPr>
        <p:spPr>
          <a:xfrm>
            <a:off x="10160477" y="3034498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N8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Notif</a:t>
            </a: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. Distributeur</a:t>
            </a:r>
          </a:p>
        </p:txBody>
      </p:sp>
      <p:sp>
        <p:nvSpPr>
          <p:cNvPr id="188" name="BA_P4">
            <a:extLst>
              <a:ext uri="{FF2B5EF4-FFF2-40B4-BE49-F238E27FC236}">
                <a16:creationId xmlns:a16="http://schemas.microsoft.com/office/drawing/2014/main" id="{36F05FBF-C27E-111D-E15D-8A2E5C7FC3FC}"/>
              </a:ext>
            </a:extLst>
          </p:cNvPr>
          <p:cNvSpPr/>
          <p:nvPr/>
        </p:nvSpPr>
        <p:spPr>
          <a:xfrm>
            <a:off x="8114072" y="3354466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P4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Services Editique</a:t>
            </a:r>
          </a:p>
        </p:txBody>
      </p:sp>
      <p:sp>
        <p:nvSpPr>
          <p:cNvPr id="189" name="BA_P5">
            <a:extLst>
              <a:ext uri="{FF2B5EF4-FFF2-40B4-BE49-F238E27FC236}">
                <a16:creationId xmlns:a16="http://schemas.microsoft.com/office/drawing/2014/main" id="{3A4C5509-03D2-C2A3-4926-AEBCEF6C8E54}"/>
              </a:ext>
            </a:extLst>
          </p:cNvPr>
          <p:cNvSpPr/>
          <p:nvPr/>
        </p:nvSpPr>
        <p:spPr>
          <a:xfrm>
            <a:off x="8803280" y="3354466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P5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API Contrat</a:t>
            </a:r>
          </a:p>
        </p:txBody>
      </p:sp>
      <p:sp>
        <p:nvSpPr>
          <p:cNvPr id="190" name="BA_P6">
            <a:extLst>
              <a:ext uri="{FF2B5EF4-FFF2-40B4-BE49-F238E27FC236}">
                <a16:creationId xmlns:a16="http://schemas.microsoft.com/office/drawing/2014/main" id="{D3B47387-56D6-ED6D-837A-7EB84EB576C8}"/>
              </a:ext>
            </a:extLst>
          </p:cNvPr>
          <p:cNvSpPr/>
          <p:nvPr/>
        </p:nvSpPr>
        <p:spPr>
          <a:xfrm>
            <a:off x="9490384" y="3369007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P6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API Support</a:t>
            </a:r>
          </a:p>
        </p:txBody>
      </p:sp>
      <p:sp>
        <p:nvSpPr>
          <p:cNvPr id="191" name="BA_P7">
            <a:extLst>
              <a:ext uri="{FF2B5EF4-FFF2-40B4-BE49-F238E27FC236}">
                <a16:creationId xmlns:a16="http://schemas.microsoft.com/office/drawing/2014/main" id="{0B33CB02-2783-9B73-0CD3-4641F4999039}"/>
              </a:ext>
            </a:extLst>
          </p:cNvPr>
          <p:cNvSpPr/>
          <p:nvPr/>
        </p:nvSpPr>
        <p:spPr>
          <a:xfrm>
            <a:off x="10160477" y="3369007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P7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Campagnes et Frais</a:t>
            </a:r>
          </a:p>
        </p:txBody>
      </p:sp>
      <p:sp>
        <p:nvSpPr>
          <p:cNvPr id="192" name="BA_P8">
            <a:extLst>
              <a:ext uri="{FF2B5EF4-FFF2-40B4-BE49-F238E27FC236}">
                <a16:creationId xmlns:a16="http://schemas.microsoft.com/office/drawing/2014/main" id="{1ABA0175-50A4-8376-8F22-1111D3588752}"/>
              </a:ext>
            </a:extLst>
          </p:cNvPr>
          <p:cNvSpPr/>
          <p:nvPr/>
        </p:nvSpPr>
        <p:spPr>
          <a:xfrm>
            <a:off x="8114072" y="3698914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P8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Habilit</a:t>
            </a: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. &amp;  </a:t>
            </a:r>
            <a:r>
              <a:rPr kumimoji="0" lang="fr-FR" sz="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Délég</a:t>
            </a: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.</a:t>
            </a:r>
          </a:p>
        </p:txBody>
      </p:sp>
      <p:sp>
        <p:nvSpPr>
          <p:cNvPr id="193" name="BA_Q1">
            <a:extLst>
              <a:ext uri="{FF2B5EF4-FFF2-40B4-BE49-F238E27FC236}">
                <a16:creationId xmlns:a16="http://schemas.microsoft.com/office/drawing/2014/main" id="{99A6F435-3690-D7FF-6B86-A0A2B0A9E961}"/>
              </a:ext>
            </a:extLst>
          </p:cNvPr>
          <p:cNvSpPr/>
          <p:nvPr/>
        </p:nvSpPr>
        <p:spPr>
          <a:xfrm>
            <a:off x="8803280" y="3698914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Q1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API </a:t>
            </a:r>
            <a:r>
              <a:rPr kumimoji="0" lang="fr-FR" sz="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Déciséo</a:t>
            </a:r>
            <a:endParaRPr kumimoji="0" lang="fr-FR" sz="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4" name="BA_W1">
            <a:extLst>
              <a:ext uri="{FF2B5EF4-FFF2-40B4-BE49-F238E27FC236}">
                <a16:creationId xmlns:a16="http://schemas.microsoft.com/office/drawing/2014/main" id="{8B08AD3F-4D3A-05B3-2495-F4EDC0E65F69}"/>
              </a:ext>
            </a:extLst>
          </p:cNvPr>
          <p:cNvSpPr/>
          <p:nvPr/>
        </p:nvSpPr>
        <p:spPr>
          <a:xfrm>
            <a:off x="8114072" y="4023294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W1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API Signature</a:t>
            </a:r>
          </a:p>
        </p:txBody>
      </p:sp>
      <p:sp>
        <p:nvSpPr>
          <p:cNvPr id="195" name="BA_W2">
            <a:extLst>
              <a:ext uri="{FF2B5EF4-FFF2-40B4-BE49-F238E27FC236}">
                <a16:creationId xmlns:a16="http://schemas.microsoft.com/office/drawing/2014/main" id="{92C91190-D0B3-BC98-94B1-9CEC99690379}"/>
              </a:ext>
            </a:extLst>
          </p:cNvPr>
          <p:cNvSpPr/>
          <p:nvPr/>
        </p:nvSpPr>
        <p:spPr>
          <a:xfrm>
            <a:off x="8803280" y="4023294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W2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Clause </a:t>
            </a:r>
            <a:r>
              <a:rPr kumimoji="0" lang="fr-FR" sz="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Bénéf</a:t>
            </a: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.</a:t>
            </a:r>
          </a:p>
        </p:txBody>
      </p:sp>
      <p:sp>
        <p:nvSpPr>
          <p:cNvPr id="196" name="BA_W4">
            <a:extLst>
              <a:ext uri="{FF2B5EF4-FFF2-40B4-BE49-F238E27FC236}">
                <a16:creationId xmlns:a16="http://schemas.microsoft.com/office/drawing/2014/main" id="{A58139E8-F494-5DEA-BFDA-F0B8AAF18EF1}"/>
              </a:ext>
            </a:extLst>
          </p:cNvPr>
          <p:cNvSpPr/>
          <p:nvPr/>
        </p:nvSpPr>
        <p:spPr>
          <a:xfrm>
            <a:off x="9490384" y="4047213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W4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Modif</a:t>
            </a: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. </a:t>
            </a:r>
            <a:r>
              <a:rPr kumimoji="0" lang="fr-FR" sz="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Gar</a:t>
            </a: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. </a:t>
            </a:r>
            <a:r>
              <a:rPr kumimoji="0" lang="fr-FR" sz="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Prév</a:t>
            </a: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.</a:t>
            </a:r>
          </a:p>
        </p:txBody>
      </p:sp>
      <p:sp>
        <p:nvSpPr>
          <p:cNvPr id="197" name="Gr_REFUC">
            <a:extLst>
              <a:ext uri="{FF2B5EF4-FFF2-40B4-BE49-F238E27FC236}">
                <a16:creationId xmlns:a16="http://schemas.microsoft.com/office/drawing/2014/main" id="{CF1AE1F9-8BE4-4DDA-FF86-1BACC0844FD3}"/>
              </a:ext>
            </a:extLst>
          </p:cNvPr>
          <p:cNvSpPr/>
          <p:nvPr/>
        </p:nvSpPr>
        <p:spPr>
          <a:xfrm>
            <a:off x="4497472" y="3115682"/>
            <a:ext cx="769204" cy="591273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  <a:effectLst>
            <a:outerShdw blurRad="50800" dist="38100" dir="2700000" algn="ctr" rotWithShape="0">
              <a:schemeClr val="tx1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/>
            </a:endParaRPr>
          </a:p>
        </p:txBody>
      </p:sp>
      <p:sp>
        <p:nvSpPr>
          <p:cNvPr id="198" name="ZT_REFUC">
            <a:extLst>
              <a:ext uri="{FF2B5EF4-FFF2-40B4-BE49-F238E27FC236}">
                <a16:creationId xmlns:a16="http://schemas.microsoft.com/office/drawing/2014/main" id="{420BB1D9-816C-D346-E3E4-34666ADA9D03}"/>
              </a:ext>
            </a:extLst>
          </p:cNvPr>
          <p:cNvSpPr txBox="1"/>
          <p:nvPr/>
        </p:nvSpPr>
        <p:spPr>
          <a:xfrm>
            <a:off x="4585812" y="3143267"/>
            <a:ext cx="664123" cy="246221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REFUC</a:t>
            </a:r>
          </a:p>
        </p:txBody>
      </p:sp>
      <p:sp>
        <p:nvSpPr>
          <p:cNvPr id="199" name="BA_VL">
            <a:extLst>
              <a:ext uri="{FF2B5EF4-FFF2-40B4-BE49-F238E27FC236}">
                <a16:creationId xmlns:a16="http://schemas.microsoft.com/office/drawing/2014/main" id="{25BACA18-491D-5495-FB89-FFABD8C0E12D}"/>
              </a:ext>
            </a:extLst>
          </p:cNvPr>
          <p:cNvSpPr/>
          <p:nvPr/>
        </p:nvSpPr>
        <p:spPr>
          <a:xfrm>
            <a:off x="4562134" y="3360904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VL</a:t>
            </a:r>
            <a:endParaRPr kumimoji="0" lang="fr-FR" sz="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Référ</a:t>
            </a: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. UC</a:t>
            </a:r>
          </a:p>
        </p:txBody>
      </p:sp>
      <p:sp>
        <p:nvSpPr>
          <p:cNvPr id="200" name="Gr_EBX">
            <a:extLst>
              <a:ext uri="{FF2B5EF4-FFF2-40B4-BE49-F238E27FC236}">
                <a16:creationId xmlns:a16="http://schemas.microsoft.com/office/drawing/2014/main" id="{7CC62737-840D-7561-2405-5CAE24247087}"/>
              </a:ext>
            </a:extLst>
          </p:cNvPr>
          <p:cNvSpPr/>
          <p:nvPr/>
        </p:nvSpPr>
        <p:spPr>
          <a:xfrm>
            <a:off x="3593887" y="3113812"/>
            <a:ext cx="834318" cy="61200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  <a:effectLst>
            <a:outerShdw blurRad="50800" dist="38100" dir="2700000" algn="ctr" rotWithShape="0">
              <a:schemeClr val="tx1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/>
            </a:endParaRPr>
          </a:p>
        </p:txBody>
      </p:sp>
      <p:sp>
        <p:nvSpPr>
          <p:cNvPr id="201" name="ZT_EBX">
            <a:extLst>
              <a:ext uri="{FF2B5EF4-FFF2-40B4-BE49-F238E27FC236}">
                <a16:creationId xmlns:a16="http://schemas.microsoft.com/office/drawing/2014/main" id="{056FFCF9-2858-8C0A-FD68-4E47FBAB1A86}"/>
              </a:ext>
            </a:extLst>
          </p:cNvPr>
          <p:cNvSpPr txBox="1"/>
          <p:nvPr/>
        </p:nvSpPr>
        <p:spPr>
          <a:xfrm>
            <a:off x="3603261" y="3141397"/>
            <a:ext cx="824943" cy="246221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EBX</a:t>
            </a:r>
          </a:p>
        </p:txBody>
      </p:sp>
      <p:sp>
        <p:nvSpPr>
          <p:cNvPr id="202" name="BA_EBX">
            <a:extLst>
              <a:ext uri="{FF2B5EF4-FFF2-40B4-BE49-F238E27FC236}">
                <a16:creationId xmlns:a16="http://schemas.microsoft.com/office/drawing/2014/main" id="{FB77E450-4509-7AB8-1AF0-3D0192ED15F4}"/>
              </a:ext>
            </a:extLst>
          </p:cNvPr>
          <p:cNvSpPr/>
          <p:nvPr/>
        </p:nvSpPr>
        <p:spPr>
          <a:xfrm>
            <a:off x="3697255" y="3370753"/>
            <a:ext cx="648000" cy="276281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EBX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EBX-Platform</a:t>
            </a:r>
          </a:p>
        </p:txBody>
      </p:sp>
      <p:sp>
        <p:nvSpPr>
          <p:cNvPr id="203" name="ZoneProjet">
            <a:extLst>
              <a:ext uri="{FF2B5EF4-FFF2-40B4-BE49-F238E27FC236}">
                <a16:creationId xmlns:a16="http://schemas.microsoft.com/office/drawing/2014/main" id="{378C5A8A-167C-EFD7-CF0D-2BD4444D2E56}"/>
              </a:ext>
            </a:extLst>
          </p:cNvPr>
          <p:cNvSpPr txBox="1"/>
          <p:nvPr/>
        </p:nvSpPr>
        <p:spPr>
          <a:xfrm>
            <a:off x="405649" y="445133"/>
            <a:ext cx="2834110" cy="646331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>
            <a:defPPr>
              <a:defRPr lang="fr-FR"/>
            </a:defPPr>
            <a:lvl1pPr lvl="0" algn="ctr">
              <a:defRPr b="1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fr-FR" dirty="0"/>
              <a:t>REFONTE </a:t>
            </a:r>
          </a:p>
          <a:p>
            <a:r>
              <a:rPr lang="fr-FR" dirty="0"/>
              <a:t>ADHESION CONSEILLER </a:t>
            </a:r>
          </a:p>
        </p:txBody>
      </p:sp>
      <p:sp>
        <p:nvSpPr>
          <p:cNvPr id="204" name="ZT_Titre">
            <a:extLst>
              <a:ext uri="{FF2B5EF4-FFF2-40B4-BE49-F238E27FC236}">
                <a16:creationId xmlns:a16="http://schemas.microsoft.com/office/drawing/2014/main" id="{3B64185F-6BC3-B25B-DEA4-DFE5AB605715}"/>
              </a:ext>
            </a:extLst>
          </p:cNvPr>
          <p:cNvSpPr txBox="1"/>
          <p:nvPr/>
        </p:nvSpPr>
        <p:spPr>
          <a:xfrm>
            <a:off x="0" y="-124544"/>
            <a:ext cx="12192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800" b="0" i="0" u="none" strike="noStrike" kern="1200" cap="none" spc="0" normalizeH="0" baseline="0" noProof="0" dirty="0">
                <a:ln>
                  <a:noFill/>
                </a:ln>
                <a:solidFill>
                  <a:srgbClr val="5B9BD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Identification des composants applicatifs</a:t>
            </a:r>
          </a:p>
        </p:txBody>
      </p:sp>
      <p:sp>
        <p:nvSpPr>
          <p:cNvPr id="205" name="Gr_BDOC">
            <a:extLst>
              <a:ext uri="{FF2B5EF4-FFF2-40B4-BE49-F238E27FC236}">
                <a16:creationId xmlns:a16="http://schemas.microsoft.com/office/drawing/2014/main" id="{80B56142-3138-16F8-1CC2-839CBC1E172B}"/>
              </a:ext>
            </a:extLst>
          </p:cNvPr>
          <p:cNvSpPr/>
          <p:nvPr/>
        </p:nvSpPr>
        <p:spPr>
          <a:xfrm>
            <a:off x="5353697" y="3111592"/>
            <a:ext cx="744111" cy="61200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  <a:effectLst>
            <a:outerShdw blurRad="50800" dist="38100" dir="2700000" algn="ctr" rotWithShape="0">
              <a:schemeClr val="tx1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/>
            </a:endParaRPr>
          </a:p>
        </p:txBody>
      </p:sp>
      <p:sp>
        <p:nvSpPr>
          <p:cNvPr id="206" name="ZT_BDOC">
            <a:extLst>
              <a:ext uri="{FF2B5EF4-FFF2-40B4-BE49-F238E27FC236}">
                <a16:creationId xmlns:a16="http://schemas.microsoft.com/office/drawing/2014/main" id="{DAEE11AC-3B9B-9742-CD3F-866907F1013B}"/>
              </a:ext>
            </a:extLst>
          </p:cNvPr>
          <p:cNvSpPr txBox="1"/>
          <p:nvPr/>
        </p:nvSpPr>
        <p:spPr>
          <a:xfrm>
            <a:off x="5429887" y="3139177"/>
            <a:ext cx="623531" cy="246221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BDOC</a:t>
            </a:r>
          </a:p>
        </p:txBody>
      </p:sp>
      <p:sp>
        <p:nvSpPr>
          <p:cNvPr id="207" name="BA_BX">
            <a:extLst>
              <a:ext uri="{FF2B5EF4-FFF2-40B4-BE49-F238E27FC236}">
                <a16:creationId xmlns:a16="http://schemas.microsoft.com/office/drawing/2014/main" id="{03A0E00E-5881-356C-ABF1-BE17DCBEFCB2}"/>
              </a:ext>
            </a:extLst>
          </p:cNvPr>
          <p:cNvSpPr/>
          <p:nvPr/>
        </p:nvSpPr>
        <p:spPr>
          <a:xfrm>
            <a:off x="5405378" y="3393901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BX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BDOC WEB</a:t>
            </a:r>
          </a:p>
        </p:txBody>
      </p:sp>
      <p:sp>
        <p:nvSpPr>
          <p:cNvPr id="208" name="ZT_MàJ">
            <a:extLst>
              <a:ext uri="{FF2B5EF4-FFF2-40B4-BE49-F238E27FC236}">
                <a16:creationId xmlns:a16="http://schemas.microsoft.com/office/drawing/2014/main" id="{536B5419-7732-09EC-8B56-4FA326E294A5}"/>
              </a:ext>
            </a:extLst>
          </p:cNvPr>
          <p:cNvSpPr txBox="1"/>
          <p:nvPr/>
        </p:nvSpPr>
        <p:spPr>
          <a:xfrm>
            <a:off x="390525" y="6491355"/>
            <a:ext cx="169950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Mise à jour : xx/xx/2026</a:t>
            </a:r>
          </a:p>
        </p:txBody>
      </p:sp>
      <p:sp>
        <p:nvSpPr>
          <p:cNvPr id="209" name="ZT_Validité">
            <a:extLst>
              <a:ext uri="{FF2B5EF4-FFF2-40B4-BE49-F238E27FC236}">
                <a16:creationId xmlns:a16="http://schemas.microsoft.com/office/drawing/2014/main" id="{7EA2126C-100B-979F-80D1-4BD67D8ABD72}"/>
              </a:ext>
            </a:extLst>
          </p:cNvPr>
          <p:cNvSpPr txBox="1"/>
          <p:nvPr/>
        </p:nvSpPr>
        <p:spPr>
          <a:xfrm>
            <a:off x="10479876" y="6501427"/>
            <a:ext cx="126444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Validité : T2 2026</a:t>
            </a:r>
          </a:p>
        </p:txBody>
      </p:sp>
      <p:sp>
        <p:nvSpPr>
          <p:cNvPr id="210" name="Légende_Comp3">
            <a:extLst>
              <a:ext uri="{FF2B5EF4-FFF2-40B4-BE49-F238E27FC236}">
                <a16:creationId xmlns:a16="http://schemas.microsoft.com/office/drawing/2014/main" id="{876B5AC8-B0E5-0671-58ED-5434B0986E28}"/>
              </a:ext>
            </a:extLst>
          </p:cNvPr>
          <p:cNvSpPr/>
          <p:nvPr/>
        </p:nvSpPr>
        <p:spPr>
          <a:xfrm>
            <a:off x="6567797" y="549933"/>
            <a:ext cx="1080000" cy="360000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Composant </a:t>
            </a:r>
            <a:b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créé ou modifié</a:t>
            </a:r>
          </a:p>
        </p:txBody>
      </p:sp>
      <p:sp>
        <p:nvSpPr>
          <p:cNvPr id="211" name="Légende_Comp2">
            <a:extLst>
              <a:ext uri="{FF2B5EF4-FFF2-40B4-BE49-F238E27FC236}">
                <a16:creationId xmlns:a16="http://schemas.microsoft.com/office/drawing/2014/main" id="{3A0E4A54-8769-0F0D-FE57-50DBF60D9E39}"/>
              </a:ext>
            </a:extLst>
          </p:cNvPr>
          <p:cNvSpPr/>
          <p:nvPr/>
        </p:nvSpPr>
        <p:spPr>
          <a:xfrm>
            <a:off x="5383906" y="547517"/>
            <a:ext cx="1080000" cy="360000"/>
          </a:xfrm>
          <a:prstGeom prst="round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Composant utilisé</a:t>
            </a:r>
          </a:p>
        </p:txBody>
      </p:sp>
      <p:sp>
        <p:nvSpPr>
          <p:cNvPr id="212" name="Légende_Comp1">
            <a:extLst>
              <a:ext uri="{FF2B5EF4-FFF2-40B4-BE49-F238E27FC236}">
                <a16:creationId xmlns:a16="http://schemas.microsoft.com/office/drawing/2014/main" id="{72F54415-EF20-D0D7-E994-9CACD74DC7F5}"/>
              </a:ext>
            </a:extLst>
          </p:cNvPr>
          <p:cNvSpPr/>
          <p:nvPr/>
        </p:nvSpPr>
        <p:spPr>
          <a:xfrm>
            <a:off x="4200015" y="542942"/>
            <a:ext cx="1080000" cy="360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Composant non exploité</a:t>
            </a:r>
          </a:p>
        </p:txBody>
      </p:sp>
      <p:sp>
        <p:nvSpPr>
          <p:cNvPr id="213" name="BA_T2">
            <a:extLst>
              <a:ext uri="{FF2B5EF4-FFF2-40B4-BE49-F238E27FC236}">
                <a16:creationId xmlns:a16="http://schemas.microsoft.com/office/drawing/2014/main" id="{E0816E47-73E7-FCD7-028A-B331A11FF1E0}"/>
              </a:ext>
            </a:extLst>
          </p:cNvPr>
          <p:cNvSpPr/>
          <p:nvPr/>
        </p:nvSpPr>
        <p:spPr>
          <a:xfrm>
            <a:off x="9490384" y="3696185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T2</a:t>
            </a:r>
            <a:endParaRPr kumimoji="0" lang="fr-FR" sz="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KConnect</a:t>
            </a: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 MUTU</a:t>
            </a:r>
          </a:p>
        </p:txBody>
      </p:sp>
      <p:sp>
        <p:nvSpPr>
          <p:cNvPr id="214" name="BA_T3">
            <a:extLst>
              <a:ext uri="{FF2B5EF4-FFF2-40B4-BE49-F238E27FC236}">
                <a16:creationId xmlns:a16="http://schemas.microsoft.com/office/drawing/2014/main" id="{CCBDE7E1-74E0-40E6-A7A6-60ADB713D61F}"/>
              </a:ext>
            </a:extLst>
          </p:cNvPr>
          <p:cNvSpPr/>
          <p:nvPr/>
        </p:nvSpPr>
        <p:spPr>
          <a:xfrm>
            <a:off x="10160477" y="3696185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T3</a:t>
            </a:r>
            <a:endParaRPr kumimoji="0" lang="fr-FR" sz="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KConnect</a:t>
            </a: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 CAA</a:t>
            </a:r>
          </a:p>
        </p:txBody>
      </p:sp>
      <p:sp>
        <p:nvSpPr>
          <p:cNvPr id="215" name="BA_F8">
            <a:extLst>
              <a:ext uri="{FF2B5EF4-FFF2-40B4-BE49-F238E27FC236}">
                <a16:creationId xmlns:a16="http://schemas.microsoft.com/office/drawing/2014/main" id="{150E331D-0B98-E2E6-BBE2-2A3A08C940EE}"/>
              </a:ext>
            </a:extLst>
          </p:cNvPr>
          <p:cNvSpPr/>
          <p:nvPr/>
        </p:nvSpPr>
        <p:spPr>
          <a:xfrm>
            <a:off x="8803280" y="2047150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F8</a:t>
            </a:r>
            <a:endParaRPr kumimoji="0" lang="fr-FR" sz="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API MOOP</a:t>
            </a:r>
          </a:p>
        </p:txBody>
      </p:sp>
      <p:sp>
        <p:nvSpPr>
          <p:cNvPr id="216" name="Gr_ETL">
            <a:extLst>
              <a:ext uri="{FF2B5EF4-FFF2-40B4-BE49-F238E27FC236}">
                <a16:creationId xmlns:a16="http://schemas.microsoft.com/office/drawing/2014/main" id="{54BE735B-8058-65E7-F9EB-5894A913B8E9}"/>
              </a:ext>
            </a:extLst>
          </p:cNvPr>
          <p:cNvSpPr/>
          <p:nvPr/>
        </p:nvSpPr>
        <p:spPr>
          <a:xfrm>
            <a:off x="1617823" y="2849127"/>
            <a:ext cx="862923" cy="561929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  <a:effectLst>
            <a:outerShdw blurRad="50800" dist="38100" dir="2700000" algn="ctr" rotWithShape="0">
              <a:schemeClr val="tx1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/>
            </a:endParaRPr>
          </a:p>
        </p:txBody>
      </p:sp>
      <p:sp>
        <p:nvSpPr>
          <p:cNvPr id="217" name="ZT_ETL">
            <a:extLst>
              <a:ext uri="{FF2B5EF4-FFF2-40B4-BE49-F238E27FC236}">
                <a16:creationId xmlns:a16="http://schemas.microsoft.com/office/drawing/2014/main" id="{A2026392-25A9-778B-6A5E-4C826E838AB7}"/>
              </a:ext>
            </a:extLst>
          </p:cNvPr>
          <p:cNvSpPr txBox="1"/>
          <p:nvPr/>
        </p:nvSpPr>
        <p:spPr>
          <a:xfrm>
            <a:off x="1611935" y="2858784"/>
            <a:ext cx="898650" cy="246221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ETL</a:t>
            </a:r>
          </a:p>
        </p:txBody>
      </p:sp>
      <p:sp>
        <p:nvSpPr>
          <p:cNvPr id="218" name="BA_PWC2">
            <a:extLst>
              <a:ext uri="{FF2B5EF4-FFF2-40B4-BE49-F238E27FC236}">
                <a16:creationId xmlns:a16="http://schemas.microsoft.com/office/drawing/2014/main" id="{D8C24448-9BB6-97C4-24E2-2ABF9B7BCCC7}"/>
              </a:ext>
            </a:extLst>
          </p:cNvPr>
          <p:cNvSpPr/>
          <p:nvPr/>
        </p:nvSpPr>
        <p:spPr>
          <a:xfrm>
            <a:off x="1715817" y="3076593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PWC2</a:t>
            </a:r>
            <a:endParaRPr kumimoji="0" lang="fr-FR" sz="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ETL PREDICA</a:t>
            </a:r>
          </a:p>
        </p:txBody>
      </p:sp>
      <p:sp>
        <p:nvSpPr>
          <p:cNvPr id="219" name="Légende_Date1">
            <a:extLst>
              <a:ext uri="{FF2B5EF4-FFF2-40B4-BE49-F238E27FC236}">
                <a16:creationId xmlns:a16="http://schemas.microsoft.com/office/drawing/2014/main" id="{396874E1-0553-0B34-D1D9-1618039B6976}"/>
              </a:ext>
            </a:extLst>
          </p:cNvPr>
          <p:cNvSpPr txBox="1"/>
          <p:nvPr/>
        </p:nvSpPr>
        <p:spPr>
          <a:xfrm rot="19102564">
            <a:off x="7647306" y="559123"/>
            <a:ext cx="927160" cy="369332"/>
          </a:xfrm>
          <a:prstGeom prst="rect">
            <a:avLst/>
          </a:prstGeom>
          <a:noFill/>
          <a:ln cap="flat">
            <a:noFill/>
            <a:prstDash val="solid"/>
          </a:ln>
          <a:effectLst>
            <a:softEdge rad="0"/>
          </a:effectLst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900" b="0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Date de </a:t>
            </a:r>
            <a:r>
              <a:rPr kumimoji="0" lang="fr-FR" sz="900" b="0" i="0" u="none" strike="noStrike" kern="1200" cap="none" spc="0" normalizeH="0" baseline="0" noProof="0" dirty="0" err="1">
                <a:ln>
                  <a:noFill/>
                </a:ln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MeP</a:t>
            </a:r>
            <a:r>
              <a:rPr kumimoji="0" lang="fr-FR" sz="900" b="0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 prévue</a:t>
            </a:r>
          </a:p>
        </p:txBody>
      </p:sp>
      <p:sp>
        <p:nvSpPr>
          <p:cNvPr id="222" name="Légende_Date2">
            <a:extLst>
              <a:ext uri="{FF2B5EF4-FFF2-40B4-BE49-F238E27FC236}">
                <a16:creationId xmlns:a16="http://schemas.microsoft.com/office/drawing/2014/main" id="{00D3B41E-6E1D-CDDE-7A58-2BBD0A41E93E}"/>
              </a:ext>
            </a:extLst>
          </p:cNvPr>
          <p:cNvSpPr txBox="1"/>
          <p:nvPr/>
        </p:nvSpPr>
        <p:spPr>
          <a:xfrm rot="19102564">
            <a:off x="8343008" y="568799"/>
            <a:ext cx="927160" cy="369332"/>
          </a:xfrm>
          <a:prstGeom prst="rect">
            <a:avLst/>
          </a:prstGeom>
          <a:noFill/>
          <a:ln cap="flat">
            <a:noFill/>
            <a:prstDash val="solid"/>
          </a:ln>
          <a:effectLst>
            <a:softEdge rad="0"/>
          </a:effectLst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900" b="0" i="0" u="none" strike="noStrike" kern="1200" cap="none" spc="0" normalizeH="0" baseline="0" noProof="0" dirty="0">
                <a:ln>
                  <a:noFill/>
                </a:ln>
                <a:solidFill>
                  <a:srgbClr val="70AD4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Date de </a:t>
            </a:r>
            <a:r>
              <a:rPr kumimoji="0" lang="fr-FR" sz="900" b="0" i="0" u="none" strike="noStrike" kern="1200" cap="none" spc="0" normalizeH="0" baseline="0" noProof="0" dirty="0" err="1">
                <a:ln>
                  <a:noFill/>
                </a:ln>
                <a:solidFill>
                  <a:srgbClr val="70AD4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MeP</a:t>
            </a:r>
            <a:r>
              <a:rPr kumimoji="0" lang="fr-FR" sz="900" b="0" i="0" u="none" strike="noStrike" kern="1200" cap="none" spc="0" normalizeH="0" baseline="0" noProof="0" dirty="0">
                <a:ln>
                  <a:noFill/>
                </a:ln>
                <a:solidFill>
                  <a:srgbClr val="70AD4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 effective</a:t>
            </a:r>
          </a:p>
        </p:txBody>
      </p:sp>
      <p:sp>
        <p:nvSpPr>
          <p:cNvPr id="223" name="Gr_CATS">
            <a:extLst>
              <a:ext uri="{FF2B5EF4-FFF2-40B4-BE49-F238E27FC236}">
                <a16:creationId xmlns:a16="http://schemas.microsoft.com/office/drawing/2014/main" id="{ECE7472F-A030-C20D-D353-705299F5F89A}"/>
              </a:ext>
            </a:extLst>
          </p:cNvPr>
          <p:cNvSpPr/>
          <p:nvPr/>
        </p:nvSpPr>
        <p:spPr>
          <a:xfrm>
            <a:off x="447324" y="5119889"/>
            <a:ext cx="5579420" cy="1254012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4" name="ZT_CATS">
            <a:extLst>
              <a:ext uri="{FF2B5EF4-FFF2-40B4-BE49-F238E27FC236}">
                <a16:creationId xmlns:a16="http://schemas.microsoft.com/office/drawing/2014/main" id="{1C4F040D-0011-EF3F-2A38-8A1096E8F5C2}"/>
              </a:ext>
            </a:extLst>
          </p:cNvPr>
          <p:cNvSpPr txBox="1"/>
          <p:nvPr/>
        </p:nvSpPr>
        <p:spPr>
          <a:xfrm>
            <a:off x="370835" y="5083258"/>
            <a:ext cx="5409144" cy="246221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CA-TS</a:t>
            </a:r>
            <a:endParaRPr kumimoji="0" lang="fr-FR" sz="1000" b="1" i="1" u="none" strike="noStrike" kern="1200" cap="none" spc="0" normalizeH="0" baseline="0" noProof="0" dirty="0">
              <a:ln>
                <a:noFill/>
              </a:ln>
              <a:solidFill>
                <a:srgbClr val="7030A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5" name="BA_PDI9">
            <a:extLst>
              <a:ext uri="{FF2B5EF4-FFF2-40B4-BE49-F238E27FC236}">
                <a16:creationId xmlns:a16="http://schemas.microsoft.com/office/drawing/2014/main" id="{764B6E3D-08B4-1377-84ED-A093FB73B69C}"/>
              </a:ext>
            </a:extLst>
          </p:cNvPr>
          <p:cNvSpPr/>
          <p:nvPr/>
        </p:nvSpPr>
        <p:spPr>
          <a:xfrm>
            <a:off x="506780" y="5666800"/>
            <a:ext cx="648000" cy="288000"/>
          </a:xfrm>
          <a:prstGeom prst="roundRect">
            <a:avLst/>
          </a:prstGeom>
          <a:solidFill>
            <a:srgbClr val="B6D3EC"/>
          </a:solidFill>
          <a:ln w="6350"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PDI9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6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/>
              </a:rPr>
              <a:t>-</a:t>
            </a:r>
            <a:endParaRPr kumimoji="0" lang="fr-FR" sz="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6" name="BA_XConnect">
            <a:extLst>
              <a:ext uri="{FF2B5EF4-FFF2-40B4-BE49-F238E27FC236}">
                <a16:creationId xmlns:a16="http://schemas.microsoft.com/office/drawing/2014/main" id="{50DB4A56-4A52-88AE-168F-181F30C6E435}"/>
              </a:ext>
            </a:extLst>
          </p:cNvPr>
          <p:cNvSpPr/>
          <p:nvPr/>
        </p:nvSpPr>
        <p:spPr>
          <a:xfrm>
            <a:off x="1189563" y="5663009"/>
            <a:ext cx="648000" cy="288000"/>
          </a:xfrm>
          <a:prstGeom prst="roundRect">
            <a:avLst/>
          </a:prstGeom>
          <a:solidFill>
            <a:srgbClr val="B6D3EC"/>
          </a:solidFill>
          <a:ln w="6350"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Xconnect</a:t>
            </a:r>
            <a:endParaRPr kumimoji="0" lang="fr-FR" sz="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6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/>
              </a:rPr>
              <a:t>-</a:t>
            </a:r>
            <a:endParaRPr kumimoji="0" lang="fr-FR" sz="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7" name="BA_SIMM">
            <a:extLst>
              <a:ext uri="{FF2B5EF4-FFF2-40B4-BE49-F238E27FC236}">
                <a16:creationId xmlns:a16="http://schemas.microsoft.com/office/drawing/2014/main" id="{ED91F73A-6883-91DB-2410-2178ED4C8882}"/>
              </a:ext>
            </a:extLst>
          </p:cNvPr>
          <p:cNvSpPr/>
          <p:nvPr/>
        </p:nvSpPr>
        <p:spPr>
          <a:xfrm>
            <a:off x="2557693" y="5660385"/>
            <a:ext cx="648000" cy="288000"/>
          </a:xfrm>
          <a:prstGeom prst="roundRect">
            <a:avLst/>
          </a:prstGeom>
          <a:solidFill>
            <a:srgbClr val="B6D3EC"/>
          </a:solidFill>
          <a:ln w="6350"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SIMM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6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/>
              </a:rPr>
              <a:t>-</a:t>
            </a:r>
            <a:endParaRPr kumimoji="0" lang="fr-FR" sz="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8" name="BA_BAM">
            <a:extLst>
              <a:ext uri="{FF2B5EF4-FFF2-40B4-BE49-F238E27FC236}">
                <a16:creationId xmlns:a16="http://schemas.microsoft.com/office/drawing/2014/main" id="{7E19DE25-1722-60A6-CEF0-9B45F8D43284}"/>
              </a:ext>
            </a:extLst>
          </p:cNvPr>
          <p:cNvSpPr/>
          <p:nvPr/>
        </p:nvSpPr>
        <p:spPr>
          <a:xfrm>
            <a:off x="2833493" y="5340532"/>
            <a:ext cx="648000" cy="288000"/>
          </a:xfrm>
          <a:prstGeom prst="roundRect">
            <a:avLst/>
          </a:prstGeom>
          <a:solidFill>
            <a:srgbClr val="B6D3EC"/>
          </a:solidFill>
          <a:ln w="6350"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BAM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6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/>
              </a:rPr>
              <a:t>-</a:t>
            </a:r>
            <a:endParaRPr kumimoji="0" lang="fr-FR" sz="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9" name="BA_RAC">
            <a:extLst>
              <a:ext uri="{FF2B5EF4-FFF2-40B4-BE49-F238E27FC236}">
                <a16:creationId xmlns:a16="http://schemas.microsoft.com/office/drawing/2014/main" id="{257AD6DC-4483-2549-3862-17C522DF5A37}"/>
              </a:ext>
            </a:extLst>
          </p:cNvPr>
          <p:cNvSpPr/>
          <p:nvPr/>
        </p:nvSpPr>
        <p:spPr>
          <a:xfrm>
            <a:off x="4892893" y="5338051"/>
            <a:ext cx="648000" cy="288000"/>
          </a:xfrm>
          <a:prstGeom prst="roundRect">
            <a:avLst/>
          </a:prstGeom>
          <a:solidFill>
            <a:srgbClr val="B6D3EC"/>
          </a:solidFill>
          <a:ln w="6350"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RAC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6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/>
              </a:rPr>
              <a:t>-</a:t>
            </a:r>
            <a:endParaRPr kumimoji="0" lang="fr-FR" sz="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0" name="BA_DétContratNatifMB">
            <a:extLst>
              <a:ext uri="{FF2B5EF4-FFF2-40B4-BE49-F238E27FC236}">
                <a16:creationId xmlns:a16="http://schemas.microsoft.com/office/drawing/2014/main" id="{2C276538-C9CC-0853-BCDD-1982D2CA3C1A}"/>
              </a:ext>
            </a:extLst>
          </p:cNvPr>
          <p:cNvSpPr/>
          <p:nvPr/>
        </p:nvSpPr>
        <p:spPr>
          <a:xfrm>
            <a:off x="506780" y="5329301"/>
            <a:ext cx="1326281" cy="288000"/>
          </a:xfrm>
          <a:prstGeom prst="roundRect">
            <a:avLst/>
          </a:prstGeom>
          <a:solidFill>
            <a:srgbClr val="B6D3EC"/>
          </a:solidFill>
          <a:ln w="6350"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Dét</a:t>
            </a: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. Contrat natif MB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6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/>
              </a:rPr>
              <a:t>-</a:t>
            </a:r>
            <a:endParaRPr kumimoji="0" lang="fr-FR" sz="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1" name="BA_BPM">
            <a:extLst>
              <a:ext uri="{FF2B5EF4-FFF2-40B4-BE49-F238E27FC236}">
                <a16:creationId xmlns:a16="http://schemas.microsoft.com/office/drawing/2014/main" id="{26C4DF72-DCEB-BF22-8641-D381DFCE0A1D}"/>
              </a:ext>
            </a:extLst>
          </p:cNvPr>
          <p:cNvSpPr/>
          <p:nvPr/>
        </p:nvSpPr>
        <p:spPr>
          <a:xfrm>
            <a:off x="1875772" y="5663009"/>
            <a:ext cx="648000" cy="288000"/>
          </a:xfrm>
          <a:prstGeom prst="roundRect">
            <a:avLst/>
          </a:prstGeom>
          <a:solidFill>
            <a:srgbClr val="B6D3EC"/>
          </a:solidFill>
          <a:ln w="6350"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BPM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6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/>
              </a:rPr>
              <a:t>-</a:t>
            </a:r>
            <a:endParaRPr kumimoji="0" lang="fr-FR" sz="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2" name="BA_APX9">
            <a:extLst>
              <a:ext uri="{FF2B5EF4-FFF2-40B4-BE49-F238E27FC236}">
                <a16:creationId xmlns:a16="http://schemas.microsoft.com/office/drawing/2014/main" id="{B310735E-C6A1-2222-03F4-5C6C9167F67E}"/>
              </a:ext>
            </a:extLst>
          </p:cNvPr>
          <p:cNvSpPr/>
          <p:nvPr/>
        </p:nvSpPr>
        <p:spPr>
          <a:xfrm>
            <a:off x="511818" y="6003252"/>
            <a:ext cx="648000" cy="288000"/>
          </a:xfrm>
          <a:prstGeom prst="roundRect">
            <a:avLst/>
          </a:prstGeom>
          <a:solidFill>
            <a:srgbClr val="B6D3EC"/>
          </a:solidFill>
          <a:ln w="6350"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APX9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6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/>
              </a:rPr>
              <a:t>-</a:t>
            </a:r>
            <a:endParaRPr kumimoji="0" lang="fr-FR" sz="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3" name="BA_HUB">
            <a:extLst>
              <a:ext uri="{FF2B5EF4-FFF2-40B4-BE49-F238E27FC236}">
                <a16:creationId xmlns:a16="http://schemas.microsoft.com/office/drawing/2014/main" id="{A67FF424-EFAD-3860-BD3A-F3763827581B}"/>
              </a:ext>
            </a:extLst>
          </p:cNvPr>
          <p:cNvSpPr/>
          <p:nvPr/>
        </p:nvSpPr>
        <p:spPr>
          <a:xfrm>
            <a:off x="3242082" y="5660385"/>
            <a:ext cx="648000" cy="288000"/>
          </a:xfrm>
          <a:prstGeom prst="roundRect">
            <a:avLst/>
          </a:prstGeom>
          <a:solidFill>
            <a:srgbClr val="B6D3EC"/>
          </a:solidFill>
          <a:ln w="6350"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HUB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6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/>
              </a:rPr>
              <a:t>-</a:t>
            </a:r>
            <a:endParaRPr kumimoji="0" lang="fr-FR" sz="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4" name="BA_NPC">
            <a:extLst>
              <a:ext uri="{FF2B5EF4-FFF2-40B4-BE49-F238E27FC236}">
                <a16:creationId xmlns:a16="http://schemas.microsoft.com/office/drawing/2014/main" id="{718A568B-E76A-4A6E-A592-BCAF3AD8DE6F}"/>
              </a:ext>
            </a:extLst>
          </p:cNvPr>
          <p:cNvSpPr/>
          <p:nvPr/>
        </p:nvSpPr>
        <p:spPr>
          <a:xfrm>
            <a:off x="3515693" y="5337169"/>
            <a:ext cx="648000" cy="288000"/>
          </a:xfrm>
          <a:prstGeom prst="roundRect">
            <a:avLst/>
          </a:prstGeom>
          <a:solidFill>
            <a:srgbClr val="B6D3EC"/>
          </a:solidFill>
          <a:ln w="6350"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NPC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6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/>
              </a:rPr>
              <a:t>-</a:t>
            </a:r>
            <a:endParaRPr kumimoji="0" lang="fr-FR" sz="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5" name="BA_Microservices">
            <a:extLst>
              <a:ext uri="{FF2B5EF4-FFF2-40B4-BE49-F238E27FC236}">
                <a16:creationId xmlns:a16="http://schemas.microsoft.com/office/drawing/2014/main" id="{5284E98E-9480-9293-2591-58A29966248A}"/>
              </a:ext>
            </a:extLst>
          </p:cNvPr>
          <p:cNvSpPr/>
          <p:nvPr/>
        </p:nvSpPr>
        <p:spPr>
          <a:xfrm>
            <a:off x="1867224" y="5336000"/>
            <a:ext cx="925408" cy="288000"/>
          </a:xfrm>
          <a:prstGeom prst="roundRect">
            <a:avLst/>
          </a:prstGeom>
          <a:solidFill>
            <a:srgbClr val="B6D3EC"/>
          </a:solidFill>
          <a:ln w="6350"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Microservices</a:t>
            </a:r>
            <a:endParaRPr kumimoji="0" lang="fr-FR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6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/>
              </a:rPr>
              <a:t>-</a:t>
            </a:r>
            <a:endParaRPr kumimoji="0" lang="fr-FR" sz="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6" name="BA_SIG9">
            <a:extLst>
              <a:ext uri="{FF2B5EF4-FFF2-40B4-BE49-F238E27FC236}">
                <a16:creationId xmlns:a16="http://schemas.microsoft.com/office/drawing/2014/main" id="{A4F5405C-EF8B-6836-4976-276AAA147C05}"/>
              </a:ext>
            </a:extLst>
          </p:cNvPr>
          <p:cNvSpPr/>
          <p:nvPr/>
        </p:nvSpPr>
        <p:spPr>
          <a:xfrm>
            <a:off x="4203138" y="5331299"/>
            <a:ext cx="648000" cy="288000"/>
          </a:xfrm>
          <a:prstGeom prst="roundRect">
            <a:avLst/>
          </a:prstGeom>
          <a:solidFill>
            <a:srgbClr val="B6D3EC"/>
          </a:solidFill>
          <a:ln w="6350"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SIG9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6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/>
              </a:rPr>
              <a:t>-</a:t>
            </a:r>
            <a:endParaRPr kumimoji="0" lang="fr-FR" sz="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7" name="Gr_MVS">
            <a:extLst>
              <a:ext uri="{FF2B5EF4-FFF2-40B4-BE49-F238E27FC236}">
                <a16:creationId xmlns:a16="http://schemas.microsoft.com/office/drawing/2014/main" id="{51932E64-4EB1-1F40-F571-1C1067365105}"/>
              </a:ext>
            </a:extLst>
          </p:cNvPr>
          <p:cNvSpPr/>
          <p:nvPr/>
        </p:nvSpPr>
        <p:spPr>
          <a:xfrm>
            <a:off x="560497" y="1111645"/>
            <a:ext cx="2901105" cy="1661382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  <a:effectLst>
            <a:outerShdw blurRad="50800" dist="38100" dir="2700000" algn="ctr" rotWithShape="0">
              <a:schemeClr val="tx1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/>
            </a:endParaRPr>
          </a:p>
        </p:txBody>
      </p:sp>
      <p:sp>
        <p:nvSpPr>
          <p:cNvPr id="238" name="BA_CICS_LCL">
            <a:extLst>
              <a:ext uri="{FF2B5EF4-FFF2-40B4-BE49-F238E27FC236}">
                <a16:creationId xmlns:a16="http://schemas.microsoft.com/office/drawing/2014/main" id="{DB5E0F04-8F95-4A06-B439-39995498D942}"/>
              </a:ext>
            </a:extLst>
          </p:cNvPr>
          <p:cNvSpPr/>
          <p:nvPr/>
        </p:nvSpPr>
        <p:spPr>
          <a:xfrm>
            <a:off x="623669" y="1641943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CICS</a:t>
            </a:r>
          </a:p>
        </p:txBody>
      </p:sp>
      <p:sp>
        <p:nvSpPr>
          <p:cNvPr id="239" name="BA_DB2_LCL">
            <a:extLst>
              <a:ext uri="{FF2B5EF4-FFF2-40B4-BE49-F238E27FC236}">
                <a16:creationId xmlns:a16="http://schemas.microsoft.com/office/drawing/2014/main" id="{CA0685FE-F091-3CBF-2EBA-1272D8C31AD7}"/>
              </a:ext>
            </a:extLst>
          </p:cNvPr>
          <p:cNvSpPr/>
          <p:nvPr/>
        </p:nvSpPr>
        <p:spPr>
          <a:xfrm>
            <a:off x="1307275" y="1641222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DB2</a:t>
            </a:r>
          </a:p>
        </p:txBody>
      </p:sp>
      <p:sp>
        <p:nvSpPr>
          <p:cNvPr id="240" name="ZT_MVS">
            <a:extLst>
              <a:ext uri="{FF2B5EF4-FFF2-40B4-BE49-F238E27FC236}">
                <a16:creationId xmlns:a16="http://schemas.microsoft.com/office/drawing/2014/main" id="{F426A507-C5F9-5685-BDA3-ADF144188139}"/>
              </a:ext>
            </a:extLst>
          </p:cNvPr>
          <p:cNvSpPr txBox="1"/>
          <p:nvPr/>
        </p:nvSpPr>
        <p:spPr>
          <a:xfrm>
            <a:off x="560496" y="1111645"/>
            <a:ext cx="2901106" cy="246221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MVS Z/OS (</a:t>
            </a:r>
            <a:r>
              <a:rPr kumimoji="0" lang="fr-FR" sz="1000" b="1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Ingenium</a:t>
            </a:r>
            <a:r>
              <a:rPr kumimoji="0" lang="fr-FR" sz="1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)</a:t>
            </a:r>
            <a:endParaRPr kumimoji="0" lang="fr-FR" sz="1000" b="1" i="1" u="none" strike="noStrike" kern="1200" cap="none" spc="0" normalizeH="0" baseline="0" noProof="0" dirty="0">
              <a:ln>
                <a:noFill/>
              </a:ln>
              <a:solidFill>
                <a:srgbClr val="ED7D3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1" name="BA_ING_CA">
            <a:extLst>
              <a:ext uri="{FF2B5EF4-FFF2-40B4-BE49-F238E27FC236}">
                <a16:creationId xmlns:a16="http://schemas.microsoft.com/office/drawing/2014/main" id="{3AC31B6C-0161-9056-6F2A-7D4BE85F2CAE}"/>
              </a:ext>
            </a:extLst>
          </p:cNvPr>
          <p:cNvSpPr/>
          <p:nvPr/>
        </p:nvSpPr>
        <p:spPr>
          <a:xfrm>
            <a:off x="2043446" y="1970146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INVI/VC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Ingenium</a:t>
            </a: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 CA</a:t>
            </a:r>
          </a:p>
        </p:txBody>
      </p:sp>
      <p:sp>
        <p:nvSpPr>
          <p:cNvPr id="242" name="BA_PE_CA">
            <a:extLst>
              <a:ext uri="{FF2B5EF4-FFF2-40B4-BE49-F238E27FC236}">
                <a16:creationId xmlns:a16="http://schemas.microsoft.com/office/drawing/2014/main" id="{CE97F609-FBE6-3E31-9B8C-C8D435325DE0}"/>
              </a:ext>
            </a:extLst>
          </p:cNvPr>
          <p:cNvSpPr/>
          <p:nvPr/>
        </p:nvSpPr>
        <p:spPr>
          <a:xfrm>
            <a:off x="2716487" y="1971824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PE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Base Pers CA</a:t>
            </a:r>
          </a:p>
        </p:txBody>
      </p:sp>
      <p:sp>
        <p:nvSpPr>
          <p:cNvPr id="243" name="BA_Autre_CA">
            <a:extLst>
              <a:ext uri="{FF2B5EF4-FFF2-40B4-BE49-F238E27FC236}">
                <a16:creationId xmlns:a16="http://schemas.microsoft.com/office/drawing/2014/main" id="{68AE5F90-6B26-CDE7-6F1E-E1BD8015E67E}"/>
              </a:ext>
            </a:extLst>
          </p:cNvPr>
          <p:cNvSpPr/>
          <p:nvPr/>
        </p:nvSpPr>
        <p:spPr>
          <a:xfrm>
            <a:off x="2377796" y="2309491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…</a:t>
            </a:r>
          </a:p>
        </p:txBody>
      </p:sp>
      <p:sp>
        <p:nvSpPr>
          <p:cNvPr id="244" name="BA_ING_LCL">
            <a:extLst>
              <a:ext uri="{FF2B5EF4-FFF2-40B4-BE49-F238E27FC236}">
                <a16:creationId xmlns:a16="http://schemas.microsoft.com/office/drawing/2014/main" id="{672FE363-20A5-B749-0C7D-8C2458BB7466}"/>
              </a:ext>
            </a:extLst>
          </p:cNvPr>
          <p:cNvSpPr/>
          <p:nvPr/>
        </p:nvSpPr>
        <p:spPr>
          <a:xfrm>
            <a:off x="619469" y="1964817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INVI/VC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Ingenium</a:t>
            </a: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 LCL</a:t>
            </a:r>
          </a:p>
        </p:txBody>
      </p:sp>
      <p:sp>
        <p:nvSpPr>
          <p:cNvPr id="245" name="BA_PE_LCL">
            <a:extLst>
              <a:ext uri="{FF2B5EF4-FFF2-40B4-BE49-F238E27FC236}">
                <a16:creationId xmlns:a16="http://schemas.microsoft.com/office/drawing/2014/main" id="{F84008B9-8408-C25A-4A51-1977DF540A3F}"/>
              </a:ext>
            </a:extLst>
          </p:cNvPr>
          <p:cNvSpPr/>
          <p:nvPr/>
        </p:nvSpPr>
        <p:spPr>
          <a:xfrm>
            <a:off x="1305439" y="1963152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PE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Base Pers LCL</a:t>
            </a:r>
          </a:p>
        </p:txBody>
      </p:sp>
      <p:sp>
        <p:nvSpPr>
          <p:cNvPr id="246" name="BA_Autre_LCL">
            <a:extLst>
              <a:ext uri="{FF2B5EF4-FFF2-40B4-BE49-F238E27FC236}">
                <a16:creationId xmlns:a16="http://schemas.microsoft.com/office/drawing/2014/main" id="{DD66FEE1-90E5-6247-3B0E-1B23DEE11712}"/>
              </a:ext>
            </a:extLst>
          </p:cNvPr>
          <p:cNvSpPr/>
          <p:nvPr/>
        </p:nvSpPr>
        <p:spPr>
          <a:xfrm>
            <a:off x="1010215" y="2285082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…</a:t>
            </a:r>
          </a:p>
        </p:txBody>
      </p:sp>
      <p:cxnSp>
        <p:nvCxnSpPr>
          <p:cNvPr id="247" name="Connecteur droit">
            <a:extLst>
              <a:ext uri="{FF2B5EF4-FFF2-40B4-BE49-F238E27FC236}">
                <a16:creationId xmlns:a16="http://schemas.microsoft.com/office/drawing/2014/main" id="{F51E1B55-AC98-0612-8BBF-55688DFA4F7E}"/>
              </a:ext>
            </a:extLst>
          </p:cNvPr>
          <p:cNvCxnSpPr/>
          <p:nvPr/>
        </p:nvCxnSpPr>
        <p:spPr>
          <a:xfrm>
            <a:off x="1984365" y="1430388"/>
            <a:ext cx="4993" cy="1220450"/>
          </a:xfrm>
          <a:prstGeom prst="line">
            <a:avLst/>
          </a:prstGeom>
          <a:ln w="9525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8" name="ZT_CA">
            <a:extLst>
              <a:ext uri="{FF2B5EF4-FFF2-40B4-BE49-F238E27FC236}">
                <a16:creationId xmlns:a16="http://schemas.microsoft.com/office/drawing/2014/main" id="{6BD5F8A6-F3EB-3C6E-0830-F2A562DE7868}"/>
              </a:ext>
            </a:extLst>
          </p:cNvPr>
          <p:cNvSpPr txBox="1"/>
          <p:nvPr/>
        </p:nvSpPr>
        <p:spPr>
          <a:xfrm>
            <a:off x="2418813" y="1371697"/>
            <a:ext cx="551086" cy="246221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CA</a:t>
            </a:r>
            <a:endParaRPr kumimoji="0" lang="fr-FR" sz="1000" b="1" i="1" u="none" strike="noStrike" kern="1200" cap="none" spc="0" normalizeH="0" baseline="0" noProof="0" dirty="0">
              <a:ln>
                <a:noFill/>
              </a:ln>
              <a:solidFill>
                <a:srgbClr val="ED7D3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9" name="ZT_LCL">
            <a:extLst>
              <a:ext uri="{FF2B5EF4-FFF2-40B4-BE49-F238E27FC236}">
                <a16:creationId xmlns:a16="http://schemas.microsoft.com/office/drawing/2014/main" id="{02C2156B-86FD-F2BD-16B8-42EB5A424C29}"/>
              </a:ext>
            </a:extLst>
          </p:cNvPr>
          <p:cNvSpPr txBox="1"/>
          <p:nvPr/>
        </p:nvSpPr>
        <p:spPr>
          <a:xfrm>
            <a:off x="1032399" y="1378099"/>
            <a:ext cx="551086" cy="246221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LCL</a:t>
            </a:r>
            <a:endParaRPr kumimoji="0" lang="fr-FR" sz="1000" b="1" i="1" u="none" strike="noStrike" kern="1200" cap="none" spc="0" normalizeH="0" baseline="0" noProof="0" dirty="0">
              <a:ln>
                <a:noFill/>
              </a:ln>
              <a:solidFill>
                <a:srgbClr val="ED7D3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0" name="BA_CICS_CA">
            <a:extLst>
              <a:ext uri="{FF2B5EF4-FFF2-40B4-BE49-F238E27FC236}">
                <a16:creationId xmlns:a16="http://schemas.microsoft.com/office/drawing/2014/main" id="{4220F6E4-3067-66AB-F352-4A4CAA1B3273}"/>
              </a:ext>
            </a:extLst>
          </p:cNvPr>
          <p:cNvSpPr/>
          <p:nvPr/>
        </p:nvSpPr>
        <p:spPr>
          <a:xfrm>
            <a:off x="2021573" y="1646459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CICS</a:t>
            </a:r>
          </a:p>
        </p:txBody>
      </p:sp>
      <p:sp>
        <p:nvSpPr>
          <p:cNvPr id="251" name="BA_DB2_CA">
            <a:extLst>
              <a:ext uri="{FF2B5EF4-FFF2-40B4-BE49-F238E27FC236}">
                <a16:creationId xmlns:a16="http://schemas.microsoft.com/office/drawing/2014/main" id="{055A50F9-E5D0-6C19-C0EC-FEA1C01AF6C7}"/>
              </a:ext>
            </a:extLst>
          </p:cNvPr>
          <p:cNvSpPr/>
          <p:nvPr/>
        </p:nvSpPr>
        <p:spPr>
          <a:xfrm>
            <a:off x="2717879" y="1645738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DB2</a:t>
            </a:r>
          </a:p>
        </p:txBody>
      </p:sp>
      <p:sp>
        <p:nvSpPr>
          <p:cNvPr id="252" name="BA_GG">
            <a:extLst>
              <a:ext uri="{FF2B5EF4-FFF2-40B4-BE49-F238E27FC236}">
                <a16:creationId xmlns:a16="http://schemas.microsoft.com/office/drawing/2014/main" id="{11609293-95B8-8998-FBAE-5793F36E3954}"/>
              </a:ext>
            </a:extLst>
          </p:cNvPr>
          <p:cNvSpPr/>
          <p:nvPr/>
        </p:nvSpPr>
        <p:spPr>
          <a:xfrm>
            <a:off x="5540187" y="2498620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GG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Sim.Prév</a:t>
            </a: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. Décès</a:t>
            </a:r>
          </a:p>
        </p:txBody>
      </p:sp>
      <p:sp>
        <p:nvSpPr>
          <p:cNvPr id="253" name="BA_GH">
            <a:extLst>
              <a:ext uri="{FF2B5EF4-FFF2-40B4-BE49-F238E27FC236}">
                <a16:creationId xmlns:a16="http://schemas.microsoft.com/office/drawing/2014/main" id="{45901B02-425F-DCFC-2A73-3D8F5F83B185}"/>
              </a:ext>
            </a:extLst>
          </p:cNvPr>
          <p:cNvSpPr/>
          <p:nvPr/>
        </p:nvSpPr>
        <p:spPr>
          <a:xfrm>
            <a:off x="6247379" y="2507699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GH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Moteur </a:t>
            </a:r>
            <a:r>
              <a:rPr kumimoji="0" lang="fr-FR" sz="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Epicaste</a:t>
            </a:r>
            <a:endParaRPr kumimoji="0" lang="fr-FR" sz="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4" name="Gr_Editique">
            <a:extLst>
              <a:ext uri="{FF2B5EF4-FFF2-40B4-BE49-F238E27FC236}">
                <a16:creationId xmlns:a16="http://schemas.microsoft.com/office/drawing/2014/main" id="{11DB6A4C-A820-8582-681E-49871C012B26}"/>
              </a:ext>
            </a:extLst>
          </p:cNvPr>
          <p:cNvSpPr/>
          <p:nvPr/>
        </p:nvSpPr>
        <p:spPr>
          <a:xfrm>
            <a:off x="6994566" y="3106138"/>
            <a:ext cx="754043" cy="61200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  <a:effectLst>
            <a:outerShdw blurRad="50800" dist="38100" dir="2700000" algn="ctr" rotWithShape="0">
              <a:schemeClr val="tx1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/>
            </a:endParaRPr>
          </a:p>
        </p:txBody>
      </p:sp>
      <p:sp>
        <p:nvSpPr>
          <p:cNvPr id="255" name="ZT_Editique">
            <a:extLst>
              <a:ext uri="{FF2B5EF4-FFF2-40B4-BE49-F238E27FC236}">
                <a16:creationId xmlns:a16="http://schemas.microsoft.com/office/drawing/2014/main" id="{9A220092-976C-5E85-FBDB-4644B371206C}"/>
              </a:ext>
            </a:extLst>
          </p:cNvPr>
          <p:cNvSpPr txBox="1"/>
          <p:nvPr/>
        </p:nvSpPr>
        <p:spPr>
          <a:xfrm>
            <a:off x="6967388" y="3133723"/>
            <a:ext cx="781221" cy="246221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Editique</a:t>
            </a:r>
          </a:p>
        </p:txBody>
      </p:sp>
      <p:sp>
        <p:nvSpPr>
          <p:cNvPr id="256" name="BA_ONDM">
            <a:extLst>
              <a:ext uri="{FF2B5EF4-FFF2-40B4-BE49-F238E27FC236}">
                <a16:creationId xmlns:a16="http://schemas.microsoft.com/office/drawing/2014/main" id="{39F39903-1993-9B4E-332E-0BBDF31ACDAC}"/>
              </a:ext>
            </a:extLst>
          </p:cNvPr>
          <p:cNvSpPr/>
          <p:nvPr/>
        </p:nvSpPr>
        <p:spPr>
          <a:xfrm>
            <a:off x="7053165" y="3363079"/>
            <a:ext cx="648000" cy="276281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ONDM</a:t>
            </a:r>
            <a:endParaRPr kumimoji="0" lang="fr-FR" sz="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On </a:t>
            </a:r>
            <a:r>
              <a:rPr kumimoji="0" lang="fr-FR" sz="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Demand</a:t>
            </a:r>
            <a:endParaRPr kumimoji="0" lang="fr-FR" sz="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257" name="Groupe_Retour">
            <a:extLst>
              <a:ext uri="{FF2B5EF4-FFF2-40B4-BE49-F238E27FC236}">
                <a16:creationId xmlns:a16="http://schemas.microsoft.com/office/drawing/2014/main" id="{B85C14AA-D064-2788-97AF-CFDF6320C652}"/>
              </a:ext>
            </a:extLst>
          </p:cNvPr>
          <p:cNvGrpSpPr/>
          <p:nvPr/>
        </p:nvGrpSpPr>
        <p:grpSpPr>
          <a:xfrm>
            <a:off x="0" y="0"/>
            <a:ext cx="1417975" cy="461665"/>
            <a:chOff x="0" y="0"/>
            <a:chExt cx="1417975" cy="461665"/>
          </a:xfrm>
        </p:grpSpPr>
        <p:sp>
          <p:nvSpPr>
            <p:cNvPr id="258" name="Rectangle 257">
              <a:hlinkClick r:id="rId3" action="ppaction://hlinksldjump"/>
              <a:extLst>
                <a:ext uri="{FF2B5EF4-FFF2-40B4-BE49-F238E27FC236}">
                  <a16:creationId xmlns:a16="http://schemas.microsoft.com/office/drawing/2014/main" id="{1EDBC3F7-45F4-8560-7E71-AFA023B778A4}"/>
                </a:ext>
              </a:extLst>
            </p:cNvPr>
            <p:cNvSpPr/>
            <p:nvPr/>
          </p:nvSpPr>
          <p:spPr>
            <a:xfrm>
              <a:off x="0" y="0"/>
              <a:ext cx="768479" cy="461665"/>
            </a:xfrm>
            <a:prstGeom prst="rect">
              <a:avLst/>
            </a:prstGeom>
            <a:noFill/>
          </p:spPr>
          <p:txBody>
            <a:bodyPr wrap="square" lIns="91440" tIns="45720" rIns="91440" bIns="45720" anchor="ctr">
              <a:spAutoFit/>
            </a:bodyPr>
            <a:lstStyle/>
            <a:p>
              <a:pPr algn="ctr"/>
              <a:r>
                <a:rPr lang="fr-FR" sz="2400" b="1" spc="50" dirty="0">
                  <a:ln w="9525" cmpd="sng">
                    <a:solidFill>
                      <a:schemeClr val="accent1"/>
                    </a:solidFill>
                    <a:prstDash val="solid"/>
                  </a:ln>
                  <a:solidFill>
                    <a:srgbClr val="70AD47">
                      <a:tint val="1000"/>
                    </a:srgbClr>
                  </a:solidFill>
                  <a:effectLst>
                    <a:glow rad="38100">
                      <a:schemeClr val="accent1">
                        <a:alpha val="40000"/>
                      </a:schemeClr>
                    </a:glow>
                  </a:effectLst>
                  <a:latin typeface="HoloLens MDL2 Assets" panose="050A0102010101010101" pitchFamily="18" charset="0"/>
                </a:rPr>
                <a:t></a:t>
              </a:r>
              <a:endParaRPr lang="fr-FR" sz="1400" dirty="0">
                <a:solidFill>
                  <a:srgbClr val="5B9BD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/>
              </a:endParaRPr>
            </a:p>
          </p:txBody>
        </p:sp>
        <p:sp>
          <p:nvSpPr>
            <p:cNvPr id="259" name="ZoneTexte 258">
              <a:extLst>
                <a:ext uri="{FF2B5EF4-FFF2-40B4-BE49-F238E27FC236}">
                  <a16:creationId xmlns:a16="http://schemas.microsoft.com/office/drawing/2014/main" id="{429A571F-B552-8CA2-4737-D4AE1E5115EC}"/>
                </a:ext>
              </a:extLst>
            </p:cNvPr>
            <p:cNvSpPr txBox="1"/>
            <p:nvPr/>
          </p:nvSpPr>
          <p:spPr>
            <a:xfrm>
              <a:off x="525450" y="71273"/>
              <a:ext cx="89252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1400" dirty="0">
                  <a:solidFill>
                    <a:srgbClr val="5B9BD5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libri" panose="020F0502020204030204"/>
                </a:rPr>
                <a:t>Retour</a:t>
              </a:r>
              <a:endParaRPr lang="fr-FR" sz="1400" dirty="0"/>
            </a:p>
          </p:txBody>
        </p:sp>
      </p:grpSp>
      <p:sp>
        <p:nvSpPr>
          <p:cNvPr id="260" name="BA_PW">
            <a:extLst>
              <a:ext uri="{FF2B5EF4-FFF2-40B4-BE49-F238E27FC236}">
                <a16:creationId xmlns:a16="http://schemas.microsoft.com/office/drawing/2014/main" id="{872BCFB0-D23C-7936-01D7-661C5BC0BF0D}"/>
              </a:ext>
            </a:extLst>
          </p:cNvPr>
          <p:cNvSpPr/>
          <p:nvPr/>
        </p:nvSpPr>
        <p:spPr>
          <a:xfrm>
            <a:off x="4517645" y="1819606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PW</a:t>
            </a:r>
            <a:br>
              <a:rPr lang="fr-FR" sz="10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/>
              </a:rPr>
            </a:b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SFC</a:t>
            </a:r>
          </a:p>
        </p:txBody>
      </p:sp>
      <p:sp>
        <p:nvSpPr>
          <p:cNvPr id="2" name="Étoile à 5 branches">
            <a:extLst>
              <a:ext uri="{FF2B5EF4-FFF2-40B4-BE49-F238E27FC236}">
                <a16:creationId xmlns:a16="http://schemas.microsoft.com/office/drawing/2014/main" id="{0D193A7E-FDE5-2DB0-659A-7DF85980CC50}"/>
              </a:ext>
            </a:extLst>
          </p:cNvPr>
          <p:cNvSpPr/>
          <p:nvPr/>
        </p:nvSpPr>
        <p:spPr>
          <a:xfrm>
            <a:off x="9368151" y="554532"/>
            <a:ext cx="108000" cy="108000"/>
          </a:xfrm>
          <a:prstGeom prst="star5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Légende_Nouveau_Bloc">
            <a:extLst>
              <a:ext uri="{FF2B5EF4-FFF2-40B4-BE49-F238E27FC236}">
                <a16:creationId xmlns:a16="http://schemas.microsoft.com/office/drawing/2014/main" id="{F16468F8-55E5-B7DC-34B3-3E0EBF8ADF60}"/>
              </a:ext>
            </a:extLst>
          </p:cNvPr>
          <p:cNvSpPr txBox="1"/>
          <p:nvPr/>
        </p:nvSpPr>
        <p:spPr>
          <a:xfrm>
            <a:off x="9464720" y="491658"/>
            <a:ext cx="934871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Nouveau bloc</a:t>
            </a:r>
          </a:p>
        </p:txBody>
      </p:sp>
      <p:sp>
        <p:nvSpPr>
          <p:cNvPr id="4" name="Légende_Nouveau_Bloc">
            <a:extLst>
              <a:ext uri="{FF2B5EF4-FFF2-40B4-BE49-F238E27FC236}">
                <a16:creationId xmlns:a16="http://schemas.microsoft.com/office/drawing/2014/main" id="{12926950-C6A7-D5B6-4B5C-BF4546DE4475}"/>
              </a:ext>
            </a:extLst>
          </p:cNvPr>
          <p:cNvSpPr txBox="1"/>
          <p:nvPr/>
        </p:nvSpPr>
        <p:spPr>
          <a:xfrm>
            <a:off x="9467926" y="723619"/>
            <a:ext cx="963725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Bloc supprimé</a:t>
            </a:r>
          </a:p>
        </p:txBody>
      </p:sp>
      <p:sp>
        <p:nvSpPr>
          <p:cNvPr id="5" name="Croix 4">
            <a:extLst>
              <a:ext uri="{FF2B5EF4-FFF2-40B4-BE49-F238E27FC236}">
                <a16:creationId xmlns:a16="http://schemas.microsoft.com/office/drawing/2014/main" id="{7D50C80E-7D49-D5D3-6C88-FB4E4F38070C}"/>
              </a:ext>
            </a:extLst>
          </p:cNvPr>
          <p:cNvSpPr/>
          <p:nvPr/>
        </p:nvSpPr>
        <p:spPr>
          <a:xfrm rot="2700000">
            <a:off x="9371629" y="785103"/>
            <a:ext cx="108000" cy="108000"/>
          </a:xfrm>
          <a:prstGeom prst="plus">
            <a:avLst>
              <a:gd name="adj" fmla="val 45756"/>
            </a:avLst>
          </a:prstGeom>
          <a:solidFill>
            <a:schemeClr val="tx1"/>
          </a:solidFill>
          <a:ln>
            <a:solidFill>
              <a:srgbClr val="FF0000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BA_GH">
            <a:extLst>
              <a:ext uri="{FF2B5EF4-FFF2-40B4-BE49-F238E27FC236}">
                <a16:creationId xmlns:a16="http://schemas.microsoft.com/office/drawing/2014/main" id="{92778C74-5ACA-A3DE-153B-09BEDE5BE219}"/>
              </a:ext>
            </a:extLst>
          </p:cNvPr>
          <p:cNvSpPr/>
          <p:nvPr/>
        </p:nvSpPr>
        <p:spPr>
          <a:xfrm>
            <a:off x="6247379" y="1786384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HJ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Contenus statiques</a:t>
            </a:r>
          </a:p>
        </p:txBody>
      </p:sp>
      <p:sp>
        <p:nvSpPr>
          <p:cNvPr id="16" name="BA_H4">
            <a:extLst>
              <a:ext uri="{FF2B5EF4-FFF2-40B4-BE49-F238E27FC236}">
                <a16:creationId xmlns:a16="http://schemas.microsoft.com/office/drawing/2014/main" id="{6134703F-2460-3272-B606-2170A3D9AAE3}"/>
              </a:ext>
            </a:extLst>
          </p:cNvPr>
          <p:cNvSpPr/>
          <p:nvPr/>
        </p:nvSpPr>
        <p:spPr>
          <a:xfrm>
            <a:off x="9490384" y="2374473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H4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API VR </a:t>
            </a:r>
            <a:r>
              <a:rPr kumimoji="0" lang="fr-FR" sz="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Selfcare</a:t>
            </a:r>
            <a:endParaRPr kumimoji="0" lang="fr-FR" sz="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BA_HH">
            <a:extLst>
              <a:ext uri="{FF2B5EF4-FFF2-40B4-BE49-F238E27FC236}">
                <a16:creationId xmlns:a16="http://schemas.microsoft.com/office/drawing/2014/main" id="{55BB019D-6B57-375A-48AD-A8FA5710E9FD}"/>
              </a:ext>
            </a:extLst>
          </p:cNvPr>
          <p:cNvSpPr/>
          <p:nvPr/>
        </p:nvSpPr>
        <p:spPr>
          <a:xfrm>
            <a:off x="10160477" y="2374473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HH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API Sim. épargne</a:t>
            </a:r>
          </a:p>
        </p:txBody>
      </p:sp>
      <p:sp>
        <p:nvSpPr>
          <p:cNvPr id="23" name="Gr_LCL">
            <a:extLst>
              <a:ext uri="{FF2B5EF4-FFF2-40B4-BE49-F238E27FC236}">
                <a16:creationId xmlns:a16="http://schemas.microsoft.com/office/drawing/2014/main" id="{974C3398-5679-B309-A559-2116CAC51B28}"/>
              </a:ext>
            </a:extLst>
          </p:cNvPr>
          <p:cNvSpPr/>
          <p:nvPr/>
        </p:nvSpPr>
        <p:spPr>
          <a:xfrm>
            <a:off x="6075866" y="5122749"/>
            <a:ext cx="5632947" cy="1248594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ZT_CATS">
            <a:extLst>
              <a:ext uri="{FF2B5EF4-FFF2-40B4-BE49-F238E27FC236}">
                <a16:creationId xmlns:a16="http://schemas.microsoft.com/office/drawing/2014/main" id="{B291DA2D-29D2-56D4-C69F-79DF09F935E7}"/>
              </a:ext>
            </a:extLst>
          </p:cNvPr>
          <p:cNvSpPr txBox="1"/>
          <p:nvPr/>
        </p:nvSpPr>
        <p:spPr>
          <a:xfrm>
            <a:off x="6122619" y="5107819"/>
            <a:ext cx="5399528" cy="246221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LCL</a:t>
            </a:r>
            <a:endParaRPr kumimoji="0" lang="fr-FR" sz="1000" b="1" i="1" u="none" strike="noStrike" kern="1200" cap="none" spc="0" normalizeH="0" baseline="0" noProof="0" dirty="0">
              <a:ln>
                <a:noFill/>
              </a:ln>
              <a:solidFill>
                <a:srgbClr val="7030A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BA_BEL">
            <a:extLst>
              <a:ext uri="{FF2B5EF4-FFF2-40B4-BE49-F238E27FC236}">
                <a16:creationId xmlns:a16="http://schemas.microsoft.com/office/drawing/2014/main" id="{5CC8C553-405B-6E1F-D450-D086321E4C3B}"/>
              </a:ext>
            </a:extLst>
          </p:cNvPr>
          <p:cNvSpPr/>
          <p:nvPr/>
        </p:nvSpPr>
        <p:spPr>
          <a:xfrm>
            <a:off x="6135322" y="5643027"/>
            <a:ext cx="648000" cy="288000"/>
          </a:xfrm>
          <a:prstGeom prst="roundRect">
            <a:avLst/>
          </a:prstGeom>
          <a:solidFill>
            <a:srgbClr val="B6D3EC"/>
          </a:solidFill>
          <a:ln w="6350">
            <a:solidFill>
              <a:schemeClr val="accent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BEL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6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/>
              </a:rPr>
              <a:t>-</a:t>
            </a:r>
            <a:endParaRPr kumimoji="0" lang="fr-FR" sz="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BA_Docapost">
            <a:extLst>
              <a:ext uri="{FF2B5EF4-FFF2-40B4-BE49-F238E27FC236}">
                <a16:creationId xmlns:a16="http://schemas.microsoft.com/office/drawing/2014/main" id="{1B4655A8-01D2-3955-BC70-7E2E5DCA5F16}"/>
              </a:ext>
            </a:extLst>
          </p:cNvPr>
          <p:cNvSpPr/>
          <p:nvPr/>
        </p:nvSpPr>
        <p:spPr>
          <a:xfrm>
            <a:off x="6145849" y="5987729"/>
            <a:ext cx="648000" cy="288000"/>
          </a:xfrm>
          <a:prstGeom prst="roundRect">
            <a:avLst/>
          </a:prstGeom>
          <a:solidFill>
            <a:srgbClr val="B6D3EC"/>
          </a:solidFill>
          <a:ln w="6350">
            <a:solidFill>
              <a:schemeClr val="accent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Docapost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6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/>
              </a:rPr>
              <a:t>-</a:t>
            </a:r>
            <a:endParaRPr kumimoji="0" lang="fr-FR" sz="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BA_Mescomptes">
            <a:extLst>
              <a:ext uri="{FF2B5EF4-FFF2-40B4-BE49-F238E27FC236}">
                <a16:creationId xmlns:a16="http://schemas.microsoft.com/office/drawing/2014/main" id="{07CDFE93-BC1A-9969-9A2D-2ABBF94F3A3D}"/>
              </a:ext>
            </a:extLst>
          </p:cNvPr>
          <p:cNvSpPr/>
          <p:nvPr/>
        </p:nvSpPr>
        <p:spPr>
          <a:xfrm>
            <a:off x="6135322" y="5323284"/>
            <a:ext cx="1326281" cy="288000"/>
          </a:xfrm>
          <a:prstGeom prst="roundRect">
            <a:avLst/>
          </a:prstGeom>
          <a:solidFill>
            <a:srgbClr val="B6D3EC"/>
          </a:solidFill>
          <a:ln w="6350">
            <a:solidFill>
              <a:schemeClr val="accent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MesComptes</a:t>
            </a:r>
            <a:endParaRPr kumimoji="0" lang="fr-FR" sz="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Gr_SimulAssur">
            <a:extLst>
              <a:ext uri="{FF2B5EF4-FFF2-40B4-BE49-F238E27FC236}">
                <a16:creationId xmlns:a16="http://schemas.microsoft.com/office/drawing/2014/main" id="{A2D563E0-2AA1-1516-A7B3-4A6DB11E7AAA}"/>
              </a:ext>
            </a:extLst>
          </p:cNvPr>
          <p:cNvSpPr/>
          <p:nvPr/>
        </p:nvSpPr>
        <p:spPr>
          <a:xfrm>
            <a:off x="4476637" y="3792663"/>
            <a:ext cx="1627675" cy="1021008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  <a:effectLst>
            <a:outerShdw blurRad="50800" dist="38100" dir="2700000" algn="ctr" rotWithShape="0">
              <a:schemeClr val="tx1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/>
            </a:endParaRPr>
          </a:p>
        </p:txBody>
      </p:sp>
      <p:sp>
        <p:nvSpPr>
          <p:cNvPr id="8" name="ZT_SimulAssur">
            <a:extLst>
              <a:ext uri="{FF2B5EF4-FFF2-40B4-BE49-F238E27FC236}">
                <a16:creationId xmlns:a16="http://schemas.microsoft.com/office/drawing/2014/main" id="{A64C12D0-D24D-171D-9C8D-D4C091649524}"/>
              </a:ext>
            </a:extLst>
          </p:cNvPr>
          <p:cNvSpPr txBox="1"/>
          <p:nvPr/>
        </p:nvSpPr>
        <p:spPr>
          <a:xfrm>
            <a:off x="4500323" y="3819978"/>
            <a:ext cx="1714025" cy="246221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1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SimulAssur</a:t>
            </a:r>
            <a:endParaRPr kumimoji="0" lang="fr-FR" sz="1000" b="1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BA_VS">
            <a:extLst>
              <a:ext uri="{FF2B5EF4-FFF2-40B4-BE49-F238E27FC236}">
                <a16:creationId xmlns:a16="http://schemas.microsoft.com/office/drawing/2014/main" id="{4183730E-172F-7DF0-F278-391C5B239A41}"/>
              </a:ext>
            </a:extLst>
          </p:cNvPr>
          <p:cNvSpPr/>
          <p:nvPr/>
        </p:nvSpPr>
        <p:spPr>
          <a:xfrm>
            <a:off x="4611474" y="4115819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0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/>
              </a:rPr>
              <a:t>VS</a:t>
            </a:r>
            <a:endParaRPr kumimoji="0" lang="fr-FR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Sim, </a:t>
            </a:r>
            <a:r>
              <a:rPr kumimoji="0" lang="fr-FR" sz="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Ass.V</a:t>
            </a: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 pour LCL</a:t>
            </a:r>
          </a:p>
        </p:txBody>
      </p:sp>
      <p:sp>
        <p:nvSpPr>
          <p:cNvPr id="10" name="BA_RS">
            <a:extLst>
              <a:ext uri="{FF2B5EF4-FFF2-40B4-BE49-F238E27FC236}">
                <a16:creationId xmlns:a16="http://schemas.microsoft.com/office/drawing/2014/main" id="{615EB0F4-EC21-CFD9-AF75-20870970E756}"/>
              </a:ext>
            </a:extLst>
          </p:cNvPr>
          <p:cNvSpPr/>
          <p:nvPr/>
        </p:nvSpPr>
        <p:spPr>
          <a:xfrm>
            <a:off x="5363789" y="4119805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SR</a:t>
            </a:r>
          </a:p>
          <a:p>
            <a:pPr lvl="0" algn="ctr">
              <a:defRPr/>
            </a:pPr>
            <a:r>
              <a:rPr lang="fr-FR" sz="6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Sim, </a:t>
            </a:r>
            <a:r>
              <a:rPr lang="fr-FR" sz="600" dirty="0" err="1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Ass.V</a:t>
            </a:r>
            <a:r>
              <a:rPr lang="fr-FR" sz="6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pour CA</a:t>
            </a:r>
          </a:p>
        </p:txBody>
      </p:sp>
      <p:sp>
        <p:nvSpPr>
          <p:cNvPr id="11" name="BA_EP">
            <a:extLst>
              <a:ext uri="{FF2B5EF4-FFF2-40B4-BE49-F238E27FC236}">
                <a16:creationId xmlns:a16="http://schemas.microsoft.com/office/drawing/2014/main" id="{81A61B57-D47D-97F7-ACE6-6B85A3169E65}"/>
              </a:ext>
            </a:extLst>
          </p:cNvPr>
          <p:cNvSpPr/>
          <p:nvPr/>
        </p:nvSpPr>
        <p:spPr>
          <a:xfrm>
            <a:off x="4611474" y="4500624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0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/>
              </a:rPr>
              <a:t>EP</a:t>
            </a:r>
            <a:endParaRPr kumimoji="0" lang="fr-FR" sz="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Sim, EPICASTE</a:t>
            </a:r>
          </a:p>
        </p:txBody>
      </p:sp>
      <p:sp>
        <p:nvSpPr>
          <p:cNvPr id="12" name="BA_Autre_PFD">
            <a:extLst>
              <a:ext uri="{FF2B5EF4-FFF2-40B4-BE49-F238E27FC236}">
                <a16:creationId xmlns:a16="http://schemas.microsoft.com/office/drawing/2014/main" id="{C246A652-9010-E88B-13CD-004DB11840FF}"/>
              </a:ext>
            </a:extLst>
          </p:cNvPr>
          <p:cNvSpPr/>
          <p:nvPr/>
        </p:nvSpPr>
        <p:spPr>
          <a:xfrm>
            <a:off x="5363789" y="4472097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48396748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FBD829-0733-C584-4EA5-A5E8A5841A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r_Global">
            <a:extLst>
              <a:ext uri="{FF2B5EF4-FFF2-40B4-BE49-F238E27FC236}">
                <a16:creationId xmlns:a16="http://schemas.microsoft.com/office/drawing/2014/main" id="{8C4E2F0D-841B-5F13-2524-298CFBD366B2}"/>
              </a:ext>
            </a:extLst>
          </p:cNvPr>
          <p:cNvSpPr/>
          <p:nvPr/>
        </p:nvSpPr>
        <p:spPr>
          <a:xfrm>
            <a:off x="156924" y="1028327"/>
            <a:ext cx="11860567" cy="5512742"/>
          </a:xfrm>
          <a:prstGeom prst="roundRect">
            <a:avLst/>
          </a:prstGeom>
          <a:solidFill>
            <a:schemeClr val="bg1"/>
          </a:solidFill>
          <a:ln>
            <a:solidFill>
              <a:schemeClr val="accent1"/>
            </a:solidFill>
          </a:ln>
          <a:effectLst>
            <a:outerShdw blurRad="50800" dist="38100" dir="2700000" algn="tl" rotWithShape="0">
              <a:schemeClr val="tx1"/>
            </a:outerShdw>
          </a:effectLst>
        </p:spPr>
        <p:txBody>
          <a:bodyPr wrap="none" lIns="0" rIns="0" rtlCol="0" anchor="ctr">
            <a:noAutofit/>
          </a:bodyPr>
          <a:lstStyle/>
          <a:p>
            <a:pPr algn="ctr"/>
            <a:endParaRPr lang="fr-FR" sz="1600" b="1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1" name="Gr_NOVA">
            <a:extLst>
              <a:ext uri="{FF2B5EF4-FFF2-40B4-BE49-F238E27FC236}">
                <a16:creationId xmlns:a16="http://schemas.microsoft.com/office/drawing/2014/main" id="{B29CB9D2-9B0F-28B8-2E8F-1731D7E90C54}"/>
              </a:ext>
            </a:extLst>
          </p:cNvPr>
          <p:cNvSpPr/>
          <p:nvPr/>
        </p:nvSpPr>
        <p:spPr>
          <a:xfrm>
            <a:off x="5407282" y="1111645"/>
            <a:ext cx="2350211" cy="1879964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  <a:effectLst>
            <a:outerShdw blurRad="50800" dist="38100" dir="2700000" algn="ctr" rotWithShape="0">
              <a:schemeClr val="tx1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/>
            </a:endParaRPr>
          </a:p>
        </p:txBody>
      </p:sp>
      <p:sp>
        <p:nvSpPr>
          <p:cNvPr id="92" name="ZT_NOVA">
            <a:extLst>
              <a:ext uri="{FF2B5EF4-FFF2-40B4-BE49-F238E27FC236}">
                <a16:creationId xmlns:a16="http://schemas.microsoft.com/office/drawing/2014/main" id="{40FC2DB3-7BAD-9BBC-7319-82AA91E43AB5}"/>
              </a:ext>
            </a:extLst>
          </p:cNvPr>
          <p:cNvSpPr txBox="1"/>
          <p:nvPr/>
        </p:nvSpPr>
        <p:spPr>
          <a:xfrm>
            <a:off x="5402982" y="1138960"/>
            <a:ext cx="2354511" cy="246221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NOVA</a:t>
            </a:r>
            <a:endParaRPr kumimoji="0" lang="fr-FR" sz="1000" b="1" i="1" u="none" strike="noStrike" kern="1200" cap="none" spc="0" normalizeH="0" baseline="0" noProof="0" dirty="0">
              <a:ln>
                <a:noFill/>
              </a:ln>
              <a:solidFill>
                <a:srgbClr val="ED7D3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8" name="BA_OX">
            <a:extLst>
              <a:ext uri="{FF2B5EF4-FFF2-40B4-BE49-F238E27FC236}">
                <a16:creationId xmlns:a16="http://schemas.microsoft.com/office/drawing/2014/main" id="{C6271CE3-0632-3E41-AC4E-75F08110F2DB}"/>
              </a:ext>
            </a:extLst>
          </p:cNvPr>
          <p:cNvSpPr/>
          <p:nvPr/>
        </p:nvSpPr>
        <p:spPr>
          <a:xfrm>
            <a:off x="5540187" y="1434370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OX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Opérations </a:t>
            </a:r>
            <a:r>
              <a:rPr kumimoji="0" lang="fr-FR" sz="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Ass</a:t>
            </a: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.</a:t>
            </a:r>
          </a:p>
        </p:txBody>
      </p:sp>
      <p:sp>
        <p:nvSpPr>
          <p:cNvPr id="99" name="BA_MX">
            <a:extLst>
              <a:ext uri="{FF2B5EF4-FFF2-40B4-BE49-F238E27FC236}">
                <a16:creationId xmlns:a16="http://schemas.microsoft.com/office/drawing/2014/main" id="{CD738474-CD23-B209-9B59-E345C3CE2974}"/>
              </a:ext>
            </a:extLst>
          </p:cNvPr>
          <p:cNvSpPr/>
          <p:nvPr/>
        </p:nvSpPr>
        <p:spPr>
          <a:xfrm>
            <a:off x="6247379" y="1434370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MX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Services  internes</a:t>
            </a:r>
          </a:p>
        </p:txBody>
      </p:sp>
      <p:sp>
        <p:nvSpPr>
          <p:cNvPr id="108" name="BA_SX">
            <a:extLst>
              <a:ext uri="{FF2B5EF4-FFF2-40B4-BE49-F238E27FC236}">
                <a16:creationId xmlns:a16="http://schemas.microsoft.com/office/drawing/2014/main" id="{E07A9846-610E-5486-EF14-D80931E57B5E}"/>
              </a:ext>
            </a:extLst>
          </p:cNvPr>
          <p:cNvSpPr/>
          <p:nvPr/>
        </p:nvSpPr>
        <p:spPr>
          <a:xfrm>
            <a:off x="6957409" y="1434370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SX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Socle Exposition</a:t>
            </a:r>
          </a:p>
        </p:txBody>
      </p:sp>
      <p:sp>
        <p:nvSpPr>
          <p:cNvPr id="117" name="BA_HX">
            <a:extLst>
              <a:ext uri="{FF2B5EF4-FFF2-40B4-BE49-F238E27FC236}">
                <a16:creationId xmlns:a16="http://schemas.microsoft.com/office/drawing/2014/main" id="{3ACA93AA-58FC-506A-6421-A2D45034CCB6}"/>
              </a:ext>
            </a:extLst>
          </p:cNvPr>
          <p:cNvSpPr/>
          <p:nvPr/>
        </p:nvSpPr>
        <p:spPr>
          <a:xfrm>
            <a:off x="5540187" y="1791450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HX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Habilitations PCO</a:t>
            </a:r>
          </a:p>
        </p:txBody>
      </p:sp>
      <p:sp>
        <p:nvSpPr>
          <p:cNvPr id="119" name="BA_RX">
            <a:extLst>
              <a:ext uri="{FF2B5EF4-FFF2-40B4-BE49-F238E27FC236}">
                <a16:creationId xmlns:a16="http://schemas.microsoft.com/office/drawing/2014/main" id="{9288B98E-D8E5-2CDE-BFE0-60535C2A1240}"/>
              </a:ext>
            </a:extLst>
          </p:cNvPr>
          <p:cNvSpPr/>
          <p:nvPr/>
        </p:nvSpPr>
        <p:spPr>
          <a:xfrm>
            <a:off x="6957409" y="1791450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RX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Socle Editique</a:t>
            </a:r>
          </a:p>
        </p:txBody>
      </p:sp>
      <p:sp>
        <p:nvSpPr>
          <p:cNvPr id="120" name="BA_WP">
            <a:extLst>
              <a:ext uri="{FF2B5EF4-FFF2-40B4-BE49-F238E27FC236}">
                <a16:creationId xmlns:a16="http://schemas.microsoft.com/office/drawing/2014/main" id="{AB2345B0-B1C8-5F33-FF6D-11C897BC8ACE}"/>
              </a:ext>
            </a:extLst>
          </p:cNvPr>
          <p:cNvSpPr/>
          <p:nvPr/>
        </p:nvSpPr>
        <p:spPr>
          <a:xfrm>
            <a:off x="5542712" y="2146978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WP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Lanceur PCO</a:t>
            </a:r>
          </a:p>
        </p:txBody>
      </p:sp>
      <p:sp>
        <p:nvSpPr>
          <p:cNvPr id="121" name="BA_FM">
            <a:extLst>
              <a:ext uri="{FF2B5EF4-FFF2-40B4-BE49-F238E27FC236}">
                <a16:creationId xmlns:a16="http://schemas.microsoft.com/office/drawing/2014/main" id="{EA4C1CB7-A039-54CE-3546-70223B7539E6}"/>
              </a:ext>
            </a:extLst>
          </p:cNvPr>
          <p:cNvSpPr/>
          <p:nvPr/>
        </p:nvSpPr>
        <p:spPr>
          <a:xfrm>
            <a:off x="6251156" y="2146978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FM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Fonctions IHM</a:t>
            </a:r>
          </a:p>
        </p:txBody>
      </p:sp>
      <p:sp>
        <p:nvSpPr>
          <p:cNvPr id="123" name="BA_JF">
            <a:extLst>
              <a:ext uri="{FF2B5EF4-FFF2-40B4-BE49-F238E27FC236}">
                <a16:creationId xmlns:a16="http://schemas.microsoft.com/office/drawing/2014/main" id="{3A087D98-0FD0-2B05-46FD-603A7D7BA880}"/>
              </a:ext>
            </a:extLst>
          </p:cNvPr>
          <p:cNvSpPr/>
          <p:nvPr/>
        </p:nvSpPr>
        <p:spPr>
          <a:xfrm>
            <a:off x="6955140" y="2146978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JF</a:t>
            </a:r>
            <a:endParaRPr kumimoji="0" lang="fr-FR" sz="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Animation </a:t>
            </a:r>
            <a:r>
              <a:rPr kumimoji="0" lang="fr-FR" sz="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comm</a:t>
            </a: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.</a:t>
            </a:r>
          </a:p>
        </p:txBody>
      </p:sp>
      <p:sp>
        <p:nvSpPr>
          <p:cNvPr id="124" name="Gr_Avanet">
            <a:extLst>
              <a:ext uri="{FF2B5EF4-FFF2-40B4-BE49-F238E27FC236}">
                <a16:creationId xmlns:a16="http://schemas.microsoft.com/office/drawing/2014/main" id="{02841C0C-00C2-0F9B-ED61-62EE43E827E8}"/>
              </a:ext>
            </a:extLst>
          </p:cNvPr>
          <p:cNvSpPr/>
          <p:nvPr/>
        </p:nvSpPr>
        <p:spPr>
          <a:xfrm>
            <a:off x="3593887" y="1111645"/>
            <a:ext cx="1690030" cy="117785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  <a:effectLst>
            <a:outerShdw blurRad="50800" dist="38100" dir="2700000" algn="ctr" rotWithShape="0">
              <a:schemeClr val="tx1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/>
            </a:endParaRPr>
          </a:p>
        </p:txBody>
      </p:sp>
      <p:sp>
        <p:nvSpPr>
          <p:cNvPr id="125" name="ZT_Avanet">
            <a:extLst>
              <a:ext uri="{FF2B5EF4-FFF2-40B4-BE49-F238E27FC236}">
                <a16:creationId xmlns:a16="http://schemas.microsoft.com/office/drawing/2014/main" id="{64378501-DDA5-5B8C-F6B6-79FF30285094}"/>
              </a:ext>
            </a:extLst>
          </p:cNvPr>
          <p:cNvSpPr txBox="1"/>
          <p:nvPr/>
        </p:nvSpPr>
        <p:spPr>
          <a:xfrm>
            <a:off x="3603262" y="1138960"/>
            <a:ext cx="1680655" cy="246221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1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Avanet</a:t>
            </a:r>
            <a:endParaRPr kumimoji="0" lang="fr-FR" sz="1000" b="1" i="1" u="none" strike="noStrike" kern="1200" cap="none" spc="0" normalizeH="0" baseline="0" noProof="0" dirty="0">
              <a:ln>
                <a:noFill/>
              </a:ln>
              <a:solidFill>
                <a:srgbClr val="ED7D3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6" name="BA_W5">
            <a:extLst>
              <a:ext uri="{FF2B5EF4-FFF2-40B4-BE49-F238E27FC236}">
                <a16:creationId xmlns:a16="http://schemas.microsoft.com/office/drawing/2014/main" id="{A3D106BC-BADE-0517-7DF4-7338836F5DC3}"/>
              </a:ext>
            </a:extLst>
          </p:cNvPr>
          <p:cNvSpPr/>
          <p:nvPr/>
        </p:nvSpPr>
        <p:spPr>
          <a:xfrm>
            <a:off x="3726791" y="1434801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W5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Av@net</a:t>
            </a:r>
            <a:endParaRPr kumimoji="0" lang="fr-FR" sz="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7" name="BA_AEDI">
            <a:extLst>
              <a:ext uri="{FF2B5EF4-FFF2-40B4-BE49-F238E27FC236}">
                <a16:creationId xmlns:a16="http://schemas.microsoft.com/office/drawing/2014/main" id="{C3E5D276-404A-7311-BF64-8C566F9EE746}"/>
              </a:ext>
            </a:extLst>
          </p:cNvPr>
          <p:cNvSpPr/>
          <p:nvPr/>
        </p:nvSpPr>
        <p:spPr>
          <a:xfrm>
            <a:off x="4521017" y="1438787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AEDI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API-EDI</a:t>
            </a:r>
          </a:p>
        </p:txBody>
      </p:sp>
      <p:sp>
        <p:nvSpPr>
          <p:cNvPr id="128" name="BA_SVOD">
            <a:extLst>
              <a:ext uri="{FF2B5EF4-FFF2-40B4-BE49-F238E27FC236}">
                <a16:creationId xmlns:a16="http://schemas.microsoft.com/office/drawing/2014/main" id="{A7209C2D-9F8A-245C-76C1-DBFB240700C7}"/>
              </a:ext>
            </a:extLst>
          </p:cNvPr>
          <p:cNvSpPr/>
          <p:nvPr/>
        </p:nvSpPr>
        <p:spPr>
          <a:xfrm>
            <a:off x="3726791" y="1819606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SVOD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SAS </a:t>
            </a:r>
            <a:r>
              <a:rPr kumimoji="0" lang="fr-FR" sz="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Valid</a:t>
            </a: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.</a:t>
            </a:r>
          </a:p>
        </p:txBody>
      </p:sp>
      <p:sp>
        <p:nvSpPr>
          <p:cNvPr id="129" name="Gr_PFD">
            <a:extLst>
              <a:ext uri="{FF2B5EF4-FFF2-40B4-BE49-F238E27FC236}">
                <a16:creationId xmlns:a16="http://schemas.microsoft.com/office/drawing/2014/main" id="{B670AA2D-D421-4966-8536-5FD011F6A1FF}"/>
              </a:ext>
            </a:extLst>
          </p:cNvPr>
          <p:cNvSpPr/>
          <p:nvPr/>
        </p:nvSpPr>
        <p:spPr>
          <a:xfrm>
            <a:off x="6161552" y="3780520"/>
            <a:ext cx="1627675" cy="1021008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  <a:effectLst>
            <a:outerShdw blurRad="50800" dist="38100" dir="2700000" algn="ctr" rotWithShape="0">
              <a:schemeClr val="tx1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/>
            </a:endParaRPr>
          </a:p>
        </p:txBody>
      </p:sp>
      <p:sp>
        <p:nvSpPr>
          <p:cNvPr id="130" name="ZT_PFD">
            <a:extLst>
              <a:ext uri="{FF2B5EF4-FFF2-40B4-BE49-F238E27FC236}">
                <a16:creationId xmlns:a16="http://schemas.microsoft.com/office/drawing/2014/main" id="{D4B9A4F7-5189-9E34-0319-27AF13D7C691}"/>
              </a:ext>
            </a:extLst>
          </p:cNvPr>
          <p:cNvSpPr txBox="1"/>
          <p:nvPr/>
        </p:nvSpPr>
        <p:spPr>
          <a:xfrm>
            <a:off x="6185238" y="3807835"/>
            <a:ext cx="1714025" cy="246221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Plateforme Data (PFD)</a:t>
            </a:r>
          </a:p>
        </p:txBody>
      </p:sp>
      <p:sp>
        <p:nvSpPr>
          <p:cNvPr id="131" name="BA_J2">
            <a:extLst>
              <a:ext uri="{FF2B5EF4-FFF2-40B4-BE49-F238E27FC236}">
                <a16:creationId xmlns:a16="http://schemas.microsoft.com/office/drawing/2014/main" id="{D21A22F8-675D-1F8A-ED38-DD4991EF7CBF}"/>
              </a:ext>
            </a:extLst>
          </p:cNvPr>
          <p:cNvSpPr/>
          <p:nvPr/>
        </p:nvSpPr>
        <p:spPr>
          <a:xfrm>
            <a:off x="6296389" y="4103676"/>
            <a:ext cx="648000" cy="288000"/>
          </a:xfrm>
          <a:prstGeom prst="round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J2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Exposition PFD</a:t>
            </a:r>
          </a:p>
        </p:txBody>
      </p:sp>
      <p:sp>
        <p:nvSpPr>
          <p:cNvPr id="136" name="BA_J6">
            <a:extLst>
              <a:ext uri="{FF2B5EF4-FFF2-40B4-BE49-F238E27FC236}">
                <a16:creationId xmlns:a16="http://schemas.microsoft.com/office/drawing/2014/main" id="{5361D44F-F928-9B65-34B6-BF38B80E3F97}"/>
              </a:ext>
            </a:extLst>
          </p:cNvPr>
          <p:cNvSpPr/>
          <p:nvPr/>
        </p:nvSpPr>
        <p:spPr>
          <a:xfrm>
            <a:off x="7048704" y="4107662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J6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Restit</a:t>
            </a: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. </a:t>
            </a:r>
            <a:r>
              <a:rPr kumimoji="0" lang="fr-FR" sz="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Régl</a:t>
            </a: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.</a:t>
            </a:r>
          </a:p>
        </p:txBody>
      </p:sp>
      <p:sp>
        <p:nvSpPr>
          <p:cNvPr id="147" name="BA_J8">
            <a:extLst>
              <a:ext uri="{FF2B5EF4-FFF2-40B4-BE49-F238E27FC236}">
                <a16:creationId xmlns:a16="http://schemas.microsoft.com/office/drawing/2014/main" id="{9FEE249C-0C6A-9C82-828D-F6D0204D91FB}"/>
              </a:ext>
            </a:extLst>
          </p:cNvPr>
          <p:cNvSpPr/>
          <p:nvPr/>
        </p:nvSpPr>
        <p:spPr>
          <a:xfrm>
            <a:off x="6296389" y="4488481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J8</a:t>
            </a:r>
            <a:endParaRPr kumimoji="0" lang="fr-FR" sz="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Données Contrats</a:t>
            </a:r>
          </a:p>
        </p:txBody>
      </p:sp>
      <p:sp>
        <p:nvSpPr>
          <p:cNvPr id="149" name="Gr_Prediweb1">
            <a:extLst>
              <a:ext uri="{FF2B5EF4-FFF2-40B4-BE49-F238E27FC236}">
                <a16:creationId xmlns:a16="http://schemas.microsoft.com/office/drawing/2014/main" id="{735100F0-6E86-2009-DBC4-8AE6B1971E31}"/>
              </a:ext>
            </a:extLst>
          </p:cNvPr>
          <p:cNvSpPr/>
          <p:nvPr/>
        </p:nvSpPr>
        <p:spPr>
          <a:xfrm>
            <a:off x="3588010" y="2368814"/>
            <a:ext cx="1695907" cy="671739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  <a:effectLst>
            <a:outerShdw blurRad="50800" dist="38100" dir="2700000" algn="ctr" rotWithShape="0">
              <a:schemeClr val="tx1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/>
            </a:endParaRPr>
          </a:p>
        </p:txBody>
      </p:sp>
      <p:sp>
        <p:nvSpPr>
          <p:cNvPr id="151" name="ZT_Prediweb1">
            <a:extLst>
              <a:ext uri="{FF2B5EF4-FFF2-40B4-BE49-F238E27FC236}">
                <a16:creationId xmlns:a16="http://schemas.microsoft.com/office/drawing/2014/main" id="{A49629B8-D5B6-0335-04D2-0B9C6AC29EEA}"/>
              </a:ext>
            </a:extLst>
          </p:cNvPr>
          <p:cNvSpPr txBox="1"/>
          <p:nvPr/>
        </p:nvSpPr>
        <p:spPr>
          <a:xfrm>
            <a:off x="3595208" y="2396399"/>
            <a:ext cx="1688709" cy="246221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1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Prediweb</a:t>
            </a:r>
            <a:r>
              <a:rPr kumimoji="0" lang="fr-FR" sz="1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 1</a:t>
            </a:r>
            <a:endParaRPr kumimoji="0" lang="fr-FR" sz="1000" b="1" i="1" u="none" strike="noStrike" kern="1200" cap="none" spc="0" normalizeH="0" baseline="0" noProof="0" dirty="0">
              <a:ln>
                <a:noFill/>
              </a:ln>
              <a:solidFill>
                <a:srgbClr val="ED7D3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3" name="BA_BD">
            <a:extLst>
              <a:ext uri="{FF2B5EF4-FFF2-40B4-BE49-F238E27FC236}">
                <a16:creationId xmlns:a16="http://schemas.microsoft.com/office/drawing/2014/main" id="{5A25BCE9-C6CB-5FD0-77A4-C38ABE8EF325}"/>
              </a:ext>
            </a:extLst>
          </p:cNvPr>
          <p:cNvSpPr/>
          <p:nvPr/>
        </p:nvSpPr>
        <p:spPr>
          <a:xfrm>
            <a:off x="3720914" y="2691969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BD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Prediweb</a:t>
            </a:r>
            <a:endParaRPr kumimoji="0" lang="fr-FR" sz="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6" name="BA_SGR">
            <a:extLst>
              <a:ext uri="{FF2B5EF4-FFF2-40B4-BE49-F238E27FC236}">
                <a16:creationId xmlns:a16="http://schemas.microsoft.com/office/drawing/2014/main" id="{AEEB2B7A-AA5C-06B5-8CCB-77D6F35A68E1}"/>
              </a:ext>
            </a:extLst>
          </p:cNvPr>
          <p:cNvSpPr/>
          <p:nvPr/>
        </p:nvSpPr>
        <p:spPr>
          <a:xfrm>
            <a:off x="4496225" y="2696226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SGR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Lanceur SGR</a:t>
            </a:r>
          </a:p>
        </p:txBody>
      </p:sp>
      <p:sp>
        <p:nvSpPr>
          <p:cNvPr id="158" name="BA_Autre_PFD">
            <a:extLst>
              <a:ext uri="{FF2B5EF4-FFF2-40B4-BE49-F238E27FC236}">
                <a16:creationId xmlns:a16="http://schemas.microsoft.com/office/drawing/2014/main" id="{B7F49F45-CF00-7B01-A342-52728744460E}"/>
              </a:ext>
            </a:extLst>
          </p:cNvPr>
          <p:cNvSpPr/>
          <p:nvPr/>
        </p:nvSpPr>
        <p:spPr>
          <a:xfrm>
            <a:off x="7048704" y="4459954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…</a:t>
            </a:r>
          </a:p>
        </p:txBody>
      </p:sp>
      <p:sp>
        <p:nvSpPr>
          <p:cNvPr id="159" name="Gr_AIA">
            <a:extLst>
              <a:ext uri="{FF2B5EF4-FFF2-40B4-BE49-F238E27FC236}">
                <a16:creationId xmlns:a16="http://schemas.microsoft.com/office/drawing/2014/main" id="{0CBB46F6-6A4C-C50F-080A-E76C43CA757A}"/>
              </a:ext>
            </a:extLst>
          </p:cNvPr>
          <p:cNvSpPr/>
          <p:nvPr/>
        </p:nvSpPr>
        <p:spPr>
          <a:xfrm>
            <a:off x="600429" y="2842718"/>
            <a:ext cx="927635" cy="550924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  <a:effectLst>
            <a:outerShdw blurRad="50800" dist="38100" dir="2700000" algn="ctr" rotWithShape="0">
              <a:schemeClr val="tx1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/>
            </a:endParaRPr>
          </a:p>
        </p:txBody>
      </p:sp>
      <p:sp>
        <p:nvSpPr>
          <p:cNvPr id="160" name="ZT_AIA">
            <a:extLst>
              <a:ext uri="{FF2B5EF4-FFF2-40B4-BE49-F238E27FC236}">
                <a16:creationId xmlns:a16="http://schemas.microsoft.com/office/drawing/2014/main" id="{B4CB575C-CFD5-AE67-2BA9-7E897AAAD768}"/>
              </a:ext>
            </a:extLst>
          </p:cNvPr>
          <p:cNvSpPr txBox="1"/>
          <p:nvPr/>
        </p:nvSpPr>
        <p:spPr>
          <a:xfrm>
            <a:off x="520497" y="2870168"/>
            <a:ext cx="1080000" cy="246221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AIA V4 (Sinistres)</a:t>
            </a:r>
          </a:p>
        </p:txBody>
      </p:sp>
      <p:sp>
        <p:nvSpPr>
          <p:cNvPr id="161" name="BA_AJ">
            <a:extLst>
              <a:ext uri="{FF2B5EF4-FFF2-40B4-BE49-F238E27FC236}">
                <a16:creationId xmlns:a16="http://schemas.microsoft.com/office/drawing/2014/main" id="{D7A0E0A0-1837-6783-1BB9-20A57A1F3B86}"/>
              </a:ext>
            </a:extLst>
          </p:cNvPr>
          <p:cNvSpPr/>
          <p:nvPr/>
        </p:nvSpPr>
        <p:spPr>
          <a:xfrm>
            <a:off x="741487" y="3087886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AJ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AIA </a:t>
            </a:r>
            <a:r>
              <a:rPr kumimoji="0" lang="fr-FR" sz="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Sinitres</a:t>
            </a:r>
            <a:endParaRPr kumimoji="0" lang="fr-FR" sz="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2" name="Gr_Prediweb2">
            <a:extLst>
              <a:ext uri="{FF2B5EF4-FFF2-40B4-BE49-F238E27FC236}">
                <a16:creationId xmlns:a16="http://schemas.microsoft.com/office/drawing/2014/main" id="{7CBDF635-B6E2-2DBD-60AB-62FDB5CD8F0A}"/>
              </a:ext>
            </a:extLst>
          </p:cNvPr>
          <p:cNvSpPr/>
          <p:nvPr/>
        </p:nvSpPr>
        <p:spPr>
          <a:xfrm>
            <a:off x="6172824" y="3106138"/>
            <a:ext cx="754043" cy="61200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  <a:effectLst>
            <a:outerShdw blurRad="50800" dist="38100" dir="2700000" algn="ctr" rotWithShape="0">
              <a:schemeClr val="tx1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/>
            </a:endParaRPr>
          </a:p>
        </p:txBody>
      </p:sp>
      <p:sp>
        <p:nvSpPr>
          <p:cNvPr id="163" name="ZT_Prediweb2">
            <a:extLst>
              <a:ext uri="{FF2B5EF4-FFF2-40B4-BE49-F238E27FC236}">
                <a16:creationId xmlns:a16="http://schemas.microsoft.com/office/drawing/2014/main" id="{2C306DD5-392F-C9D8-ECA1-C81112366615}"/>
              </a:ext>
            </a:extLst>
          </p:cNvPr>
          <p:cNvSpPr txBox="1"/>
          <p:nvPr/>
        </p:nvSpPr>
        <p:spPr>
          <a:xfrm>
            <a:off x="6145849" y="3133723"/>
            <a:ext cx="774251" cy="246221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1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Prediweb</a:t>
            </a:r>
            <a:r>
              <a:rPr kumimoji="0" lang="fr-FR" sz="1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 2</a:t>
            </a:r>
            <a:endParaRPr kumimoji="0" lang="fr-FR" sz="1000" b="1" i="1" u="none" strike="noStrike" kern="1200" cap="none" spc="0" normalizeH="0" baseline="0" noProof="0" dirty="0">
              <a:ln>
                <a:noFill/>
              </a:ln>
              <a:solidFill>
                <a:srgbClr val="ED7D3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4" name="BA_PY">
            <a:extLst>
              <a:ext uri="{FF2B5EF4-FFF2-40B4-BE49-F238E27FC236}">
                <a16:creationId xmlns:a16="http://schemas.microsoft.com/office/drawing/2014/main" id="{149BB42D-E7AC-7ABA-D5B9-95B9D53E7676}"/>
              </a:ext>
            </a:extLst>
          </p:cNvPr>
          <p:cNvSpPr/>
          <p:nvPr/>
        </p:nvSpPr>
        <p:spPr>
          <a:xfrm>
            <a:off x="6219320" y="3376340"/>
            <a:ext cx="648000" cy="288000"/>
          </a:xfrm>
          <a:prstGeom prst="roundRect">
            <a:avLst/>
          </a:prstGeom>
          <a:solidFill>
            <a:srgbClr val="ED7D31"/>
          </a:solidFill>
          <a:ln>
            <a:noFill/>
          </a:ln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PY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Prediweb</a:t>
            </a: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 2</a:t>
            </a:r>
          </a:p>
        </p:txBody>
      </p:sp>
      <p:sp>
        <p:nvSpPr>
          <p:cNvPr id="165" name="Gr_NewNOVA">
            <a:extLst>
              <a:ext uri="{FF2B5EF4-FFF2-40B4-BE49-F238E27FC236}">
                <a16:creationId xmlns:a16="http://schemas.microsoft.com/office/drawing/2014/main" id="{E7F2854D-545A-F43E-7950-6F0F73D30A91}"/>
              </a:ext>
            </a:extLst>
          </p:cNvPr>
          <p:cNvSpPr/>
          <p:nvPr/>
        </p:nvSpPr>
        <p:spPr>
          <a:xfrm>
            <a:off x="7894317" y="1093890"/>
            <a:ext cx="3975128" cy="3939748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  <a:effectLst>
            <a:outerShdw blurRad="50800" dist="38100" dir="2700000" algn="ctr" rotWithShape="0">
              <a:schemeClr val="tx1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/>
            </a:endParaRPr>
          </a:p>
        </p:txBody>
      </p:sp>
      <p:sp>
        <p:nvSpPr>
          <p:cNvPr id="166" name="ZT_NewNOVA">
            <a:extLst>
              <a:ext uri="{FF2B5EF4-FFF2-40B4-BE49-F238E27FC236}">
                <a16:creationId xmlns:a16="http://schemas.microsoft.com/office/drawing/2014/main" id="{50ECF0C8-51B4-5A4D-CE38-09F6B7E1434F}"/>
              </a:ext>
            </a:extLst>
          </p:cNvPr>
          <p:cNvSpPr txBox="1"/>
          <p:nvPr/>
        </p:nvSpPr>
        <p:spPr>
          <a:xfrm>
            <a:off x="7959719" y="1121206"/>
            <a:ext cx="2930793" cy="246221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New NOVA (K8S+AWS)</a:t>
            </a:r>
            <a:endParaRPr kumimoji="0" lang="fr-FR" sz="1000" b="1" i="1" u="none" strike="noStrike" kern="1200" cap="none" spc="0" normalizeH="0" baseline="0" noProof="0" dirty="0">
              <a:ln>
                <a:noFill/>
              </a:ln>
              <a:solidFill>
                <a:srgbClr val="ED7D3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7" name="BA_APPE">
            <a:extLst>
              <a:ext uri="{FF2B5EF4-FFF2-40B4-BE49-F238E27FC236}">
                <a16:creationId xmlns:a16="http://schemas.microsoft.com/office/drawing/2014/main" id="{AF39EE8F-A3E3-55BB-C42B-9969C050D035}"/>
              </a:ext>
            </a:extLst>
          </p:cNvPr>
          <p:cNvSpPr/>
          <p:nvPr/>
        </p:nvSpPr>
        <p:spPr>
          <a:xfrm>
            <a:off x="8114072" y="1417047"/>
            <a:ext cx="648000" cy="288000"/>
          </a:xfrm>
          <a:prstGeom prst="roundRect">
            <a:avLst/>
          </a:prstGeom>
          <a:solidFill>
            <a:srgbClr val="ED7D3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APPE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API Personne</a:t>
            </a:r>
          </a:p>
        </p:txBody>
      </p:sp>
      <p:sp>
        <p:nvSpPr>
          <p:cNvPr id="168" name="BA_CJNI">
            <a:extLst>
              <a:ext uri="{FF2B5EF4-FFF2-40B4-BE49-F238E27FC236}">
                <a16:creationId xmlns:a16="http://schemas.microsoft.com/office/drawing/2014/main" id="{5D71B5BB-0ED2-06CD-805D-6A4D076C1286}"/>
              </a:ext>
            </a:extLst>
          </p:cNvPr>
          <p:cNvSpPr/>
          <p:nvPr/>
        </p:nvSpPr>
        <p:spPr>
          <a:xfrm>
            <a:off x="8803280" y="1417047"/>
            <a:ext cx="648000" cy="288000"/>
          </a:xfrm>
          <a:prstGeom prst="round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CJNI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Jeton SSO</a:t>
            </a:r>
          </a:p>
        </p:txBody>
      </p:sp>
      <p:sp>
        <p:nvSpPr>
          <p:cNvPr id="169" name="BA_C8">
            <a:extLst>
              <a:ext uri="{FF2B5EF4-FFF2-40B4-BE49-F238E27FC236}">
                <a16:creationId xmlns:a16="http://schemas.microsoft.com/office/drawing/2014/main" id="{47240CD8-7566-E004-D650-AC46D1E23501}"/>
              </a:ext>
            </a:extLst>
          </p:cNvPr>
          <p:cNvSpPr/>
          <p:nvPr/>
        </p:nvSpPr>
        <p:spPr>
          <a:xfrm>
            <a:off x="9490384" y="1417047"/>
            <a:ext cx="648000" cy="288000"/>
          </a:xfrm>
          <a:prstGeom prst="roundRect">
            <a:avLst/>
          </a:prstGeom>
          <a:solidFill>
            <a:srgbClr val="70AD4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C8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Consentements</a:t>
            </a:r>
          </a:p>
        </p:txBody>
      </p:sp>
      <p:sp>
        <p:nvSpPr>
          <p:cNvPr id="170" name="BA_D9">
            <a:extLst>
              <a:ext uri="{FF2B5EF4-FFF2-40B4-BE49-F238E27FC236}">
                <a16:creationId xmlns:a16="http://schemas.microsoft.com/office/drawing/2014/main" id="{8B647ADC-9D2E-E59B-47CA-9429D9B83B64}"/>
              </a:ext>
            </a:extLst>
          </p:cNvPr>
          <p:cNvSpPr/>
          <p:nvPr/>
        </p:nvSpPr>
        <p:spPr>
          <a:xfrm>
            <a:off x="10160477" y="1417047"/>
            <a:ext cx="648000" cy="288000"/>
          </a:xfrm>
          <a:prstGeom prst="roundRect">
            <a:avLst/>
          </a:prstGeom>
          <a:solidFill>
            <a:srgbClr val="70AD4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D9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Base Doc AWS</a:t>
            </a:r>
          </a:p>
        </p:txBody>
      </p:sp>
      <p:sp>
        <p:nvSpPr>
          <p:cNvPr id="171" name="BA_F3">
            <a:extLst>
              <a:ext uri="{FF2B5EF4-FFF2-40B4-BE49-F238E27FC236}">
                <a16:creationId xmlns:a16="http://schemas.microsoft.com/office/drawing/2014/main" id="{B8B03470-C159-7357-9D7D-6458C82264DD}"/>
              </a:ext>
            </a:extLst>
          </p:cNvPr>
          <p:cNvSpPr/>
          <p:nvPr/>
        </p:nvSpPr>
        <p:spPr>
          <a:xfrm>
            <a:off x="8114072" y="1734468"/>
            <a:ext cx="648000" cy="288000"/>
          </a:xfrm>
          <a:prstGeom prst="roundRect">
            <a:avLst/>
          </a:prstGeom>
          <a:solidFill>
            <a:srgbClr val="ED7D3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F3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Versement Libre</a:t>
            </a:r>
          </a:p>
        </p:txBody>
      </p:sp>
      <p:sp>
        <p:nvSpPr>
          <p:cNvPr id="172" name="BA_F4">
            <a:extLst>
              <a:ext uri="{FF2B5EF4-FFF2-40B4-BE49-F238E27FC236}">
                <a16:creationId xmlns:a16="http://schemas.microsoft.com/office/drawing/2014/main" id="{288FEA5D-FF32-4452-5198-48BB3BD35509}"/>
              </a:ext>
            </a:extLst>
          </p:cNvPr>
          <p:cNvSpPr/>
          <p:nvPr/>
        </p:nvSpPr>
        <p:spPr>
          <a:xfrm>
            <a:off x="8803280" y="1734468"/>
            <a:ext cx="648000" cy="288000"/>
          </a:xfrm>
          <a:prstGeom prst="roundRect">
            <a:avLst/>
          </a:prstGeom>
          <a:solidFill>
            <a:srgbClr val="70AD47"/>
          </a:solidFill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F4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Synthèse </a:t>
            </a:r>
            <a:r>
              <a:rPr kumimoji="0" lang="fr-FR" sz="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Opér</a:t>
            </a: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.</a:t>
            </a:r>
          </a:p>
        </p:txBody>
      </p:sp>
      <p:sp>
        <p:nvSpPr>
          <p:cNvPr id="173" name="BA_F5">
            <a:extLst>
              <a:ext uri="{FF2B5EF4-FFF2-40B4-BE49-F238E27FC236}">
                <a16:creationId xmlns:a16="http://schemas.microsoft.com/office/drawing/2014/main" id="{22608C4A-A773-ED5E-1950-E194C76EE1AE}"/>
              </a:ext>
            </a:extLst>
          </p:cNvPr>
          <p:cNvSpPr/>
          <p:nvPr/>
        </p:nvSpPr>
        <p:spPr>
          <a:xfrm>
            <a:off x="9490384" y="1734468"/>
            <a:ext cx="648000" cy="288000"/>
          </a:xfrm>
          <a:prstGeom prst="round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F5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Conf</a:t>
            </a: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. New Nova</a:t>
            </a:r>
          </a:p>
        </p:txBody>
      </p:sp>
      <p:sp>
        <p:nvSpPr>
          <p:cNvPr id="174" name="BA_F6">
            <a:extLst>
              <a:ext uri="{FF2B5EF4-FFF2-40B4-BE49-F238E27FC236}">
                <a16:creationId xmlns:a16="http://schemas.microsoft.com/office/drawing/2014/main" id="{E1CB111A-34E1-392C-8783-19C5E09FC7D5}"/>
              </a:ext>
            </a:extLst>
          </p:cNvPr>
          <p:cNvSpPr/>
          <p:nvPr/>
        </p:nvSpPr>
        <p:spPr>
          <a:xfrm>
            <a:off x="10160477" y="1734468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F6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API Adhésion</a:t>
            </a:r>
          </a:p>
        </p:txBody>
      </p:sp>
      <p:sp>
        <p:nvSpPr>
          <p:cNvPr id="175" name="BA_F7">
            <a:extLst>
              <a:ext uri="{FF2B5EF4-FFF2-40B4-BE49-F238E27FC236}">
                <a16:creationId xmlns:a16="http://schemas.microsoft.com/office/drawing/2014/main" id="{05B4D8C5-A82A-2EA8-90F9-9B56D6094CB5}"/>
              </a:ext>
            </a:extLst>
          </p:cNvPr>
          <p:cNvSpPr/>
          <p:nvPr/>
        </p:nvSpPr>
        <p:spPr>
          <a:xfrm>
            <a:off x="8114072" y="2047150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F7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Arbitrage</a:t>
            </a:r>
          </a:p>
        </p:txBody>
      </p:sp>
      <p:sp>
        <p:nvSpPr>
          <p:cNvPr id="176" name="BA_G3">
            <a:extLst>
              <a:ext uri="{FF2B5EF4-FFF2-40B4-BE49-F238E27FC236}">
                <a16:creationId xmlns:a16="http://schemas.microsoft.com/office/drawing/2014/main" id="{1F52252C-EA55-2542-C097-A29F7FF4B6F5}"/>
              </a:ext>
            </a:extLst>
          </p:cNvPr>
          <p:cNvSpPr/>
          <p:nvPr/>
        </p:nvSpPr>
        <p:spPr>
          <a:xfrm>
            <a:off x="9490384" y="2047150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G3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Pièces médicales</a:t>
            </a:r>
          </a:p>
        </p:txBody>
      </p:sp>
      <p:sp>
        <p:nvSpPr>
          <p:cNvPr id="177" name="BA_G4">
            <a:extLst>
              <a:ext uri="{FF2B5EF4-FFF2-40B4-BE49-F238E27FC236}">
                <a16:creationId xmlns:a16="http://schemas.microsoft.com/office/drawing/2014/main" id="{BD652051-51CB-559B-F7CD-571CB32E0374}"/>
              </a:ext>
            </a:extLst>
          </p:cNvPr>
          <p:cNvSpPr/>
          <p:nvPr/>
        </p:nvSpPr>
        <p:spPr>
          <a:xfrm>
            <a:off x="10160477" y="2047150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G4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API FRC</a:t>
            </a:r>
          </a:p>
        </p:txBody>
      </p:sp>
      <p:sp>
        <p:nvSpPr>
          <p:cNvPr id="178" name="BA_G6">
            <a:extLst>
              <a:ext uri="{FF2B5EF4-FFF2-40B4-BE49-F238E27FC236}">
                <a16:creationId xmlns:a16="http://schemas.microsoft.com/office/drawing/2014/main" id="{83CE636C-5AEA-12F3-36F5-2EC4A7BFB1AF}"/>
              </a:ext>
            </a:extLst>
          </p:cNvPr>
          <p:cNvSpPr/>
          <p:nvPr/>
        </p:nvSpPr>
        <p:spPr>
          <a:xfrm>
            <a:off x="8114072" y="2368438"/>
            <a:ext cx="648000" cy="288000"/>
          </a:xfrm>
          <a:prstGeom prst="roundRect">
            <a:avLst/>
          </a:prstGeom>
          <a:solidFill>
            <a:srgbClr val="70AD4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G6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API </a:t>
            </a:r>
            <a:r>
              <a:rPr kumimoji="0" lang="fr-FR" sz="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Passport</a:t>
            </a:r>
            <a:endParaRPr kumimoji="0" lang="fr-FR" sz="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9" name="BA_GQ">
            <a:extLst>
              <a:ext uri="{FF2B5EF4-FFF2-40B4-BE49-F238E27FC236}">
                <a16:creationId xmlns:a16="http://schemas.microsoft.com/office/drawing/2014/main" id="{9DAB2EB7-DB8F-EE0B-37B7-AAD48E88565B}"/>
              </a:ext>
            </a:extLst>
          </p:cNvPr>
          <p:cNvSpPr/>
          <p:nvPr/>
        </p:nvSpPr>
        <p:spPr>
          <a:xfrm>
            <a:off x="8803280" y="2368438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GQ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GED Prévoyance</a:t>
            </a:r>
          </a:p>
        </p:txBody>
      </p:sp>
      <p:sp>
        <p:nvSpPr>
          <p:cNvPr id="180" name="BA_I5">
            <a:extLst>
              <a:ext uri="{FF2B5EF4-FFF2-40B4-BE49-F238E27FC236}">
                <a16:creationId xmlns:a16="http://schemas.microsoft.com/office/drawing/2014/main" id="{D2FDEBEB-5FBB-5E00-7835-6379912E1CE2}"/>
              </a:ext>
            </a:extLst>
          </p:cNvPr>
          <p:cNvSpPr/>
          <p:nvPr/>
        </p:nvSpPr>
        <p:spPr>
          <a:xfrm>
            <a:off x="8114072" y="2696076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I5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Lanceur New Nova</a:t>
            </a:r>
          </a:p>
        </p:txBody>
      </p:sp>
      <p:sp>
        <p:nvSpPr>
          <p:cNvPr id="181" name="BA_I9">
            <a:extLst>
              <a:ext uri="{FF2B5EF4-FFF2-40B4-BE49-F238E27FC236}">
                <a16:creationId xmlns:a16="http://schemas.microsoft.com/office/drawing/2014/main" id="{7E55BC34-515D-33C2-5F99-2A70B215C223}"/>
              </a:ext>
            </a:extLst>
          </p:cNvPr>
          <p:cNvSpPr/>
          <p:nvPr/>
        </p:nvSpPr>
        <p:spPr>
          <a:xfrm>
            <a:off x="8803280" y="2696076"/>
            <a:ext cx="648000" cy="288000"/>
          </a:xfrm>
          <a:prstGeom prst="round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I9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Keycloak</a:t>
            </a: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 Intranet</a:t>
            </a:r>
          </a:p>
        </p:txBody>
      </p:sp>
      <p:sp>
        <p:nvSpPr>
          <p:cNvPr id="182" name="BA_K7">
            <a:extLst>
              <a:ext uri="{FF2B5EF4-FFF2-40B4-BE49-F238E27FC236}">
                <a16:creationId xmlns:a16="http://schemas.microsoft.com/office/drawing/2014/main" id="{01834417-2A08-8F64-5C12-77D45C033A86}"/>
              </a:ext>
            </a:extLst>
          </p:cNvPr>
          <p:cNvSpPr/>
          <p:nvPr/>
        </p:nvSpPr>
        <p:spPr>
          <a:xfrm>
            <a:off x="9490384" y="2696076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K7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Aiguilleur</a:t>
            </a:r>
          </a:p>
        </p:txBody>
      </p:sp>
      <p:sp>
        <p:nvSpPr>
          <p:cNvPr id="183" name="BA_K9">
            <a:extLst>
              <a:ext uri="{FF2B5EF4-FFF2-40B4-BE49-F238E27FC236}">
                <a16:creationId xmlns:a16="http://schemas.microsoft.com/office/drawing/2014/main" id="{8ED5A606-9FBE-7DB5-321E-0167641E7037}"/>
              </a:ext>
            </a:extLst>
          </p:cNvPr>
          <p:cNvSpPr/>
          <p:nvPr/>
        </p:nvSpPr>
        <p:spPr>
          <a:xfrm>
            <a:off x="10160477" y="2696076"/>
            <a:ext cx="648000" cy="288000"/>
          </a:xfrm>
          <a:prstGeom prst="roundRect">
            <a:avLst/>
          </a:prstGeom>
          <a:solidFill>
            <a:srgbClr val="70AD47"/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K9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Keycloak</a:t>
            </a: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 Internet</a:t>
            </a:r>
          </a:p>
        </p:txBody>
      </p:sp>
      <p:sp>
        <p:nvSpPr>
          <p:cNvPr id="184" name="BA_L8">
            <a:extLst>
              <a:ext uri="{FF2B5EF4-FFF2-40B4-BE49-F238E27FC236}">
                <a16:creationId xmlns:a16="http://schemas.microsoft.com/office/drawing/2014/main" id="{CCC77740-F404-7708-B770-8C695B488A0E}"/>
              </a:ext>
            </a:extLst>
          </p:cNvPr>
          <p:cNvSpPr/>
          <p:nvPr/>
        </p:nvSpPr>
        <p:spPr>
          <a:xfrm>
            <a:off x="8114072" y="3027052"/>
            <a:ext cx="648000" cy="288000"/>
          </a:xfrm>
          <a:prstGeom prst="roundRect">
            <a:avLst/>
          </a:prstGeom>
          <a:solidFill>
            <a:srgbClr val="70AD4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L8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API Archivage</a:t>
            </a:r>
          </a:p>
        </p:txBody>
      </p:sp>
      <p:sp>
        <p:nvSpPr>
          <p:cNvPr id="185" name="BA_L9">
            <a:extLst>
              <a:ext uri="{FF2B5EF4-FFF2-40B4-BE49-F238E27FC236}">
                <a16:creationId xmlns:a16="http://schemas.microsoft.com/office/drawing/2014/main" id="{236203E2-30C3-2A28-7519-E7EEC0438C7E}"/>
              </a:ext>
            </a:extLst>
          </p:cNvPr>
          <p:cNvSpPr/>
          <p:nvPr/>
        </p:nvSpPr>
        <p:spPr>
          <a:xfrm>
            <a:off x="8803280" y="3027052"/>
            <a:ext cx="648000" cy="288000"/>
          </a:xfrm>
          <a:prstGeom prst="roundRect">
            <a:avLst/>
          </a:prstGeom>
          <a:solidFill>
            <a:srgbClr val="70AD4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L9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API Structure</a:t>
            </a:r>
          </a:p>
        </p:txBody>
      </p:sp>
      <p:sp>
        <p:nvSpPr>
          <p:cNvPr id="186" name="BA_N6">
            <a:extLst>
              <a:ext uri="{FF2B5EF4-FFF2-40B4-BE49-F238E27FC236}">
                <a16:creationId xmlns:a16="http://schemas.microsoft.com/office/drawing/2014/main" id="{0D215D60-FDAD-C265-FCF5-88AE2B0A1074}"/>
              </a:ext>
            </a:extLst>
          </p:cNvPr>
          <p:cNvSpPr/>
          <p:nvPr/>
        </p:nvSpPr>
        <p:spPr>
          <a:xfrm>
            <a:off x="9490384" y="3034498"/>
            <a:ext cx="648000" cy="288000"/>
          </a:xfrm>
          <a:prstGeom prst="round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N6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API produit</a:t>
            </a:r>
          </a:p>
        </p:txBody>
      </p:sp>
      <p:sp>
        <p:nvSpPr>
          <p:cNvPr id="187" name="BA_N8">
            <a:extLst>
              <a:ext uri="{FF2B5EF4-FFF2-40B4-BE49-F238E27FC236}">
                <a16:creationId xmlns:a16="http://schemas.microsoft.com/office/drawing/2014/main" id="{B7E86502-AE55-6EB5-7090-952025DF709B}"/>
              </a:ext>
            </a:extLst>
          </p:cNvPr>
          <p:cNvSpPr/>
          <p:nvPr/>
        </p:nvSpPr>
        <p:spPr>
          <a:xfrm>
            <a:off x="10160477" y="3034498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N8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Notif</a:t>
            </a: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. Distributeur</a:t>
            </a:r>
          </a:p>
        </p:txBody>
      </p:sp>
      <p:sp>
        <p:nvSpPr>
          <p:cNvPr id="188" name="BA_P4">
            <a:extLst>
              <a:ext uri="{FF2B5EF4-FFF2-40B4-BE49-F238E27FC236}">
                <a16:creationId xmlns:a16="http://schemas.microsoft.com/office/drawing/2014/main" id="{55E651A3-4E3A-2D46-A1FC-FBB547CE2514}"/>
              </a:ext>
            </a:extLst>
          </p:cNvPr>
          <p:cNvSpPr/>
          <p:nvPr/>
        </p:nvSpPr>
        <p:spPr>
          <a:xfrm>
            <a:off x="8114072" y="3354466"/>
            <a:ext cx="648000" cy="288000"/>
          </a:xfrm>
          <a:prstGeom prst="roundRect">
            <a:avLst/>
          </a:prstGeom>
          <a:solidFill>
            <a:srgbClr val="70AD47"/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P4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Services Editique</a:t>
            </a:r>
          </a:p>
        </p:txBody>
      </p:sp>
      <p:sp>
        <p:nvSpPr>
          <p:cNvPr id="189" name="BA_P5">
            <a:extLst>
              <a:ext uri="{FF2B5EF4-FFF2-40B4-BE49-F238E27FC236}">
                <a16:creationId xmlns:a16="http://schemas.microsoft.com/office/drawing/2014/main" id="{5270BC41-E617-D177-F3CA-3176A7989D25}"/>
              </a:ext>
            </a:extLst>
          </p:cNvPr>
          <p:cNvSpPr/>
          <p:nvPr/>
        </p:nvSpPr>
        <p:spPr>
          <a:xfrm>
            <a:off x="8803280" y="3354466"/>
            <a:ext cx="648000" cy="288000"/>
          </a:xfrm>
          <a:prstGeom prst="roundRect">
            <a:avLst/>
          </a:prstGeom>
          <a:solidFill>
            <a:srgbClr val="70AD47"/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P5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API Contrat</a:t>
            </a:r>
          </a:p>
        </p:txBody>
      </p:sp>
      <p:sp>
        <p:nvSpPr>
          <p:cNvPr id="190" name="BA_P6">
            <a:extLst>
              <a:ext uri="{FF2B5EF4-FFF2-40B4-BE49-F238E27FC236}">
                <a16:creationId xmlns:a16="http://schemas.microsoft.com/office/drawing/2014/main" id="{FBD77060-A4D3-2A04-8149-8A589E8C33D2}"/>
              </a:ext>
            </a:extLst>
          </p:cNvPr>
          <p:cNvSpPr/>
          <p:nvPr/>
        </p:nvSpPr>
        <p:spPr>
          <a:xfrm>
            <a:off x="9490384" y="3369007"/>
            <a:ext cx="648000" cy="288000"/>
          </a:xfrm>
          <a:prstGeom prst="round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P6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API Support</a:t>
            </a:r>
          </a:p>
        </p:txBody>
      </p:sp>
      <p:sp>
        <p:nvSpPr>
          <p:cNvPr id="191" name="BA_P7">
            <a:extLst>
              <a:ext uri="{FF2B5EF4-FFF2-40B4-BE49-F238E27FC236}">
                <a16:creationId xmlns:a16="http://schemas.microsoft.com/office/drawing/2014/main" id="{740D7583-051E-F0D6-6B3E-1933671217E4}"/>
              </a:ext>
            </a:extLst>
          </p:cNvPr>
          <p:cNvSpPr/>
          <p:nvPr/>
        </p:nvSpPr>
        <p:spPr>
          <a:xfrm>
            <a:off x="10160477" y="3369007"/>
            <a:ext cx="648000" cy="288000"/>
          </a:xfrm>
          <a:prstGeom prst="roundRect">
            <a:avLst/>
          </a:prstGeom>
          <a:solidFill>
            <a:srgbClr val="70AD47"/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P7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Campagnes et Frais</a:t>
            </a:r>
          </a:p>
        </p:txBody>
      </p:sp>
      <p:sp>
        <p:nvSpPr>
          <p:cNvPr id="192" name="BA_P8">
            <a:extLst>
              <a:ext uri="{FF2B5EF4-FFF2-40B4-BE49-F238E27FC236}">
                <a16:creationId xmlns:a16="http://schemas.microsoft.com/office/drawing/2014/main" id="{3C57D205-7AF1-BEDF-D6C7-740F93A20E3D}"/>
              </a:ext>
            </a:extLst>
          </p:cNvPr>
          <p:cNvSpPr/>
          <p:nvPr/>
        </p:nvSpPr>
        <p:spPr>
          <a:xfrm>
            <a:off x="8114072" y="3698914"/>
            <a:ext cx="648000" cy="288000"/>
          </a:xfrm>
          <a:prstGeom prst="round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P8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Habilit</a:t>
            </a: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. &amp;  </a:t>
            </a:r>
            <a:r>
              <a:rPr kumimoji="0" lang="fr-FR" sz="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Délég</a:t>
            </a: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.</a:t>
            </a:r>
          </a:p>
        </p:txBody>
      </p:sp>
      <p:sp>
        <p:nvSpPr>
          <p:cNvPr id="193" name="BA_Q1">
            <a:extLst>
              <a:ext uri="{FF2B5EF4-FFF2-40B4-BE49-F238E27FC236}">
                <a16:creationId xmlns:a16="http://schemas.microsoft.com/office/drawing/2014/main" id="{6AD4CE43-F2E2-5976-F662-71CED4D7F4D8}"/>
              </a:ext>
            </a:extLst>
          </p:cNvPr>
          <p:cNvSpPr/>
          <p:nvPr/>
        </p:nvSpPr>
        <p:spPr>
          <a:xfrm>
            <a:off x="8803280" y="3698914"/>
            <a:ext cx="648000" cy="288000"/>
          </a:xfrm>
          <a:prstGeom prst="roundRect">
            <a:avLst/>
          </a:prstGeom>
          <a:solidFill>
            <a:srgbClr val="ED7D3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Q1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API </a:t>
            </a:r>
            <a:r>
              <a:rPr kumimoji="0" lang="fr-FR" sz="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Déciséo</a:t>
            </a:r>
            <a:endParaRPr kumimoji="0" lang="fr-FR" sz="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4" name="BA_W1">
            <a:extLst>
              <a:ext uri="{FF2B5EF4-FFF2-40B4-BE49-F238E27FC236}">
                <a16:creationId xmlns:a16="http://schemas.microsoft.com/office/drawing/2014/main" id="{87348FD7-16E2-EB80-2469-223D0F0C758B}"/>
              </a:ext>
            </a:extLst>
          </p:cNvPr>
          <p:cNvSpPr/>
          <p:nvPr/>
        </p:nvSpPr>
        <p:spPr>
          <a:xfrm>
            <a:off x="8114072" y="4023294"/>
            <a:ext cx="648000" cy="288000"/>
          </a:xfrm>
          <a:prstGeom prst="roundRect">
            <a:avLst/>
          </a:prstGeom>
          <a:solidFill>
            <a:srgbClr val="ED7D31"/>
          </a:solidFill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W1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API Signature</a:t>
            </a:r>
          </a:p>
        </p:txBody>
      </p:sp>
      <p:sp>
        <p:nvSpPr>
          <p:cNvPr id="195" name="BA_W2">
            <a:extLst>
              <a:ext uri="{FF2B5EF4-FFF2-40B4-BE49-F238E27FC236}">
                <a16:creationId xmlns:a16="http://schemas.microsoft.com/office/drawing/2014/main" id="{2F845C8E-11F5-3266-CAAC-8DF97D78D092}"/>
              </a:ext>
            </a:extLst>
          </p:cNvPr>
          <p:cNvSpPr/>
          <p:nvPr/>
        </p:nvSpPr>
        <p:spPr>
          <a:xfrm>
            <a:off x="8803280" y="4023294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W2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Clause </a:t>
            </a:r>
            <a:r>
              <a:rPr kumimoji="0" lang="fr-FR" sz="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Bénéf</a:t>
            </a: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.</a:t>
            </a:r>
          </a:p>
        </p:txBody>
      </p:sp>
      <p:sp>
        <p:nvSpPr>
          <p:cNvPr id="196" name="BA_W4">
            <a:extLst>
              <a:ext uri="{FF2B5EF4-FFF2-40B4-BE49-F238E27FC236}">
                <a16:creationId xmlns:a16="http://schemas.microsoft.com/office/drawing/2014/main" id="{E9A6DE75-48BA-2992-4C9A-CB8638C1CFF8}"/>
              </a:ext>
            </a:extLst>
          </p:cNvPr>
          <p:cNvSpPr/>
          <p:nvPr/>
        </p:nvSpPr>
        <p:spPr>
          <a:xfrm>
            <a:off x="9490384" y="4047213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W4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Modif</a:t>
            </a: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. </a:t>
            </a:r>
            <a:r>
              <a:rPr kumimoji="0" lang="fr-FR" sz="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Gar</a:t>
            </a: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. </a:t>
            </a:r>
            <a:r>
              <a:rPr kumimoji="0" lang="fr-FR" sz="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Prév</a:t>
            </a: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.</a:t>
            </a:r>
          </a:p>
        </p:txBody>
      </p:sp>
      <p:sp>
        <p:nvSpPr>
          <p:cNvPr id="197" name="Gr_REFUC">
            <a:extLst>
              <a:ext uri="{FF2B5EF4-FFF2-40B4-BE49-F238E27FC236}">
                <a16:creationId xmlns:a16="http://schemas.microsoft.com/office/drawing/2014/main" id="{C71F000E-9059-237B-C6FC-D73D27760D47}"/>
              </a:ext>
            </a:extLst>
          </p:cNvPr>
          <p:cNvSpPr/>
          <p:nvPr/>
        </p:nvSpPr>
        <p:spPr>
          <a:xfrm>
            <a:off x="4497472" y="3115682"/>
            <a:ext cx="769204" cy="591273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  <a:effectLst>
            <a:outerShdw blurRad="50800" dist="38100" dir="2700000" algn="ctr" rotWithShape="0">
              <a:schemeClr val="tx1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/>
            </a:endParaRPr>
          </a:p>
        </p:txBody>
      </p:sp>
      <p:sp>
        <p:nvSpPr>
          <p:cNvPr id="198" name="ZT_REFUC">
            <a:extLst>
              <a:ext uri="{FF2B5EF4-FFF2-40B4-BE49-F238E27FC236}">
                <a16:creationId xmlns:a16="http://schemas.microsoft.com/office/drawing/2014/main" id="{FB994FD2-0486-18ED-2FAD-8CD2BB73373D}"/>
              </a:ext>
            </a:extLst>
          </p:cNvPr>
          <p:cNvSpPr txBox="1"/>
          <p:nvPr/>
        </p:nvSpPr>
        <p:spPr>
          <a:xfrm>
            <a:off x="4585812" y="3143267"/>
            <a:ext cx="664123" cy="246221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REFUC</a:t>
            </a:r>
          </a:p>
        </p:txBody>
      </p:sp>
      <p:sp>
        <p:nvSpPr>
          <p:cNvPr id="199" name="BA_VL">
            <a:extLst>
              <a:ext uri="{FF2B5EF4-FFF2-40B4-BE49-F238E27FC236}">
                <a16:creationId xmlns:a16="http://schemas.microsoft.com/office/drawing/2014/main" id="{D4C0492C-63D2-0DCA-862A-628098B02C48}"/>
              </a:ext>
            </a:extLst>
          </p:cNvPr>
          <p:cNvSpPr/>
          <p:nvPr/>
        </p:nvSpPr>
        <p:spPr>
          <a:xfrm>
            <a:off x="4562134" y="3360904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VL</a:t>
            </a:r>
            <a:endParaRPr kumimoji="0" lang="fr-FR" sz="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Référ</a:t>
            </a: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. UC</a:t>
            </a:r>
          </a:p>
        </p:txBody>
      </p:sp>
      <p:sp>
        <p:nvSpPr>
          <p:cNvPr id="200" name="Gr_EBX">
            <a:extLst>
              <a:ext uri="{FF2B5EF4-FFF2-40B4-BE49-F238E27FC236}">
                <a16:creationId xmlns:a16="http://schemas.microsoft.com/office/drawing/2014/main" id="{89CF5DF9-9AC8-D630-3C81-65439864165C}"/>
              </a:ext>
            </a:extLst>
          </p:cNvPr>
          <p:cNvSpPr/>
          <p:nvPr/>
        </p:nvSpPr>
        <p:spPr>
          <a:xfrm>
            <a:off x="3593887" y="3113812"/>
            <a:ext cx="834318" cy="61200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  <a:effectLst>
            <a:outerShdw blurRad="50800" dist="38100" dir="2700000" algn="ctr" rotWithShape="0">
              <a:schemeClr val="tx1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/>
            </a:endParaRPr>
          </a:p>
        </p:txBody>
      </p:sp>
      <p:sp>
        <p:nvSpPr>
          <p:cNvPr id="201" name="ZT_EBX">
            <a:extLst>
              <a:ext uri="{FF2B5EF4-FFF2-40B4-BE49-F238E27FC236}">
                <a16:creationId xmlns:a16="http://schemas.microsoft.com/office/drawing/2014/main" id="{145AA969-D7A0-788F-D08F-7BF0FD42F79D}"/>
              </a:ext>
            </a:extLst>
          </p:cNvPr>
          <p:cNvSpPr txBox="1"/>
          <p:nvPr/>
        </p:nvSpPr>
        <p:spPr>
          <a:xfrm>
            <a:off x="3603261" y="3141397"/>
            <a:ext cx="824943" cy="246221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EBX</a:t>
            </a:r>
          </a:p>
        </p:txBody>
      </p:sp>
      <p:sp>
        <p:nvSpPr>
          <p:cNvPr id="202" name="BA_EBX">
            <a:extLst>
              <a:ext uri="{FF2B5EF4-FFF2-40B4-BE49-F238E27FC236}">
                <a16:creationId xmlns:a16="http://schemas.microsoft.com/office/drawing/2014/main" id="{2CEBED21-204E-8735-3A26-F6BCEAF715D8}"/>
              </a:ext>
            </a:extLst>
          </p:cNvPr>
          <p:cNvSpPr/>
          <p:nvPr/>
        </p:nvSpPr>
        <p:spPr>
          <a:xfrm>
            <a:off x="3697255" y="3370753"/>
            <a:ext cx="648000" cy="276281"/>
          </a:xfrm>
          <a:prstGeom prst="roundRect">
            <a:avLst/>
          </a:prstGeom>
          <a:solidFill>
            <a:srgbClr val="70AD4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EBX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EBX-Platform</a:t>
            </a:r>
          </a:p>
        </p:txBody>
      </p:sp>
      <p:sp>
        <p:nvSpPr>
          <p:cNvPr id="203" name="ZoneProjet">
            <a:extLst>
              <a:ext uri="{FF2B5EF4-FFF2-40B4-BE49-F238E27FC236}">
                <a16:creationId xmlns:a16="http://schemas.microsoft.com/office/drawing/2014/main" id="{F9261186-72EA-5E13-78B2-05A268873BD0}"/>
              </a:ext>
            </a:extLst>
          </p:cNvPr>
          <p:cNvSpPr txBox="1"/>
          <p:nvPr/>
        </p:nvSpPr>
        <p:spPr>
          <a:xfrm>
            <a:off x="1087407" y="524643"/>
            <a:ext cx="1470595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>
            <a:defPPr>
              <a:defRPr lang="fr-FR"/>
            </a:defPPr>
            <a:lvl1pPr lvl="0" algn="ctr">
              <a:defRPr b="1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fr-FR" dirty="0"/>
              <a:t>VLS LCL 26.1</a:t>
            </a:r>
          </a:p>
        </p:txBody>
      </p:sp>
      <p:sp>
        <p:nvSpPr>
          <p:cNvPr id="204" name="ZT_Titre">
            <a:extLst>
              <a:ext uri="{FF2B5EF4-FFF2-40B4-BE49-F238E27FC236}">
                <a16:creationId xmlns:a16="http://schemas.microsoft.com/office/drawing/2014/main" id="{46B5A6A5-B8B9-48FB-AA12-1B84E7A829F0}"/>
              </a:ext>
            </a:extLst>
          </p:cNvPr>
          <p:cNvSpPr txBox="1"/>
          <p:nvPr/>
        </p:nvSpPr>
        <p:spPr>
          <a:xfrm>
            <a:off x="0" y="-124544"/>
            <a:ext cx="12192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800" b="0" i="0" u="none" strike="noStrike" kern="1200" cap="none" spc="0" normalizeH="0" baseline="0" noProof="0" dirty="0">
                <a:ln>
                  <a:noFill/>
                </a:ln>
                <a:solidFill>
                  <a:srgbClr val="5B9BD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Identification des composants applicatifs</a:t>
            </a:r>
          </a:p>
        </p:txBody>
      </p:sp>
      <p:sp>
        <p:nvSpPr>
          <p:cNvPr id="205" name="Gr_BDOC">
            <a:extLst>
              <a:ext uri="{FF2B5EF4-FFF2-40B4-BE49-F238E27FC236}">
                <a16:creationId xmlns:a16="http://schemas.microsoft.com/office/drawing/2014/main" id="{906A3E83-8F28-DA81-4CAB-DFE3219B3623}"/>
              </a:ext>
            </a:extLst>
          </p:cNvPr>
          <p:cNvSpPr/>
          <p:nvPr/>
        </p:nvSpPr>
        <p:spPr>
          <a:xfrm>
            <a:off x="5353697" y="3111592"/>
            <a:ext cx="744111" cy="61200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  <a:effectLst>
            <a:outerShdw blurRad="50800" dist="38100" dir="2700000" algn="ctr" rotWithShape="0">
              <a:schemeClr val="tx1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/>
            </a:endParaRPr>
          </a:p>
        </p:txBody>
      </p:sp>
      <p:sp>
        <p:nvSpPr>
          <p:cNvPr id="206" name="ZT_BDOC">
            <a:extLst>
              <a:ext uri="{FF2B5EF4-FFF2-40B4-BE49-F238E27FC236}">
                <a16:creationId xmlns:a16="http://schemas.microsoft.com/office/drawing/2014/main" id="{AFB3AEA2-DC94-403D-6CE5-C7BD3B8114B5}"/>
              </a:ext>
            </a:extLst>
          </p:cNvPr>
          <p:cNvSpPr txBox="1"/>
          <p:nvPr/>
        </p:nvSpPr>
        <p:spPr>
          <a:xfrm>
            <a:off x="5429887" y="3139177"/>
            <a:ext cx="623531" cy="246221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BDOC</a:t>
            </a:r>
          </a:p>
        </p:txBody>
      </p:sp>
      <p:sp>
        <p:nvSpPr>
          <p:cNvPr id="207" name="BA_BX">
            <a:extLst>
              <a:ext uri="{FF2B5EF4-FFF2-40B4-BE49-F238E27FC236}">
                <a16:creationId xmlns:a16="http://schemas.microsoft.com/office/drawing/2014/main" id="{4BED74DF-31FE-F868-D45B-87132D7515ED}"/>
              </a:ext>
            </a:extLst>
          </p:cNvPr>
          <p:cNvSpPr/>
          <p:nvPr/>
        </p:nvSpPr>
        <p:spPr>
          <a:xfrm>
            <a:off x="5405378" y="3393901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BX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BDOC WEB</a:t>
            </a:r>
          </a:p>
        </p:txBody>
      </p:sp>
      <p:sp>
        <p:nvSpPr>
          <p:cNvPr id="208" name="ZT_MàJ">
            <a:extLst>
              <a:ext uri="{FF2B5EF4-FFF2-40B4-BE49-F238E27FC236}">
                <a16:creationId xmlns:a16="http://schemas.microsoft.com/office/drawing/2014/main" id="{0A2199B5-E5DA-3C38-2137-476B944660A8}"/>
              </a:ext>
            </a:extLst>
          </p:cNvPr>
          <p:cNvSpPr txBox="1"/>
          <p:nvPr/>
        </p:nvSpPr>
        <p:spPr>
          <a:xfrm>
            <a:off x="390525" y="6491355"/>
            <a:ext cx="169950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Mise à jour : xx/xx/2026</a:t>
            </a:r>
          </a:p>
        </p:txBody>
      </p:sp>
      <p:sp>
        <p:nvSpPr>
          <p:cNvPr id="209" name="ZT_Validité">
            <a:extLst>
              <a:ext uri="{FF2B5EF4-FFF2-40B4-BE49-F238E27FC236}">
                <a16:creationId xmlns:a16="http://schemas.microsoft.com/office/drawing/2014/main" id="{BAB7E955-8ADF-94CC-7E4A-82992CAD35B2}"/>
              </a:ext>
            </a:extLst>
          </p:cNvPr>
          <p:cNvSpPr txBox="1"/>
          <p:nvPr/>
        </p:nvSpPr>
        <p:spPr>
          <a:xfrm>
            <a:off x="10479876" y="6501427"/>
            <a:ext cx="126444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Validité : T2 2026</a:t>
            </a:r>
          </a:p>
        </p:txBody>
      </p:sp>
      <p:sp>
        <p:nvSpPr>
          <p:cNvPr id="210" name="Légende_Comp3">
            <a:extLst>
              <a:ext uri="{FF2B5EF4-FFF2-40B4-BE49-F238E27FC236}">
                <a16:creationId xmlns:a16="http://schemas.microsoft.com/office/drawing/2014/main" id="{EA944063-C448-67E9-3906-2FA912A28B08}"/>
              </a:ext>
            </a:extLst>
          </p:cNvPr>
          <p:cNvSpPr/>
          <p:nvPr/>
        </p:nvSpPr>
        <p:spPr>
          <a:xfrm>
            <a:off x="6567797" y="549933"/>
            <a:ext cx="1080000" cy="360000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Composant </a:t>
            </a:r>
            <a:b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créé ou modifié</a:t>
            </a:r>
          </a:p>
        </p:txBody>
      </p:sp>
      <p:sp>
        <p:nvSpPr>
          <p:cNvPr id="211" name="Légende_Comp2">
            <a:extLst>
              <a:ext uri="{FF2B5EF4-FFF2-40B4-BE49-F238E27FC236}">
                <a16:creationId xmlns:a16="http://schemas.microsoft.com/office/drawing/2014/main" id="{F5178F49-EEA8-1BC9-2ACD-BB3972626CBC}"/>
              </a:ext>
            </a:extLst>
          </p:cNvPr>
          <p:cNvSpPr/>
          <p:nvPr/>
        </p:nvSpPr>
        <p:spPr>
          <a:xfrm>
            <a:off x="5383906" y="547517"/>
            <a:ext cx="1080000" cy="360000"/>
          </a:xfrm>
          <a:prstGeom prst="round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Composant utilisé</a:t>
            </a:r>
          </a:p>
        </p:txBody>
      </p:sp>
      <p:sp>
        <p:nvSpPr>
          <p:cNvPr id="212" name="Légende_Comp1">
            <a:extLst>
              <a:ext uri="{FF2B5EF4-FFF2-40B4-BE49-F238E27FC236}">
                <a16:creationId xmlns:a16="http://schemas.microsoft.com/office/drawing/2014/main" id="{2D79DE8D-CA04-28AC-7B11-BC00D3B753B3}"/>
              </a:ext>
            </a:extLst>
          </p:cNvPr>
          <p:cNvSpPr/>
          <p:nvPr/>
        </p:nvSpPr>
        <p:spPr>
          <a:xfrm>
            <a:off x="4200015" y="542942"/>
            <a:ext cx="1080000" cy="360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Composant non exploité</a:t>
            </a:r>
          </a:p>
        </p:txBody>
      </p:sp>
      <p:sp>
        <p:nvSpPr>
          <p:cNvPr id="213" name="BA_T2">
            <a:extLst>
              <a:ext uri="{FF2B5EF4-FFF2-40B4-BE49-F238E27FC236}">
                <a16:creationId xmlns:a16="http://schemas.microsoft.com/office/drawing/2014/main" id="{71D70FDF-188C-CC76-8FD0-5A299CEC47FF}"/>
              </a:ext>
            </a:extLst>
          </p:cNvPr>
          <p:cNvSpPr/>
          <p:nvPr/>
        </p:nvSpPr>
        <p:spPr>
          <a:xfrm>
            <a:off x="9490384" y="3696185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T2</a:t>
            </a:r>
            <a:endParaRPr kumimoji="0" lang="fr-FR" sz="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KConnect</a:t>
            </a: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 MUTU</a:t>
            </a:r>
          </a:p>
        </p:txBody>
      </p:sp>
      <p:sp>
        <p:nvSpPr>
          <p:cNvPr id="214" name="BA_T3">
            <a:extLst>
              <a:ext uri="{FF2B5EF4-FFF2-40B4-BE49-F238E27FC236}">
                <a16:creationId xmlns:a16="http://schemas.microsoft.com/office/drawing/2014/main" id="{86A6439B-DAAF-5569-B62D-73E7C1FE1CDC}"/>
              </a:ext>
            </a:extLst>
          </p:cNvPr>
          <p:cNvSpPr/>
          <p:nvPr/>
        </p:nvSpPr>
        <p:spPr>
          <a:xfrm>
            <a:off x="10160477" y="3696185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T3</a:t>
            </a:r>
            <a:endParaRPr kumimoji="0" lang="fr-FR" sz="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KConnect</a:t>
            </a: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 CAA</a:t>
            </a:r>
          </a:p>
        </p:txBody>
      </p:sp>
      <p:sp>
        <p:nvSpPr>
          <p:cNvPr id="215" name="BA_F8">
            <a:extLst>
              <a:ext uri="{FF2B5EF4-FFF2-40B4-BE49-F238E27FC236}">
                <a16:creationId xmlns:a16="http://schemas.microsoft.com/office/drawing/2014/main" id="{60CB9B5A-80AF-013A-8E44-6895B0BCBBB4}"/>
              </a:ext>
            </a:extLst>
          </p:cNvPr>
          <p:cNvSpPr/>
          <p:nvPr/>
        </p:nvSpPr>
        <p:spPr>
          <a:xfrm>
            <a:off x="8803280" y="2047150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F8</a:t>
            </a:r>
            <a:endParaRPr kumimoji="0" lang="fr-FR" sz="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API MOOP</a:t>
            </a:r>
          </a:p>
        </p:txBody>
      </p:sp>
      <p:sp>
        <p:nvSpPr>
          <p:cNvPr id="216" name="Gr_ETL">
            <a:extLst>
              <a:ext uri="{FF2B5EF4-FFF2-40B4-BE49-F238E27FC236}">
                <a16:creationId xmlns:a16="http://schemas.microsoft.com/office/drawing/2014/main" id="{29B4FB68-113D-4BC5-55B2-F6DFC8737A9A}"/>
              </a:ext>
            </a:extLst>
          </p:cNvPr>
          <p:cNvSpPr/>
          <p:nvPr/>
        </p:nvSpPr>
        <p:spPr>
          <a:xfrm>
            <a:off x="1617823" y="2849127"/>
            <a:ext cx="862923" cy="561929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  <a:effectLst>
            <a:outerShdw blurRad="50800" dist="38100" dir="2700000" algn="ctr" rotWithShape="0">
              <a:schemeClr val="tx1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/>
            </a:endParaRPr>
          </a:p>
        </p:txBody>
      </p:sp>
      <p:sp>
        <p:nvSpPr>
          <p:cNvPr id="217" name="ZT_ETL">
            <a:extLst>
              <a:ext uri="{FF2B5EF4-FFF2-40B4-BE49-F238E27FC236}">
                <a16:creationId xmlns:a16="http://schemas.microsoft.com/office/drawing/2014/main" id="{7E0FB5B2-C549-819C-1DC4-45D9483582D6}"/>
              </a:ext>
            </a:extLst>
          </p:cNvPr>
          <p:cNvSpPr txBox="1"/>
          <p:nvPr/>
        </p:nvSpPr>
        <p:spPr>
          <a:xfrm>
            <a:off x="1611935" y="2858784"/>
            <a:ext cx="898650" cy="246221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ETL</a:t>
            </a:r>
          </a:p>
        </p:txBody>
      </p:sp>
      <p:sp>
        <p:nvSpPr>
          <p:cNvPr id="218" name="BA_PWC2">
            <a:extLst>
              <a:ext uri="{FF2B5EF4-FFF2-40B4-BE49-F238E27FC236}">
                <a16:creationId xmlns:a16="http://schemas.microsoft.com/office/drawing/2014/main" id="{C5EC4856-1D3D-1447-8E35-775C9F8A8A38}"/>
              </a:ext>
            </a:extLst>
          </p:cNvPr>
          <p:cNvSpPr/>
          <p:nvPr/>
        </p:nvSpPr>
        <p:spPr>
          <a:xfrm>
            <a:off x="1715817" y="3076593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PWC2</a:t>
            </a:r>
            <a:endParaRPr kumimoji="0" lang="fr-FR" sz="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ETL PREDICA</a:t>
            </a:r>
          </a:p>
        </p:txBody>
      </p:sp>
      <p:sp>
        <p:nvSpPr>
          <p:cNvPr id="219" name="Légende_Date1">
            <a:extLst>
              <a:ext uri="{FF2B5EF4-FFF2-40B4-BE49-F238E27FC236}">
                <a16:creationId xmlns:a16="http://schemas.microsoft.com/office/drawing/2014/main" id="{0744E988-52D7-5059-1408-29AC8CC3022E}"/>
              </a:ext>
            </a:extLst>
          </p:cNvPr>
          <p:cNvSpPr txBox="1"/>
          <p:nvPr/>
        </p:nvSpPr>
        <p:spPr>
          <a:xfrm rot="19102564">
            <a:off x="7647306" y="559123"/>
            <a:ext cx="927160" cy="369332"/>
          </a:xfrm>
          <a:prstGeom prst="rect">
            <a:avLst/>
          </a:prstGeom>
          <a:noFill/>
          <a:ln cap="flat">
            <a:noFill/>
            <a:prstDash val="solid"/>
          </a:ln>
          <a:effectLst>
            <a:softEdge rad="0"/>
          </a:effectLst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900" b="0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Date de </a:t>
            </a:r>
            <a:r>
              <a:rPr kumimoji="0" lang="fr-FR" sz="900" b="0" i="0" u="none" strike="noStrike" kern="1200" cap="none" spc="0" normalizeH="0" baseline="0" noProof="0" dirty="0" err="1">
                <a:ln>
                  <a:noFill/>
                </a:ln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MeP</a:t>
            </a:r>
            <a:r>
              <a:rPr kumimoji="0" lang="fr-FR" sz="900" b="0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 prévue</a:t>
            </a:r>
          </a:p>
        </p:txBody>
      </p:sp>
      <p:sp>
        <p:nvSpPr>
          <p:cNvPr id="222" name="Légende_Date2">
            <a:extLst>
              <a:ext uri="{FF2B5EF4-FFF2-40B4-BE49-F238E27FC236}">
                <a16:creationId xmlns:a16="http://schemas.microsoft.com/office/drawing/2014/main" id="{17E1CBEE-61B7-8D92-4CAE-CDA269AB70BB}"/>
              </a:ext>
            </a:extLst>
          </p:cNvPr>
          <p:cNvSpPr txBox="1"/>
          <p:nvPr/>
        </p:nvSpPr>
        <p:spPr>
          <a:xfrm rot="19102564">
            <a:off x="8343008" y="568799"/>
            <a:ext cx="927160" cy="369332"/>
          </a:xfrm>
          <a:prstGeom prst="rect">
            <a:avLst/>
          </a:prstGeom>
          <a:noFill/>
          <a:ln cap="flat">
            <a:noFill/>
            <a:prstDash val="solid"/>
          </a:ln>
          <a:effectLst>
            <a:softEdge rad="0"/>
          </a:effectLst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900" b="0" i="0" u="none" strike="noStrike" kern="1200" cap="none" spc="0" normalizeH="0" baseline="0" noProof="0" dirty="0">
                <a:ln>
                  <a:noFill/>
                </a:ln>
                <a:solidFill>
                  <a:srgbClr val="70AD4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Date de </a:t>
            </a:r>
            <a:r>
              <a:rPr kumimoji="0" lang="fr-FR" sz="900" b="0" i="0" u="none" strike="noStrike" kern="1200" cap="none" spc="0" normalizeH="0" baseline="0" noProof="0" dirty="0" err="1">
                <a:ln>
                  <a:noFill/>
                </a:ln>
                <a:solidFill>
                  <a:srgbClr val="70AD4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MeP</a:t>
            </a:r>
            <a:r>
              <a:rPr kumimoji="0" lang="fr-FR" sz="900" b="0" i="0" u="none" strike="noStrike" kern="1200" cap="none" spc="0" normalizeH="0" baseline="0" noProof="0" dirty="0">
                <a:ln>
                  <a:noFill/>
                </a:ln>
                <a:solidFill>
                  <a:srgbClr val="70AD4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 effective</a:t>
            </a:r>
          </a:p>
        </p:txBody>
      </p:sp>
      <p:sp>
        <p:nvSpPr>
          <p:cNvPr id="223" name="Gr_CATS">
            <a:extLst>
              <a:ext uri="{FF2B5EF4-FFF2-40B4-BE49-F238E27FC236}">
                <a16:creationId xmlns:a16="http://schemas.microsoft.com/office/drawing/2014/main" id="{74EBCAD8-21A2-9E72-1DA9-1323C213F1EC}"/>
              </a:ext>
            </a:extLst>
          </p:cNvPr>
          <p:cNvSpPr/>
          <p:nvPr/>
        </p:nvSpPr>
        <p:spPr>
          <a:xfrm>
            <a:off x="447324" y="5119889"/>
            <a:ext cx="5579420" cy="1254012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4" name="ZT_CATS">
            <a:extLst>
              <a:ext uri="{FF2B5EF4-FFF2-40B4-BE49-F238E27FC236}">
                <a16:creationId xmlns:a16="http://schemas.microsoft.com/office/drawing/2014/main" id="{BF1D332F-E7ED-BE61-3359-847EAB497F46}"/>
              </a:ext>
            </a:extLst>
          </p:cNvPr>
          <p:cNvSpPr txBox="1"/>
          <p:nvPr/>
        </p:nvSpPr>
        <p:spPr>
          <a:xfrm>
            <a:off x="370835" y="5083258"/>
            <a:ext cx="5409144" cy="246221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CA-TS</a:t>
            </a:r>
            <a:endParaRPr kumimoji="0" lang="fr-FR" sz="1000" b="1" i="1" u="none" strike="noStrike" kern="1200" cap="none" spc="0" normalizeH="0" baseline="0" noProof="0" dirty="0">
              <a:ln>
                <a:noFill/>
              </a:ln>
              <a:solidFill>
                <a:srgbClr val="7030A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5" name="BA_PDI9">
            <a:extLst>
              <a:ext uri="{FF2B5EF4-FFF2-40B4-BE49-F238E27FC236}">
                <a16:creationId xmlns:a16="http://schemas.microsoft.com/office/drawing/2014/main" id="{C7F2AB1C-8B44-D6BD-1804-E8DC213C196E}"/>
              </a:ext>
            </a:extLst>
          </p:cNvPr>
          <p:cNvSpPr/>
          <p:nvPr/>
        </p:nvSpPr>
        <p:spPr>
          <a:xfrm>
            <a:off x="506780" y="5666800"/>
            <a:ext cx="648000" cy="288000"/>
          </a:xfrm>
          <a:prstGeom prst="roundRect">
            <a:avLst/>
          </a:prstGeom>
          <a:solidFill>
            <a:srgbClr val="B6D3EC"/>
          </a:solidFill>
          <a:ln w="6350"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PDI9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6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/>
              </a:rPr>
              <a:t>-</a:t>
            </a:r>
            <a:endParaRPr kumimoji="0" lang="fr-FR" sz="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6" name="BA_XConnect">
            <a:extLst>
              <a:ext uri="{FF2B5EF4-FFF2-40B4-BE49-F238E27FC236}">
                <a16:creationId xmlns:a16="http://schemas.microsoft.com/office/drawing/2014/main" id="{23CDAE76-2DF1-5E69-FCAF-234A76C8AC59}"/>
              </a:ext>
            </a:extLst>
          </p:cNvPr>
          <p:cNvSpPr/>
          <p:nvPr/>
        </p:nvSpPr>
        <p:spPr>
          <a:xfrm>
            <a:off x="1189563" y="5663009"/>
            <a:ext cx="648000" cy="288000"/>
          </a:xfrm>
          <a:prstGeom prst="roundRect">
            <a:avLst/>
          </a:prstGeom>
          <a:solidFill>
            <a:srgbClr val="B6D3EC"/>
          </a:solidFill>
          <a:ln w="6350"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Xconnect</a:t>
            </a:r>
            <a:endParaRPr kumimoji="0" lang="fr-FR" sz="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6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/>
              </a:rPr>
              <a:t>-</a:t>
            </a:r>
            <a:endParaRPr kumimoji="0" lang="fr-FR" sz="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7" name="BA_SIMM">
            <a:extLst>
              <a:ext uri="{FF2B5EF4-FFF2-40B4-BE49-F238E27FC236}">
                <a16:creationId xmlns:a16="http://schemas.microsoft.com/office/drawing/2014/main" id="{93B5C1B5-B953-4F83-CC37-2AEE571657CB}"/>
              </a:ext>
            </a:extLst>
          </p:cNvPr>
          <p:cNvSpPr/>
          <p:nvPr/>
        </p:nvSpPr>
        <p:spPr>
          <a:xfrm>
            <a:off x="2557693" y="5660385"/>
            <a:ext cx="648000" cy="288000"/>
          </a:xfrm>
          <a:prstGeom prst="roundRect">
            <a:avLst/>
          </a:prstGeom>
          <a:solidFill>
            <a:srgbClr val="B6D3EC"/>
          </a:solidFill>
          <a:ln w="6350"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SIMM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6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/>
              </a:rPr>
              <a:t>-</a:t>
            </a:r>
            <a:endParaRPr kumimoji="0" lang="fr-FR" sz="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8" name="BA_BAM">
            <a:extLst>
              <a:ext uri="{FF2B5EF4-FFF2-40B4-BE49-F238E27FC236}">
                <a16:creationId xmlns:a16="http://schemas.microsoft.com/office/drawing/2014/main" id="{EECBA865-1515-5BDE-AAF6-6616B747C221}"/>
              </a:ext>
            </a:extLst>
          </p:cNvPr>
          <p:cNvSpPr/>
          <p:nvPr/>
        </p:nvSpPr>
        <p:spPr>
          <a:xfrm>
            <a:off x="2833493" y="5340532"/>
            <a:ext cx="648000" cy="288000"/>
          </a:xfrm>
          <a:prstGeom prst="roundRect">
            <a:avLst/>
          </a:prstGeom>
          <a:solidFill>
            <a:srgbClr val="B6D3EC"/>
          </a:solidFill>
          <a:ln w="6350"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BAM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6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/>
              </a:rPr>
              <a:t>-</a:t>
            </a:r>
            <a:endParaRPr kumimoji="0" lang="fr-FR" sz="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9" name="BA_RAC">
            <a:extLst>
              <a:ext uri="{FF2B5EF4-FFF2-40B4-BE49-F238E27FC236}">
                <a16:creationId xmlns:a16="http://schemas.microsoft.com/office/drawing/2014/main" id="{79B5C063-A6F6-AFE7-3F8B-DCEC2D05A4AA}"/>
              </a:ext>
            </a:extLst>
          </p:cNvPr>
          <p:cNvSpPr/>
          <p:nvPr/>
        </p:nvSpPr>
        <p:spPr>
          <a:xfrm>
            <a:off x="4892893" y="5338051"/>
            <a:ext cx="648000" cy="288000"/>
          </a:xfrm>
          <a:prstGeom prst="roundRect">
            <a:avLst/>
          </a:prstGeom>
          <a:solidFill>
            <a:srgbClr val="B6D3EC"/>
          </a:solidFill>
          <a:ln w="6350"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RAC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6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/>
              </a:rPr>
              <a:t>-</a:t>
            </a:r>
            <a:endParaRPr kumimoji="0" lang="fr-FR" sz="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0" name="BA_DétContratNatifMB">
            <a:extLst>
              <a:ext uri="{FF2B5EF4-FFF2-40B4-BE49-F238E27FC236}">
                <a16:creationId xmlns:a16="http://schemas.microsoft.com/office/drawing/2014/main" id="{BA01D47E-C4A7-2DCB-D1D0-8FA2052DE761}"/>
              </a:ext>
            </a:extLst>
          </p:cNvPr>
          <p:cNvSpPr/>
          <p:nvPr/>
        </p:nvSpPr>
        <p:spPr>
          <a:xfrm>
            <a:off x="506780" y="5329301"/>
            <a:ext cx="1326281" cy="288000"/>
          </a:xfrm>
          <a:prstGeom prst="roundRect">
            <a:avLst/>
          </a:prstGeom>
          <a:solidFill>
            <a:srgbClr val="B6D3EC"/>
          </a:solidFill>
          <a:ln w="6350"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Dét</a:t>
            </a: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. Contrat natif MB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6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/>
              </a:rPr>
              <a:t>-</a:t>
            </a:r>
            <a:endParaRPr kumimoji="0" lang="fr-FR" sz="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1" name="BA_BPM">
            <a:extLst>
              <a:ext uri="{FF2B5EF4-FFF2-40B4-BE49-F238E27FC236}">
                <a16:creationId xmlns:a16="http://schemas.microsoft.com/office/drawing/2014/main" id="{2877DC7C-DEE2-DA1F-A6B8-715B5F08D3D6}"/>
              </a:ext>
            </a:extLst>
          </p:cNvPr>
          <p:cNvSpPr/>
          <p:nvPr/>
        </p:nvSpPr>
        <p:spPr>
          <a:xfrm>
            <a:off x="1875772" y="5663009"/>
            <a:ext cx="648000" cy="288000"/>
          </a:xfrm>
          <a:prstGeom prst="roundRect">
            <a:avLst/>
          </a:prstGeom>
          <a:solidFill>
            <a:srgbClr val="B6D3EC"/>
          </a:solidFill>
          <a:ln w="6350"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BPM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6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/>
              </a:rPr>
              <a:t>-</a:t>
            </a:r>
            <a:endParaRPr kumimoji="0" lang="fr-FR" sz="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2" name="BA_APX9">
            <a:extLst>
              <a:ext uri="{FF2B5EF4-FFF2-40B4-BE49-F238E27FC236}">
                <a16:creationId xmlns:a16="http://schemas.microsoft.com/office/drawing/2014/main" id="{82D7CC9C-1499-55D5-E8F6-5B65D91B8BD2}"/>
              </a:ext>
            </a:extLst>
          </p:cNvPr>
          <p:cNvSpPr/>
          <p:nvPr/>
        </p:nvSpPr>
        <p:spPr>
          <a:xfrm>
            <a:off x="511818" y="6003252"/>
            <a:ext cx="648000" cy="288000"/>
          </a:xfrm>
          <a:prstGeom prst="roundRect">
            <a:avLst/>
          </a:prstGeom>
          <a:solidFill>
            <a:srgbClr val="B6D3EC"/>
          </a:solidFill>
          <a:ln w="6350"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APX9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6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/>
              </a:rPr>
              <a:t>-</a:t>
            </a:r>
            <a:endParaRPr kumimoji="0" lang="fr-FR" sz="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3" name="BA_HUB">
            <a:extLst>
              <a:ext uri="{FF2B5EF4-FFF2-40B4-BE49-F238E27FC236}">
                <a16:creationId xmlns:a16="http://schemas.microsoft.com/office/drawing/2014/main" id="{5976A85D-CD15-D5A7-9147-8803051A4D65}"/>
              </a:ext>
            </a:extLst>
          </p:cNvPr>
          <p:cNvSpPr/>
          <p:nvPr/>
        </p:nvSpPr>
        <p:spPr>
          <a:xfrm>
            <a:off x="3242082" y="5660385"/>
            <a:ext cx="648000" cy="288000"/>
          </a:xfrm>
          <a:prstGeom prst="roundRect">
            <a:avLst/>
          </a:prstGeom>
          <a:solidFill>
            <a:srgbClr val="B6D3EC"/>
          </a:solidFill>
          <a:ln w="6350"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HUB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6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/>
              </a:rPr>
              <a:t>-</a:t>
            </a:r>
            <a:endParaRPr kumimoji="0" lang="fr-FR" sz="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4" name="BA_NPC">
            <a:extLst>
              <a:ext uri="{FF2B5EF4-FFF2-40B4-BE49-F238E27FC236}">
                <a16:creationId xmlns:a16="http://schemas.microsoft.com/office/drawing/2014/main" id="{947DCB64-0370-B89B-7550-2D1C887544CF}"/>
              </a:ext>
            </a:extLst>
          </p:cNvPr>
          <p:cNvSpPr/>
          <p:nvPr/>
        </p:nvSpPr>
        <p:spPr>
          <a:xfrm>
            <a:off x="3515693" y="5337169"/>
            <a:ext cx="648000" cy="288000"/>
          </a:xfrm>
          <a:prstGeom prst="roundRect">
            <a:avLst/>
          </a:prstGeom>
          <a:solidFill>
            <a:srgbClr val="B6D3EC"/>
          </a:solidFill>
          <a:ln w="6350"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NPC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6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/>
              </a:rPr>
              <a:t>-</a:t>
            </a:r>
            <a:endParaRPr kumimoji="0" lang="fr-FR" sz="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5" name="BA_Microservices">
            <a:extLst>
              <a:ext uri="{FF2B5EF4-FFF2-40B4-BE49-F238E27FC236}">
                <a16:creationId xmlns:a16="http://schemas.microsoft.com/office/drawing/2014/main" id="{3EE944A2-D4D0-6835-93F1-5E17E748CF46}"/>
              </a:ext>
            </a:extLst>
          </p:cNvPr>
          <p:cNvSpPr/>
          <p:nvPr/>
        </p:nvSpPr>
        <p:spPr>
          <a:xfrm>
            <a:off x="1867224" y="5336000"/>
            <a:ext cx="925408" cy="288000"/>
          </a:xfrm>
          <a:prstGeom prst="roundRect">
            <a:avLst/>
          </a:prstGeom>
          <a:solidFill>
            <a:srgbClr val="B6D3EC"/>
          </a:solidFill>
          <a:ln w="6350"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Microservices</a:t>
            </a:r>
            <a:endParaRPr kumimoji="0" lang="fr-FR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6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/>
              </a:rPr>
              <a:t>-</a:t>
            </a:r>
            <a:endParaRPr kumimoji="0" lang="fr-FR" sz="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6" name="BA_SIG9">
            <a:extLst>
              <a:ext uri="{FF2B5EF4-FFF2-40B4-BE49-F238E27FC236}">
                <a16:creationId xmlns:a16="http://schemas.microsoft.com/office/drawing/2014/main" id="{DB2C2011-06E5-6B45-63CD-3F153F0F24DF}"/>
              </a:ext>
            </a:extLst>
          </p:cNvPr>
          <p:cNvSpPr/>
          <p:nvPr/>
        </p:nvSpPr>
        <p:spPr>
          <a:xfrm>
            <a:off x="4203138" y="5331299"/>
            <a:ext cx="648000" cy="288000"/>
          </a:xfrm>
          <a:prstGeom prst="roundRect">
            <a:avLst/>
          </a:prstGeom>
          <a:solidFill>
            <a:srgbClr val="B6D3EC"/>
          </a:solidFill>
          <a:ln w="6350"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SIG9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6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/>
              </a:rPr>
              <a:t>-</a:t>
            </a:r>
            <a:endParaRPr kumimoji="0" lang="fr-FR" sz="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7" name="Gr_MVS">
            <a:extLst>
              <a:ext uri="{FF2B5EF4-FFF2-40B4-BE49-F238E27FC236}">
                <a16:creationId xmlns:a16="http://schemas.microsoft.com/office/drawing/2014/main" id="{05A54227-A3F7-7127-6A35-727B511CAC65}"/>
              </a:ext>
            </a:extLst>
          </p:cNvPr>
          <p:cNvSpPr/>
          <p:nvPr/>
        </p:nvSpPr>
        <p:spPr>
          <a:xfrm>
            <a:off x="560497" y="1111645"/>
            <a:ext cx="2901105" cy="1661382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  <a:effectLst>
            <a:outerShdw blurRad="50800" dist="38100" dir="2700000" algn="ctr" rotWithShape="0">
              <a:schemeClr val="tx1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/>
            </a:endParaRPr>
          </a:p>
        </p:txBody>
      </p:sp>
      <p:sp>
        <p:nvSpPr>
          <p:cNvPr id="238" name="BA_CICS_LCL">
            <a:extLst>
              <a:ext uri="{FF2B5EF4-FFF2-40B4-BE49-F238E27FC236}">
                <a16:creationId xmlns:a16="http://schemas.microsoft.com/office/drawing/2014/main" id="{331B9BC6-9C41-3FEC-FC39-BAE9CF3E041B}"/>
              </a:ext>
            </a:extLst>
          </p:cNvPr>
          <p:cNvSpPr/>
          <p:nvPr/>
        </p:nvSpPr>
        <p:spPr>
          <a:xfrm>
            <a:off x="623669" y="1641943"/>
            <a:ext cx="648000" cy="288000"/>
          </a:xfrm>
          <a:prstGeom prst="round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CICS</a:t>
            </a:r>
          </a:p>
        </p:txBody>
      </p:sp>
      <p:sp>
        <p:nvSpPr>
          <p:cNvPr id="239" name="BA_DB2_LCL">
            <a:extLst>
              <a:ext uri="{FF2B5EF4-FFF2-40B4-BE49-F238E27FC236}">
                <a16:creationId xmlns:a16="http://schemas.microsoft.com/office/drawing/2014/main" id="{AD4B9924-B8CB-86BF-2882-442C052E8FBC}"/>
              </a:ext>
            </a:extLst>
          </p:cNvPr>
          <p:cNvSpPr/>
          <p:nvPr/>
        </p:nvSpPr>
        <p:spPr>
          <a:xfrm>
            <a:off x="1307275" y="1641222"/>
            <a:ext cx="648000" cy="288000"/>
          </a:xfrm>
          <a:prstGeom prst="round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DB2</a:t>
            </a:r>
          </a:p>
        </p:txBody>
      </p:sp>
      <p:sp>
        <p:nvSpPr>
          <p:cNvPr id="240" name="ZT_MVS">
            <a:extLst>
              <a:ext uri="{FF2B5EF4-FFF2-40B4-BE49-F238E27FC236}">
                <a16:creationId xmlns:a16="http://schemas.microsoft.com/office/drawing/2014/main" id="{5ADC0F3D-B4DE-9C2B-0765-04CFFBFDAF7F}"/>
              </a:ext>
            </a:extLst>
          </p:cNvPr>
          <p:cNvSpPr txBox="1"/>
          <p:nvPr/>
        </p:nvSpPr>
        <p:spPr>
          <a:xfrm>
            <a:off x="560496" y="1111645"/>
            <a:ext cx="2901106" cy="246221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MVS Z/OS (</a:t>
            </a:r>
            <a:r>
              <a:rPr kumimoji="0" lang="fr-FR" sz="1000" b="1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Ingenium</a:t>
            </a:r>
            <a:r>
              <a:rPr kumimoji="0" lang="fr-FR" sz="1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)</a:t>
            </a:r>
            <a:endParaRPr kumimoji="0" lang="fr-FR" sz="1000" b="1" i="1" u="none" strike="noStrike" kern="1200" cap="none" spc="0" normalizeH="0" baseline="0" noProof="0" dirty="0">
              <a:ln>
                <a:noFill/>
              </a:ln>
              <a:solidFill>
                <a:srgbClr val="ED7D3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1" name="BA_ING_CA">
            <a:extLst>
              <a:ext uri="{FF2B5EF4-FFF2-40B4-BE49-F238E27FC236}">
                <a16:creationId xmlns:a16="http://schemas.microsoft.com/office/drawing/2014/main" id="{D0082C64-1332-9B37-C610-11319F3A1532}"/>
              </a:ext>
            </a:extLst>
          </p:cNvPr>
          <p:cNvSpPr/>
          <p:nvPr/>
        </p:nvSpPr>
        <p:spPr>
          <a:xfrm>
            <a:off x="2043446" y="1970146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INVI/VC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Ingenium</a:t>
            </a: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 CA</a:t>
            </a:r>
          </a:p>
        </p:txBody>
      </p:sp>
      <p:sp>
        <p:nvSpPr>
          <p:cNvPr id="242" name="BA_PE_CA">
            <a:extLst>
              <a:ext uri="{FF2B5EF4-FFF2-40B4-BE49-F238E27FC236}">
                <a16:creationId xmlns:a16="http://schemas.microsoft.com/office/drawing/2014/main" id="{67150DDC-FDCB-8770-519C-E59234D5E9A2}"/>
              </a:ext>
            </a:extLst>
          </p:cNvPr>
          <p:cNvSpPr/>
          <p:nvPr/>
        </p:nvSpPr>
        <p:spPr>
          <a:xfrm>
            <a:off x="2716487" y="1971824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PE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Base Pers CA</a:t>
            </a:r>
          </a:p>
        </p:txBody>
      </p:sp>
      <p:sp>
        <p:nvSpPr>
          <p:cNvPr id="243" name="BA_Autre_CA">
            <a:extLst>
              <a:ext uri="{FF2B5EF4-FFF2-40B4-BE49-F238E27FC236}">
                <a16:creationId xmlns:a16="http://schemas.microsoft.com/office/drawing/2014/main" id="{5DFC3ECD-68A1-4EA7-5FE3-4AEE2F377E3B}"/>
              </a:ext>
            </a:extLst>
          </p:cNvPr>
          <p:cNvSpPr/>
          <p:nvPr/>
        </p:nvSpPr>
        <p:spPr>
          <a:xfrm>
            <a:off x="2377796" y="2309491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…</a:t>
            </a:r>
          </a:p>
        </p:txBody>
      </p:sp>
      <p:sp>
        <p:nvSpPr>
          <p:cNvPr id="244" name="BA_ING_LCL">
            <a:extLst>
              <a:ext uri="{FF2B5EF4-FFF2-40B4-BE49-F238E27FC236}">
                <a16:creationId xmlns:a16="http://schemas.microsoft.com/office/drawing/2014/main" id="{6A8C103D-925E-9679-E070-635952A30E9C}"/>
              </a:ext>
            </a:extLst>
          </p:cNvPr>
          <p:cNvSpPr/>
          <p:nvPr/>
        </p:nvSpPr>
        <p:spPr>
          <a:xfrm>
            <a:off x="619469" y="1964817"/>
            <a:ext cx="648000" cy="288000"/>
          </a:xfrm>
          <a:prstGeom prst="round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INVI/VC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Ingenium</a:t>
            </a: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 LCL</a:t>
            </a:r>
          </a:p>
        </p:txBody>
      </p:sp>
      <p:sp>
        <p:nvSpPr>
          <p:cNvPr id="245" name="BA_PE_LCL">
            <a:extLst>
              <a:ext uri="{FF2B5EF4-FFF2-40B4-BE49-F238E27FC236}">
                <a16:creationId xmlns:a16="http://schemas.microsoft.com/office/drawing/2014/main" id="{BCCCDA63-B270-58FD-4E11-B153C927FAB1}"/>
              </a:ext>
            </a:extLst>
          </p:cNvPr>
          <p:cNvSpPr/>
          <p:nvPr/>
        </p:nvSpPr>
        <p:spPr>
          <a:xfrm>
            <a:off x="1305439" y="1963152"/>
            <a:ext cx="648000" cy="288000"/>
          </a:xfrm>
          <a:prstGeom prst="round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PE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Base Pers LCL</a:t>
            </a:r>
          </a:p>
        </p:txBody>
      </p:sp>
      <p:sp>
        <p:nvSpPr>
          <p:cNvPr id="246" name="BA_Autre_LCL">
            <a:extLst>
              <a:ext uri="{FF2B5EF4-FFF2-40B4-BE49-F238E27FC236}">
                <a16:creationId xmlns:a16="http://schemas.microsoft.com/office/drawing/2014/main" id="{E1E3514C-1E0E-3F22-31CF-09ED92A3D91B}"/>
              </a:ext>
            </a:extLst>
          </p:cNvPr>
          <p:cNvSpPr/>
          <p:nvPr/>
        </p:nvSpPr>
        <p:spPr>
          <a:xfrm>
            <a:off x="1010215" y="2285082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…</a:t>
            </a:r>
          </a:p>
        </p:txBody>
      </p:sp>
      <p:cxnSp>
        <p:nvCxnSpPr>
          <p:cNvPr id="247" name="Connecteur droit">
            <a:extLst>
              <a:ext uri="{FF2B5EF4-FFF2-40B4-BE49-F238E27FC236}">
                <a16:creationId xmlns:a16="http://schemas.microsoft.com/office/drawing/2014/main" id="{5E7598E4-7F21-02E2-5888-E6F6F4A57EDB}"/>
              </a:ext>
            </a:extLst>
          </p:cNvPr>
          <p:cNvCxnSpPr/>
          <p:nvPr/>
        </p:nvCxnSpPr>
        <p:spPr>
          <a:xfrm>
            <a:off x="1984365" y="1430388"/>
            <a:ext cx="4993" cy="1220450"/>
          </a:xfrm>
          <a:prstGeom prst="line">
            <a:avLst/>
          </a:prstGeom>
          <a:ln w="9525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8" name="ZT_CA">
            <a:extLst>
              <a:ext uri="{FF2B5EF4-FFF2-40B4-BE49-F238E27FC236}">
                <a16:creationId xmlns:a16="http://schemas.microsoft.com/office/drawing/2014/main" id="{3536870B-16CB-FE21-4CF0-121EEA51A7DB}"/>
              </a:ext>
            </a:extLst>
          </p:cNvPr>
          <p:cNvSpPr txBox="1"/>
          <p:nvPr/>
        </p:nvSpPr>
        <p:spPr>
          <a:xfrm>
            <a:off x="2418813" y="1371697"/>
            <a:ext cx="551086" cy="246221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CA</a:t>
            </a:r>
            <a:endParaRPr kumimoji="0" lang="fr-FR" sz="1000" b="1" i="1" u="none" strike="noStrike" kern="1200" cap="none" spc="0" normalizeH="0" baseline="0" noProof="0" dirty="0">
              <a:ln>
                <a:noFill/>
              </a:ln>
              <a:solidFill>
                <a:srgbClr val="ED7D3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9" name="ZT_LCL">
            <a:extLst>
              <a:ext uri="{FF2B5EF4-FFF2-40B4-BE49-F238E27FC236}">
                <a16:creationId xmlns:a16="http://schemas.microsoft.com/office/drawing/2014/main" id="{529E30F0-9485-2FD1-BEBF-FCE44CBAC0A2}"/>
              </a:ext>
            </a:extLst>
          </p:cNvPr>
          <p:cNvSpPr txBox="1"/>
          <p:nvPr/>
        </p:nvSpPr>
        <p:spPr>
          <a:xfrm>
            <a:off x="1032399" y="1378099"/>
            <a:ext cx="551086" cy="246221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LCL</a:t>
            </a:r>
            <a:endParaRPr kumimoji="0" lang="fr-FR" sz="1000" b="1" i="1" u="none" strike="noStrike" kern="1200" cap="none" spc="0" normalizeH="0" baseline="0" noProof="0" dirty="0">
              <a:ln>
                <a:noFill/>
              </a:ln>
              <a:solidFill>
                <a:srgbClr val="ED7D3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0" name="BA_CICS_CA">
            <a:extLst>
              <a:ext uri="{FF2B5EF4-FFF2-40B4-BE49-F238E27FC236}">
                <a16:creationId xmlns:a16="http://schemas.microsoft.com/office/drawing/2014/main" id="{AFB1F66E-C3E2-44B5-8CA4-9895E00D22D1}"/>
              </a:ext>
            </a:extLst>
          </p:cNvPr>
          <p:cNvSpPr/>
          <p:nvPr/>
        </p:nvSpPr>
        <p:spPr>
          <a:xfrm>
            <a:off x="2021573" y="1646459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CICS</a:t>
            </a:r>
          </a:p>
        </p:txBody>
      </p:sp>
      <p:sp>
        <p:nvSpPr>
          <p:cNvPr id="251" name="BA_DB2_CA">
            <a:extLst>
              <a:ext uri="{FF2B5EF4-FFF2-40B4-BE49-F238E27FC236}">
                <a16:creationId xmlns:a16="http://schemas.microsoft.com/office/drawing/2014/main" id="{D477646D-3F83-E810-D704-DF25FC5A102D}"/>
              </a:ext>
            </a:extLst>
          </p:cNvPr>
          <p:cNvSpPr/>
          <p:nvPr/>
        </p:nvSpPr>
        <p:spPr>
          <a:xfrm>
            <a:off x="2717879" y="1645738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DB2</a:t>
            </a:r>
          </a:p>
        </p:txBody>
      </p:sp>
      <p:sp>
        <p:nvSpPr>
          <p:cNvPr id="252" name="BA_GG">
            <a:extLst>
              <a:ext uri="{FF2B5EF4-FFF2-40B4-BE49-F238E27FC236}">
                <a16:creationId xmlns:a16="http://schemas.microsoft.com/office/drawing/2014/main" id="{B122916B-EF79-7350-3500-31A4E505FC92}"/>
              </a:ext>
            </a:extLst>
          </p:cNvPr>
          <p:cNvSpPr/>
          <p:nvPr/>
        </p:nvSpPr>
        <p:spPr>
          <a:xfrm>
            <a:off x="5540187" y="2498620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GG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Sim.Prév</a:t>
            </a: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. Décès</a:t>
            </a:r>
          </a:p>
        </p:txBody>
      </p:sp>
      <p:sp>
        <p:nvSpPr>
          <p:cNvPr id="253" name="BA_GH">
            <a:extLst>
              <a:ext uri="{FF2B5EF4-FFF2-40B4-BE49-F238E27FC236}">
                <a16:creationId xmlns:a16="http://schemas.microsoft.com/office/drawing/2014/main" id="{A9E2CB5C-93FC-6A3A-A7B1-C168D1E089D2}"/>
              </a:ext>
            </a:extLst>
          </p:cNvPr>
          <p:cNvSpPr/>
          <p:nvPr/>
        </p:nvSpPr>
        <p:spPr>
          <a:xfrm>
            <a:off x="6247379" y="2507699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GH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Moteur </a:t>
            </a:r>
            <a:r>
              <a:rPr kumimoji="0" lang="fr-FR" sz="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Epicaste</a:t>
            </a:r>
            <a:endParaRPr kumimoji="0" lang="fr-FR" sz="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4" name="Gr_Editique">
            <a:extLst>
              <a:ext uri="{FF2B5EF4-FFF2-40B4-BE49-F238E27FC236}">
                <a16:creationId xmlns:a16="http://schemas.microsoft.com/office/drawing/2014/main" id="{FB80D726-AFCA-DAEE-14AE-AA52FB8BEC8B}"/>
              </a:ext>
            </a:extLst>
          </p:cNvPr>
          <p:cNvSpPr/>
          <p:nvPr/>
        </p:nvSpPr>
        <p:spPr>
          <a:xfrm>
            <a:off x="6994566" y="3106138"/>
            <a:ext cx="754043" cy="61200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  <a:effectLst>
            <a:outerShdw blurRad="50800" dist="38100" dir="2700000" algn="ctr" rotWithShape="0">
              <a:schemeClr val="tx1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/>
            </a:endParaRPr>
          </a:p>
        </p:txBody>
      </p:sp>
      <p:sp>
        <p:nvSpPr>
          <p:cNvPr id="255" name="ZT_Editique">
            <a:extLst>
              <a:ext uri="{FF2B5EF4-FFF2-40B4-BE49-F238E27FC236}">
                <a16:creationId xmlns:a16="http://schemas.microsoft.com/office/drawing/2014/main" id="{78C4E089-8635-5754-18FD-13CC4B126B60}"/>
              </a:ext>
            </a:extLst>
          </p:cNvPr>
          <p:cNvSpPr txBox="1"/>
          <p:nvPr/>
        </p:nvSpPr>
        <p:spPr>
          <a:xfrm>
            <a:off x="6967388" y="3133723"/>
            <a:ext cx="781221" cy="246221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Editique</a:t>
            </a:r>
          </a:p>
        </p:txBody>
      </p:sp>
      <p:sp>
        <p:nvSpPr>
          <p:cNvPr id="256" name="BA_ONDM">
            <a:extLst>
              <a:ext uri="{FF2B5EF4-FFF2-40B4-BE49-F238E27FC236}">
                <a16:creationId xmlns:a16="http://schemas.microsoft.com/office/drawing/2014/main" id="{E1737351-6937-D0F6-7EDA-75FB0928DE7F}"/>
              </a:ext>
            </a:extLst>
          </p:cNvPr>
          <p:cNvSpPr/>
          <p:nvPr/>
        </p:nvSpPr>
        <p:spPr>
          <a:xfrm>
            <a:off x="7053165" y="3363079"/>
            <a:ext cx="648000" cy="276281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ONDM</a:t>
            </a:r>
            <a:endParaRPr kumimoji="0" lang="fr-FR" sz="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On </a:t>
            </a:r>
            <a:r>
              <a:rPr kumimoji="0" lang="fr-FR" sz="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Demand</a:t>
            </a:r>
            <a:endParaRPr kumimoji="0" lang="fr-FR" sz="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257" name="Groupe_Retour">
            <a:extLst>
              <a:ext uri="{FF2B5EF4-FFF2-40B4-BE49-F238E27FC236}">
                <a16:creationId xmlns:a16="http://schemas.microsoft.com/office/drawing/2014/main" id="{F1FA50C0-B5A4-8143-9B3E-B77D123F112E}"/>
              </a:ext>
            </a:extLst>
          </p:cNvPr>
          <p:cNvGrpSpPr/>
          <p:nvPr/>
        </p:nvGrpSpPr>
        <p:grpSpPr>
          <a:xfrm>
            <a:off x="0" y="0"/>
            <a:ext cx="1417975" cy="461665"/>
            <a:chOff x="0" y="0"/>
            <a:chExt cx="1417975" cy="461665"/>
          </a:xfrm>
        </p:grpSpPr>
        <p:sp>
          <p:nvSpPr>
            <p:cNvPr id="258" name="Rectangle 257">
              <a:hlinkClick r:id="rId3" action="ppaction://hlinksldjump"/>
              <a:extLst>
                <a:ext uri="{FF2B5EF4-FFF2-40B4-BE49-F238E27FC236}">
                  <a16:creationId xmlns:a16="http://schemas.microsoft.com/office/drawing/2014/main" id="{5FEDB6E2-1C5A-7E93-AA49-CC47864D821D}"/>
                </a:ext>
              </a:extLst>
            </p:cNvPr>
            <p:cNvSpPr/>
            <p:nvPr/>
          </p:nvSpPr>
          <p:spPr>
            <a:xfrm>
              <a:off x="0" y="0"/>
              <a:ext cx="768479" cy="461665"/>
            </a:xfrm>
            <a:prstGeom prst="rect">
              <a:avLst/>
            </a:prstGeom>
            <a:noFill/>
          </p:spPr>
          <p:txBody>
            <a:bodyPr wrap="square" lIns="91440" tIns="45720" rIns="91440" bIns="45720" anchor="ctr">
              <a:spAutoFit/>
            </a:bodyPr>
            <a:lstStyle/>
            <a:p>
              <a:pPr algn="ctr"/>
              <a:r>
                <a:rPr lang="fr-FR" sz="2400" b="1" spc="50" dirty="0">
                  <a:ln w="9525" cmpd="sng">
                    <a:solidFill>
                      <a:schemeClr val="accent1"/>
                    </a:solidFill>
                    <a:prstDash val="solid"/>
                  </a:ln>
                  <a:solidFill>
                    <a:srgbClr val="70AD47">
                      <a:tint val="1000"/>
                    </a:srgbClr>
                  </a:solidFill>
                  <a:effectLst>
                    <a:glow rad="38100">
                      <a:schemeClr val="accent1">
                        <a:alpha val="40000"/>
                      </a:schemeClr>
                    </a:glow>
                  </a:effectLst>
                  <a:latin typeface="HoloLens MDL2 Assets" panose="050A0102010101010101" pitchFamily="18" charset="0"/>
                </a:rPr>
                <a:t></a:t>
              </a:r>
              <a:endParaRPr lang="fr-FR" sz="1400" dirty="0">
                <a:solidFill>
                  <a:srgbClr val="5B9BD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/>
              </a:endParaRPr>
            </a:p>
          </p:txBody>
        </p:sp>
        <p:sp>
          <p:nvSpPr>
            <p:cNvPr id="259" name="ZoneTexte 258">
              <a:extLst>
                <a:ext uri="{FF2B5EF4-FFF2-40B4-BE49-F238E27FC236}">
                  <a16:creationId xmlns:a16="http://schemas.microsoft.com/office/drawing/2014/main" id="{7CB91941-19E1-9E5A-8164-BC54335E851F}"/>
                </a:ext>
              </a:extLst>
            </p:cNvPr>
            <p:cNvSpPr txBox="1"/>
            <p:nvPr/>
          </p:nvSpPr>
          <p:spPr>
            <a:xfrm>
              <a:off x="525450" y="71273"/>
              <a:ext cx="89252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1400" dirty="0">
                  <a:solidFill>
                    <a:srgbClr val="5B9BD5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libri" panose="020F0502020204030204"/>
                </a:rPr>
                <a:t>Retour</a:t>
              </a:r>
              <a:endParaRPr lang="fr-FR" sz="1400" dirty="0"/>
            </a:p>
          </p:txBody>
        </p:sp>
      </p:grpSp>
      <p:sp>
        <p:nvSpPr>
          <p:cNvPr id="260" name="BA_PW">
            <a:extLst>
              <a:ext uri="{FF2B5EF4-FFF2-40B4-BE49-F238E27FC236}">
                <a16:creationId xmlns:a16="http://schemas.microsoft.com/office/drawing/2014/main" id="{2813C1B3-19B9-F500-E703-BC5DD8911355}"/>
              </a:ext>
            </a:extLst>
          </p:cNvPr>
          <p:cNvSpPr/>
          <p:nvPr/>
        </p:nvSpPr>
        <p:spPr>
          <a:xfrm>
            <a:off x="4517645" y="1819606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PW</a:t>
            </a:r>
            <a:br>
              <a:rPr lang="fr-FR" sz="10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/>
              </a:rPr>
            </a:b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SFC</a:t>
            </a:r>
          </a:p>
        </p:txBody>
      </p:sp>
      <p:sp>
        <p:nvSpPr>
          <p:cNvPr id="2" name="Étoile à 5 branches">
            <a:extLst>
              <a:ext uri="{FF2B5EF4-FFF2-40B4-BE49-F238E27FC236}">
                <a16:creationId xmlns:a16="http://schemas.microsoft.com/office/drawing/2014/main" id="{049A71B4-B4BF-992D-FFA6-4F45FF0ADED4}"/>
              </a:ext>
            </a:extLst>
          </p:cNvPr>
          <p:cNvSpPr/>
          <p:nvPr/>
        </p:nvSpPr>
        <p:spPr>
          <a:xfrm>
            <a:off x="9368151" y="554532"/>
            <a:ext cx="108000" cy="108000"/>
          </a:xfrm>
          <a:prstGeom prst="star5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Légende_Nouveau_Bloc">
            <a:extLst>
              <a:ext uri="{FF2B5EF4-FFF2-40B4-BE49-F238E27FC236}">
                <a16:creationId xmlns:a16="http://schemas.microsoft.com/office/drawing/2014/main" id="{E5AB7FF8-70E2-C73F-6194-4385425703FC}"/>
              </a:ext>
            </a:extLst>
          </p:cNvPr>
          <p:cNvSpPr txBox="1"/>
          <p:nvPr/>
        </p:nvSpPr>
        <p:spPr>
          <a:xfrm>
            <a:off x="9464720" y="491658"/>
            <a:ext cx="934871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Nouveau bloc</a:t>
            </a:r>
          </a:p>
        </p:txBody>
      </p:sp>
      <p:sp>
        <p:nvSpPr>
          <p:cNvPr id="4" name="Légende_Nouveau_Bloc">
            <a:extLst>
              <a:ext uri="{FF2B5EF4-FFF2-40B4-BE49-F238E27FC236}">
                <a16:creationId xmlns:a16="http://schemas.microsoft.com/office/drawing/2014/main" id="{E7BC9855-7045-BACE-9DCA-C77002C4866B}"/>
              </a:ext>
            </a:extLst>
          </p:cNvPr>
          <p:cNvSpPr txBox="1"/>
          <p:nvPr/>
        </p:nvSpPr>
        <p:spPr>
          <a:xfrm>
            <a:off x="9467926" y="723619"/>
            <a:ext cx="963725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Bloc supprimé</a:t>
            </a:r>
          </a:p>
        </p:txBody>
      </p:sp>
      <p:sp>
        <p:nvSpPr>
          <p:cNvPr id="5" name="Croix 4">
            <a:extLst>
              <a:ext uri="{FF2B5EF4-FFF2-40B4-BE49-F238E27FC236}">
                <a16:creationId xmlns:a16="http://schemas.microsoft.com/office/drawing/2014/main" id="{5CA4C46A-6871-7B22-7C7C-8ABE10C199C0}"/>
              </a:ext>
            </a:extLst>
          </p:cNvPr>
          <p:cNvSpPr/>
          <p:nvPr/>
        </p:nvSpPr>
        <p:spPr>
          <a:xfrm rot="2700000">
            <a:off x="9371629" y="785103"/>
            <a:ext cx="108000" cy="108000"/>
          </a:xfrm>
          <a:prstGeom prst="plus">
            <a:avLst>
              <a:gd name="adj" fmla="val 45756"/>
            </a:avLst>
          </a:prstGeom>
          <a:solidFill>
            <a:schemeClr val="tx1"/>
          </a:solidFill>
          <a:ln>
            <a:solidFill>
              <a:srgbClr val="FF0000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BA_GH">
            <a:extLst>
              <a:ext uri="{FF2B5EF4-FFF2-40B4-BE49-F238E27FC236}">
                <a16:creationId xmlns:a16="http://schemas.microsoft.com/office/drawing/2014/main" id="{6D61895B-D993-2DED-230B-9EB2F1F69FAD}"/>
              </a:ext>
            </a:extLst>
          </p:cNvPr>
          <p:cNvSpPr/>
          <p:nvPr/>
        </p:nvSpPr>
        <p:spPr>
          <a:xfrm>
            <a:off x="6247379" y="1786384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HJ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Contenus statiques</a:t>
            </a:r>
          </a:p>
        </p:txBody>
      </p:sp>
      <p:sp>
        <p:nvSpPr>
          <p:cNvPr id="16" name="BA_H4">
            <a:extLst>
              <a:ext uri="{FF2B5EF4-FFF2-40B4-BE49-F238E27FC236}">
                <a16:creationId xmlns:a16="http://schemas.microsoft.com/office/drawing/2014/main" id="{4EFB7561-3833-877A-DAF5-D48CEDCB6B5C}"/>
              </a:ext>
            </a:extLst>
          </p:cNvPr>
          <p:cNvSpPr/>
          <p:nvPr/>
        </p:nvSpPr>
        <p:spPr>
          <a:xfrm>
            <a:off x="9490384" y="2374473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H4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API VR </a:t>
            </a:r>
            <a:r>
              <a:rPr kumimoji="0" lang="fr-FR" sz="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Selfcare</a:t>
            </a:r>
            <a:endParaRPr kumimoji="0" lang="fr-FR" sz="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BA_HH">
            <a:extLst>
              <a:ext uri="{FF2B5EF4-FFF2-40B4-BE49-F238E27FC236}">
                <a16:creationId xmlns:a16="http://schemas.microsoft.com/office/drawing/2014/main" id="{9A9897F9-3F1F-2F28-8D76-01047AB23FFC}"/>
              </a:ext>
            </a:extLst>
          </p:cNvPr>
          <p:cNvSpPr/>
          <p:nvPr/>
        </p:nvSpPr>
        <p:spPr>
          <a:xfrm>
            <a:off x="10160477" y="2374473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HH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API Sim. épargne</a:t>
            </a:r>
          </a:p>
        </p:txBody>
      </p:sp>
      <p:sp>
        <p:nvSpPr>
          <p:cNvPr id="23" name="Gr_LCL">
            <a:extLst>
              <a:ext uri="{FF2B5EF4-FFF2-40B4-BE49-F238E27FC236}">
                <a16:creationId xmlns:a16="http://schemas.microsoft.com/office/drawing/2014/main" id="{EA7B3E0F-567D-8831-2181-C61F59E2F23C}"/>
              </a:ext>
            </a:extLst>
          </p:cNvPr>
          <p:cNvSpPr/>
          <p:nvPr/>
        </p:nvSpPr>
        <p:spPr>
          <a:xfrm>
            <a:off x="6075866" y="5122749"/>
            <a:ext cx="5632947" cy="1248594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ZT_CATS">
            <a:extLst>
              <a:ext uri="{FF2B5EF4-FFF2-40B4-BE49-F238E27FC236}">
                <a16:creationId xmlns:a16="http://schemas.microsoft.com/office/drawing/2014/main" id="{4C4B38F9-27F9-7DF5-0162-571B71BDBB2D}"/>
              </a:ext>
            </a:extLst>
          </p:cNvPr>
          <p:cNvSpPr txBox="1"/>
          <p:nvPr/>
        </p:nvSpPr>
        <p:spPr>
          <a:xfrm>
            <a:off x="6122619" y="5107819"/>
            <a:ext cx="5399528" cy="246221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LCL</a:t>
            </a:r>
            <a:endParaRPr kumimoji="0" lang="fr-FR" sz="1000" b="1" i="1" u="none" strike="noStrike" kern="1200" cap="none" spc="0" normalizeH="0" baseline="0" noProof="0" dirty="0">
              <a:ln>
                <a:noFill/>
              </a:ln>
              <a:solidFill>
                <a:srgbClr val="7030A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BA_BEL">
            <a:extLst>
              <a:ext uri="{FF2B5EF4-FFF2-40B4-BE49-F238E27FC236}">
                <a16:creationId xmlns:a16="http://schemas.microsoft.com/office/drawing/2014/main" id="{0AE5EFD4-D1A4-884C-F539-4AB260DC6CC9}"/>
              </a:ext>
            </a:extLst>
          </p:cNvPr>
          <p:cNvSpPr/>
          <p:nvPr/>
        </p:nvSpPr>
        <p:spPr>
          <a:xfrm>
            <a:off x="6135322" y="5643027"/>
            <a:ext cx="648000" cy="288000"/>
          </a:xfrm>
          <a:prstGeom prst="roundRect">
            <a:avLst/>
          </a:prstGeom>
          <a:solidFill>
            <a:srgbClr val="ED7D31"/>
          </a:solidFill>
          <a:ln w="6350">
            <a:solidFill>
              <a:schemeClr val="accent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BEL ???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6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/>
              </a:rPr>
              <a:t>-</a:t>
            </a:r>
            <a:endParaRPr kumimoji="0" lang="fr-FR" sz="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BA_Docapost">
            <a:extLst>
              <a:ext uri="{FF2B5EF4-FFF2-40B4-BE49-F238E27FC236}">
                <a16:creationId xmlns:a16="http://schemas.microsoft.com/office/drawing/2014/main" id="{88BCAE2E-1DB8-8790-21DB-402606BC2851}"/>
              </a:ext>
            </a:extLst>
          </p:cNvPr>
          <p:cNvSpPr/>
          <p:nvPr/>
        </p:nvSpPr>
        <p:spPr>
          <a:xfrm>
            <a:off x="6145849" y="5987729"/>
            <a:ext cx="648000" cy="288000"/>
          </a:xfrm>
          <a:prstGeom prst="roundRect">
            <a:avLst/>
          </a:prstGeom>
          <a:solidFill>
            <a:srgbClr val="B6D3EC"/>
          </a:solidFill>
          <a:ln w="6350">
            <a:solidFill>
              <a:schemeClr val="accent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Docapost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6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/>
              </a:rPr>
              <a:t>-</a:t>
            </a:r>
            <a:endParaRPr kumimoji="0" lang="fr-FR" sz="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BA_Mescomptes">
            <a:extLst>
              <a:ext uri="{FF2B5EF4-FFF2-40B4-BE49-F238E27FC236}">
                <a16:creationId xmlns:a16="http://schemas.microsoft.com/office/drawing/2014/main" id="{0588704C-94A4-5310-8C5E-DBB7597A18DA}"/>
              </a:ext>
            </a:extLst>
          </p:cNvPr>
          <p:cNvSpPr/>
          <p:nvPr/>
        </p:nvSpPr>
        <p:spPr>
          <a:xfrm>
            <a:off x="6135322" y="5323284"/>
            <a:ext cx="1326281" cy="288000"/>
          </a:xfrm>
          <a:prstGeom prst="roundRect">
            <a:avLst/>
          </a:prstGeom>
          <a:solidFill>
            <a:srgbClr val="B6D3EC"/>
          </a:solidFill>
          <a:ln w="6350">
            <a:solidFill>
              <a:schemeClr val="accent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MesComptes</a:t>
            </a:r>
            <a:endParaRPr kumimoji="0" lang="fr-FR" sz="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Gr_SimulAssur">
            <a:extLst>
              <a:ext uri="{FF2B5EF4-FFF2-40B4-BE49-F238E27FC236}">
                <a16:creationId xmlns:a16="http://schemas.microsoft.com/office/drawing/2014/main" id="{1B3AA28C-DD37-3CAE-1067-9F212F01186A}"/>
              </a:ext>
            </a:extLst>
          </p:cNvPr>
          <p:cNvSpPr/>
          <p:nvPr/>
        </p:nvSpPr>
        <p:spPr>
          <a:xfrm>
            <a:off x="4476637" y="3792663"/>
            <a:ext cx="1627675" cy="1021008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  <a:effectLst>
            <a:outerShdw blurRad="50800" dist="38100" dir="2700000" algn="ctr" rotWithShape="0">
              <a:schemeClr val="tx1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/>
            </a:endParaRPr>
          </a:p>
        </p:txBody>
      </p:sp>
      <p:sp>
        <p:nvSpPr>
          <p:cNvPr id="8" name="ZT_SimulAssur">
            <a:extLst>
              <a:ext uri="{FF2B5EF4-FFF2-40B4-BE49-F238E27FC236}">
                <a16:creationId xmlns:a16="http://schemas.microsoft.com/office/drawing/2014/main" id="{8AA019CA-CAC9-90C7-25D9-0ED2B94E7D74}"/>
              </a:ext>
            </a:extLst>
          </p:cNvPr>
          <p:cNvSpPr txBox="1"/>
          <p:nvPr/>
        </p:nvSpPr>
        <p:spPr>
          <a:xfrm>
            <a:off x="4500323" y="3819978"/>
            <a:ext cx="1714025" cy="246221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1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SimulAssur</a:t>
            </a:r>
            <a:endParaRPr kumimoji="0" lang="fr-FR" sz="1000" b="1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BA_VS">
            <a:extLst>
              <a:ext uri="{FF2B5EF4-FFF2-40B4-BE49-F238E27FC236}">
                <a16:creationId xmlns:a16="http://schemas.microsoft.com/office/drawing/2014/main" id="{F8A0BB83-4ACC-BCE4-378F-55449DD6897A}"/>
              </a:ext>
            </a:extLst>
          </p:cNvPr>
          <p:cNvSpPr/>
          <p:nvPr/>
        </p:nvSpPr>
        <p:spPr>
          <a:xfrm>
            <a:off x="4611474" y="4115819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0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/>
              </a:rPr>
              <a:t>VS</a:t>
            </a:r>
            <a:endParaRPr kumimoji="0" lang="fr-FR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Sim, </a:t>
            </a:r>
            <a:r>
              <a:rPr kumimoji="0" lang="fr-FR" sz="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Ass.V</a:t>
            </a: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 pour LCL</a:t>
            </a:r>
          </a:p>
        </p:txBody>
      </p:sp>
      <p:sp>
        <p:nvSpPr>
          <p:cNvPr id="10" name="BA_RS">
            <a:extLst>
              <a:ext uri="{FF2B5EF4-FFF2-40B4-BE49-F238E27FC236}">
                <a16:creationId xmlns:a16="http://schemas.microsoft.com/office/drawing/2014/main" id="{AAC8966E-FBAF-8381-123D-70B3FC6D4B83}"/>
              </a:ext>
            </a:extLst>
          </p:cNvPr>
          <p:cNvSpPr/>
          <p:nvPr/>
        </p:nvSpPr>
        <p:spPr>
          <a:xfrm>
            <a:off x="5363789" y="4119805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SR</a:t>
            </a:r>
          </a:p>
          <a:p>
            <a:pPr lvl="0" algn="ctr">
              <a:defRPr/>
            </a:pPr>
            <a:r>
              <a:rPr lang="fr-FR" sz="6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Sim, </a:t>
            </a:r>
            <a:r>
              <a:rPr lang="fr-FR" sz="600" dirty="0" err="1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Ass.V</a:t>
            </a:r>
            <a:r>
              <a:rPr lang="fr-FR" sz="6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pour CA</a:t>
            </a:r>
          </a:p>
        </p:txBody>
      </p:sp>
      <p:sp>
        <p:nvSpPr>
          <p:cNvPr id="11" name="BA_EP">
            <a:extLst>
              <a:ext uri="{FF2B5EF4-FFF2-40B4-BE49-F238E27FC236}">
                <a16:creationId xmlns:a16="http://schemas.microsoft.com/office/drawing/2014/main" id="{39B6D97F-DB1D-14E2-4C43-D5C488EC5355}"/>
              </a:ext>
            </a:extLst>
          </p:cNvPr>
          <p:cNvSpPr/>
          <p:nvPr/>
        </p:nvSpPr>
        <p:spPr>
          <a:xfrm>
            <a:off x="4611474" y="4500624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0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/>
              </a:rPr>
              <a:t>EP</a:t>
            </a:r>
            <a:endParaRPr kumimoji="0" lang="fr-FR" sz="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Sim, EPICASTE</a:t>
            </a:r>
          </a:p>
        </p:txBody>
      </p:sp>
      <p:sp>
        <p:nvSpPr>
          <p:cNvPr id="12" name="BA_Autre_PFD">
            <a:extLst>
              <a:ext uri="{FF2B5EF4-FFF2-40B4-BE49-F238E27FC236}">
                <a16:creationId xmlns:a16="http://schemas.microsoft.com/office/drawing/2014/main" id="{02267D87-0B40-D6CC-B3F8-D1A8CC7324B0}"/>
              </a:ext>
            </a:extLst>
          </p:cNvPr>
          <p:cNvSpPr/>
          <p:nvPr/>
        </p:nvSpPr>
        <p:spPr>
          <a:xfrm>
            <a:off x="5363789" y="4472097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…</a:t>
            </a:r>
          </a:p>
        </p:txBody>
      </p:sp>
      <p:sp>
        <p:nvSpPr>
          <p:cNvPr id="13" name="Date_W1">
            <a:extLst>
              <a:ext uri="{FF2B5EF4-FFF2-40B4-BE49-F238E27FC236}">
                <a16:creationId xmlns:a16="http://schemas.microsoft.com/office/drawing/2014/main" id="{0FFC4E06-EB46-B18D-DB39-6EB4771AEB0E}"/>
              </a:ext>
            </a:extLst>
          </p:cNvPr>
          <p:cNvSpPr txBox="1"/>
          <p:nvPr/>
        </p:nvSpPr>
        <p:spPr>
          <a:xfrm rot="19102564">
            <a:off x="8215326" y="4160721"/>
            <a:ext cx="927160" cy="230832"/>
          </a:xfrm>
          <a:prstGeom prst="rect">
            <a:avLst/>
          </a:prstGeom>
          <a:noFill/>
          <a:ln cap="flat">
            <a:noFill/>
            <a:prstDash val="solid"/>
          </a:ln>
          <a:effectLst>
            <a:softEdge rad="0"/>
          </a:effectLst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900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/>
              </a:rPr>
              <a:t>26,1</a:t>
            </a:r>
            <a:endParaRPr kumimoji="0" lang="fr-FR" sz="900" b="0" i="0" u="none" strike="noStrike" kern="1200" cap="none" spc="0" normalizeH="0" baseline="0" noProof="0" dirty="0">
              <a:ln>
                <a:noFill/>
              </a:ln>
              <a:solidFill>
                <a:srgbClr val="7030A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Date_Q1">
            <a:extLst>
              <a:ext uri="{FF2B5EF4-FFF2-40B4-BE49-F238E27FC236}">
                <a16:creationId xmlns:a16="http://schemas.microsoft.com/office/drawing/2014/main" id="{20E2E302-098D-21CB-644F-A9BB86F79ECB}"/>
              </a:ext>
            </a:extLst>
          </p:cNvPr>
          <p:cNvSpPr txBox="1"/>
          <p:nvPr/>
        </p:nvSpPr>
        <p:spPr>
          <a:xfrm rot="19102564">
            <a:off x="8853574" y="3829286"/>
            <a:ext cx="927160" cy="230832"/>
          </a:xfrm>
          <a:prstGeom prst="rect">
            <a:avLst/>
          </a:prstGeom>
          <a:noFill/>
          <a:ln cap="flat">
            <a:noFill/>
            <a:prstDash val="solid"/>
          </a:ln>
          <a:effectLst>
            <a:softEdge rad="0"/>
          </a:effectLst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900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/>
              </a:rPr>
              <a:t>26,1</a:t>
            </a:r>
            <a:endParaRPr kumimoji="0" lang="fr-FR" sz="900" b="0" i="0" u="none" strike="noStrike" kern="1200" cap="none" spc="0" normalizeH="0" baseline="0" noProof="0" dirty="0">
              <a:ln>
                <a:noFill/>
              </a:ln>
              <a:solidFill>
                <a:srgbClr val="7030A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Date_P8">
            <a:extLst>
              <a:ext uri="{FF2B5EF4-FFF2-40B4-BE49-F238E27FC236}">
                <a16:creationId xmlns:a16="http://schemas.microsoft.com/office/drawing/2014/main" id="{C968DEA2-4881-D890-C5CE-708FB276956E}"/>
              </a:ext>
            </a:extLst>
          </p:cNvPr>
          <p:cNvSpPr txBox="1"/>
          <p:nvPr/>
        </p:nvSpPr>
        <p:spPr>
          <a:xfrm rot="19102564">
            <a:off x="7744257" y="3619161"/>
            <a:ext cx="927160" cy="230832"/>
          </a:xfrm>
          <a:prstGeom prst="rect">
            <a:avLst/>
          </a:prstGeom>
          <a:noFill/>
          <a:ln cap="flat">
            <a:noFill/>
            <a:prstDash val="solid"/>
          </a:ln>
          <a:effectLst>
            <a:softEdge rad="0"/>
          </a:effectLst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900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/>
              </a:rPr>
              <a:t>26,1</a:t>
            </a:r>
            <a:endParaRPr kumimoji="0" lang="fr-FR" sz="900" b="0" i="0" u="none" strike="noStrike" kern="1200" cap="none" spc="0" normalizeH="0" baseline="0" noProof="0" dirty="0">
              <a:ln>
                <a:noFill/>
              </a:ln>
              <a:solidFill>
                <a:srgbClr val="7030A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Date_PY">
            <a:extLst>
              <a:ext uri="{FF2B5EF4-FFF2-40B4-BE49-F238E27FC236}">
                <a16:creationId xmlns:a16="http://schemas.microsoft.com/office/drawing/2014/main" id="{CB99713A-2B4B-A55D-ED0F-47266A61E14E}"/>
              </a:ext>
            </a:extLst>
          </p:cNvPr>
          <p:cNvSpPr txBox="1"/>
          <p:nvPr/>
        </p:nvSpPr>
        <p:spPr>
          <a:xfrm rot="19102564">
            <a:off x="6248968" y="3381779"/>
            <a:ext cx="927160" cy="230832"/>
          </a:xfrm>
          <a:prstGeom prst="rect">
            <a:avLst/>
          </a:prstGeom>
          <a:noFill/>
          <a:ln cap="flat">
            <a:noFill/>
            <a:prstDash val="solid"/>
          </a:ln>
          <a:effectLst>
            <a:softEdge rad="0"/>
          </a:effectLst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900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/>
              </a:rPr>
              <a:t>26,1</a:t>
            </a:r>
            <a:endParaRPr kumimoji="0" lang="fr-FR" sz="900" b="0" i="0" u="none" strike="noStrike" kern="1200" cap="none" spc="0" normalizeH="0" baseline="0" noProof="0" dirty="0">
              <a:ln>
                <a:noFill/>
              </a:ln>
              <a:solidFill>
                <a:srgbClr val="7030A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Date_F3">
            <a:extLst>
              <a:ext uri="{FF2B5EF4-FFF2-40B4-BE49-F238E27FC236}">
                <a16:creationId xmlns:a16="http://schemas.microsoft.com/office/drawing/2014/main" id="{068D33FC-011E-1CF7-C7A8-0411CC6CEBAC}"/>
              </a:ext>
            </a:extLst>
          </p:cNvPr>
          <p:cNvSpPr txBox="1"/>
          <p:nvPr/>
        </p:nvSpPr>
        <p:spPr>
          <a:xfrm rot="19102564">
            <a:off x="8191654" y="1791642"/>
            <a:ext cx="927160" cy="230832"/>
          </a:xfrm>
          <a:prstGeom prst="rect">
            <a:avLst/>
          </a:prstGeom>
          <a:noFill/>
          <a:ln cap="flat">
            <a:noFill/>
            <a:prstDash val="solid"/>
          </a:ln>
          <a:effectLst>
            <a:softEdge rad="0"/>
          </a:effectLst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900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/>
              </a:rPr>
              <a:t>26,1</a:t>
            </a:r>
            <a:endParaRPr kumimoji="0" lang="fr-FR" sz="900" b="0" i="0" u="none" strike="noStrike" kern="1200" cap="none" spc="0" normalizeH="0" baseline="0" noProof="0" dirty="0">
              <a:ln>
                <a:noFill/>
              </a:ln>
              <a:solidFill>
                <a:srgbClr val="7030A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Date_APPE">
            <a:extLst>
              <a:ext uri="{FF2B5EF4-FFF2-40B4-BE49-F238E27FC236}">
                <a16:creationId xmlns:a16="http://schemas.microsoft.com/office/drawing/2014/main" id="{DB1EC038-1A56-44C6-13F8-F2B4954FC4E7}"/>
              </a:ext>
            </a:extLst>
          </p:cNvPr>
          <p:cNvSpPr txBox="1"/>
          <p:nvPr/>
        </p:nvSpPr>
        <p:spPr>
          <a:xfrm rot="19102564">
            <a:off x="8174835" y="1318954"/>
            <a:ext cx="927160" cy="230832"/>
          </a:xfrm>
          <a:prstGeom prst="rect">
            <a:avLst/>
          </a:prstGeom>
          <a:noFill/>
          <a:ln cap="flat">
            <a:noFill/>
            <a:prstDash val="solid"/>
          </a:ln>
          <a:effectLst>
            <a:softEdge rad="0"/>
          </a:effectLst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900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/>
              </a:rPr>
              <a:t>26,1</a:t>
            </a:r>
            <a:endParaRPr kumimoji="0" lang="fr-FR" sz="900" b="0" i="0" u="none" strike="noStrike" kern="1200" cap="none" spc="0" normalizeH="0" baseline="0" noProof="0" dirty="0">
              <a:ln>
                <a:noFill/>
              </a:ln>
              <a:solidFill>
                <a:srgbClr val="7030A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9647206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E175D3-9F72-13B6-9E53-DF534FDD98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r_Global">
            <a:extLst>
              <a:ext uri="{FF2B5EF4-FFF2-40B4-BE49-F238E27FC236}">
                <a16:creationId xmlns:a16="http://schemas.microsoft.com/office/drawing/2014/main" id="{C0083599-5D96-074A-9DD6-2028443872E3}"/>
              </a:ext>
            </a:extLst>
          </p:cNvPr>
          <p:cNvSpPr/>
          <p:nvPr/>
        </p:nvSpPr>
        <p:spPr>
          <a:xfrm>
            <a:off x="156924" y="1028327"/>
            <a:ext cx="11860567" cy="5512742"/>
          </a:xfrm>
          <a:prstGeom prst="roundRect">
            <a:avLst/>
          </a:prstGeom>
          <a:solidFill>
            <a:schemeClr val="bg1"/>
          </a:solidFill>
          <a:ln>
            <a:solidFill>
              <a:schemeClr val="accent1"/>
            </a:solidFill>
          </a:ln>
          <a:effectLst>
            <a:outerShdw blurRad="50800" dist="38100" dir="2700000" algn="tl" rotWithShape="0">
              <a:schemeClr val="tx1"/>
            </a:outerShdw>
          </a:effectLst>
        </p:spPr>
        <p:txBody>
          <a:bodyPr wrap="none" lIns="0" rIns="0" rtlCol="0" anchor="ctr">
            <a:noAutofit/>
          </a:bodyPr>
          <a:lstStyle/>
          <a:p>
            <a:pPr algn="ctr"/>
            <a:endParaRPr lang="fr-FR" sz="1600" b="1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1" name="Gr_NOVA">
            <a:extLst>
              <a:ext uri="{FF2B5EF4-FFF2-40B4-BE49-F238E27FC236}">
                <a16:creationId xmlns:a16="http://schemas.microsoft.com/office/drawing/2014/main" id="{D912F3D8-BF17-6376-E52A-93404855EC0D}"/>
              </a:ext>
            </a:extLst>
          </p:cNvPr>
          <p:cNvSpPr/>
          <p:nvPr/>
        </p:nvSpPr>
        <p:spPr>
          <a:xfrm>
            <a:off x="5407282" y="1111645"/>
            <a:ext cx="2350211" cy="1879964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  <a:effectLst>
            <a:outerShdw blurRad="50800" dist="38100" dir="2700000" algn="ctr" rotWithShape="0">
              <a:schemeClr val="tx1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/>
            </a:endParaRPr>
          </a:p>
        </p:txBody>
      </p:sp>
      <p:sp>
        <p:nvSpPr>
          <p:cNvPr id="92" name="ZT_NOVA">
            <a:extLst>
              <a:ext uri="{FF2B5EF4-FFF2-40B4-BE49-F238E27FC236}">
                <a16:creationId xmlns:a16="http://schemas.microsoft.com/office/drawing/2014/main" id="{B27B65C8-E31F-1DD2-79FA-BD506AC99414}"/>
              </a:ext>
            </a:extLst>
          </p:cNvPr>
          <p:cNvSpPr txBox="1"/>
          <p:nvPr/>
        </p:nvSpPr>
        <p:spPr>
          <a:xfrm>
            <a:off x="5402982" y="1138960"/>
            <a:ext cx="2354511" cy="246221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NOVA</a:t>
            </a:r>
            <a:endParaRPr kumimoji="0" lang="fr-FR" sz="1000" b="1" i="1" u="none" strike="noStrike" kern="1200" cap="none" spc="0" normalizeH="0" baseline="0" noProof="0" dirty="0">
              <a:ln>
                <a:noFill/>
              </a:ln>
              <a:solidFill>
                <a:srgbClr val="ED7D3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8" name="BA_OX">
            <a:extLst>
              <a:ext uri="{FF2B5EF4-FFF2-40B4-BE49-F238E27FC236}">
                <a16:creationId xmlns:a16="http://schemas.microsoft.com/office/drawing/2014/main" id="{CB93E327-AECD-E332-ABBA-6746E28A55A8}"/>
              </a:ext>
            </a:extLst>
          </p:cNvPr>
          <p:cNvSpPr/>
          <p:nvPr/>
        </p:nvSpPr>
        <p:spPr>
          <a:xfrm>
            <a:off x="5540187" y="1434370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OX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Opérations </a:t>
            </a:r>
            <a:r>
              <a:rPr kumimoji="0" lang="fr-FR" sz="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Ass</a:t>
            </a: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.</a:t>
            </a:r>
          </a:p>
        </p:txBody>
      </p:sp>
      <p:sp>
        <p:nvSpPr>
          <p:cNvPr id="99" name="BA_MX">
            <a:extLst>
              <a:ext uri="{FF2B5EF4-FFF2-40B4-BE49-F238E27FC236}">
                <a16:creationId xmlns:a16="http://schemas.microsoft.com/office/drawing/2014/main" id="{C274DDED-4EF3-1FE5-63E4-84DAE8D2ECD1}"/>
              </a:ext>
            </a:extLst>
          </p:cNvPr>
          <p:cNvSpPr/>
          <p:nvPr/>
        </p:nvSpPr>
        <p:spPr>
          <a:xfrm>
            <a:off x="6247379" y="1434370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MX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Services  internes</a:t>
            </a:r>
          </a:p>
        </p:txBody>
      </p:sp>
      <p:sp>
        <p:nvSpPr>
          <p:cNvPr id="108" name="BA_SX">
            <a:extLst>
              <a:ext uri="{FF2B5EF4-FFF2-40B4-BE49-F238E27FC236}">
                <a16:creationId xmlns:a16="http://schemas.microsoft.com/office/drawing/2014/main" id="{A0BB6DFC-78E6-B8F8-7573-14D2BC35B637}"/>
              </a:ext>
            </a:extLst>
          </p:cNvPr>
          <p:cNvSpPr/>
          <p:nvPr/>
        </p:nvSpPr>
        <p:spPr>
          <a:xfrm>
            <a:off x="6957409" y="1434370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SX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Socle Exposition</a:t>
            </a:r>
          </a:p>
        </p:txBody>
      </p:sp>
      <p:sp>
        <p:nvSpPr>
          <p:cNvPr id="117" name="BA_HX">
            <a:extLst>
              <a:ext uri="{FF2B5EF4-FFF2-40B4-BE49-F238E27FC236}">
                <a16:creationId xmlns:a16="http://schemas.microsoft.com/office/drawing/2014/main" id="{C2C26BE8-E0DA-3E3E-F7FA-B255F3EBA666}"/>
              </a:ext>
            </a:extLst>
          </p:cNvPr>
          <p:cNvSpPr/>
          <p:nvPr/>
        </p:nvSpPr>
        <p:spPr>
          <a:xfrm>
            <a:off x="5540187" y="1791450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HX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Habilitations PCO</a:t>
            </a:r>
          </a:p>
        </p:txBody>
      </p:sp>
      <p:sp>
        <p:nvSpPr>
          <p:cNvPr id="119" name="BA_RX">
            <a:extLst>
              <a:ext uri="{FF2B5EF4-FFF2-40B4-BE49-F238E27FC236}">
                <a16:creationId xmlns:a16="http://schemas.microsoft.com/office/drawing/2014/main" id="{2A0A9E8B-4866-31A5-D14C-72EB067066E3}"/>
              </a:ext>
            </a:extLst>
          </p:cNvPr>
          <p:cNvSpPr/>
          <p:nvPr/>
        </p:nvSpPr>
        <p:spPr>
          <a:xfrm>
            <a:off x="6957409" y="1791450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RX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Socle Editique</a:t>
            </a:r>
          </a:p>
        </p:txBody>
      </p:sp>
      <p:sp>
        <p:nvSpPr>
          <p:cNvPr id="120" name="BA_WP">
            <a:extLst>
              <a:ext uri="{FF2B5EF4-FFF2-40B4-BE49-F238E27FC236}">
                <a16:creationId xmlns:a16="http://schemas.microsoft.com/office/drawing/2014/main" id="{95082B13-E55C-DB6A-73D2-54B97965D7C1}"/>
              </a:ext>
            </a:extLst>
          </p:cNvPr>
          <p:cNvSpPr/>
          <p:nvPr/>
        </p:nvSpPr>
        <p:spPr>
          <a:xfrm>
            <a:off x="5542712" y="2146978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WP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Lanceur PCO</a:t>
            </a:r>
          </a:p>
        </p:txBody>
      </p:sp>
      <p:sp>
        <p:nvSpPr>
          <p:cNvPr id="121" name="BA_FM">
            <a:extLst>
              <a:ext uri="{FF2B5EF4-FFF2-40B4-BE49-F238E27FC236}">
                <a16:creationId xmlns:a16="http://schemas.microsoft.com/office/drawing/2014/main" id="{216CE116-6445-15C5-2971-BD1FD69B3ADF}"/>
              </a:ext>
            </a:extLst>
          </p:cNvPr>
          <p:cNvSpPr/>
          <p:nvPr/>
        </p:nvSpPr>
        <p:spPr>
          <a:xfrm>
            <a:off x="6251156" y="2146978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FM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Fonctions IHM</a:t>
            </a:r>
          </a:p>
        </p:txBody>
      </p:sp>
      <p:sp>
        <p:nvSpPr>
          <p:cNvPr id="123" name="BA_JF">
            <a:extLst>
              <a:ext uri="{FF2B5EF4-FFF2-40B4-BE49-F238E27FC236}">
                <a16:creationId xmlns:a16="http://schemas.microsoft.com/office/drawing/2014/main" id="{48479EBE-22D1-5C88-54B3-80FB07666C5E}"/>
              </a:ext>
            </a:extLst>
          </p:cNvPr>
          <p:cNvSpPr/>
          <p:nvPr/>
        </p:nvSpPr>
        <p:spPr>
          <a:xfrm>
            <a:off x="6955140" y="2146978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JF</a:t>
            </a:r>
            <a:endParaRPr kumimoji="0" lang="fr-FR" sz="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Animation </a:t>
            </a:r>
            <a:r>
              <a:rPr kumimoji="0" lang="fr-FR" sz="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comm</a:t>
            </a: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.</a:t>
            </a:r>
          </a:p>
        </p:txBody>
      </p:sp>
      <p:sp>
        <p:nvSpPr>
          <p:cNvPr id="124" name="Gr_Avanet">
            <a:extLst>
              <a:ext uri="{FF2B5EF4-FFF2-40B4-BE49-F238E27FC236}">
                <a16:creationId xmlns:a16="http://schemas.microsoft.com/office/drawing/2014/main" id="{101C63DB-453B-08EE-A893-0385E34FB2FF}"/>
              </a:ext>
            </a:extLst>
          </p:cNvPr>
          <p:cNvSpPr/>
          <p:nvPr/>
        </p:nvSpPr>
        <p:spPr>
          <a:xfrm>
            <a:off x="3593887" y="1111645"/>
            <a:ext cx="1690030" cy="117785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  <a:effectLst>
            <a:outerShdw blurRad="50800" dist="38100" dir="2700000" algn="ctr" rotWithShape="0">
              <a:schemeClr val="tx1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/>
            </a:endParaRPr>
          </a:p>
        </p:txBody>
      </p:sp>
      <p:sp>
        <p:nvSpPr>
          <p:cNvPr id="125" name="ZT_Avanet">
            <a:extLst>
              <a:ext uri="{FF2B5EF4-FFF2-40B4-BE49-F238E27FC236}">
                <a16:creationId xmlns:a16="http://schemas.microsoft.com/office/drawing/2014/main" id="{B92A93D7-5301-AB90-B7C5-7A0673169B39}"/>
              </a:ext>
            </a:extLst>
          </p:cNvPr>
          <p:cNvSpPr txBox="1"/>
          <p:nvPr/>
        </p:nvSpPr>
        <p:spPr>
          <a:xfrm>
            <a:off x="3603262" y="1138960"/>
            <a:ext cx="1680655" cy="246221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1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Avanet</a:t>
            </a:r>
            <a:endParaRPr kumimoji="0" lang="fr-FR" sz="1000" b="1" i="1" u="none" strike="noStrike" kern="1200" cap="none" spc="0" normalizeH="0" baseline="0" noProof="0" dirty="0">
              <a:ln>
                <a:noFill/>
              </a:ln>
              <a:solidFill>
                <a:srgbClr val="ED7D3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6" name="BA_W5">
            <a:extLst>
              <a:ext uri="{FF2B5EF4-FFF2-40B4-BE49-F238E27FC236}">
                <a16:creationId xmlns:a16="http://schemas.microsoft.com/office/drawing/2014/main" id="{A75A81B1-6DD5-E284-4207-7A6E7BB78FC5}"/>
              </a:ext>
            </a:extLst>
          </p:cNvPr>
          <p:cNvSpPr/>
          <p:nvPr/>
        </p:nvSpPr>
        <p:spPr>
          <a:xfrm>
            <a:off x="3726791" y="1434801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W5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Av@net</a:t>
            </a:r>
            <a:endParaRPr kumimoji="0" lang="fr-FR" sz="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7" name="BA_AEDI">
            <a:extLst>
              <a:ext uri="{FF2B5EF4-FFF2-40B4-BE49-F238E27FC236}">
                <a16:creationId xmlns:a16="http://schemas.microsoft.com/office/drawing/2014/main" id="{3F65B9CD-B305-9BF7-E52F-39AEA9E2EEA2}"/>
              </a:ext>
            </a:extLst>
          </p:cNvPr>
          <p:cNvSpPr/>
          <p:nvPr/>
        </p:nvSpPr>
        <p:spPr>
          <a:xfrm>
            <a:off x="4521017" y="1438787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AEDI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API-EDI</a:t>
            </a:r>
          </a:p>
        </p:txBody>
      </p:sp>
      <p:sp>
        <p:nvSpPr>
          <p:cNvPr id="128" name="BA_SVOD">
            <a:extLst>
              <a:ext uri="{FF2B5EF4-FFF2-40B4-BE49-F238E27FC236}">
                <a16:creationId xmlns:a16="http://schemas.microsoft.com/office/drawing/2014/main" id="{DDBA737F-5480-1C6E-6B22-9AF8ADFD6724}"/>
              </a:ext>
            </a:extLst>
          </p:cNvPr>
          <p:cNvSpPr/>
          <p:nvPr/>
        </p:nvSpPr>
        <p:spPr>
          <a:xfrm>
            <a:off x="3726791" y="1819606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SVOD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SAS </a:t>
            </a:r>
            <a:r>
              <a:rPr kumimoji="0" lang="fr-FR" sz="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Valid</a:t>
            </a: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.</a:t>
            </a:r>
          </a:p>
        </p:txBody>
      </p:sp>
      <p:sp>
        <p:nvSpPr>
          <p:cNvPr id="129" name="Gr_PFD">
            <a:extLst>
              <a:ext uri="{FF2B5EF4-FFF2-40B4-BE49-F238E27FC236}">
                <a16:creationId xmlns:a16="http://schemas.microsoft.com/office/drawing/2014/main" id="{3654EA17-DA46-9661-3167-968070FD096D}"/>
              </a:ext>
            </a:extLst>
          </p:cNvPr>
          <p:cNvSpPr/>
          <p:nvPr/>
        </p:nvSpPr>
        <p:spPr>
          <a:xfrm>
            <a:off x="6161552" y="3780520"/>
            <a:ext cx="1627675" cy="1021008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  <a:effectLst>
            <a:outerShdw blurRad="50800" dist="38100" dir="2700000" algn="ctr" rotWithShape="0">
              <a:schemeClr val="tx1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/>
            </a:endParaRPr>
          </a:p>
        </p:txBody>
      </p:sp>
      <p:sp>
        <p:nvSpPr>
          <p:cNvPr id="130" name="ZT_PFD">
            <a:extLst>
              <a:ext uri="{FF2B5EF4-FFF2-40B4-BE49-F238E27FC236}">
                <a16:creationId xmlns:a16="http://schemas.microsoft.com/office/drawing/2014/main" id="{700810E7-04CF-D335-09A8-BE10D99167B4}"/>
              </a:ext>
            </a:extLst>
          </p:cNvPr>
          <p:cNvSpPr txBox="1"/>
          <p:nvPr/>
        </p:nvSpPr>
        <p:spPr>
          <a:xfrm>
            <a:off x="6185238" y="3807835"/>
            <a:ext cx="1714025" cy="246221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Plateforme Data (PFD)</a:t>
            </a:r>
          </a:p>
        </p:txBody>
      </p:sp>
      <p:sp>
        <p:nvSpPr>
          <p:cNvPr id="131" name="BA_J2">
            <a:extLst>
              <a:ext uri="{FF2B5EF4-FFF2-40B4-BE49-F238E27FC236}">
                <a16:creationId xmlns:a16="http://schemas.microsoft.com/office/drawing/2014/main" id="{25FEC02E-FA99-A1D0-24C0-1177867EC0E5}"/>
              </a:ext>
            </a:extLst>
          </p:cNvPr>
          <p:cNvSpPr/>
          <p:nvPr/>
        </p:nvSpPr>
        <p:spPr>
          <a:xfrm>
            <a:off x="6296389" y="4103676"/>
            <a:ext cx="648000" cy="288000"/>
          </a:xfrm>
          <a:prstGeom prst="round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J2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Exposition PFD</a:t>
            </a:r>
          </a:p>
        </p:txBody>
      </p:sp>
      <p:sp>
        <p:nvSpPr>
          <p:cNvPr id="136" name="BA_J6">
            <a:extLst>
              <a:ext uri="{FF2B5EF4-FFF2-40B4-BE49-F238E27FC236}">
                <a16:creationId xmlns:a16="http://schemas.microsoft.com/office/drawing/2014/main" id="{98597FDB-DD39-060F-919A-EAE5DFB9FC6C}"/>
              </a:ext>
            </a:extLst>
          </p:cNvPr>
          <p:cNvSpPr/>
          <p:nvPr/>
        </p:nvSpPr>
        <p:spPr>
          <a:xfrm>
            <a:off x="7048704" y="4107662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J6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Restit</a:t>
            </a: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. </a:t>
            </a:r>
            <a:r>
              <a:rPr kumimoji="0" lang="fr-FR" sz="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Régl</a:t>
            </a: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.</a:t>
            </a:r>
          </a:p>
        </p:txBody>
      </p:sp>
      <p:sp>
        <p:nvSpPr>
          <p:cNvPr id="147" name="BA_J8">
            <a:extLst>
              <a:ext uri="{FF2B5EF4-FFF2-40B4-BE49-F238E27FC236}">
                <a16:creationId xmlns:a16="http://schemas.microsoft.com/office/drawing/2014/main" id="{DA74AB38-820C-08CE-EC92-718B285C7ADB}"/>
              </a:ext>
            </a:extLst>
          </p:cNvPr>
          <p:cNvSpPr/>
          <p:nvPr/>
        </p:nvSpPr>
        <p:spPr>
          <a:xfrm>
            <a:off x="6296389" y="4488481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J8</a:t>
            </a:r>
            <a:endParaRPr kumimoji="0" lang="fr-FR" sz="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Données Contrats</a:t>
            </a:r>
          </a:p>
        </p:txBody>
      </p:sp>
      <p:sp>
        <p:nvSpPr>
          <p:cNvPr id="149" name="Gr_Prediweb1">
            <a:extLst>
              <a:ext uri="{FF2B5EF4-FFF2-40B4-BE49-F238E27FC236}">
                <a16:creationId xmlns:a16="http://schemas.microsoft.com/office/drawing/2014/main" id="{FECC9D9F-DFBA-19E7-DB36-B426A3EA815A}"/>
              </a:ext>
            </a:extLst>
          </p:cNvPr>
          <p:cNvSpPr/>
          <p:nvPr/>
        </p:nvSpPr>
        <p:spPr>
          <a:xfrm>
            <a:off x="3588010" y="2368814"/>
            <a:ext cx="1695907" cy="671739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  <a:effectLst>
            <a:outerShdw blurRad="50800" dist="38100" dir="2700000" algn="ctr" rotWithShape="0">
              <a:schemeClr val="tx1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/>
            </a:endParaRPr>
          </a:p>
        </p:txBody>
      </p:sp>
      <p:sp>
        <p:nvSpPr>
          <p:cNvPr id="151" name="ZT_Prediweb1">
            <a:extLst>
              <a:ext uri="{FF2B5EF4-FFF2-40B4-BE49-F238E27FC236}">
                <a16:creationId xmlns:a16="http://schemas.microsoft.com/office/drawing/2014/main" id="{062021D4-5AE4-9C6C-E461-26C5EF79DDA1}"/>
              </a:ext>
            </a:extLst>
          </p:cNvPr>
          <p:cNvSpPr txBox="1"/>
          <p:nvPr/>
        </p:nvSpPr>
        <p:spPr>
          <a:xfrm>
            <a:off x="3595208" y="2396399"/>
            <a:ext cx="1688709" cy="246221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1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Prediweb</a:t>
            </a:r>
            <a:r>
              <a:rPr kumimoji="0" lang="fr-FR" sz="1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 1</a:t>
            </a:r>
            <a:endParaRPr kumimoji="0" lang="fr-FR" sz="1000" b="1" i="1" u="none" strike="noStrike" kern="1200" cap="none" spc="0" normalizeH="0" baseline="0" noProof="0" dirty="0">
              <a:ln>
                <a:noFill/>
              </a:ln>
              <a:solidFill>
                <a:srgbClr val="ED7D3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3" name="BA_BD">
            <a:extLst>
              <a:ext uri="{FF2B5EF4-FFF2-40B4-BE49-F238E27FC236}">
                <a16:creationId xmlns:a16="http://schemas.microsoft.com/office/drawing/2014/main" id="{C23C28AC-7132-49AC-DC07-515E743C10AE}"/>
              </a:ext>
            </a:extLst>
          </p:cNvPr>
          <p:cNvSpPr/>
          <p:nvPr/>
        </p:nvSpPr>
        <p:spPr>
          <a:xfrm>
            <a:off x="3720914" y="2691969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BD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Prediweb</a:t>
            </a:r>
            <a:endParaRPr kumimoji="0" lang="fr-FR" sz="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6" name="BA_SGR">
            <a:extLst>
              <a:ext uri="{FF2B5EF4-FFF2-40B4-BE49-F238E27FC236}">
                <a16:creationId xmlns:a16="http://schemas.microsoft.com/office/drawing/2014/main" id="{F0446FB8-ADC4-67C7-AEE0-FC1EC0DB982F}"/>
              </a:ext>
            </a:extLst>
          </p:cNvPr>
          <p:cNvSpPr/>
          <p:nvPr/>
        </p:nvSpPr>
        <p:spPr>
          <a:xfrm>
            <a:off x="4496225" y="2696226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SGR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Lanceur SGR</a:t>
            </a:r>
          </a:p>
        </p:txBody>
      </p:sp>
      <p:sp>
        <p:nvSpPr>
          <p:cNvPr id="158" name="BA_Autre_PFD">
            <a:extLst>
              <a:ext uri="{FF2B5EF4-FFF2-40B4-BE49-F238E27FC236}">
                <a16:creationId xmlns:a16="http://schemas.microsoft.com/office/drawing/2014/main" id="{A53EAC9A-2A3C-36E0-119F-B9DDAECF27FE}"/>
              </a:ext>
            </a:extLst>
          </p:cNvPr>
          <p:cNvSpPr/>
          <p:nvPr/>
        </p:nvSpPr>
        <p:spPr>
          <a:xfrm>
            <a:off x="7048704" y="4459954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…</a:t>
            </a:r>
          </a:p>
        </p:txBody>
      </p:sp>
      <p:sp>
        <p:nvSpPr>
          <p:cNvPr id="159" name="Gr_AIA">
            <a:extLst>
              <a:ext uri="{FF2B5EF4-FFF2-40B4-BE49-F238E27FC236}">
                <a16:creationId xmlns:a16="http://schemas.microsoft.com/office/drawing/2014/main" id="{932F635F-013F-341E-9A5D-8A9DC87468AE}"/>
              </a:ext>
            </a:extLst>
          </p:cNvPr>
          <p:cNvSpPr/>
          <p:nvPr/>
        </p:nvSpPr>
        <p:spPr>
          <a:xfrm>
            <a:off x="600429" y="2842718"/>
            <a:ext cx="927635" cy="550924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  <a:effectLst>
            <a:outerShdw blurRad="50800" dist="38100" dir="2700000" algn="ctr" rotWithShape="0">
              <a:schemeClr val="tx1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/>
            </a:endParaRPr>
          </a:p>
        </p:txBody>
      </p:sp>
      <p:sp>
        <p:nvSpPr>
          <p:cNvPr id="160" name="ZT_AIA">
            <a:extLst>
              <a:ext uri="{FF2B5EF4-FFF2-40B4-BE49-F238E27FC236}">
                <a16:creationId xmlns:a16="http://schemas.microsoft.com/office/drawing/2014/main" id="{4CF6D5DE-B0E7-8DC8-DE25-AFEA7E67F9BE}"/>
              </a:ext>
            </a:extLst>
          </p:cNvPr>
          <p:cNvSpPr txBox="1"/>
          <p:nvPr/>
        </p:nvSpPr>
        <p:spPr>
          <a:xfrm>
            <a:off x="520497" y="2870168"/>
            <a:ext cx="1080000" cy="246221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AIA V4 (Sinistres)</a:t>
            </a:r>
          </a:p>
        </p:txBody>
      </p:sp>
      <p:sp>
        <p:nvSpPr>
          <p:cNvPr id="161" name="BA_AJ">
            <a:extLst>
              <a:ext uri="{FF2B5EF4-FFF2-40B4-BE49-F238E27FC236}">
                <a16:creationId xmlns:a16="http://schemas.microsoft.com/office/drawing/2014/main" id="{A700125B-66DF-DDF4-3241-48DD5FEF5333}"/>
              </a:ext>
            </a:extLst>
          </p:cNvPr>
          <p:cNvSpPr/>
          <p:nvPr/>
        </p:nvSpPr>
        <p:spPr>
          <a:xfrm>
            <a:off x="741487" y="3087886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AJ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AIA </a:t>
            </a:r>
            <a:r>
              <a:rPr kumimoji="0" lang="fr-FR" sz="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Sinitres</a:t>
            </a:r>
            <a:endParaRPr kumimoji="0" lang="fr-FR" sz="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2" name="Gr_Prediweb2">
            <a:extLst>
              <a:ext uri="{FF2B5EF4-FFF2-40B4-BE49-F238E27FC236}">
                <a16:creationId xmlns:a16="http://schemas.microsoft.com/office/drawing/2014/main" id="{7F9C0596-2587-3263-645F-F80A8D8FFE99}"/>
              </a:ext>
            </a:extLst>
          </p:cNvPr>
          <p:cNvSpPr/>
          <p:nvPr/>
        </p:nvSpPr>
        <p:spPr>
          <a:xfrm>
            <a:off x="6172824" y="3106138"/>
            <a:ext cx="754043" cy="61200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  <a:effectLst>
            <a:outerShdw blurRad="50800" dist="38100" dir="2700000" algn="ctr" rotWithShape="0">
              <a:schemeClr val="tx1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/>
            </a:endParaRPr>
          </a:p>
        </p:txBody>
      </p:sp>
      <p:sp>
        <p:nvSpPr>
          <p:cNvPr id="163" name="ZT_Prediweb2">
            <a:extLst>
              <a:ext uri="{FF2B5EF4-FFF2-40B4-BE49-F238E27FC236}">
                <a16:creationId xmlns:a16="http://schemas.microsoft.com/office/drawing/2014/main" id="{C3DF1D34-56CC-921C-4263-26CFA01212BE}"/>
              </a:ext>
            </a:extLst>
          </p:cNvPr>
          <p:cNvSpPr txBox="1"/>
          <p:nvPr/>
        </p:nvSpPr>
        <p:spPr>
          <a:xfrm>
            <a:off x="6145849" y="3133723"/>
            <a:ext cx="774251" cy="246221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1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Prediweb</a:t>
            </a:r>
            <a:r>
              <a:rPr kumimoji="0" lang="fr-FR" sz="1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 2</a:t>
            </a:r>
            <a:endParaRPr kumimoji="0" lang="fr-FR" sz="1000" b="1" i="1" u="none" strike="noStrike" kern="1200" cap="none" spc="0" normalizeH="0" baseline="0" noProof="0" dirty="0">
              <a:ln>
                <a:noFill/>
              </a:ln>
              <a:solidFill>
                <a:srgbClr val="ED7D3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4" name="BA_PY">
            <a:extLst>
              <a:ext uri="{FF2B5EF4-FFF2-40B4-BE49-F238E27FC236}">
                <a16:creationId xmlns:a16="http://schemas.microsoft.com/office/drawing/2014/main" id="{1C47E4EA-840B-D7C6-5780-55E13C6C4908}"/>
              </a:ext>
            </a:extLst>
          </p:cNvPr>
          <p:cNvSpPr/>
          <p:nvPr/>
        </p:nvSpPr>
        <p:spPr>
          <a:xfrm>
            <a:off x="6219320" y="3376340"/>
            <a:ext cx="648000" cy="288000"/>
          </a:xfrm>
          <a:prstGeom prst="roundRect">
            <a:avLst/>
          </a:prstGeom>
          <a:solidFill>
            <a:srgbClr val="70AD47"/>
          </a:solidFill>
          <a:ln>
            <a:noFill/>
          </a:ln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PY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Prediweb</a:t>
            </a: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 2</a:t>
            </a:r>
          </a:p>
        </p:txBody>
      </p:sp>
      <p:sp>
        <p:nvSpPr>
          <p:cNvPr id="165" name="Gr_NewNOVA">
            <a:extLst>
              <a:ext uri="{FF2B5EF4-FFF2-40B4-BE49-F238E27FC236}">
                <a16:creationId xmlns:a16="http://schemas.microsoft.com/office/drawing/2014/main" id="{3EB6F1A8-CC50-22F1-CAF6-9C6EE6A68FFF}"/>
              </a:ext>
            </a:extLst>
          </p:cNvPr>
          <p:cNvSpPr/>
          <p:nvPr/>
        </p:nvSpPr>
        <p:spPr>
          <a:xfrm>
            <a:off x="7894317" y="1093890"/>
            <a:ext cx="3975128" cy="3939748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  <a:effectLst>
            <a:outerShdw blurRad="50800" dist="38100" dir="2700000" algn="ctr" rotWithShape="0">
              <a:schemeClr val="tx1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/>
            </a:endParaRPr>
          </a:p>
        </p:txBody>
      </p:sp>
      <p:sp>
        <p:nvSpPr>
          <p:cNvPr id="166" name="ZT_NewNOVA">
            <a:extLst>
              <a:ext uri="{FF2B5EF4-FFF2-40B4-BE49-F238E27FC236}">
                <a16:creationId xmlns:a16="http://schemas.microsoft.com/office/drawing/2014/main" id="{F34E6A23-23FB-C126-01B6-41CC47ACF1F1}"/>
              </a:ext>
            </a:extLst>
          </p:cNvPr>
          <p:cNvSpPr txBox="1"/>
          <p:nvPr/>
        </p:nvSpPr>
        <p:spPr>
          <a:xfrm>
            <a:off x="7959719" y="1121206"/>
            <a:ext cx="2930793" cy="246221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New NOVA (K8S+AWS)</a:t>
            </a:r>
            <a:endParaRPr kumimoji="0" lang="fr-FR" sz="1000" b="1" i="1" u="none" strike="noStrike" kern="1200" cap="none" spc="0" normalizeH="0" baseline="0" noProof="0" dirty="0">
              <a:ln>
                <a:noFill/>
              </a:ln>
              <a:solidFill>
                <a:srgbClr val="ED7D3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7" name="BA_APPE">
            <a:extLst>
              <a:ext uri="{FF2B5EF4-FFF2-40B4-BE49-F238E27FC236}">
                <a16:creationId xmlns:a16="http://schemas.microsoft.com/office/drawing/2014/main" id="{A5AFFB21-31A7-6DF7-D577-CDD418D06DF5}"/>
              </a:ext>
            </a:extLst>
          </p:cNvPr>
          <p:cNvSpPr/>
          <p:nvPr/>
        </p:nvSpPr>
        <p:spPr>
          <a:xfrm>
            <a:off x="8114072" y="1417047"/>
            <a:ext cx="648000" cy="288000"/>
          </a:xfrm>
          <a:prstGeom prst="roundRect">
            <a:avLst/>
          </a:prstGeom>
          <a:solidFill>
            <a:srgbClr val="70AD4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APPE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API Personne</a:t>
            </a:r>
          </a:p>
        </p:txBody>
      </p:sp>
      <p:sp>
        <p:nvSpPr>
          <p:cNvPr id="168" name="BA_CJNI">
            <a:extLst>
              <a:ext uri="{FF2B5EF4-FFF2-40B4-BE49-F238E27FC236}">
                <a16:creationId xmlns:a16="http://schemas.microsoft.com/office/drawing/2014/main" id="{25F7F473-9FBD-14D0-8EA3-0E30C3786A94}"/>
              </a:ext>
            </a:extLst>
          </p:cNvPr>
          <p:cNvSpPr/>
          <p:nvPr/>
        </p:nvSpPr>
        <p:spPr>
          <a:xfrm>
            <a:off x="8803280" y="1417047"/>
            <a:ext cx="648000" cy="288000"/>
          </a:xfrm>
          <a:prstGeom prst="round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CJNI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Jeton SSO</a:t>
            </a:r>
          </a:p>
        </p:txBody>
      </p:sp>
      <p:sp>
        <p:nvSpPr>
          <p:cNvPr id="169" name="BA_C8">
            <a:extLst>
              <a:ext uri="{FF2B5EF4-FFF2-40B4-BE49-F238E27FC236}">
                <a16:creationId xmlns:a16="http://schemas.microsoft.com/office/drawing/2014/main" id="{3E1E9F9B-8A50-77E3-578D-4E2BF243234E}"/>
              </a:ext>
            </a:extLst>
          </p:cNvPr>
          <p:cNvSpPr/>
          <p:nvPr/>
        </p:nvSpPr>
        <p:spPr>
          <a:xfrm>
            <a:off x="9490384" y="1417047"/>
            <a:ext cx="648000" cy="288000"/>
          </a:xfrm>
          <a:prstGeom prst="roundRect">
            <a:avLst/>
          </a:prstGeom>
          <a:solidFill>
            <a:srgbClr val="70AD4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C8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Consentements</a:t>
            </a:r>
          </a:p>
        </p:txBody>
      </p:sp>
      <p:sp>
        <p:nvSpPr>
          <p:cNvPr id="170" name="BA_D9">
            <a:extLst>
              <a:ext uri="{FF2B5EF4-FFF2-40B4-BE49-F238E27FC236}">
                <a16:creationId xmlns:a16="http://schemas.microsoft.com/office/drawing/2014/main" id="{1CBB4110-351C-A3E0-DA74-481EC079B093}"/>
              </a:ext>
            </a:extLst>
          </p:cNvPr>
          <p:cNvSpPr/>
          <p:nvPr/>
        </p:nvSpPr>
        <p:spPr>
          <a:xfrm>
            <a:off x="10160477" y="1417047"/>
            <a:ext cx="648000" cy="288000"/>
          </a:xfrm>
          <a:prstGeom prst="roundRect">
            <a:avLst/>
          </a:prstGeom>
          <a:solidFill>
            <a:srgbClr val="70AD4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D9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Base Doc AWS</a:t>
            </a:r>
          </a:p>
        </p:txBody>
      </p:sp>
      <p:sp>
        <p:nvSpPr>
          <p:cNvPr id="171" name="BA_F3">
            <a:extLst>
              <a:ext uri="{FF2B5EF4-FFF2-40B4-BE49-F238E27FC236}">
                <a16:creationId xmlns:a16="http://schemas.microsoft.com/office/drawing/2014/main" id="{CBC770E3-A1BC-7D40-CF23-C0987E703DF9}"/>
              </a:ext>
            </a:extLst>
          </p:cNvPr>
          <p:cNvSpPr/>
          <p:nvPr/>
        </p:nvSpPr>
        <p:spPr>
          <a:xfrm>
            <a:off x="8114072" y="1734468"/>
            <a:ext cx="648000" cy="288000"/>
          </a:xfrm>
          <a:prstGeom prst="roundRect">
            <a:avLst/>
          </a:prstGeom>
          <a:solidFill>
            <a:srgbClr val="70AD4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F3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Versement Libre</a:t>
            </a:r>
          </a:p>
        </p:txBody>
      </p:sp>
      <p:sp>
        <p:nvSpPr>
          <p:cNvPr id="172" name="BA_F4">
            <a:extLst>
              <a:ext uri="{FF2B5EF4-FFF2-40B4-BE49-F238E27FC236}">
                <a16:creationId xmlns:a16="http://schemas.microsoft.com/office/drawing/2014/main" id="{553C9277-B4B5-D965-4E83-7ADEF62C5237}"/>
              </a:ext>
            </a:extLst>
          </p:cNvPr>
          <p:cNvSpPr/>
          <p:nvPr/>
        </p:nvSpPr>
        <p:spPr>
          <a:xfrm>
            <a:off x="8803280" y="1734468"/>
            <a:ext cx="648000" cy="288000"/>
          </a:xfrm>
          <a:prstGeom prst="roundRect">
            <a:avLst/>
          </a:prstGeom>
          <a:solidFill>
            <a:srgbClr val="70AD47"/>
          </a:solidFill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F4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Synthèse </a:t>
            </a:r>
            <a:r>
              <a:rPr kumimoji="0" lang="fr-FR" sz="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Opér</a:t>
            </a: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.</a:t>
            </a:r>
          </a:p>
        </p:txBody>
      </p:sp>
      <p:sp>
        <p:nvSpPr>
          <p:cNvPr id="173" name="BA_F5">
            <a:extLst>
              <a:ext uri="{FF2B5EF4-FFF2-40B4-BE49-F238E27FC236}">
                <a16:creationId xmlns:a16="http://schemas.microsoft.com/office/drawing/2014/main" id="{C95814BD-BDB6-04CA-DE70-76F9C441005E}"/>
              </a:ext>
            </a:extLst>
          </p:cNvPr>
          <p:cNvSpPr/>
          <p:nvPr/>
        </p:nvSpPr>
        <p:spPr>
          <a:xfrm>
            <a:off x="9490384" y="1734468"/>
            <a:ext cx="648000" cy="288000"/>
          </a:xfrm>
          <a:prstGeom prst="round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F5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Conf</a:t>
            </a: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. New Nova</a:t>
            </a:r>
          </a:p>
        </p:txBody>
      </p:sp>
      <p:sp>
        <p:nvSpPr>
          <p:cNvPr id="174" name="BA_F6">
            <a:extLst>
              <a:ext uri="{FF2B5EF4-FFF2-40B4-BE49-F238E27FC236}">
                <a16:creationId xmlns:a16="http://schemas.microsoft.com/office/drawing/2014/main" id="{8D1C5074-5025-E15F-A2F5-C87BA261DBD6}"/>
              </a:ext>
            </a:extLst>
          </p:cNvPr>
          <p:cNvSpPr/>
          <p:nvPr/>
        </p:nvSpPr>
        <p:spPr>
          <a:xfrm>
            <a:off x="10160477" y="1734468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F6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API Adhésion</a:t>
            </a:r>
          </a:p>
        </p:txBody>
      </p:sp>
      <p:sp>
        <p:nvSpPr>
          <p:cNvPr id="175" name="BA_F7">
            <a:extLst>
              <a:ext uri="{FF2B5EF4-FFF2-40B4-BE49-F238E27FC236}">
                <a16:creationId xmlns:a16="http://schemas.microsoft.com/office/drawing/2014/main" id="{9E4C9849-E506-F34A-035A-6FAD048E6416}"/>
              </a:ext>
            </a:extLst>
          </p:cNvPr>
          <p:cNvSpPr/>
          <p:nvPr/>
        </p:nvSpPr>
        <p:spPr>
          <a:xfrm>
            <a:off x="8114072" y="2047150"/>
            <a:ext cx="648000" cy="288000"/>
          </a:xfrm>
          <a:prstGeom prst="round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F7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Arbitrage</a:t>
            </a:r>
          </a:p>
        </p:txBody>
      </p:sp>
      <p:sp>
        <p:nvSpPr>
          <p:cNvPr id="176" name="BA_G3">
            <a:extLst>
              <a:ext uri="{FF2B5EF4-FFF2-40B4-BE49-F238E27FC236}">
                <a16:creationId xmlns:a16="http://schemas.microsoft.com/office/drawing/2014/main" id="{19F5DC4B-3018-3A4E-ADBF-7F014BCE69AE}"/>
              </a:ext>
            </a:extLst>
          </p:cNvPr>
          <p:cNvSpPr/>
          <p:nvPr/>
        </p:nvSpPr>
        <p:spPr>
          <a:xfrm>
            <a:off x="9490384" y="2047150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G3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Pièces médicales</a:t>
            </a:r>
          </a:p>
        </p:txBody>
      </p:sp>
      <p:sp>
        <p:nvSpPr>
          <p:cNvPr id="177" name="BA_G4">
            <a:extLst>
              <a:ext uri="{FF2B5EF4-FFF2-40B4-BE49-F238E27FC236}">
                <a16:creationId xmlns:a16="http://schemas.microsoft.com/office/drawing/2014/main" id="{06A1499E-2E33-141A-0A84-E66895DBD8DF}"/>
              </a:ext>
            </a:extLst>
          </p:cNvPr>
          <p:cNvSpPr/>
          <p:nvPr/>
        </p:nvSpPr>
        <p:spPr>
          <a:xfrm>
            <a:off x="10160477" y="2047150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G4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API FRC</a:t>
            </a:r>
          </a:p>
        </p:txBody>
      </p:sp>
      <p:sp>
        <p:nvSpPr>
          <p:cNvPr id="178" name="BA_G6">
            <a:extLst>
              <a:ext uri="{FF2B5EF4-FFF2-40B4-BE49-F238E27FC236}">
                <a16:creationId xmlns:a16="http://schemas.microsoft.com/office/drawing/2014/main" id="{96B7D88F-A356-0FB6-9CD3-6EFF268F0E87}"/>
              </a:ext>
            </a:extLst>
          </p:cNvPr>
          <p:cNvSpPr/>
          <p:nvPr/>
        </p:nvSpPr>
        <p:spPr>
          <a:xfrm>
            <a:off x="8114072" y="2368438"/>
            <a:ext cx="648000" cy="288000"/>
          </a:xfrm>
          <a:prstGeom prst="roundRect">
            <a:avLst/>
          </a:prstGeom>
          <a:solidFill>
            <a:srgbClr val="70AD4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G6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API </a:t>
            </a:r>
            <a:r>
              <a:rPr kumimoji="0" lang="fr-FR" sz="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Passport</a:t>
            </a:r>
            <a:endParaRPr kumimoji="0" lang="fr-FR" sz="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9" name="BA_GQ">
            <a:extLst>
              <a:ext uri="{FF2B5EF4-FFF2-40B4-BE49-F238E27FC236}">
                <a16:creationId xmlns:a16="http://schemas.microsoft.com/office/drawing/2014/main" id="{343DF9C2-04DC-752B-461B-42115E71C7DC}"/>
              </a:ext>
            </a:extLst>
          </p:cNvPr>
          <p:cNvSpPr/>
          <p:nvPr/>
        </p:nvSpPr>
        <p:spPr>
          <a:xfrm>
            <a:off x="8803280" y="2368438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GQ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GED Prévoyance</a:t>
            </a:r>
          </a:p>
        </p:txBody>
      </p:sp>
      <p:sp>
        <p:nvSpPr>
          <p:cNvPr id="180" name="BA_I5">
            <a:extLst>
              <a:ext uri="{FF2B5EF4-FFF2-40B4-BE49-F238E27FC236}">
                <a16:creationId xmlns:a16="http://schemas.microsoft.com/office/drawing/2014/main" id="{BA79DCB6-AAED-55C4-16D5-1028E35FFF27}"/>
              </a:ext>
            </a:extLst>
          </p:cNvPr>
          <p:cNvSpPr/>
          <p:nvPr/>
        </p:nvSpPr>
        <p:spPr>
          <a:xfrm>
            <a:off x="8114072" y="2696076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I5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Lanceur New Nova</a:t>
            </a:r>
          </a:p>
        </p:txBody>
      </p:sp>
      <p:sp>
        <p:nvSpPr>
          <p:cNvPr id="181" name="BA_I9">
            <a:extLst>
              <a:ext uri="{FF2B5EF4-FFF2-40B4-BE49-F238E27FC236}">
                <a16:creationId xmlns:a16="http://schemas.microsoft.com/office/drawing/2014/main" id="{28A283D5-2C74-8EA8-06A9-ACD645312419}"/>
              </a:ext>
            </a:extLst>
          </p:cNvPr>
          <p:cNvSpPr/>
          <p:nvPr/>
        </p:nvSpPr>
        <p:spPr>
          <a:xfrm>
            <a:off x="8803280" y="2696076"/>
            <a:ext cx="648000" cy="288000"/>
          </a:xfrm>
          <a:prstGeom prst="round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I9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Keycloak</a:t>
            </a: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 Intranet</a:t>
            </a:r>
          </a:p>
        </p:txBody>
      </p:sp>
      <p:sp>
        <p:nvSpPr>
          <p:cNvPr id="182" name="BA_K7">
            <a:extLst>
              <a:ext uri="{FF2B5EF4-FFF2-40B4-BE49-F238E27FC236}">
                <a16:creationId xmlns:a16="http://schemas.microsoft.com/office/drawing/2014/main" id="{35AB0D5D-6A08-7AAE-E4B9-01F5AD473262}"/>
              </a:ext>
            </a:extLst>
          </p:cNvPr>
          <p:cNvSpPr/>
          <p:nvPr/>
        </p:nvSpPr>
        <p:spPr>
          <a:xfrm>
            <a:off x="9490384" y="2696076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K7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Aiguilleur</a:t>
            </a:r>
          </a:p>
        </p:txBody>
      </p:sp>
      <p:sp>
        <p:nvSpPr>
          <p:cNvPr id="183" name="BA_K9">
            <a:extLst>
              <a:ext uri="{FF2B5EF4-FFF2-40B4-BE49-F238E27FC236}">
                <a16:creationId xmlns:a16="http://schemas.microsoft.com/office/drawing/2014/main" id="{E21F15FF-EF1A-45C4-72F4-37F9EC1009DF}"/>
              </a:ext>
            </a:extLst>
          </p:cNvPr>
          <p:cNvSpPr/>
          <p:nvPr/>
        </p:nvSpPr>
        <p:spPr>
          <a:xfrm>
            <a:off x="10160477" y="2696076"/>
            <a:ext cx="648000" cy="288000"/>
          </a:xfrm>
          <a:prstGeom prst="roundRect">
            <a:avLst/>
          </a:prstGeom>
          <a:solidFill>
            <a:srgbClr val="70AD47"/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K9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Keycloak</a:t>
            </a: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 Internet</a:t>
            </a:r>
          </a:p>
        </p:txBody>
      </p:sp>
      <p:sp>
        <p:nvSpPr>
          <p:cNvPr id="184" name="BA_L8">
            <a:extLst>
              <a:ext uri="{FF2B5EF4-FFF2-40B4-BE49-F238E27FC236}">
                <a16:creationId xmlns:a16="http://schemas.microsoft.com/office/drawing/2014/main" id="{B6B4B174-BBA4-DA52-D148-76B4CA68737B}"/>
              </a:ext>
            </a:extLst>
          </p:cNvPr>
          <p:cNvSpPr/>
          <p:nvPr/>
        </p:nvSpPr>
        <p:spPr>
          <a:xfrm>
            <a:off x="8114072" y="3027052"/>
            <a:ext cx="648000" cy="288000"/>
          </a:xfrm>
          <a:prstGeom prst="roundRect">
            <a:avLst/>
          </a:prstGeom>
          <a:solidFill>
            <a:srgbClr val="70AD4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L8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API Archivage</a:t>
            </a:r>
          </a:p>
        </p:txBody>
      </p:sp>
      <p:sp>
        <p:nvSpPr>
          <p:cNvPr id="185" name="BA_L9">
            <a:extLst>
              <a:ext uri="{FF2B5EF4-FFF2-40B4-BE49-F238E27FC236}">
                <a16:creationId xmlns:a16="http://schemas.microsoft.com/office/drawing/2014/main" id="{4CDCDB22-2C95-5604-A827-DA71034F2EEE}"/>
              </a:ext>
            </a:extLst>
          </p:cNvPr>
          <p:cNvSpPr/>
          <p:nvPr/>
        </p:nvSpPr>
        <p:spPr>
          <a:xfrm>
            <a:off x="8803280" y="3027052"/>
            <a:ext cx="648000" cy="288000"/>
          </a:xfrm>
          <a:prstGeom prst="roundRect">
            <a:avLst/>
          </a:prstGeom>
          <a:solidFill>
            <a:srgbClr val="70AD4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L9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API Structure</a:t>
            </a:r>
          </a:p>
        </p:txBody>
      </p:sp>
      <p:sp>
        <p:nvSpPr>
          <p:cNvPr id="186" name="BA_N6">
            <a:extLst>
              <a:ext uri="{FF2B5EF4-FFF2-40B4-BE49-F238E27FC236}">
                <a16:creationId xmlns:a16="http://schemas.microsoft.com/office/drawing/2014/main" id="{015EBBB6-DB62-A799-E29A-5D5B96E4BA78}"/>
              </a:ext>
            </a:extLst>
          </p:cNvPr>
          <p:cNvSpPr/>
          <p:nvPr/>
        </p:nvSpPr>
        <p:spPr>
          <a:xfrm>
            <a:off x="9490384" y="3034498"/>
            <a:ext cx="648000" cy="288000"/>
          </a:xfrm>
          <a:prstGeom prst="round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N6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API produit</a:t>
            </a:r>
          </a:p>
        </p:txBody>
      </p:sp>
      <p:sp>
        <p:nvSpPr>
          <p:cNvPr id="187" name="BA_N8">
            <a:extLst>
              <a:ext uri="{FF2B5EF4-FFF2-40B4-BE49-F238E27FC236}">
                <a16:creationId xmlns:a16="http://schemas.microsoft.com/office/drawing/2014/main" id="{D757A04A-BEE2-7731-B1B5-BD223F7743B0}"/>
              </a:ext>
            </a:extLst>
          </p:cNvPr>
          <p:cNvSpPr/>
          <p:nvPr/>
        </p:nvSpPr>
        <p:spPr>
          <a:xfrm>
            <a:off x="10160477" y="3034498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N8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Notif</a:t>
            </a: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. Distributeur</a:t>
            </a:r>
          </a:p>
        </p:txBody>
      </p:sp>
      <p:sp>
        <p:nvSpPr>
          <p:cNvPr id="188" name="BA_P4">
            <a:extLst>
              <a:ext uri="{FF2B5EF4-FFF2-40B4-BE49-F238E27FC236}">
                <a16:creationId xmlns:a16="http://schemas.microsoft.com/office/drawing/2014/main" id="{79934050-EF21-7129-1421-3F80F263808E}"/>
              </a:ext>
            </a:extLst>
          </p:cNvPr>
          <p:cNvSpPr/>
          <p:nvPr/>
        </p:nvSpPr>
        <p:spPr>
          <a:xfrm>
            <a:off x="8114072" y="3354466"/>
            <a:ext cx="648000" cy="288000"/>
          </a:xfrm>
          <a:prstGeom prst="roundRect">
            <a:avLst/>
          </a:prstGeom>
          <a:solidFill>
            <a:srgbClr val="70AD47"/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P4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Services Editique</a:t>
            </a:r>
          </a:p>
        </p:txBody>
      </p:sp>
      <p:sp>
        <p:nvSpPr>
          <p:cNvPr id="189" name="BA_P5">
            <a:extLst>
              <a:ext uri="{FF2B5EF4-FFF2-40B4-BE49-F238E27FC236}">
                <a16:creationId xmlns:a16="http://schemas.microsoft.com/office/drawing/2014/main" id="{510A1FD0-8E08-0CD5-8A25-45FB8517554D}"/>
              </a:ext>
            </a:extLst>
          </p:cNvPr>
          <p:cNvSpPr/>
          <p:nvPr/>
        </p:nvSpPr>
        <p:spPr>
          <a:xfrm>
            <a:off x="8803280" y="3354466"/>
            <a:ext cx="648000" cy="288000"/>
          </a:xfrm>
          <a:prstGeom prst="roundRect">
            <a:avLst/>
          </a:prstGeom>
          <a:solidFill>
            <a:srgbClr val="70AD47"/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P5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API Contrat</a:t>
            </a:r>
          </a:p>
        </p:txBody>
      </p:sp>
      <p:sp>
        <p:nvSpPr>
          <p:cNvPr id="190" name="BA_P6">
            <a:extLst>
              <a:ext uri="{FF2B5EF4-FFF2-40B4-BE49-F238E27FC236}">
                <a16:creationId xmlns:a16="http://schemas.microsoft.com/office/drawing/2014/main" id="{13507309-DFA9-5EE3-7304-6B5AF3C3090A}"/>
              </a:ext>
            </a:extLst>
          </p:cNvPr>
          <p:cNvSpPr/>
          <p:nvPr/>
        </p:nvSpPr>
        <p:spPr>
          <a:xfrm>
            <a:off x="9490384" y="3369007"/>
            <a:ext cx="648000" cy="288000"/>
          </a:xfrm>
          <a:prstGeom prst="round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P6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API Support</a:t>
            </a:r>
          </a:p>
        </p:txBody>
      </p:sp>
      <p:sp>
        <p:nvSpPr>
          <p:cNvPr id="191" name="BA_P7">
            <a:extLst>
              <a:ext uri="{FF2B5EF4-FFF2-40B4-BE49-F238E27FC236}">
                <a16:creationId xmlns:a16="http://schemas.microsoft.com/office/drawing/2014/main" id="{4C0A087E-0384-6FEE-4FE2-1334647FACF3}"/>
              </a:ext>
            </a:extLst>
          </p:cNvPr>
          <p:cNvSpPr/>
          <p:nvPr/>
        </p:nvSpPr>
        <p:spPr>
          <a:xfrm>
            <a:off x="10160477" y="3369007"/>
            <a:ext cx="648000" cy="288000"/>
          </a:xfrm>
          <a:prstGeom prst="roundRect">
            <a:avLst/>
          </a:prstGeom>
          <a:solidFill>
            <a:srgbClr val="70AD47"/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P7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Campagnes et Frais</a:t>
            </a:r>
          </a:p>
        </p:txBody>
      </p:sp>
      <p:sp>
        <p:nvSpPr>
          <p:cNvPr id="192" name="BA_P8">
            <a:extLst>
              <a:ext uri="{FF2B5EF4-FFF2-40B4-BE49-F238E27FC236}">
                <a16:creationId xmlns:a16="http://schemas.microsoft.com/office/drawing/2014/main" id="{E81D08B1-4F95-199E-534A-E6E3B56BC9B6}"/>
              </a:ext>
            </a:extLst>
          </p:cNvPr>
          <p:cNvSpPr/>
          <p:nvPr/>
        </p:nvSpPr>
        <p:spPr>
          <a:xfrm>
            <a:off x="8114072" y="3698914"/>
            <a:ext cx="648000" cy="288000"/>
          </a:xfrm>
          <a:prstGeom prst="round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P8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Habilit</a:t>
            </a: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. &amp;  </a:t>
            </a:r>
            <a:r>
              <a:rPr kumimoji="0" lang="fr-FR" sz="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Délég</a:t>
            </a: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.</a:t>
            </a:r>
          </a:p>
        </p:txBody>
      </p:sp>
      <p:sp>
        <p:nvSpPr>
          <p:cNvPr id="193" name="BA_Q1">
            <a:extLst>
              <a:ext uri="{FF2B5EF4-FFF2-40B4-BE49-F238E27FC236}">
                <a16:creationId xmlns:a16="http://schemas.microsoft.com/office/drawing/2014/main" id="{FC694591-A3D6-7480-4884-7F3A13AF56DE}"/>
              </a:ext>
            </a:extLst>
          </p:cNvPr>
          <p:cNvSpPr/>
          <p:nvPr/>
        </p:nvSpPr>
        <p:spPr>
          <a:xfrm>
            <a:off x="8803280" y="3698914"/>
            <a:ext cx="648000" cy="288000"/>
          </a:xfrm>
          <a:prstGeom prst="roundRect">
            <a:avLst/>
          </a:prstGeom>
          <a:solidFill>
            <a:srgbClr val="70AD4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Q1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API </a:t>
            </a:r>
            <a:r>
              <a:rPr kumimoji="0" lang="fr-FR" sz="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Déciséo</a:t>
            </a:r>
            <a:endParaRPr kumimoji="0" lang="fr-FR" sz="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4" name="BA_W1">
            <a:extLst>
              <a:ext uri="{FF2B5EF4-FFF2-40B4-BE49-F238E27FC236}">
                <a16:creationId xmlns:a16="http://schemas.microsoft.com/office/drawing/2014/main" id="{F2D72EDD-4A94-8FD4-9B03-D7BC4E119EF9}"/>
              </a:ext>
            </a:extLst>
          </p:cNvPr>
          <p:cNvSpPr/>
          <p:nvPr/>
        </p:nvSpPr>
        <p:spPr>
          <a:xfrm>
            <a:off x="8114072" y="4023294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W1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API Signature</a:t>
            </a:r>
          </a:p>
        </p:txBody>
      </p:sp>
      <p:sp>
        <p:nvSpPr>
          <p:cNvPr id="195" name="BA_W2">
            <a:extLst>
              <a:ext uri="{FF2B5EF4-FFF2-40B4-BE49-F238E27FC236}">
                <a16:creationId xmlns:a16="http://schemas.microsoft.com/office/drawing/2014/main" id="{C66C7FFC-E336-EE10-1A19-0AEB84110F0B}"/>
              </a:ext>
            </a:extLst>
          </p:cNvPr>
          <p:cNvSpPr/>
          <p:nvPr/>
        </p:nvSpPr>
        <p:spPr>
          <a:xfrm>
            <a:off x="8803280" y="4023294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W2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Clause </a:t>
            </a:r>
            <a:r>
              <a:rPr kumimoji="0" lang="fr-FR" sz="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Bénéf</a:t>
            </a: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.</a:t>
            </a:r>
          </a:p>
        </p:txBody>
      </p:sp>
      <p:sp>
        <p:nvSpPr>
          <p:cNvPr id="196" name="BA_W4">
            <a:extLst>
              <a:ext uri="{FF2B5EF4-FFF2-40B4-BE49-F238E27FC236}">
                <a16:creationId xmlns:a16="http://schemas.microsoft.com/office/drawing/2014/main" id="{4C1FB098-6149-4E5E-35C6-1CF06F4768ED}"/>
              </a:ext>
            </a:extLst>
          </p:cNvPr>
          <p:cNvSpPr/>
          <p:nvPr/>
        </p:nvSpPr>
        <p:spPr>
          <a:xfrm>
            <a:off x="9490384" y="4047213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W4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Modif</a:t>
            </a: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. </a:t>
            </a:r>
            <a:r>
              <a:rPr kumimoji="0" lang="fr-FR" sz="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Gar</a:t>
            </a: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. </a:t>
            </a:r>
            <a:r>
              <a:rPr kumimoji="0" lang="fr-FR" sz="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Prév</a:t>
            </a: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.</a:t>
            </a:r>
          </a:p>
        </p:txBody>
      </p:sp>
      <p:sp>
        <p:nvSpPr>
          <p:cNvPr id="197" name="Gr_REFUC">
            <a:extLst>
              <a:ext uri="{FF2B5EF4-FFF2-40B4-BE49-F238E27FC236}">
                <a16:creationId xmlns:a16="http://schemas.microsoft.com/office/drawing/2014/main" id="{44BBEFDD-A7A9-87C0-9639-9BB10D5AB415}"/>
              </a:ext>
            </a:extLst>
          </p:cNvPr>
          <p:cNvSpPr/>
          <p:nvPr/>
        </p:nvSpPr>
        <p:spPr>
          <a:xfrm>
            <a:off x="4497472" y="3115682"/>
            <a:ext cx="769204" cy="591273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  <a:effectLst>
            <a:outerShdw blurRad="50800" dist="38100" dir="2700000" algn="ctr" rotWithShape="0">
              <a:schemeClr val="tx1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/>
            </a:endParaRPr>
          </a:p>
        </p:txBody>
      </p:sp>
      <p:sp>
        <p:nvSpPr>
          <p:cNvPr id="198" name="ZT_REFUC">
            <a:extLst>
              <a:ext uri="{FF2B5EF4-FFF2-40B4-BE49-F238E27FC236}">
                <a16:creationId xmlns:a16="http://schemas.microsoft.com/office/drawing/2014/main" id="{F5FD540B-2371-7BBF-722C-38FFA6DEA6F6}"/>
              </a:ext>
            </a:extLst>
          </p:cNvPr>
          <p:cNvSpPr txBox="1"/>
          <p:nvPr/>
        </p:nvSpPr>
        <p:spPr>
          <a:xfrm>
            <a:off x="4585812" y="3143267"/>
            <a:ext cx="664123" cy="246221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REFUC</a:t>
            </a:r>
          </a:p>
        </p:txBody>
      </p:sp>
      <p:sp>
        <p:nvSpPr>
          <p:cNvPr id="199" name="BA_VL">
            <a:extLst>
              <a:ext uri="{FF2B5EF4-FFF2-40B4-BE49-F238E27FC236}">
                <a16:creationId xmlns:a16="http://schemas.microsoft.com/office/drawing/2014/main" id="{31BE5FCA-9C9E-2224-A1AC-9DC82C7C9C87}"/>
              </a:ext>
            </a:extLst>
          </p:cNvPr>
          <p:cNvSpPr/>
          <p:nvPr/>
        </p:nvSpPr>
        <p:spPr>
          <a:xfrm>
            <a:off x="4562134" y="3360904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VL</a:t>
            </a:r>
            <a:endParaRPr kumimoji="0" lang="fr-FR" sz="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Référ</a:t>
            </a: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. UC</a:t>
            </a:r>
          </a:p>
        </p:txBody>
      </p:sp>
      <p:sp>
        <p:nvSpPr>
          <p:cNvPr id="200" name="Gr_EBX">
            <a:extLst>
              <a:ext uri="{FF2B5EF4-FFF2-40B4-BE49-F238E27FC236}">
                <a16:creationId xmlns:a16="http://schemas.microsoft.com/office/drawing/2014/main" id="{9294CFAE-91BB-B082-F49B-F4BB45D2BF7B}"/>
              </a:ext>
            </a:extLst>
          </p:cNvPr>
          <p:cNvSpPr/>
          <p:nvPr/>
        </p:nvSpPr>
        <p:spPr>
          <a:xfrm>
            <a:off x="3593887" y="3113812"/>
            <a:ext cx="834318" cy="61200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  <a:effectLst>
            <a:outerShdw blurRad="50800" dist="38100" dir="2700000" algn="ctr" rotWithShape="0">
              <a:schemeClr val="tx1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/>
            </a:endParaRPr>
          </a:p>
        </p:txBody>
      </p:sp>
      <p:sp>
        <p:nvSpPr>
          <p:cNvPr id="201" name="ZT_EBX">
            <a:extLst>
              <a:ext uri="{FF2B5EF4-FFF2-40B4-BE49-F238E27FC236}">
                <a16:creationId xmlns:a16="http://schemas.microsoft.com/office/drawing/2014/main" id="{AD766150-4FBC-B7D0-2DCA-B725DD868A40}"/>
              </a:ext>
            </a:extLst>
          </p:cNvPr>
          <p:cNvSpPr txBox="1"/>
          <p:nvPr/>
        </p:nvSpPr>
        <p:spPr>
          <a:xfrm>
            <a:off x="3603261" y="3141397"/>
            <a:ext cx="824943" cy="246221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EBX</a:t>
            </a:r>
          </a:p>
        </p:txBody>
      </p:sp>
      <p:sp>
        <p:nvSpPr>
          <p:cNvPr id="202" name="BA_EBX">
            <a:extLst>
              <a:ext uri="{FF2B5EF4-FFF2-40B4-BE49-F238E27FC236}">
                <a16:creationId xmlns:a16="http://schemas.microsoft.com/office/drawing/2014/main" id="{92C3B958-CE83-3A06-F2AE-BB55BC8E77E2}"/>
              </a:ext>
            </a:extLst>
          </p:cNvPr>
          <p:cNvSpPr/>
          <p:nvPr/>
        </p:nvSpPr>
        <p:spPr>
          <a:xfrm>
            <a:off x="3697255" y="3370753"/>
            <a:ext cx="648000" cy="276281"/>
          </a:xfrm>
          <a:prstGeom prst="roundRect">
            <a:avLst/>
          </a:prstGeom>
          <a:solidFill>
            <a:srgbClr val="70AD4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EBX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EBX-Platform</a:t>
            </a:r>
          </a:p>
        </p:txBody>
      </p:sp>
      <p:sp>
        <p:nvSpPr>
          <p:cNvPr id="203" name="ZoneProjet">
            <a:extLst>
              <a:ext uri="{FF2B5EF4-FFF2-40B4-BE49-F238E27FC236}">
                <a16:creationId xmlns:a16="http://schemas.microsoft.com/office/drawing/2014/main" id="{6D384E0B-47BC-F403-842B-E7EC6E5102B9}"/>
              </a:ext>
            </a:extLst>
          </p:cNvPr>
          <p:cNvSpPr txBox="1"/>
          <p:nvPr/>
        </p:nvSpPr>
        <p:spPr>
          <a:xfrm>
            <a:off x="469737" y="524643"/>
            <a:ext cx="2705934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>
            <a:defPPr>
              <a:defRPr lang="fr-FR"/>
            </a:defPPr>
            <a:lvl1pPr lvl="0" algn="ctr">
              <a:defRPr b="1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fr-FR" dirty="0"/>
              <a:t>VL ARBI-Enrichissement</a:t>
            </a:r>
          </a:p>
        </p:txBody>
      </p:sp>
      <p:sp>
        <p:nvSpPr>
          <p:cNvPr id="204" name="ZT_Titre">
            <a:extLst>
              <a:ext uri="{FF2B5EF4-FFF2-40B4-BE49-F238E27FC236}">
                <a16:creationId xmlns:a16="http://schemas.microsoft.com/office/drawing/2014/main" id="{E071C2A6-CF6C-94C7-8783-C6398593CDF6}"/>
              </a:ext>
            </a:extLst>
          </p:cNvPr>
          <p:cNvSpPr txBox="1"/>
          <p:nvPr/>
        </p:nvSpPr>
        <p:spPr>
          <a:xfrm>
            <a:off x="0" y="-124544"/>
            <a:ext cx="12192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800" b="0" i="0" u="none" strike="noStrike" kern="1200" cap="none" spc="0" normalizeH="0" baseline="0" noProof="0" dirty="0">
                <a:ln>
                  <a:noFill/>
                </a:ln>
                <a:solidFill>
                  <a:srgbClr val="5B9BD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Identification des composants applicatifs</a:t>
            </a:r>
          </a:p>
        </p:txBody>
      </p:sp>
      <p:sp>
        <p:nvSpPr>
          <p:cNvPr id="205" name="Gr_BDOC">
            <a:extLst>
              <a:ext uri="{FF2B5EF4-FFF2-40B4-BE49-F238E27FC236}">
                <a16:creationId xmlns:a16="http://schemas.microsoft.com/office/drawing/2014/main" id="{9C1CBEFE-C0CE-4908-BF91-5C00274F7B96}"/>
              </a:ext>
            </a:extLst>
          </p:cNvPr>
          <p:cNvSpPr/>
          <p:nvPr/>
        </p:nvSpPr>
        <p:spPr>
          <a:xfrm>
            <a:off x="5353697" y="3111592"/>
            <a:ext cx="744111" cy="61200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  <a:effectLst>
            <a:outerShdw blurRad="50800" dist="38100" dir="2700000" algn="ctr" rotWithShape="0">
              <a:schemeClr val="tx1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/>
            </a:endParaRPr>
          </a:p>
        </p:txBody>
      </p:sp>
      <p:sp>
        <p:nvSpPr>
          <p:cNvPr id="206" name="ZT_BDOC">
            <a:extLst>
              <a:ext uri="{FF2B5EF4-FFF2-40B4-BE49-F238E27FC236}">
                <a16:creationId xmlns:a16="http://schemas.microsoft.com/office/drawing/2014/main" id="{A05525CA-66AB-3B14-7DB8-9F7A7607F355}"/>
              </a:ext>
            </a:extLst>
          </p:cNvPr>
          <p:cNvSpPr txBox="1"/>
          <p:nvPr/>
        </p:nvSpPr>
        <p:spPr>
          <a:xfrm>
            <a:off x="5429887" y="3139177"/>
            <a:ext cx="623531" cy="246221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BDOC</a:t>
            </a:r>
          </a:p>
        </p:txBody>
      </p:sp>
      <p:sp>
        <p:nvSpPr>
          <p:cNvPr id="207" name="BA_BX">
            <a:extLst>
              <a:ext uri="{FF2B5EF4-FFF2-40B4-BE49-F238E27FC236}">
                <a16:creationId xmlns:a16="http://schemas.microsoft.com/office/drawing/2014/main" id="{3364811F-ACCF-75BF-2A17-4554D544A476}"/>
              </a:ext>
            </a:extLst>
          </p:cNvPr>
          <p:cNvSpPr/>
          <p:nvPr/>
        </p:nvSpPr>
        <p:spPr>
          <a:xfrm>
            <a:off x="5405378" y="3393901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BX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BDOC WEB</a:t>
            </a:r>
          </a:p>
        </p:txBody>
      </p:sp>
      <p:sp>
        <p:nvSpPr>
          <p:cNvPr id="208" name="ZT_MàJ">
            <a:extLst>
              <a:ext uri="{FF2B5EF4-FFF2-40B4-BE49-F238E27FC236}">
                <a16:creationId xmlns:a16="http://schemas.microsoft.com/office/drawing/2014/main" id="{EEAE0EC2-D447-3109-9678-742FDD5C47B3}"/>
              </a:ext>
            </a:extLst>
          </p:cNvPr>
          <p:cNvSpPr txBox="1"/>
          <p:nvPr/>
        </p:nvSpPr>
        <p:spPr>
          <a:xfrm>
            <a:off x="390525" y="6491355"/>
            <a:ext cx="169950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Mise à jour : xx/xx/2026</a:t>
            </a:r>
          </a:p>
        </p:txBody>
      </p:sp>
      <p:sp>
        <p:nvSpPr>
          <p:cNvPr id="209" name="ZT_Validité">
            <a:extLst>
              <a:ext uri="{FF2B5EF4-FFF2-40B4-BE49-F238E27FC236}">
                <a16:creationId xmlns:a16="http://schemas.microsoft.com/office/drawing/2014/main" id="{B0D43266-7065-7181-7040-CE9D082AA15E}"/>
              </a:ext>
            </a:extLst>
          </p:cNvPr>
          <p:cNvSpPr txBox="1"/>
          <p:nvPr/>
        </p:nvSpPr>
        <p:spPr>
          <a:xfrm>
            <a:off x="10479876" y="6501427"/>
            <a:ext cx="126444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Validité : T2 2026</a:t>
            </a:r>
          </a:p>
        </p:txBody>
      </p:sp>
      <p:sp>
        <p:nvSpPr>
          <p:cNvPr id="210" name="Légende_Comp3">
            <a:extLst>
              <a:ext uri="{FF2B5EF4-FFF2-40B4-BE49-F238E27FC236}">
                <a16:creationId xmlns:a16="http://schemas.microsoft.com/office/drawing/2014/main" id="{692ECD47-7407-13A5-277D-DDFD599558BB}"/>
              </a:ext>
            </a:extLst>
          </p:cNvPr>
          <p:cNvSpPr/>
          <p:nvPr/>
        </p:nvSpPr>
        <p:spPr>
          <a:xfrm>
            <a:off x="6567797" y="549933"/>
            <a:ext cx="1080000" cy="360000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Composant </a:t>
            </a:r>
            <a:b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créé ou modifié</a:t>
            </a:r>
          </a:p>
        </p:txBody>
      </p:sp>
      <p:sp>
        <p:nvSpPr>
          <p:cNvPr id="211" name="Légende_Comp2">
            <a:extLst>
              <a:ext uri="{FF2B5EF4-FFF2-40B4-BE49-F238E27FC236}">
                <a16:creationId xmlns:a16="http://schemas.microsoft.com/office/drawing/2014/main" id="{19A75A4D-0226-2AA6-010A-DEF771BF68AA}"/>
              </a:ext>
            </a:extLst>
          </p:cNvPr>
          <p:cNvSpPr/>
          <p:nvPr/>
        </p:nvSpPr>
        <p:spPr>
          <a:xfrm>
            <a:off x="5383906" y="547517"/>
            <a:ext cx="1080000" cy="360000"/>
          </a:xfrm>
          <a:prstGeom prst="round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Composant utilisé</a:t>
            </a:r>
          </a:p>
        </p:txBody>
      </p:sp>
      <p:sp>
        <p:nvSpPr>
          <p:cNvPr id="212" name="Légende_Comp1">
            <a:extLst>
              <a:ext uri="{FF2B5EF4-FFF2-40B4-BE49-F238E27FC236}">
                <a16:creationId xmlns:a16="http://schemas.microsoft.com/office/drawing/2014/main" id="{9055B170-0647-1FA8-AC59-731C63C4ED9C}"/>
              </a:ext>
            </a:extLst>
          </p:cNvPr>
          <p:cNvSpPr/>
          <p:nvPr/>
        </p:nvSpPr>
        <p:spPr>
          <a:xfrm>
            <a:off x="4200015" y="542942"/>
            <a:ext cx="1080000" cy="360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Composant non exploité</a:t>
            </a:r>
          </a:p>
        </p:txBody>
      </p:sp>
      <p:sp>
        <p:nvSpPr>
          <p:cNvPr id="213" name="BA_T2">
            <a:extLst>
              <a:ext uri="{FF2B5EF4-FFF2-40B4-BE49-F238E27FC236}">
                <a16:creationId xmlns:a16="http://schemas.microsoft.com/office/drawing/2014/main" id="{C8D1E7E2-6B32-9D31-862E-C7A8AE7D728F}"/>
              </a:ext>
            </a:extLst>
          </p:cNvPr>
          <p:cNvSpPr/>
          <p:nvPr/>
        </p:nvSpPr>
        <p:spPr>
          <a:xfrm>
            <a:off x="9490384" y="3696185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T2</a:t>
            </a:r>
            <a:endParaRPr kumimoji="0" lang="fr-FR" sz="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KConnect</a:t>
            </a: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 MUTU</a:t>
            </a:r>
          </a:p>
        </p:txBody>
      </p:sp>
      <p:sp>
        <p:nvSpPr>
          <p:cNvPr id="214" name="BA_T3">
            <a:extLst>
              <a:ext uri="{FF2B5EF4-FFF2-40B4-BE49-F238E27FC236}">
                <a16:creationId xmlns:a16="http://schemas.microsoft.com/office/drawing/2014/main" id="{796FEB16-D4D9-A88D-636D-C99AB081B13D}"/>
              </a:ext>
            </a:extLst>
          </p:cNvPr>
          <p:cNvSpPr/>
          <p:nvPr/>
        </p:nvSpPr>
        <p:spPr>
          <a:xfrm>
            <a:off x="10160477" y="3696185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T3</a:t>
            </a:r>
            <a:endParaRPr kumimoji="0" lang="fr-FR" sz="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KConnect</a:t>
            </a: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 CAA</a:t>
            </a:r>
          </a:p>
        </p:txBody>
      </p:sp>
      <p:sp>
        <p:nvSpPr>
          <p:cNvPr id="215" name="BA_F8">
            <a:extLst>
              <a:ext uri="{FF2B5EF4-FFF2-40B4-BE49-F238E27FC236}">
                <a16:creationId xmlns:a16="http://schemas.microsoft.com/office/drawing/2014/main" id="{8EF62E9F-7C11-E3E6-0B32-A15267D9C85A}"/>
              </a:ext>
            </a:extLst>
          </p:cNvPr>
          <p:cNvSpPr/>
          <p:nvPr/>
        </p:nvSpPr>
        <p:spPr>
          <a:xfrm>
            <a:off x="8803280" y="2047150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F8</a:t>
            </a:r>
            <a:endParaRPr kumimoji="0" lang="fr-FR" sz="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API MOOP</a:t>
            </a:r>
          </a:p>
        </p:txBody>
      </p:sp>
      <p:sp>
        <p:nvSpPr>
          <p:cNvPr id="216" name="Gr_ETL">
            <a:extLst>
              <a:ext uri="{FF2B5EF4-FFF2-40B4-BE49-F238E27FC236}">
                <a16:creationId xmlns:a16="http://schemas.microsoft.com/office/drawing/2014/main" id="{F5FBE61F-C7F0-990A-D392-DB7B9AC60A1C}"/>
              </a:ext>
            </a:extLst>
          </p:cNvPr>
          <p:cNvSpPr/>
          <p:nvPr/>
        </p:nvSpPr>
        <p:spPr>
          <a:xfrm>
            <a:off x="1617823" y="2849127"/>
            <a:ext cx="862923" cy="561929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  <a:effectLst>
            <a:outerShdw blurRad="50800" dist="38100" dir="2700000" algn="ctr" rotWithShape="0">
              <a:schemeClr val="tx1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/>
            </a:endParaRPr>
          </a:p>
        </p:txBody>
      </p:sp>
      <p:sp>
        <p:nvSpPr>
          <p:cNvPr id="217" name="ZT_ETL">
            <a:extLst>
              <a:ext uri="{FF2B5EF4-FFF2-40B4-BE49-F238E27FC236}">
                <a16:creationId xmlns:a16="http://schemas.microsoft.com/office/drawing/2014/main" id="{00D492AC-2272-2F33-5159-D2A8FF1A457F}"/>
              </a:ext>
            </a:extLst>
          </p:cNvPr>
          <p:cNvSpPr txBox="1"/>
          <p:nvPr/>
        </p:nvSpPr>
        <p:spPr>
          <a:xfrm>
            <a:off x="1611935" y="2858784"/>
            <a:ext cx="898650" cy="246221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ETL</a:t>
            </a:r>
          </a:p>
        </p:txBody>
      </p:sp>
      <p:sp>
        <p:nvSpPr>
          <p:cNvPr id="218" name="BA_PWC2">
            <a:extLst>
              <a:ext uri="{FF2B5EF4-FFF2-40B4-BE49-F238E27FC236}">
                <a16:creationId xmlns:a16="http://schemas.microsoft.com/office/drawing/2014/main" id="{83840F02-1FC6-861A-6223-105E5C740645}"/>
              </a:ext>
            </a:extLst>
          </p:cNvPr>
          <p:cNvSpPr/>
          <p:nvPr/>
        </p:nvSpPr>
        <p:spPr>
          <a:xfrm>
            <a:off x="1715817" y="3076593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PWC2</a:t>
            </a:r>
            <a:endParaRPr kumimoji="0" lang="fr-FR" sz="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ETL PREDICA</a:t>
            </a:r>
          </a:p>
        </p:txBody>
      </p:sp>
      <p:sp>
        <p:nvSpPr>
          <p:cNvPr id="219" name="Légende_Date1">
            <a:extLst>
              <a:ext uri="{FF2B5EF4-FFF2-40B4-BE49-F238E27FC236}">
                <a16:creationId xmlns:a16="http://schemas.microsoft.com/office/drawing/2014/main" id="{A0D62AF4-8F49-BDBA-D321-CF1EE363A85B}"/>
              </a:ext>
            </a:extLst>
          </p:cNvPr>
          <p:cNvSpPr txBox="1"/>
          <p:nvPr/>
        </p:nvSpPr>
        <p:spPr>
          <a:xfrm rot="19102564">
            <a:off x="7647306" y="559123"/>
            <a:ext cx="927160" cy="369332"/>
          </a:xfrm>
          <a:prstGeom prst="rect">
            <a:avLst/>
          </a:prstGeom>
          <a:noFill/>
          <a:ln cap="flat">
            <a:noFill/>
            <a:prstDash val="solid"/>
          </a:ln>
          <a:effectLst>
            <a:softEdge rad="0"/>
          </a:effectLst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900" b="0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Date de </a:t>
            </a:r>
            <a:r>
              <a:rPr kumimoji="0" lang="fr-FR" sz="900" b="0" i="0" u="none" strike="noStrike" kern="1200" cap="none" spc="0" normalizeH="0" baseline="0" noProof="0" dirty="0" err="1">
                <a:ln>
                  <a:noFill/>
                </a:ln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MeP</a:t>
            </a:r>
            <a:r>
              <a:rPr kumimoji="0" lang="fr-FR" sz="900" b="0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 prévue</a:t>
            </a:r>
          </a:p>
        </p:txBody>
      </p:sp>
      <p:sp>
        <p:nvSpPr>
          <p:cNvPr id="222" name="Légende_Date2">
            <a:extLst>
              <a:ext uri="{FF2B5EF4-FFF2-40B4-BE49-F238E27FC236}">
                <a16:creationId xmlns:a16="http://schemas.microsoft.com/office/drawing/2014/main" id="{EA902E38-4DE3-DC21-1D88-D523F8A6D29C}"/>
              </a:ext>
            </a:extLst>
          </p:cNvPr>
          <p:cNvSpPr txBox="1"/>
          <p:nvPr/>
        </p:nvSpPr>
        <p:spPr>
          <a:xfrm rot="19102564">
            <a:off x="8343008" y="568799"/>
            <a:ext cx="927160" cy="369332"/>
          </a:xfrm>
          <a:prstGeom prst="rect">
            <a:avLst/>
          </a:prstGeom>
          <a:noFill/>
          <a:ln cap="flat">
            <a:noFill/>
            <a:prstDash val="solid"/>
          </a:ln>
          <a:effectLst>
            <a:softEdge rad="0"/>
          </a:effectLst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900" b="0" i="0" u="none" strike="noStrike" kern="1200" cap="none" spc="0" normalizeH="0" baseline="0" noProof="0" dirty="0">
                <a:ln>
                  <a:noFill/>
                </a:ln>
                <a:solidFill>
                  <a:srgbClr val="70AD4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Date de </a:t>
            </a:r>
            <a:r>
              <a:rPr kumimoji="0" lang="fr-FR" sz="900" b="0" i="0" u="none" strike="noStrike" kern="1200" cap="none" spc="0" normalizeH="0" baseline="0" noProof="0" dirty="0" err="1">
                <a:ln>
                  <a:noFill/>
                </a:ln>
                <a:solidFill>
                  <a:srgbClr val="70AD4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MeP</a:t>
            </a:r>
            <a:r>
              <a:rPr kumimoji="0" lang="fr-FR" sz="900" b="0" i="0" u="none" strike="noStrike" kern="1200" cap="none" spc="0" normalizeH="0" baseline="0" noProof="0" dirty="0">
                <a:ln>
                  <a:noFill/>
                </a:ln>
                <a:solidFill>
                  <a:srgbClr val="70AD4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 effective</a:t>
            </a:r>
          </a:p>
        </p:txBody>
      </p:sp>
      <p:sp>
        <p:nvSpPr>
          <p:cNvPr id="223" name="Gr_CATS">
            <a:extLst>
              <a:ext uri="{FF2B5EF4-FFF2-40B4-BE49-F238E27FC236}">
                <a16:creationId xmlns:a16="http://schemas.microsoft.com/office/drawing/2014/main" id="{37F8C235-693B-2384-7E55-1776BC89E12D}"/>
              </a:ext>
            </a:extLst>
          </p:cNvPr>
          <p:cNvSpPr/>
          <p:nvPr/>
        </p:nvSpPr>
        <p:spPr>
          <a:xfrm>
            <a:off x="447324" y="5119889"/>
            <a:ext cx="5579420" cy="1254012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4" name="ZT_CATS">
            <a:extLst>
              <a:ext uri="{FF2B5EF4-FFF2-40B4-BE49-F238E27FC236}">
                <a16:creationId xmlns:a16="http://schemas.microsoft.com/office/drawing/2014/main" id="{90BB3BBC-1815-E3BC-8BF0-3DF841B1E95A}"/>
              </a:ext>
            </a:extLst>
          </p:cNvPr>
          <p:cNvSpPr txBox="1"/>
          <p:nvPr/>
        </p:nvSpPr>
        <p:spPr>
          <a:xfrm>
            <a:off x="370835" y="5083258"/>
            <a:ext cx="5409144" cy="246221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CA-TS</a:t>
            </a:r>
            <a:endParaRPr kumimoji="0" lang="fr-FR" sz="1000" b="1" i="1" u="none" strike="noStrike" kern="1200" cap="none" spc="0" normalizeH="0" baseline="0" noProof="0" dirty="0">
              <a:ln>
                <a:noFill/>
              </a:ln>
              <a:solidFill>
                <a:srgbClr val="7030A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5" name="BA_PDI9">
            <a:extLst>
              <a:ext uri="{FF2B5EF4-FFF2-40B4-BE49-F238E27FC236}">
                <a16:creationId xmlns:a16="http://schemas.microsoft.com/office/drawing/2014/main" id="{B3D271A6-9BAE-980C-3462-60156B7FB99D}"/>
              </a:ext>
            </a:extLst>
          </p:cNvPr>
          <p:cNvSpPr/>
          <p:nvPr/>
        </p:nvSpPr>
        <p:spPr>
          <a:xfrm>
            <a:off x="506780" y="5666800"/>
            <a:ext cx="648000" cy="288000"/>
          </a:xfrm>
          <a:prstGeom prst="roundRect">
            <a:avLst/>
          </a:prstGeom>
          <a:solidFill>
            <a:srgbClr val="B6D3EC"/>
          </a:solidFill>
          <a:ln w="6350"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PDI9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6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/>
              </a:rPr>
              <a:t>-</a:t>
            </a:r>
            <a:endParaRPr kumimoji="0" lang="fr-FR" sz="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6" name="BA_XConnect">
            <a:extLst>
              <a:ext uri="{FF2B5EF4-FFF2-40B4-BE49-F238E27FC236}">
                <a16:creationId xmlns:a16="http://schemas.microsoft.com/office/drawing/2014/main" id="{0255FD9F-2B5D-A284-EE46-B7171388C29B}"/>
              </a:ext>
            </a:extLst>
          </p:cNvPr>
          <p:cNvSpPr/>
          <p:nvPr/>
        </p:nvSpPr>
        <p:spPr>
          <a:xfrm>
            <a:off x="1189563" y="5663009"/>
            <a:ext cx="648000" cy="288000"/>
          </a:xfrm>
          <a:prstGeom prst="roundRect">
            <a:avLst/>
          </a:prstGeom>
          <a:solidFill>
            <a:srgbClr val="B6D3EC"/>
          </a:solidFill>
          <a:ln w="6350"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Xconnect</a:t>
            </a:r>
            <a:endParaRPr kumimoji="0" lang="fr-FR" sz="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6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/>
              </a:rPr>
              <a:t>-</a:t>
            </a:r>
            <a:endParaRPr kumimoji="0" lang="fr-FR" sz="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7" name="BA_SIMM">
            <a:extLst>
              <a:ext uri="{FF2B5EF4-FFF2-40B4-BE49-F238E27FC236}">
                <a16:creationId xmlns:a16="http://schemas.microsoft.com/office/drawing/2014/main" id="{F0E34097-35FC-1FF0-EEFF-0B262F2F9728}"/>
              </a:ext>
            </a:extLst>
          </p:cNvPr>
          <p:cNvSpPr/>
          <p:nvPr/>
        </p:nvSpPr>
        <p:spPr>
          <a:xfrm>
            <a:off x="2557693" y="5660385"/>
            <a:ext cx="648000" cy="288000"/>
          </a:xfrm>
          <a:prstGeom prst="roundRect">
            <a:avLst/>
          </a:prstGeom>
          <a:solidFill>
            <a:srgbClr val="B6D3EC"/>
          </a:solidFill>
          <a:ln w="6350"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SIMM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6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/>
              </a:rPr>
              <a:t>-</a:t>
            </a:r>
            <a:endParaRPr kumimoji="0" lang="fr-FR" sz="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8" name="BA_BAM">
            <a:extLst>
              <a:ext uri="{FF2B5EF4-FFF2-40B4-BE49-F238E27FC236}">
                <a16:creationId xmlns:a16="http://schemas.microsoft.com/office/drawing/2014/main" id="{209D6CEA-B5CD-2BC8-571A-3B47DEEED5AB}"/>
              </a:ext>
            </a:extLst>
          </p:cNvPr>
          <p:cNvSpPr/>
          <p:nvPr/>
        </p:nvSpPr>
        <p:spPr>
          <a:xfrm>
            <a:off x="2833493" y="5340532"/>
            <a:ext cx="648000" cy="288000"/>
          </a:xfrm>
          <a:prstGeom prst="roundRect">
            <a:avLst/>
          </a:prstGeom>
          <a:solidFill>
            <a:srgbClr val="B6D3EC"/>
          </a:solidFill>
          <a:ln w="6350"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BAM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6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/>
              </a:rPr>
              <a:t>-</a:t>
            </a:r>
            <a:endParaRPr kumimoji="0" lang="fr-FR" sz="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9" name="BA_RAC">
            <a:extLst>
              <a:ext uri="{FF2B5EF4-FFF2-40B4-BE49-F238E27FC236}">
                <a16:creationId xmlns:a16="http://schemas.microsoft.com/office/drawing/2014/main" id="{46FED552-11A0-6618-4D9C-A77A0E499163}"/>
              </a:ext>
            </a:extLst>
          </p:cNvPr>
          <p:cNvSpPr/>
          <p:nvPr/>
        </p:nvSpPr>
        <p:spPr>
          <a:xfrm>
            <a:off x="4892893" y="5338051"/>
            <a:ext cx="648000" cy="288000"/>
          </a:xfrm>
          <a:prstGeom prst="roundRect">
            <a:avLst/>
          </a:prstGeom>
          <a:solidFill>
            <a:srgbClr val="B6D3EC"/>
          </a:solidFill>
          <a:ln w="6350"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RAC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6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/>
              </a:rPr>
              <a:t>-</a:t>
            </a:r>
            <a:endParaRPr kumimoji="0" lang="fr-FR" sz="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0" name="BA_DétContratNatifMB">
            <a:extLst>
              <a:ext uri="{FF2B5EF4-FFF2-40B4-BE49-F238E27FC236}">
                <a16:creationId xmlns:a16="http://schemas.microsoft.com/office/drawing/2014/main" id="{B33AECC4-7106-06C6-634F-A9C78C4BD14A}"/>
              </a:ext>
            </a:extLst>
          </p:cNvPr>
          <p:cNvSpPr/>
          <p:nvPr/>
        </p:nvSpPr>
        <p:spPr>
          <a:xfrm>
            <a:off x="506780" y="5329301"/>
            <a:ext cx="1326281" cy="288000"/>
          </a:xfrm>
          <a:prstGeom prst="roundRect">
            <a:avLst/>
          </a:prstGeom>
          <a:solidFill>
            <a:srgbClr val="B6D3EC"/>
          </a:solidFill>
          <a:ln w="6350"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Dét</a:t>
            </a: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. Contrat natif MB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6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/>
              </a:rPr>
              <a:t>-</a:t>
            </a:r>
            <a:endParaRPr kumimoji="0" lang="fr-FR" sz="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1" name="BA_BPM">
            <a:extLst>
              <a:ext uri="{FF2B5EF4-FFF2-40B4-BE49-F238E27FC236}">
                <a16:creationId xmlns:a16="http://schemas.microsoft.com/office/drawing/2014/main" id="{E0A68206-5568-4752-E2E9-CDD1CF6DF1BA}"/>
              </a:ext>
            </a:extLst>
          </p:cNvPr>
          <p:cNvSpPr/>
          <p:nvPr/>
        </p:nvSpPr>
        <p:spPr>
          <a:xfrm>
            <a:off x="1875772" y="5663009"/>
            <a:ext cx="648000" cy="288000"/>
          </a:xfrm>
          <a:prstGeom prst="roundRect">
            <a:avLst/>
          </a:prstGeom>
          <a:solidFill>
            <a:srgbClr val="B6D3EC"/>
          </a:solidFill>
          <a:ln w="6350"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BPM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6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/>
              </a:rPr>
              <a:t>-</a:t>
            </a:r>
            <a:endParaRPr kumimoji="0" lang="fr-FR" sz="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2" name="BA_APX9">
            <a:extLst>
              <a:ext uri="{FF2B5EF4-FFF2-40B4-BE49-F238E27FC236}">
                <a16:creationId xmlns:a16="http://schemas.microsoft.com/office/drawing/2014/main" id="{ED91B050-FB7C-9CE3-2091-ABBB8B4DC1B2}"/>
              </a:ext>
            </a:extLst>
          </p:cNvPr>
          <p:cNvSpPr/>
          <p:nvPr/>
        </p:nvSpPr>
        <p:spPr>
          <a:xfrm>
            <a:off x="511818" y="6003252"/>
            <a:ext cx="648000" cy="288000"/>
          </a:xfrm>
          <a:prstGeom prst="roundRect">
            <a:avLst/>
          </a:prstGeom>
          <a:solidFill>
            <a:srgbClr val="B6D3EC"/>
          </a:solidFill>
          <a:ln w="6350"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APX9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6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/>
              </a:rPr>
              <a:t>-</a:t>
            </a:r>
            <a:endParaRPr kumimoji="0" lang="fr-FR" sz="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3" name="BA_HUB">
            <a:extLst>
              <a:ext uri="{FF2B5EF4-FFF2-40B4-BE49-F238E27FC236}">
                <a16:creationId xmlns:a16="http://schemas.microsoft.com/office/drawing/2014/main" id="{9307EBEE-CA80-B5AF-EF52-B5B19FC1F97B}"/>
              </a:ext>
            </a:extLst>
          </p:cNvPr>
          <p:cNvSpPr/>
          <p:nvPr/>
        </p:nvSpPr>
        <p:spPr>
          <a:xfrm>
            <a:off x="3242082" y="5660385"/>
            <a:ext cx="648000" cy="288000"/>
          </a:xfrm>
          <a:prstGeom prst="roundRect">
            <a:avLst/>
          </a:prstGeom>
          <a:solidFill>
            <a:srgbClr val="B6D3EC"/>
          </a:solidFill>
          <a:ln w="6350"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HUB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6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/>
              </a:rPr>
              <a:t>-</a:t>
            </a:r>
            <a:endParaRPr kumimoji="0" lang="fr-FR" sz="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4" name="BA_NPC">
            <a:extLst>
              <a:ext uri="{FF2B5EF4-FFF2-40B4-BE49-F238E27FC236}">
                <a16:creationId xmlns:a16="http://schemas.microsoft.com/office/drawing/2014/main" id="{E5F41671-0E1C-3C72-BA59-57ACDF6E8022}"/>
              </a:ext>
            </a:extLst>
          </p:cNvPr>
          <p:cNvSpPr/>
          <p:nvPr/>
        </p:nvSpPr>
        <p:spPr>
          <a:xfrm>
            <a:off x="3515693" y="5337169"/>
            <a:ext cx="648000" cy="288000"/>
          </a:xfrm>
          <a:prstGeom prst="roundRect">
            <a:avLst/>
          </a:prstGeom>
          <a:solidFill>
            <a:srgbClr val="B6D3EC"/>
          </a:solidFill>
          <a:ln w="6350"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NPC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6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/>
              </a:rPr>
              <a:t>-</a:t>
            </a:r>
            <a:endParaRPr kumimoji="0" lang="fr-FR" sz="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5" name="BA_Microservices">
            <a:extLst>
              <a:ext uri="{FF2B5EF4-FFF2-40B4-BE49-F238E27FC236}">
                <a16:creationId xmlns:a16="http://schemas.microsoft.com/office/drawing/2014/main" id="{60074380-DAE8-2E40-80FF-9729BDC518C5}"/>
              </a:ext>
            </a:extLst>
          </p:cNvPr>
          <p:cNvSpPr/>
          <p:nvPr/>
        </p:nvSpPr>
        <p:spPr>
          <a:xfrm>
            <a:off x="1867224" y="5336000"/>
            <a:ext cx="925408" cy="288000"/>
          </a:xfrm>
          <a:prstGeom prst="roundRect">
            <a:avLst/>
          </a:prstGeom>
          <a:solidFill>
            <a:srgbClr val="B6D3EC"/>
          </a:solidFill>
          <a:ln w="6350"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Microservices</a:t>
            </a:r>
            <a:endParaRPr kumimoji="0" lang="fr-FR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6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/>
              </a:rPr>
              <a:t>-</a:t>
            </a:r>
            <a:endParaRPr kumimoji="0" lang="fr-FR" sz="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6" name="BA_SIG9">
            <a:extLst>
              <a:ext uri="{FF2B5EF4-FFF2-40B4-BE49-F238E27FC236}">
                <a16:creationId xmlns:a16="http://schemas.microsoft.com/office/drawing/2014/main" id="{3742F49B-3D57-B79D-E5DC-CA57EDEADDD1}"/>
              </a:ext>
            </a:extLst>
          </p:cNvPr>
          <p:cNvSpPr/>
          <p:nvPr/>
        </p:nvSpPr>
        <p:spPr>
          <a:xfrm>
            <a:off x="4203138" y="5331299"/>
            <a:ext cx="648000" cy="288000"/>
          </a:xfrm>
          <a:prstGeom prst="roundRect">
            <a:avLst/>
          </a:prstGeom>
          <a:solidFill>
            <a:srgbClr val="B6D3EC"/>
          </a:solidFill>
          <a:ln w="6350"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SIG9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6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/>
              </a:rPr>
              <a:t>-</a:t>
            </a:r>
            <a:endParaRPr kumimoji="0" lang="fr-FR" sz="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7" name="Gr_MVS">
            <a:extLst>
              <a:ext uri="{FF2B5EF4-FFF2-40B4-BE49-F238E27FC236}">
                <a16:creationId xmlns:a16="http://schemas.microsoft.com/office/drawing/2014/main" id="{97AEB7D5-93DF-1897-96CC-C07B83ED0868}"/>
              </a:ext>
            </a:extLst>
          </p:cNvPr>
          <p:cNvSpPr/>
          <p:nvPr/>
        </p:nvSpPr>
        <p:spPr>
          <a:xfrm>
            <a:off x="560497" y="1111645"/>
            <a:ext cx="2901105" cy="1661382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  <a:effectLst>
            <a:outerShdw blurRad="50800" dist="38100" dir="2700000" algn="ctr" rotWithShape="0">
              <a:schemeClr val="tx1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/>
            </a:endParaRPr>
          </a:p>
        </p:txBody>
      </p:sp>
      <p:sp>
        <p:nvSpPr>
          <p:cNvPr id="238" name="BA_CICS_LCL">
            <a:extLst>
              <a:ext uri="{FF2B5EF4-FFF2-40B4-BE49-F238E27FC236}">
                <a16:creationId xmlns:a16="http://schemas.microsoft.com/office/drawing/2014/main" id="{B9103D60-5F9D-9864-E591-E13B84B2AFB6}"/>
              </a:ext>
            </a:extLst>
          </p:cNvPr>
          <p:cNvSpPr/>
          <p:nvPr/>
        </p:nvSpPr>
        <p:spPr>
          <a:xfrm>
            <a:off x="623669" y="1641943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CICS</a:t>
            </a:r>
          </a:p>
        </p:txBody>
      </p:sp>
      <p:sp>
        <p:nvSpPr>
          <p:cNvPr id="239" name="BA_DB2_LCL">
            <a:extLst>
              <a:ext uri="{FF2B5EF4-FFF2-40B4-BE49-F238E27FC236}">
                <a16:creationId xmlns:a16="http://schemas.microsoft.com/office/drawing/2014/main" id="{8DCF28F9-BEB9-C31E-4F9E-63940D512322}"/>
              </a:ext>
            </a:extLst>
          </p:cNvPr>
          <p:cNvSpPr/>
          <p:nvPr/>
        </p:nvSpPr>
        <p:spPr>
          <a:xfrm>
            <a:off x="1307275" y="1641222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DB2</a:t>
            </a:r>
          </a:p>
        </p:txBody>
      </p:sp>
      <p:sp>
        <p:nvSpPr>
          <p:cNvPr id="240" name="ZT_MVS">
            <a:extLst>
              <a:ext uri="{FF2B5EF4-FFF2-40B4-BE49-F238E27FC236}">
                <a16:creationId xmlns:a16="http://schemas.microsoft.com/office/drawing/2014/main" id="{058B56DA-2CA8-1AE9-B08D-1610B97733B4}"/>
              </a:ext>
            </a:extLst>
          </p:cNvPr>
          <p:cNvSpPr txBox="1"/>
          <p:nvPr/>
        </p:nvSpPr>
        <p:spPr>
          <a:xfrm>
            <a:off x="560496" y="1111645"/>
            <a:ext cx="2901106" cy="246221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MVS Z/OS (</a:t>
            </a:r>
            <a:r>
              <a:rPr kumimoji="0" lang="fr-FR" sz="1000" b="1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Ingenium</a:t>
            </a:r>
            <a:r>
              <a:rPr kumimoji="0" lang="fr-FR" sz="1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)</a:t>
            </a:r>
            <a:endParaRPr kumimoji="0" lang="fr-FR" sz="1000" b="1" i="1" u="none" strike="noStrike" kern="1200" cap="none" spc="0" normalizeH="0" baseline="0" noProof="0" dirty="0">
              <a:ln>
                <a:noFill/>
              </a:ln>
              <a:solidFill>
                <a:srgbClr val="ED7D3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1" name="BA_ING_CA">
            <a:extLst>
              <a:ext uri="{FF2B5EF4-FFF2-40B4-BE49-F238E27FC236}">
                <a16:creationId xmlns:a16="http://schemas.microsoft.com/office/drawing/2014/main" id="{ECD098FD-3509-6A0C-296F-8C5AD1AA0F21}"/>
              </a:ext>
            </a:extLst>
          </p:cNvPr>
          <p:cNvSpPr/>
          <p:nvPr/>
        </p:nvSpPr>
        <p:spPr>
          <a:xfrm>
            <a:off x="2043446" y="1970146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INVI/VC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Ingenium</a:t>
            </a: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 CA</a:t>
            </a:r>
          </a:p>
        </p:txBody>
      </p:sp>
      <p:sp>
        <p:nvSpPr>
          <p:cNvPr id="242" name="BA_PE_CA">
            <a:extLst>
              <a:ext uri="{FF2B5EF4-FFF2-40B4-BE49-F238E27FC236}">
                <a16:creationId xmlns:a16="http://schemas.microsoft.com/office/drawing/2014/main" id="{96EE45F7-283E-4F66-50EA-424703CA4480}"/>
              </a:ext>
            </a:extLst>
          </p:cNvPr>
          <p:cNvSpPr/>
          <p:nvPr/>
        </p:nvSpPr>
        <p:spPr>
          <a:xfrm>
            <a:off x="2716487" y="1971824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PE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Base Pers CA</a:t>
            </a:r>
          </a:p>
        </p:txBody>
      </p:sp>
      <p:sp>
        <p:nvSpPr>
          <p:cNvPr id="243" name="BA_Autre_CA">
            <a:extLst>
              <a:ext uri="{FF2B5EF4-FFF2-40B4-BE49-F238E27FC236}">
                <a16:creationId xmlns:a16="http://schemas.microsoft.com/office/drawing/2014/main" id="{6792A1CE-9448-9FB9-3AE7-8D57F6A31AB4}"/>
              </a:ext>
            </a:extLst>
          </p:cNvPr>
          <p:cNvSpPr/>
          <p:nvPr/>
        </p:nvSpPr>
        <p:spPr>
          <a:xfrm>
            <a:off x="2377796" y="2309491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…</a:t>
            </a:r>
          </a:p>
        </p:txBody>
      </p:sp>
      <p:sp>
        <p:nvSpPr>
          <p:cNvPr id="244" name="BA_ING_LCL">
            <a:extLst>
              <a:ext uri="{FF2B5EF4-FFF2-40B4-BE49-F238E27FC236}">
                <a16:creationId xmlns:a16="http://schemas.microsoft.com/office/drawing/2014/main" id="{F903B4DF-7A57-6563-0740-85CEB052F4E2}"/>
              </a:ext>
            </a:extLst>
          </p:cNvPr>
          <p:cNvSpPr/>
          <p:nvPr/>
        </p:nvSpPr>
        <p:spPr>
          <a:xfrm>
            <a:off x="619469" y="1964817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INVI/VC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Ingenium</a:t>
            </a: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 LCL</a:t>
            </a:r>
          </a:p>
        </p:txBody>
      </p:sp>
      <p:sp>
        <p:nvSpPr>
          <p:cNvPr id="245" name="BA_PE_LCL">
            <a:extLst>
              <a:ext uri="{FF2B5EF4-FFF2-40B4-BE49-F238E27FC236}">
                <a16:creationId xmlns:a16="http://schemas.microsoft.com/office/drawing/2014/main" id="{61DDEEA4-E09D-268D-9219-93199898A451}"/>
              </a:ext>
            </a:extLst>
          </p:cNvPr>
          <p:cNvSpPr/>
          <p:nvPr/>
        </p:nvSpPr>
        <p:spPr>
          <a:xfrm>
            <a:off x="1305439" y="1963152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PE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Base Pers LCL</a:t>
            </a:r>
          </a:p>
        </p:txBody>
      </p:sp>
      <p:sp>
        <p:nvSpPr>
          <p:cNvPr id="246" name="BA_Autre_LCL">
            <a:extLst>
              <a:ext uri="{FF2B5EF4-FFF2-40B4-BE49-F238E27FC236}">
                <a16:creationId xmlns:a16="http://schemas.microsoft.com/office/drawing/2014/main" id="{68CCD58A-EB0A-A7BF-F763-CC20C55F3086}"/>
              </a:ext>
            </a:extLst>
          </p:cNvPr>
          <p:cNvSpPr/>
          <p:nvPr/>
        </p:nvSpPr>
        <p:spPr>
          <a:xfrm>
            <a:off x="1010215" y="2285082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…</a:t>
            </a:r>
          </a:p>
        </p:txBody>
      </p:sp>
      <p:cxnSp>
        <p:nvCxnSpPr>
          <p:cNvPr id="247" name="Connecteur droit">
            <a:extLst>
              <a:ext uri="{FF2B5EF4-FFF2-40B4-BE49-F238E27FC236}">
                <a16:creationId xmlns:a16="http://schemas.microsoft.com/office/drawing/2014/main" id="{66811290-FE48-F44C-231A-91DCE47F0460}"/>
              </a:ext>
            </a:extLst>
          </p:cNvPr>
          <p:cNvCxnSpPr/>
          <p:nvPr/>
        </p:nvCxnSpPr>
        <p:spPr>
          <a:xfrm>
            <a:off x="1984365" y="1430388"/>
            <a:ext cx="4993" cy="1220450"/>
          </a:xfrm>
          <a:prstGeom prst="line">
            <a:avLst/>
          </a:prstGeom>
          <a:ln w="9525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8" name="ZT_CA">
            <a:extLst>
              <a:ext uri="{FF2B5EF4-FFF2-40B4-BE49-F238E27FC236}">
                <a16:creationId xmlns:a16="http://schemas.microsoft.com/office/drawing/2014/main" id="{27E027DA-06C2-2265-A159-DB21D62AEDD7}"/>
              </a:ext>
            </a:extLst>
          </p:cNvPr>
          <p:cNvSpPr txBox="1"/>
          <p:nvPr/>
        </p:nvSpPr>
        <p:spPr>
          <a:xfrm>
            <a:off x="2418813" y="1371697"/>
            <a:ext cx="551086" cy="246221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CA</a:t>
            </a:r>
            <a:endParaRPr kumimoji="0" lang="fr-FR" sz="1000" b="1" i="1" u="none" strike="noStrike" kern="1200" cap="none" spc="0" normalizeH="0" baseline="0" noProof="0" dirty="0">
              <a:ln>
                <a:noFill/>
              </a:ln>
              <a:solidFill>
                <a:srgbClr val="ED7D3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9" name="ZT_LCL">
            <a:extLst>
              <a:ext uri="{FF2B5EF4-FFF2-40B4-BE49-F238E27FC236}">
                <a16:creationId xmlns:a16="http://schemas.microsoft.com/office/drawing/2014/main" id="{815AE1D3-E0E1-0876-AAD8-5B1E23111CD5}"/>
              </a:ext>
            </a:extLst>
          </p:cNvPr>
          <p:cNvSpPr txBox="1"/>
          <p:nvPr/>
        </p:nvSpPr>
        <p:spPr>
          <a:xfrm>
            <a:off x="1032399" y="1378099"/>
            <a:ext cx="551086" cy="246221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LCL</a:t>
            </a:r>
            <a:endParaRPr kumimoji="0" lang="fr-FR" sz="1000" b="1" i="1" u="none" strike="noStrike" kern="1200" cap="none" spc="0" normalizeH="0" baseline="0" noProof="0" dirty="0">
              <a:ln>
                <a:noFill/>
              </a:ln>
              <a:solidFill>
                <a:srgbClr val="ED7D3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0" name="BA_CICS_CA">
            <a:extLst>
              <a:ext uri="{FF2B5EF4-FFF2-40B4-BE49-F238E27FC236}">
                <a16:creationId xmlns:a16="http://schemas.microsoft.com/office/drawing/2014/main" id="{A6E4D1A6-1825-4B14-776F-2C67C0964557}"/>
              </a:ext>
            </a:extLst>
          </p:cNvPr>
          <p:cNvSpPr/>
          <p:nvPr/>
        </p:nvSpPr>
        <p:spPr>
          <a:xfrm>
            <a:off x="2021573" y="1646459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CICS</a:t>
            </a:r>
          </a:p>
        </p:txBody>
      </p:sp>
      <p:sp>
        <p:nvSpPr>
          <p:cNvPr id="251" name="BA_DB2_CA">
            <a:extLst>
              <a:ext uri="{FF2B5EF4-FFF2-40B4-BE49-F238E27FC236}">
                <a16:creationId xmlns:a16="http://schemas.microsoft.com/office/drawing/2014/main" id="{90D2A5BE-B2B3-CAAF-86D6-5B4DAAF56CF9}"/>
              </a:ext>
            </a:extLst>
          </p:cNvPr>
          <p:cNvSpPr/>
          <p:nvPr/>
        </p:nvSpPr>
        <p:spPr>
          <a:xfrm>
            <a:off x="2717879" y="1645738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DB2</a:t>
            </a:r>
          </a:p>
        </p:txBody>
      </p:sp>
      <p:sp>
        <p:nvSpPr>
          <p:cNvPr id="252" name="BA_GG">
            <a:extLst>
              <a:ext uri="{FF2B5EF4-FFF2-40B4-BE49-F238E27FC236}">
                <a16:creationId xmlns:a16="http://schemas.microsoft.com/office/drawing/2014/main" id="{303063F2-FF27-CD65-B7CA-E34CBFFC80EF}"/>
              </a:ext>
            </a:extLst>
          </p:cNvPr>
          <p:cNvSpPr/>
          <p:nvPr/>
        </p:nvSpPr>
        <p:spPr>
          <a:xfrm>
            <a:off x="5540187" y="2498620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GG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Sim.Prév</a:t>
            </a: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. Décès</a:t>
            </a:r>
          </a:p>
        </p:txBody>
      </p:sp>
      <p:sp>
        <p:nvSpPr>
          <p:cNvPr id="253" name="BA_GH">
            <a:extLst>
              <a:ext uri="{FF2B5EF4-FFF2-40B4-BE49-F238E27FC236}">
                <a16:creationId xmlns:a16="http://schemas.microsoft.com/office/drawing/2014/main" id="{3CBB2FF8-4D45-3C00-7897-D9EDC7503D34}"/>
              </a:ext>
            </a:extLst>
          </p:cNvPr>
          <p:cNvSpPr/>
          <p:nvPr/>
        </p:nvSpPr>
        <p:spPr>
          <a:xfrm>
            <a:off x="6247379" y="2507699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GH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Moteur </a:t>
            </a:r>
            <a:r>
              <a:rPr kumimoji="0" lang="fr-FR" sz="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Epicaste</a:t>
            </a:r>
            <a:endParaRPr kumimoji="0" lang="fr-FR" sz="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4" name="Gr_Editique">
            <a:extLst>
              <a:ext uri="{FF2B5EF4-FFF2-40B4-BE49-F238E27FC236}">
                <a16:creationId xmlns:a16="http://schemas.microsoft.com/office/drawing/2014/main" id="{E11C8481-15BB-E4CE-F80B-098D3F646245}"/>
              </a:ext>
            </a:extLst>
          </p:cNvPr>
          <p:cNvSpPr/>
          <p:nvPr/>
        </p:nvSpPr>
        <p:spPr>
          <a:xfrm>
            <a:off x="6994566" y="3106138"/>
            <a:ext cx="754043" cy="61200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  <a:effectLst>
            <a:outerShdw blurRad="50800" dist="38100" dir="2700000" algn="ctr" rotWithShape="0">
              <a:schemeClr val="tx1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/>
            </a:endParaRPr>
          </a:p>
        </p:txBody>
      </p:sp>
      <p:sp>
        <p:nvSpPr>
          <p:cNvPr id="255" name="ZT_Editique">
            <a:extLst>
              <a:ext uri="{FF2B5EF4-FFF2-40B4-BE49-F238E27FC236}">
                <a16:creationId xmlns:a16="http://schemas.microsoft.com/office/drawing/2014/main" id="{05BBFCC2-242A-EB10-8D99-9332438C6F02}"/>
              </a:ext>
            </a:extLst>
          </p:cNvPr>
          <p:cNvSpPr txBox="1"/>
          <p:nvPr/>
        </p:nvSpPr>
        <p:spPr>
          <a:xfrm>
            <a:off x="6967388" y="3133723"/>
            <a:ext cx="781221" cy="246221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Editique</a:t>
            </a:r>
          </a:p>
        </p:txBody>
      </p:sp>
      <p:sp>
        <p:nvSpPr>
          <p:cNvPr id="256" name="BA_ONDM">
            <a:extLst>
              <a:ext uri="{FF2B5EF4-FFF2-40B4-BE49-F238E27FC236}">
                <a16:creationId xmlns:a16="http://schemas.microsoft.com/office/drawing/2014/main" id="{9FD4DF86-23E2-9AD1-825E-BBF266EE64B8}"/>
              </a:ext>
            </a:extLst>
          </p:cNvPr>
          <p:cNvSpPr/>
          <p:nvPr/>
        </p:nvSpPr>
        <p:spPr>
          <a:xfrm>
            <a:off x="7053165" y="3363079"/>
            <a:ext cx="648000" cy="276281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ONDM</a:t>
            </a:r>
            <a:endParaRPr kumimoji="0" lang="fr-FR" sz="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On </a:t>
            </a:r>
            <a:r>
              <a:rPr kumimoji="0" lang="fr-FR" sz="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Demand</a:t>
            </a:r>
            <a:endParaRPr kumimoji="0" lang="fr-FR" sz="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257" name="Groupe_Retour">
            <a:extLst>
              <a:ext uri="{FF2B5EF4-FFF2-40B4-BE49-F238E27FC236}">
                <a16:creationId xmlns:a16="http://schemas.microsoft.com/office/drawing/2014/main" id="{1E79C18E-3DE9-DD4C-1B5D-5F9F2580CDBF}"/>
              </a:ext>
            </a:extLst>
          </p:cNvPr>
          <p:cNvGrpSpPr/>
          <p:nvPr/>
        </p:nvGrpSpPr>
        <p:grpSpPr>
          <a:xfrm>
            <a:off x="0" y="0"/>
            <a:ext cx="1417975" cy="461665"/>
            <a:chOff x="0" y="0"/>
            <a:chExt cx="1417975" cy="461665"/>
          </a:xfrm>
        </p:grpSpPr>
        <p:sp>
          <p:nvSpPr>
            <p:cNvPr id="258" name="Rectangle 257">
              <a:hlinkClick r:id="rId3" action="ppaction://hlinksldjump"/>
              <a:extLst>
                <a:ext uri="{FF2B5EF4-FFF2-40B4-BE49-F238E27FC236}">
                  <a16:creationId xmlns:a16="http://schemas.microsoft.com/office/drawing/2014/main" id="{03C0028D-690A-BA32-B8AF-ADDC8F1DA909}"/>
                </a:ext>
              </a:extLst>
            </p:cNvPr>
            <p:cNvSpPr/>
            <p:nvPr/>
          </p:nvSpPr>
          <p:spPr>
            <a:xfrm>
              <a:off x="0" y="0"/>
              <a:ext cx="768479" cy="461665"/>
            </a:xfrm>
            <a:prstGeom prst="rect">
              <a:avLst/>
            </a:prstGeom>
            <a:noFill/>
          </p:spPr>
          <p:txBody>
            <a:bodyPr wrap="square" lIns="91440" tIns="45720" rIns="91440" bIns="45720" anchor="ctr">
              <a:spAutoFit/>
            </a:bodyPr>
            <a:lstStyle/>
            <a:p>
              <a:pPr algn="ctr"/>
              <a:r>
                <a:rPr lang="fr-FR" sz="2400" b="1" spc="50" dirty="0">
                  <a:ln w="9525" cmpd="sng">
                    <a:solidFill>
                      <a:schemeClr val="accent1"/>
                    </a:solidFill>
                    <a:prstDash val="solid"/>
                  </a:ln>
                  <a:solidFill>
                    <a:srgbClr val="70AD47">
                      <a:tint val="1000"/>
                    </a:srgbClr>
                  </a:solidFill>
                  <a:effectLst>
                    <a:glow rad="38100">
                      <a:schemeClr val="accent1">
                        <a:alpha val="40000"/>
                      </a:schemeClr>
                    </a:glow>
                  </a:effectLst>
                  <a:latin typeface="HoloLens MDL2 Assets" panose="050A0102010101010101" pitchFamily="18" charset="0"/>
                </a:rPr>
                <a:t></a:t>
              </a:r>
              <a:endParaRPr lang="fr-FR" sz="1400" dirty="0">
                <a:solidFill>
                  <a:srgbClr val="5B9BD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/>
              </a:endParaRPr>
            </a:p>
          </p:txBody>
        </p:sp>
        <p:sp>
          <p:nvSpPr>
            <p:cNvPr id="259" name="ZoneTexte 258">
              <a:extLst>
                <a:ext uri="{FF2B5EF4-FFF2-40B4-BE49-F238E27FC236}">
                  <a16:creationId xmlns:a16="http://schemas.microsoft.com/office/drawing/2014/main" id="{4B92C8B2-413C-B6D0-C529-A7FBA78E21E9}"/>
                </a:ext>
              </a:extLst>
            </p:cNvPr>
            <p:cNvSpPr txBox="1"/>
            <p:nvPr/>
          </p:nvSpPr>
          <p:spPr>
            <a:xfrm>
              <a:off x="525450" y="71273"/>
              <a:ext cx="89252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1400" dirty="0">
                  <a:solidFill>
                    <a:srgbClr val="5B9BD5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libri" panose="020F0502020204030204"/>
                </a:rPr>
                <a:t>Retour</a:t>
              </a:r>
              <a:endParaRPr lang="fr-FR" sz="1400" dirty="0"/>
            </a:p>
          </p:txBody>
        </p:sp>
      </p:grpSp>
      <p:sp>
        <p:nvSpPr>
          <p:cNvPr id="260" name="BA_PW">
            <a:extLst>
              <a:ext uri="{FF2B5EF4-FFF2-40B4-BE49-F238E27FC236}">
                <a16:creationId xmlns:a16="http://schemas.microsoft.com/office/drawing/2014/main" id="{C9B6BA29-2EF6-5D0D-324F-7FAA42D0FEED}"/>
              </a:ext>
            </a:extLst>
          </p:cNvPr>
          <p:cNvSpPr/>
          <p:nvPr/>
        </p:nvSpPr>
        <p:spPr>
          <a:xfrm>
            <a:off x="4517645" y="1819606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PW</a:t>
            </a:r>
            <a:br>
              <a:rPr lang="fr-FR" sz="10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/>
              </a:rPr>
            </a:b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SFC</a:t>
            </a:r>
          </a:p>
        </p:txBody>
      </p:sp>
      <p:sp>
        <p:nvSpPr>
          <p:cNvPr id="2" name="Étoile à 5 branches">
            <a:extLst>
              <a:ext uri="{FF2B5EF4-FFF2-40B4-BE49-F238E27FC236}">
                <a16:creationId xmlns:a16="http://schemas.microsoft.com/office/drawing/2014/main" id="{3B43543F-1C7A-D64E-7092-3F4984586947}"/>
              </a:ext>
            </a:extLst>
          </p:cNvPr>
          <p:cNvSpPr/>
          <p:nvPr/>
        </p:nvSpPr>
        <p:spPr>
          <a:xfrm>
            <a:off x="9368151" y="554532"/>
            <a:ext cx="108000" cy="108000"/>
          </a:xfrm>
          <a:prstGeom prst="star5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Légende_Nouveau_Bloc">
            <a:extLst>
              <a:ext uri="{FF2B5EF4-FFF2-40B4-BE49-F238E27FC236}">
                <a16:creationId xmlns:a16="http://schemas.microsoft.com/office/drawing/2014/main" id="{BF812F72-A73F-DAE6-5705-45E76770B19D}"/>
              </a:ext>
            </a:extLst>
          </p:cNvPr>
          <p:cNvSpPr txBox="1"/>
          <p:nvPr/>
        </p:nvSpPr>
        <p:spPr>
          <a:xfrm>
            <a:off x="9464720" y="491658"/>
            <a:ext cx="934871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Nouveau bloc</a:t>
            </a:r>
          </a:p>
        </p:txBody>
      </p:sp>
      <p:sp>
        <p:nvSpPr>
          <p:cNvPr id="4" name="Légende_Nouveau_Bloc">
            <a:extLst>
              <a:ext uri="{FF2B5EF4-FFF2-40B4-BE49-F238E27FC236}">
                <a16:creationId xmlns:a16="http://schemas.microsoft.com/office/drawing/2014/main" id="{7478860B-AFF7-C599-F924-DCC8E92AE630}"/>
              </a:ext>
            </a:extLst>
          </p:cNvPr>
          <p:cNvSpPr txBox="1"/>
          <p:nvPr/>
        </p:nvSpPr>
        <p:spPr>
          <a:xfrm>
            <a:off x="9467926" y="723619"/>
            <a:ext cx="963725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Bloc supprimé</a:t>
            </a:r>
          </a:p>
        </p:txBody>
      </p:sp>
      <p:sp>
        <p:nvSpPr>
          <p:cNvPr id="5" name="Croix 4">
            <a:extLst>
              <a:ext uri="{FF2B5EF4-FFF2-40B4-BE49-F238E27FC236}">
                <a16:creationId xmlns:a16="http://schemas.microsoft.com/office/drawing/2014/main" id="{0D3136D8-37EC-D673-B330-31ECA1E00516}"/>
              </a:ext>
            </a:extLst>
          </p:cNvPr>
          <p:cNvSpPr/>
          <p:nvPr/>
        </p:nvSpPr>
        <p:spPr>
          <a:xfrm rot="2700000">
            <a:off x="9371629" y="785103"/>
            <a:ext cx="108000" cy="108000"/>
          </a:xfrm>
          <a:prstGeom prst="plus">
            <a:avLst>
              <a:gd name="adj" fmla="val 45756"/>
            </a:avLst>
          </a:prstGeom>
          <a:solidFill>
            <a:schemeClr val="tx1"/>
          </a:solidFill>
          <a:ln>
            <a:solidFill>
              <a:srgbClr val="FF0000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BA_GH">
            <a:extLst>
              <a:ext uri="{FF2B5EF4-FFF2-40B4-BE49-F238E27FC236}">
                <a16:creationId xmlns:a16="http://schemas.microsoft.com/office/drawing/2014/main" id="{4CDD7013-F9D8-6035-3A37-76835A51B19D}"/>
              </a:ext>
            </a:extLst>
          </p:cNvPr>
          <p:cNvSpPr/>
          <p:nvPr/>
        </p:nvSpPr>
        <p:spPr>
          <a:xfrm>
            <a:off x="6247379" y="1786384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HJ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Contenus statiques</a:t>
            </a:r>
          </a:p>
        </p:txBody>
      </p:sp>
      <p:sp>
        <p:nvSpPr>
          <p:cNvPr id="16" name="BA_H4">
            <a:extLst>
              <a:ext uri="{FF2B5EF4-FFF2-40B4-BE49-F238E27FC236}">
                <a16:creationId xmlns:a16="http://schemas.microsoft.com/office/drawing/2014/main" id="{7489B4C3-83EA-236E-A62D-B01B8E4FEF86}"/>
              </a:ext>
            </a:extLst>
          </p:cNvPr>
          <p:cNvSpPr/>
          <p:nvPr/>
        </p:nvSpPr>
        <p:spPr>
          <a:xfrm>
            <a:off x="9490384" y="2374473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H4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API VR </a:t>
            </a:r>
            <a:r>
              <a:rPr kumimoji="0" lang="fr-FR" sz="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Selfcare</a:t>
            </a:r>
            <a:endParaRPr kumimoji="0" lang="fr-FR" sz="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BA_HH">
            <a:extLst>
              <a:ext uri="{FF2B5EF4-FFF2-40B4-BE49-F238E27FC236}">
                <a16:creationId xmlns:a16="http://schemas.microsoft.com/office/drawing/2014/main" id="{FEF50039-838C-3962-99B7-14FA5465B541}"/>
              </a:ext>
            </a:extLst>
          </p:cNvPr>
          <p:cNvSpPr/>
          <p:nvPr/>
        </p:nvSpPr>
        <p:spPr>
          <a:xfrm>
            <a:off x="10160477" y="2374473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HH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API Sim. épargne</a:t>
            </a:r>
          </a:p>
        </p:txBody>
      </p:sp>
      <p:sp>
        <p:nvSpPr>
          <p:cNvPr id="23" name="Gr_LCL">
            <a:extLst>
              <a:ext uri="{FF2B5EF4-FFF2-40B4-BE49-F238E27FC236}">
                <a16:creationId xmlns:a16="http://schemas.microsoft.com/office/drawing/2014/main" id="{6BA133B4-5C03-05C5-923A-EF2E1DE47B9E}"/>
              </a:ext>
            </a:extLst>
          </p:cNvPr>
          <p:cNvSpPr/>
          <p:nvPr/>
        </p:nvSpPr>
        <p:spPr>
          <a:xfrm>
            <a:off x="6075866" y="5122749"/>
            <a:ext cx="5632947" cy="1248594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ZT_CATS">
            <a:extLst>
              <a:ext uri="{FF2B5EF4-FFF2-40B4-BE49-F238E27FC236}">
                <a16:creationId xmlns:a16="http://schemas.microsoft.com/office/drawing/2014/main" id="{46E8ED24-F3F0-7284-CC91-BB857AC5BE52}"/>
              </a:ext>
            </a:extLst>
          </p:cNvPr>
          <p:cNvSpPr txBox="1"/>
          <p:nvPr/>
        </p:nvSpPr>
        <p:spPr>
          <a:xfrm>
            <a:off x="6122619" y="5107819"/>
            <a:ext cx="5399528" cy="246221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LCL</a:t>
            </a:r>
            <a:endParaRPr kumimoji="0" lang="fr-FR" sz="1000" b="1" i="1" u="none" strike="noStrike" kern="1200" cap="none" spc="0" normalizeH="0" baseline="0" noProof="0" dirty="0">
              <a:ln>
                <a:noFill/>
              </a:ln>
              <a:solidFill>
                <a:srgbClr val="7030A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BA_BEL">
            <a:extLst>
              <a:ext uri="{FF2B5EF4-FFF2-40B4-BE49-F238E27FC236}">
                <a16:creationId xmlns:a16="http://schemas.microsoft.com/office/drawing/2014/main" id="{5EC05BF5-819D-D0F9-FFBD-44CC8A2CB9E4}"/>
              </a:ext>
            </a:extLst>
          </p:cNvPr>
          <p:cNvSpPr/>
          <p:nvPr/>
        </p:nvSpPr>
        <p:spPr>
          <a:xfrm>
            <a:off x="6135322" y="5643027"/>
            <a:ext cx="648000" cy="288000"/>
          </a:xfrm>
          <a:prstGeom prst="roundRect">
            <a:avLst/>
          </a:prstGeom>
          <a:solidFill>
            <a:srgbClr val="B6D3EC"/>
          </a:solidFill>
          <a:ln w="6350">
            <a:solidFill>
              <a:schemeClr val="accent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BEL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6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/>
              </a:rPr>
              <a:t>-</a:t>
            </a:r>
            <a:endParaRPr kumimoji="0" lang="fr-FR" sz="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BA_Docapost">
            <a:extLst>
              <a:ext uri="{FF2B5EF4-FFF2-40B4-BE49-F238E27FC236}">
                <a16:creationId xmlns:a16="http://schemas.microsoft.com/office/drawing/2014/main" id="{7DCBB1E1-A8DD-9C46-1A34-AA4D29CEE815}"/>
              </a:ext>
            </a:extLst>
          </p:cNvPr>
          <p:cNvSpPr/>
          <p:nvPr/>
        </p:nvSpPr>
        <p:spPr>
          <a:xfrm>
            <a:off x="6145849" y="5987729"/>
            <a:ext cx="648000" cy="288000"/>
          </a:xfrm>
          <a:prstGeom prst="roundRect">
            <a:avLst/>
          </a:prstGeom>
          <a:solidFill>
            <a:srgbClr val="B6D3EC"/>
          </a:solidFill>
          <a:ln w="6350">
            <a:solidFill>
              <a:schemeClr val="accent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Docapost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6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/>
              </a:rPr>
              <a:t>-</a:t>
            </a:r>
            <a:endParaRPr kumimoji="0" lang="fr-FR" sz="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BA_Mescomptes">
            <a:extLst>
              <a:ext uri="{FF2B5EF4-FFF2-40B4-BE49-F238E27FC236}">
                <a16:creationId xmlns:a16="http://schemas.microsoft.com/office/drawing/2014/main" id="{39599FEF-28D6-535D-11DB-1AED9DE9CDB9}"/>
              </a:ext>
            </a:extLst>
          </p:cNvPr>
          <p:cNvSpPr/>
          <p:nvPr/>
        </p:nvSpPr>
        <p:spPr>
          <a:xfrm>
            <a:off x="6135322" y="5323284"/>
            <a:ext cx="1326281" cy="288000"/>
          </a:xfrm>
          <a:prstGeom prst="roundRect">
            <a:avLst/>
          </a:prstGeom>
          <a:solidFill>
            <a:srgbClr val="B6D3EC"/>
          </a:solidFill>
          <a:ln w="6350">
            <a:solidFill>
              <a:schemeClr val="accent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MesComptes</a:t>
            </a:r>
            <a:endParaRPr kumimoji="0" lang="fr-FR" sz="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Gr_SimulAssur">
            <a:extLst>
              <a:ext uri="{FF2B5EF4-FFF2-40B4-BE49-F238E27FC236}">
                <a16:creationId xmlns:a16="http://schemas.microsoft.com/office/drawing/2014/main" id="{592947A2-7CB2-C9C7-B8DB-A8A7536F8D35}"/>
              </a:ext>
            </a:extLst>
          </p:cNvPr>
          <p:cNvSpPr/>
          <p:nvPr/>
        </p:nvSpPr>
        <p:spPr>
          <a:xfrm>
            <a:off x="4476637" y="3792663"/>
            <a:ext cx="1627675" cy="1021008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  <a:effectLst>
            <a:outerShdw blurRad="50800" dist="38100" dir="2700000" algn="ctr" rotWithShape="0">
              <a:schemeClr val="tx1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/>
            </a:endParaRPr>
          </a:p>
        </p:txBody>
      </p:sp>
      <p:sp>
        <p:nvSpPr>
          <p:cNvPr id="8" name="ZT_SimulAssur">
            <a:extLst>
              <a:ext uri="{FF2B5EF4-FFF2-40B4-BE49-F238E27FC236}">
                <a16:creationId xmlns:a16="http://schemas.microsoft.com/office/drawing/2014/main" id="{77E98415-C4C5-70FF-7891-381E0E10C141}"/>
              </a:ext>
            </a:extLst>
          </p:cNvPr>
          <p:cNvSpPr txBox="1"/>
          <p:nvPr/>
        </p:nvSpPr>
        <p:spPr>
          <a:xfrm>
            <a:off x="4500323" y="3819978"/>
            <a:ext cx="1714025" cy="246221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1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SimulAssur</a:t>
            </a:r>
            <a:endParaRPr kumimoji="0" lang="fr-FR" sz="1000" b="1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BA_VS">
            <a:extLst>
              <a:ext uri="{FF2B5EF4-FFF2-40B4-BE49-F238E27FC236}">
                <a16:creationId xmlns:a16="http://schemas.microsoft.com/office/drawing/2014/main" id="{5B8695C9-20DF-8BFC-7EA7-69E0DFD0494A}"/>
              </a:ext>
            </a:extLst>
          </p:cNvPr>
          <p:cNvSpPr/>
          <p:nvPr/>
        </p:nvSpPr>
        <p:spPr>
          <a:xfrm>
            <a:off x="4611474" y="4115819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0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/>
              </a:rPr>
              <a:t>VS</a:t>
            </a:r>
            <a:endParaRPr kumimoji="0" lang="fr-FR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Sim, </a:t>
            </a:r>
            <a:r>
              <a:rPr kumimoji="0" lang="fr-FR" sz="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Ass.V</a:t>
            </a: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 pour LCL</a:t>
            </a:r>
          </a:p>
        </p:txBody>
      </p:sp>
      <p:sp>
        <p:nvSpPr>
          <p:cNvPr id="10" name="BA_RS">
            <a:extLst>
              <a:ext uri="{FF2B5EF4-FFF2-40B4-BE49-F238E27FC236}">
                <a16:creationId xmlns:a16="http://schemas.microsoft.com/office/drawing/2014/main" id="{B98F0632-54DA-47CF-9DEF-0D97B0ECE96C}"/>
              </a:ext>
            </a:extLst>
          </p:cNvPr>
          <p:cNvSpPr/>
          <p:nvPr/>
        </p:nvSpPr>
        <p:spPr>
          <a:xfrm>
            <a:off x="5363789" y="4119805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SR</a:t>
            </a:r>
          </a:p>
          <a:p>
            <a:pPr lvl="0" algn="ctr">
              <a:defRPr/>
            </a:pPr>
            <a:r>
              <a:rPr lang="fr-FR" sz="6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Sim, </a:t>
            </a:r>
            <a:r>
              <a:rPr lang="fr-FR" sz="600" dirty="0" err="1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Ass.V</a:t>
            </a:r>
            <a:r>
              <a:rPr lang="fr-FR" sz="6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pour CA</a:t>
            </a:r>
          </a:p>
        </p:txBody>
      </p:sp>
      <p:sp>
        <p:nvSpPr>
          <p:cNvPr id="11" name="BA_EP">
            <a:extLst>
              <a:ext uri="{FF2B5EF4-FFF2-40B4-BE49-F238E27FC236}">
                <a16:creationId xmlns:a16="http://schemas.microsoft.com/office/drawing/2014/main" id="{A502A4C4-A1BC-8F01-CB84-B5AE7B3EA14A}"/>
              </a:ext>
            </a:extLst>
          </p:cNvPr>
          <p:cNvSpPr/>
          <p:nvPr/>
        </p:nvSpPr>
        <p:spPr>
          <a:xfrm>
            <a:off x="4611474" y="4500624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0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/>
              </a:rPr>
              <a:t>EP</a:t>
            </a:r>
            <a:endParaRPr kumimoji="0" lang="fr-FR" sz="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Sim, EPICASTE</a:t>
            </a:r>
          </a:p>
        </p:txBody>
      </p:sp>
      <p:sp>
        <p:nvSpPr>
          <p:cNvPr id="12" name="BA_Autre_PFD">
            <a:extLst>
              <a:ext uri="{FF2B5EF4-FFF2-40B4-BE49-F238E27FC236}">
                <a16:creationId xmlns:a16="http://schemas.microsoft.com/office/drawing/2014/main" id="{19B515CB-EC76-0DE9-5EB8-0173B22536A2}"/>
              </a:ext>
            </a:extLst>
          </p:cNvPr>
          <p:cNvSpPr/>
          <p:nvPr/>
        </p:nvSpPr>
        <p:spPr>
          <a:xfrm>
            <a:off x="5363789" y="4472097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…</a:t>
            </a:r>
          </a:p>
        </p:txBody>
      </p:sp>
      <p:sp>
        <p:nvSpPr>
          <p:cNvPr id="13" name="Date_F7">
            <a:extLst>
              <a:ext uri="{FF2B5EF4-FFF2-40B4-BE49-F238E27FC236}">
                <a16:creationId xmlns:a16="http://schemas.microsoft.com/office/drawing/2014/main" id="{EBBA7F1D-B22F-5405-1DC8-9E480A8480F3}"/>
              </a:ext>
            </a:extLst>
          </p:cNvPr>
          <p:cNvSpPr txBox="1"/>
          <p:nvPr/>
        </p:nvSpPr>
        <p:spPr>
          <a:xfrm rot="19102564">
            <a:off x="8152349" y="2056054"/>
            <a:ext cx="927160" cy="230832"/>
          </a:xfrm>
          <a:prstGeom prst="rect">
            <a:avLst/>
          </a:prstGeom>
          <a:noFill/>
          <a:ln cap="flat">
            <a:noFill/>
            <a:prstDash val="solid"/>
          </a:ln>
          <a:effectLst>
            <a:softEdge rad="0"/>
          </a:effectLst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900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/>
              </a:rPr>
              <a:t>R1</a:t>
            </a:r>
            <a:endParaRPr kumimoji="0" lang="fr-FR" sz="900" b="0" i="0" u="none" strike="noStrike" kern="1200" cap="none" spc="0" normalizeH="0" baseline="0" noProof="0" dirty="0">
              <a:ln>
                <a:noFill/>
              </a:ln>
              <a:solidFill>
                <a:srgbClr val="7030A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6117605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4B5D3A-7437-47A2-B751-86E139C6F1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r_Global">
            <a:extLst>
              <a:ext uri="{FF2B5EF4-FFF2-40B4-BE49-F238E27FC236}">
                <a16:creationId xmlns:a16="http://schemas.microsoft.com/office/drawing/2014/main" id="{32FA3D67-1BA1-BF7B-838D-BA04D63B226D}"/>
              </a:ext>
            </a:extLst>
          </p:cNvPr>
          <p:cNvSpPr/>
          <p:nvPr/>
        </p:nvSpPr>
        <p:spPr>
          <a:xfrm>
            <a:off x="156924" y="1028327"/>
            <a:ext cx="11860567" cy="5512742"/>
          </a:xfrm>
          <a:prstGeom prst="roundRect">
            <a:avLst/>
          </a:prstGeom>
          <a:solidFill>
            <a:schemeClr val="bg1"/>
          </a:solidFill>
          <a:ln>
            <a:solidFill>
              <a:schemeClr val="accent1"/>
            </a:solidFill>
          </a:ln>
          <a:effectLst>
            <a:outerShdw blurRad="50800" dist="38100" dir="2700000" algn="tl" rotWithShape="0">
              <a:schemeClr val="tx1"/>
            </a:outerShdw>
          </a:effectLst>
        </p:spPr>
        <p:txBody>
          <a:bodyPr wrap="none" lIns="0" rIns="0" rtlCol="0" anchor="ctr">
            <a:noAutofit/>
          </a:bodyPr>
          <a:lstStyle/>
          <a:p>
            <a:pPr algn="ctr"/>
            <a:endParaRPr lang="fr-FR" sz="1600" b="1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1" name="Gr_NOVA">
            <a:extLst>
              <a:ext uri="{FF2B5EF4-FFF2-40B4-BE49-F238E27FC236}">
                <a16:creationId xmlns:a16="http://schemas.microsoft.com/office/drawing/2014/main" id="{6DECC168-FB36-80D3-DDC8-5450FE06C805}"/>
              </a:ext>
            </a:extLst>
          </p:cNvPr>
          <p:cNvSpPr/>
          <p:nvPr/>
        </p:nvSpPr>
        <p:spPr>
          <a:xfrm>
            <a:off x="5407282" y="1111645"/>
            <a:ext cx="2350211" cy="1879964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  <a:effectLst>
            <a:outerShdw blurRad="50800" dist="38100" dir="2700000" algn="ctr" rotWithShape="0">
              <a:schemeClr val="tx1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/>
            </a:endParaRPr>
          </a:p>
        </p:txBody>
      </p:sp>
      <p:sp>
        <p:nvSpPr>
          <p:cNvPr id="92" name="ZT_NOVA">
            <a:extLst>
              <a:ext uri="{FF2B5EF4-FFF2-40B4-BE49-F238E27FC236}">
                <a16:creationId xmlns:a16="http://schemas.microsoft.com/office/drawing/2014/main" id="{CE76BC89-DE46-E326-92E7-105BE2618522}"/>
              </a:ext>
            </a:extLst>
          </p:cNvPr>
          <p:cNvSpPr txBox="1"/>
          <p:nvPr/>
        </p:nvSpPr>
        <p:spPr>
          <a:xfrm>
            <a:off x="5402982" y="1138960"/>
            <a:ext cx="2354511" cy="246221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NOVA</a:t>
            </a:r>
            <a:endParaRPr kumimoji="0" lang="fr-FR" sz="1000" b="1" i="1" u="none" strike="noStrike" kern="1200" cap="none" spc="0" normalizeH="0" baseline="0" noProof="0" dirty="0">
              <a:ln>
                <a:noFill/>
              </a:ln>
              <a:solidFill>
                <a:srgbClr val="ED7D3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8" name="BA_OX">
            <a:extLst>
              <a:ext uri="{FF2B5EF4-FFF2-40B4-BE49-F238E27FC236}">
                <a16:creationId xmlns:a16="http://schemas.microsoft.com/office/drawing/2014/main" id="{0F1EEAF0-4554-6D91-00A5-34C136BE3805}"/>
              </a:ext>
            </a:extLst>
          </p:cNvPr>
          <p:cNvSpPr/>
          <p:nvPr/>
        </p:nvSpPr>
        <p:spPr>
          <a:xfrm>
            <a:off x="5540187" y="1434370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OX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Opérations </a:t>
            </a:r>
            <a:r>
              <a:rPr kumimoji="0" lang="fr-FR" sz="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Ass</a:t>
            </a: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.</a:t>
            </a:r>
          </a:p>
        </p:txBody>
      </p:sp>
      <p:sp>
        <p:nvSpPr>
          <p:cNvPr id="99" name="BA_MX">
            <a:extLst>
              <a:ext uri="{FF2B5EF4-FFF2-40B4-BE49-F238E27FC236}">
                <a16:creationId xmlns:a16="http://schemas.microsoft.com/office/drawing/2014/main" id="{864C6BBF-8173-3AA8-0929-957628218891}"/>
              </a:ext>
            </a:extLst>
          </p:cNvPr>
          <p:cNvSpPr/>
          <p:nvPr/>
        </p:nvSpPr>
        <p:spPr>
          <a:xfrm>
            <a:off x="6247379" y="1434370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MX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Services  internes</a:t>
            </a:r>
          </a:p>
        </p:txBody>
      </p:sp>
      <p:sp>
        <p:nvSpPr>
          <p:cNvPr id="108" name="BA_SX">
            <a:extLst>
              <a:ext uri="{FF2B5EF4-FFF2-40B4-BE49-F238E27FC236}">
                <a16:creationId xmlns:a16="http://schemas.microsoft.com/office/drawing/2014/main" id="{E6253096-122D-F1EC-DFA7-86C93D2B53B6}"/>
              </a:ext>
            </a:extLst>
          </p:cNvPr>
          <p:cNvSpPr/>
          <p:nvPr/>
        </p:nvSpPr>
        <p:spPr>
          <a:xfrm>
            <a:off x="6957409" y="1434370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SX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Socle Exposition</a:t>
            </a:r>
          </a:p>
        </p:txBody>
      </p:sp>
      <p:sp>
        <p:nvSpPr>
          <p:cNvPr id="117" name="BA_HX">
            <a:extLst>
              <a:ext uri="{FF2B5EF4-FFF2-40B4-BE49-F238E27FC236}">
                <a16:creationId xmlns:a16="http://schemas.microsoft.com/office/drawing/2014/main" id="{CB07D3DE-58B1-33FB-0035-DB649C25CEF9}"/>
              </a:ext>
            </a:extLst>
          </p:cNvPr>
          <p:cNvSpPr/>
          <p:nvPr/>
        </p:nvSpPr>
        <p:spPr>
          <a:xfrm>
            <a:off x="5540187" y="1791450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HX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Habilitations PCO</a:t>
            </a:r>
          </a:p>
        </p:txBody>
      </p:sp>
      <p:sp>
        <p:nvSpPr>
          <p:cNvPr id="119" name="BA_RX">
            <a:extLst>
              <a:ext uri="{FF2B5EF4-FFF2-40B4-BE49-F238E27FC236}">
                <a16:creationId xmlns:a16="http://schemas.microsoft.com/office/drawing/2014/main" id="{3EFD3C43-E692-B5BE-36E1-B6956D1017C7}"/>
              </a:ext>
            </a:extLst>
          </p:cNvPr>
          <p:cNvSpPr/>
          <p:nvPr/>
        </p:nvSpPr>
        <p:spPr>
          <a:xfrm>
            <a:off x="6957409" y="1791450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RX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Socle Editique</a:t>
            </a:r>
          </a:p>
        </p:txBody>
      </p:sp>
      <p:sp>
        <p:nvSpPr>
          <p:cNvPr id="120" name="BA_WP">
            <a:extLst>
              <a:ext uri="{FF2B5EF4-FFF2-40B4-BE49-F238E27FC236}">
                <a16:creationId xmlns:a16="http://schemas.microsoft.com/office/drawing/2014/main" id="{6C6E33FE-FE6A-642D-32F1-7C4AF761DE64}"/>
              </a:ext>
            </a:extLst>
          </p:cNvPr>
          <p:cNvSpPr/>
          <p:nvPr/>
        </p:nvSpPr>
        <p:spPr>
          <a:xfrm>
            <a:off x="5542712" y="2146978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WP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Lanceur PCO</a:t>
            </a:r>
          </a:p>
        </p:txBody>
      </p:sp>
      <p:sp>
        <p:nvSpPr>
          <p:cNvPr id="121" name="BA_FM">
            <a:extLst>
              <a:ext uri="{FF2B5EF4-FFF2-40B4-BE49-F238E27FC236}">
                <a16:creationId xmlns:a16="http://schemas.microsoft.com/office/drawing/2014/main" id="{9563CA88-69B0-3A33-DA2A-8F3EFDBA0FA3}"/>
              </a:ext>
            </a:extLst>
          </p:cNvPr>
          <p:cNvSpPr/>
          <p:nvPr/>
        </p:nvSpPr>
        <p:spPr>
          <a:xfrm>
            <a:off x="6251156" y="2146978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FM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Fonctions IHM</a:t>
            </a:r>
          </a:p>
        </p:txBody>
      </p:sp>
      <p:sp>
        <p:nvSpPr>
          <p:cNvPr id="123" name="BA_JF">
            <a:extLst>
              <a:ext uri="{FF2B5EF4-FFF2-40B4-BE49-F238E27FC236}">
                <a16:creationId xmlns:a16="http://schemas.microsoft.com/office/drawing/2014/main" id="{56954BFD-A253-D21D-9984-27412AC49F9F}"/>
              </a:ext>
            </a:extLst>
          </p:cNvPr>
          <p:cNvSpPr/>
          <p:nvPr/>
        </p:nvSpPr>
        <p:spPr>
          <a:xfrm>
            <a:off x="6955140" y="2146978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JF</a:t>
            </a:r>
            <a:endParaRPr kumimoji="0" lang="fr-FR" sz="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Animation </a:t>
            </a:r>
            <a:r>
              <a:rPr kumimoji="0" lang="fr-FR" sz="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comm</a:t>
            </a: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.</a:t>
            </a:r>
          </a:p>
        </p:txBody>
      </p:sp>
      <p:sp>
        <p:nvSpPr>
          <p:cNvPr id="124" name="Gr_Avanet">
            <a:extLst>
              <a:ext uri="{FF2B5EF4-FFF2-40B4-BE49-F238E27FC236}">
                <a16:creationId xmlns:a16="http://schemas.microsoft.com/office/drawing/2014/main" id="{D90A8895-C42B-3D28-F627-B3D03A4C57C3}"/>
              </a:ext>
            </a:extLst>
          </p:cNvPr>
          <p:cNvSpPr/>
          <p:nvPr/>
        </p:nvSpPr>
        <p:spPr>
          <a:xfrm>
            <a:off x="3593887" y="1111645"/>
            <a:ext cx="1690030" cy="117785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  <a:effectLst>
            <a:outerShdw blurRad="50800" dist="38100" dir="2700000" algn="ctr" rotWithShape="0">
              <a:schemeClr val="tx1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/>
            </a:endParaRPr>
          </a:p>
        </p:txBody>
      </p:sp>
      <p:sp>
        <p:nvSpPr>
          <p:cNvPr id="125" name="ZT_Avanet">
            <a:extLst>
              <a:ext uri="{FF2B5EF4-FFF2-40B4-BE49-F238E27FC236}">
                <a16:creationId xmlns:a16="http://schemas.microsoft.com/office/drawing/2014/main" id="{E01CC779-0278-A54C-8431-CD6F0C12EC1B}"/>
              </a:ext>
            </a:extLst>
          </p:cNvPr>
          <p:cNvSpPr txBox="1"/>
          <p:nvPr/>
        </p:nvSpPr>
        <p:spPr>
          <a:xfrm>
            <a:off x="3603262" y="1138960"/>
            <a:ext cx="1680655" cy="246221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1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Avanet</a:t>
            </a:r>
            <a:endParaRPr kumimoji="0" lang="fr-FR" sz="1000" b="1" i="1" u="none" strike="noStrike" kern="1200" cap="none" spc="0" normalizeH="0" baseline="0" noProof="0" dirty="0">
              <a:ln>
                <a:noFill/>
              </a:ln>
              <a:solidFill>
                <a:srgbClr val="ED7D3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6" name="BA_W5">
            <a:extLst>
              <a:ext uri="{FF2B5EF4-FFF2-40B4-BE49-F238E27FC236}">
                <a16:creationId xmlns:a16="http://schemas.microsoft.com/office/drawing/2014/main" id="{D59A4DB1-730D-74CF-2C1C-5FF1BBEC86B1}"/>
              </a:ext>
            </a:extLst>
          </p:cNvPr>
          <p:cNvSpPr/>
          <p:nvPr/>
        </p:nvSpPr>
        <p:spPr>
          <a:xfrm>
            <a:off x="3726791" y="1434801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W5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Av@net</a:t>
            </a:r>
            <a:endParaRPr kumimoji="0" lang="fr-FR" sz="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7" name="BA_AEDI">
            <a:extLst>
              <a:ext uri="{FF2B5EF4-FFF2-40B4-BE49-F238E27FC236}">
                <a16:creationId xmlns:a16="http://schemas.microsoft.com/office/drawing/2014/main" id="{F810AD43-DF4D-FBAD-E690-E7AD2C27058F}"/>
              </a:ext>
            </a:extLst>
          </p:cNvPr>
          <p:cNvSpPr/>
          <p:nvPr/>
        </p:nvSpPr>
        <p:spPr>
          <a:xfrm>
            <a:off x="4521017" y="1438787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AEDI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API-EDI</a:t>
            </a:r>
          </a:p>
        </p:txBody>
      </p:sp>
      <p:sp>
        <p:nvSpPr>
          <p:cNvPr id="128" name="BA_SVOD">
            <a:extLst>
              <a:ext uri="{FF2B5EF4-FFF2-40B4-BE49-F238E27FC236}">
                <a16:creationId xmlns:a16="http://schemas.microsoft.com/office/drawing/2014/main" id="{C0CA6BA0-170F-F1A4-21A3-F68A813C6A41}"/>
              </a:ext>
            </a:extLst>
          </p:cNvPr>
          <p:cNvSpPr/>
          <p:nvPr/>
        </p:nvSpPr>
        <p:spPr>
          <a:xfrm>
            <a:off x="3726791" y="1819606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SVOD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SAS </a:t>
            </a:r>
            <a:r>
              <a:rPr kumimoji="0" lang="fr-FR" sz="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Valid</a:t>
            </a: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.</a:t>
            </a:r>
          </a:p>
        </p:txBody>
      </p:sp>
      <p:sp>
        <p:nvSpPr>
          <p:cNvPr id="129" name="Gr_PFD">
            <a:extLst>
              <a:ext uri="{FF2B5EF4-FFF2-40B4-BE49-F238E27FC236}">
                <a16:creationId xmlns:a16="http://schemas.microsoft.com/office/drawing/2014/main" id="{15F3FBDA-E78A-FEB3-D0FE-2CEAD369F3B8}"/>
              </a:ext>
            </a:extLst>
          </p:cNvPr>
          <p:cNvSpPr/>
          <p:nvPr/>
        </p:nvSpPr>
        <p:spPr>
          <a:xfrm>
            <a:off x="6161552" y="3780520"/>
            <a:ext cx="1627675" cy="1021008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  <a:effectLst>
            <a:outerShdw blurRad="50800" dist="38100" dir="2700000" algn="ctr" rotWithShape="0">
              <a:schemeClr val="tx1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/>
            </a:endParaRPr>
          </a:p>
        </p:txBody>
      </p:sp>
      <p:sp>
        <p:nvSpPr>
          <p:cNvPr id="130" name="ZT_PFD">
            <a:extLst>
              <a:ext uri="{FF2B5EF4-FFF2-40B4-BE49-F238E27FC236}">
                <a16:creationId xmlns:a16="http://schemas.microsoft.com/office/drawing/2014/main" id="{676F4602-84DC-A074-1F3E-43C81C82184F}"/>
              </a:ext>
            </a:extLst>
          </p:cNvPr>
          <p:cNvSpPr txBox="1"/>
          <p:nvPr/>
        </p:nvSpPr>
        <p:spPr>
          <a:xfrm>
            <a:off x="6185238" y="3807835"/>
            <a:ext cx="1714025" cy="246221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Plateforme Data (PFD)</a:t>
            </a:r>
          </a:p>
        </p:txBody>
      </p:sp>
      <p:sp>
        <p:nvSpPr>
          <p:cNvPr id="131" name="BA_J2">
            <a:extLst>
              <a:ext uri="{FF2B5EF4-FFF2-40B4-BE49-F238E27FC236}">
                <a16:creationId xmlns:a16="http://schemas.microsoft.com/office/drawing/2014/main" id="{BA1BF058-F3F0-1B20-BC4F-82BC331E6828}"/>
              </a:ext>
            </a:extLst>
          </p:cNvPr>
          <p:cNvSpPr/>
          <p:nvPr/>
        </p:nvSpPr>
        <p:spPr>
          <a:xfrm>
            <a:off x="6296389" y="4103676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J2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Exposition PFD</a:t>
            </a:r>
          </a:p>
        </p:txBody>
      </p:sp>
      <p:sp>
        <p:nvSpPr>
          <p:cNvPr id="136" name="BA_J6">
            <a:extLst>
              <a:ext uri="{FF2B5EF4-FFF2-40B4-BE49-F238E27FC236}">
                <a16:creationId xmlns:a16="http://schemas.microsoft.com/office/drawing/2014/main" id="{D4774192-69BC-EE01-8F78-8E309F3E8510}"/>
              </a:ext>
            </a:extLst>
          </p:cNvPr>
          <p:cNvSpPr/>
          <p:nvPr/>
        </p:nvSpPr>
        <p:spPr>
          <a:xfrm>
            <a:off x="7048704" y="4107662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J6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Restit</a:t>
            </a: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. </a:t>
            </a:r>
            <a:r>
              <a:rPr kumimoji="0" lang="fr-FR" sz="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Régl</a:t>
            </a: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.</a:t>
            </a:r>
          </a:p>
        </p:txBody>
      </p:sp>
      <p:sp>
        <p:nvSpPr>
          <p:cNvPr id="147" name="BA_J8">
            <a:extLst>
              <a:ext uri="{FF2B5EF4-FFF2-40B4-BE49-F238E27FC236}">
                <a16:creationId xmlns:a16="http://schemas.microsoft.com/office/drawing/2014/main" id="{872E6629-742D-AC22-CABF-AC31919C2461}"/>
              </a:ext>
            </a:extLst>
          </p:cNvPr>
          <p:cNvSpPr/>
          <p:nvPr/>
        </p:nvSpPr>
        <p:spPr>
          <a:xfrm>
            <a:off x="6296389" y="4488481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J8</a:t>
            </a:r>
            <a:endParaRPr kumimoji="0" lang="fr-FR" sz="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Données Contrats</a:t>
            </a:r>
          </a:p>
        </p:txBody>
      </p:sp>
      <p:sp>
        <p:nvSpPr>
          <p:cNvPr id="149" name="Gr_Prediweb1">
            <a:extLst>
              <a:ext uri="{FF2B5EF4-FFF2-40B4-BE49-F238E27FC236}">
                <a16:creationId xmlns:a16="http://schemas.microsoft.com/office/drawing/2014/main" id="{6646E6B6-96DC-C2ED-E4B1-36E108307767}"/>
              </a:ext>
            </a:extLst>
          </p:cNvPr>
          <p:cNvSpPr/>
          <p:nvPr/>
        </p:nvSpPr>
        <p:spPr>
          <a:xfrm>
            <a:off x="3588010" y="2368814"/>
            <a:ext cx="1695907" cy="671739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  <a:effectLst>
            <a:outerShdw blurRad="50800" dist="38100" dir="2700000" algn="ctr" rotWithShape="0">
              <a:schemeClr val="tx1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/>
            </a:endParaRPr>
          </a:p>
        </p:txBody>
      </p:sp>
      <p:sp>
        <p:nvSpPr>
          <p:cNvPr id="151" name="ZT_Prediweb1">
            <a:extLst>
              <a:ext uri="{FF2B5EF4-FFF2-40B4-BE49-F238E27FC236}">
                <a16:creationId xmlns:a16="http://schemas.microsoft.com/office/drawing/2014/main" id="{B5DADCD1-7E1A-1E67-97A0-26914A149CAC}"/>
              </a:ext>
            </a:extLst>
          </p:cNvPr>
          <p:cNvSpPr txBox="1"/>
          <p:nvPr/>
        </p:nvSpPr>
        <p:spPr>
          <a:xfrm>
            <a:off x="3595208" y="2396399"/>
            <a:ext cx="1688709" cy="246221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1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Prediweb</a:t>
            </a:r>
            <a:r>
              <a:rPr kumimoji="0" lang="fr-FR" sz="1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 1</a:t>
            </a:r>
            <a:endParaRPr kumimoji="0" lang="fr-FR" sz="1000" b="1" i="1" u="none" strike="noStrike" kern="1200" cap="none" spc="0" normalizeH="0" baseline="0" noProof="0" dirty="0">
              <a:ln>
                <a:noFill/>
              </a:ln>
              <a:solidFill>
                <a:srgbClr val="ED7D3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3" name="BA_BD">
            <a:extLst>
              <a:ext uri="{FF2B5EF4-FFF2-40B4-BE49-F238E27FC236}">
                <a16:creationId xmlns:a16="http://schemas.microsoft.com/office/drawing/2014/main" id="{C176415F-2B4D-6B4A-A4FC-70004D772076}"/>
              </a:ext>
            </a:extLst>
          </p:cNvPr>
          <p:cNvSpPr/>
          <p:nvPr/>
        </p:nvSpPr>
        <p:spPr>
          <a:xfrm>
            <a:off x="3720914" y="2691969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BD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Prediweb</a:t>
            </a:r>
            <a:endParaRPr kumimoji="0" lang="fr-FR" sz="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6" name="BA_SGR">
            <a:extLst>
              <a:ext uri="{FF2B5EF4-FFF2-40B4-BE49-F238E27FC236}">
                <a16:creationId xmlns:a16="http://schemas.microsoft.com/office/drawing/2014/main" id="{3D6C0E00-57AD-B8B3-A6B2-6F9DAF61CEF1}"/>
              </a:ext>
            </a:extLst>
          </p:cNvPr>
          <p:cNvSpPr/>
          <p:nvPr/>
        </p:nvSpPr>
        <p:spPr>
          <a:xfrm>
            <a:off x="4496225" y="2696226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SGR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Lanceur SGR</a:t>
            </a:r>
          </a:p>
        </p:txBody>
      </p:sp>
      <p:sp>
        <p:nvSpPr>
          <p:cNvPr id="158" name="BA_Autre_PFD">
            <a:extLst>
              <a:ext uri="{FF2B5EF4-FFF2-40B4-BE49-F238E27FC236}">
                <a16:creationId xmlns:a16="http://schemas.microsoft.com/office/drawing/2014/main" id="{FAC06C27-8EAF-4C90-ED11-BA7009B6866F}"/>
              </a:ext>
            </a:extLst>
          </p:cNvPr>
          <p:cNvSpPr/>
          <p:nvPr/>
        </p:nvSpPr>
        <p:spPr>
          <a:xfrm>
            <a:off x="7048704" y="4459954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…</a:t>
            </a:r>
          </a:p>
        </p:txBody>
      </p:sp>
      <p:sp>
        <p:nvSpPr>
          <p:cNvPr id="159" name="Gr_AIA">
            <a:extLst>
              <a:ext uri="{FF2B5EF4-FFF2-40B4-BE49-F238E27FC236}">
                <a16:creationId xmlns:a16="http://schemas.microsoft.com/office/drawing/2014/main" id="{157C8C10-ABF7-75F4-AFCE-E6AB343FF242}"/>
              </a:ext>
            </a:extLst>
          </p:cNvPr>
          <p:cNvSpPr/>
          <p:nvPr/>
        </p:nvSpPr>
        <p:spPr>
          <a:xfrm>
            <a:off x="600429" y="2842718"/>
            <a:ext cx="927635" cy="550924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  <a:effectLst>
            <a:outerShdw blurRad="50800" dist="38100" dir="2700000" algn="ctr" rotWithShape="0">
              <a:schemeClr val="tx1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/>
            </a:endParaRPr>
          </a:p>
        </p:txBody>
      </p:sp>
      <p:sp>
        <p:nvSpPr>
          <p:cNvPr id="160" name="ZT_AIA">
            <a:extLst>
              <a:ext uri="{FF2B5EF4-FFF2-40B4-BE49-F238E27FC236}">
                <a16:creationId xmlns:a16="http://schemas.microsoft.com/office/drawing/2014/main" id="{9076A387-75CB-54D4-C528-9F16C3A0782C}"/>
              </a:ext>
            </a:extLst>
          </p:cNvPr>
          <p:cNvSpPr txBox="1"/>
          <p:nvPr/>
        </p:nvSpPr>
        <p:spPr>
          <a:xfrm>
            <a:off x="520497" y="2870168"/>
            <a:ext cx="1080000" cy="246221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AIA V4 (Sinistres)</a:t>
            </a:r>
          </a:p>
        </p:txBody>
      </p:sp>
      <p:sp>
        <p:nvSpPr>
          <p:cNvPr id="161" name="BA_AJ">
            <a:extLst>
              <a:ext uri="{FF2B5EF4-FFF2-40B4-BE49-F238E27FC236}">
                <a16:creationId xmlns:a16="http://schemas.microsoft.com/office/drawing/2014/main" id="{A4CB75DA-A9FA-E919-D33D-888FDD7C4332}"/>
              </a:ext>
            </a:extLst>
          </p:cNvPr>
          <p:cNvSpPr/>
          <p:nvPr/>
        </p:nvSpPr>
        <p:spPr>
          <a:xfrm>
            <a:off x="741487" y="3087886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AJ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AIA </a:t>
            </a:r>
            <a:r>
              <a:rPr kumimoji="0" lang="fr-FR" sz="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Sinitres</a:t>
            </a:r>
            <a:endParaRPr kumimoji="0" lang="fr-FR" sz="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2" name="Gr_Prediweb2">
            <a:extLst>
              <a:ext uri="{FF2B5EF4-FFF2-40B4-BE49-F238E27FC236}">
                <a16:creationId xmlns:a16="http://schemas.microsoft.com/office/drawing/2014/main" id="{7BDDAC07-BC75-0CEC-D8B3-48D0EE35A72E}"/>
              </a:ext>
            </a:extLst>
          </p:cNvPr>
          <p:cNvSpPr/>
          <p:nvPr/>
        </p:nvSpPr>
        <p:spPr>
          <a:xfrm>
            <a:off x="6172824" y="3106138"/>
            <a:ext cx="754043" cy="61200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  <a:effectLst>
            <a:outerShdw blurRad="50800" dist="38100" dir="2700000" algn="ctr" rotWithShape="0">
              <a:schemeClr val="tx1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/>
            </a:endParaRPr>
          </a:p>
        </p:txBody>
      </p:sp>
      <p:sp>
        <p:nvSpPr>
          <p:cNvPr id="163" name="ZT_Prediweb2">
            <a:extLst>
              <a:ext uri="{FF2B5EF4-FFF2-40B4-BE49-F238E27FC236}">
                <a16:creationId xmlns:a16="http://schemas.microsoft.com/office/drawing/2014/main" id="{24AEC807-A70A-D211-23F9-AE0E50EE2B86}"/>
              </a:ext>
            </a:extLst>
          </p:cNvPr>
          <p:cNvSpPr txBox="1"/>
          <p:nvPr/>
        </p:nvSpPr>
        <p:spPr>
          <a:xfrm>
            <a:off x="6145849" y="3133723"/>
            <a:ext cx="774251" cy="246221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1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Prediweb</a:t>
            </a:r>
            <a:r>
              <a:rPr kumimoji="0" lang="fr-FR" sz="1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 2</a:t>
            </a:r>
            <a:endParaRPr kumimoji="0" lang="fr-FR" sz="1000" b="1" i="1" u="none" strike="noStrike" kern="1200" cap="none" spc="0" normalizeH="0" baseline="0" noProof="0" dirty="0">
              <a:ln>
                <a:noFill/>
              </a:ln>
              <a:solidFill>
                <a:srgbClr val="ED7D3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4" name="BA_PY">
            <a:extLst>
              <a:ext uri="{FF2B5EF4-FFF2-40B4-BE49-F238E27FC236}">
                <a16:creationId xmlns:a16="http://schemas.microsoft.com/office/drawing/2014/main" id="{321768F0-8C2F-A373-2DCA-E5FDE3B4E3B0}"/>
              </a:ext>
            </a:extLst>
          </p:cNvPr>
          <p:cNvSpPr/>
          <p:nvPr/>
        </p:nvSpPr>
        <p:spPr>
          <a:xfrm>
            <a:off x="6219320" y="3376340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PY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Prediweb</a:t>
            </a: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 2</a:t>
            </a:r>
          </a:p>
        </p:txBody>
      </p:sp>
      <p:sp>
        <p:nvSpPr>
          <p:cNvPr id="165" name="Gr_NewNOVA">
            <a:extLst>
              <a:ext uri="{FF2B5EF4-FFF2-40B4-BE49-F238E27FC236}">
                <a16:creationId xmlns:a16="http://schemas.microsoft.com/office/drawing/2014/main" id="{47F14F5A-ED52-C1EB-62B8-D9E4254C4441}"/>
              </a:ext>
            </a:extLst>
          </p:cNvPr>
          <p:cNvSpPr/>
          <p:nvPr/>
        </p:nvSpPr>
        <p:spPr>
          <a:xfrm>
            <a:off x="7894317" y="1093890"/>
            <a:ext cx="3975128" cy="3939748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  <a:effectLst>
            <a:outerShdw blurRad="50800" dist="38100" dir="2700000" algn="ctr" rotWithShape="0">
              <a:schemeClr val="tx1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/>
            </a:endParaRPr>
          </a:p>
        </p:txBody>
      </p:sp>
      <p:sp>
        <p:nvSpPr>
          <p:cNvPr id="166" name="ZT_NewNOVA">
            <a:extLst>
              <a:ext uri="{FF2B5EF4-FFF2-40B4-BE49-F238E27FC236}">
                <a16:creationId xmlns:a16="http://schemas.microsoft.com/office/drawing/2014/main" id="{F849D090-6FCA-90C4-1ED4-29987BC84128}"/>
              </a:ext>
            </a:extLst>
          </p:cNvPr>
          <p:cNvSpPr txBox="1"/>
          <p:nvPr/>
        </p:nvSpPr>
        <p:spPr>
          <a:xfrm>
            <a:off x="7959719" y="1121206"/>
            <a:ext cx="2930793" cy="246221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New NOVA (K8S+AWS)</a:t>
            </a:r>
            <a:endParaRPr kumimoji="0" lang="fr-FR" sz="1000" b="1" i="1" u="none" strike="noStrike" kern="1200" cap="none" spc="0" normalizeH="0" baseline="0" noProof="0" dirty="0">
              <a:ln>
                <a:noFill/>
              </a:ln>
              <a:solidFill>
                <a:srgbClr val="ED7D3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7" name="BA_APPE">
            <a:extLst>
              <a:ext uri="{FF2B5EF4-FFF2-40B4-BE49-F238E27FC236}">
                <a16:creationId xmlns:a16="http://schemas.microsoft.com/office/drawing/2014/main" id="{954DDA10-6F64-C247-CBC6-371861499791}"/>
              </a:ext>
            </a:extLst>
          </p:cNvPr>
          <p:cNvSpPr/>
          <p:nvPr/>
        </p:nvSpPr>
        <p:spPr>
          <a:xfrm>
            <a:off x="8114072" y="1417047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APPE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API Personne</a:t>
            </a:r>
          </a:p>
        </p:txBody>
      </p:sp>
      <p:sp>
        <p:nvSpPr>
          <p:cNvPr id="168" name="BA_CJNI">
            <a:extLst>
              <a:ext uri="{FF2B5EF4-FFF2-40B4-BE49-F238E27FC236}">
                <a16:creationId xmlns:a16="http://schemas.microsoft.com/office/drawing/2014/main" id="{1848744F-21A3-DEE5-13AB-D2D86848F96D}"/>
              </a:ext>
            </a:extLst>
          </p:cNvPr>
          <p:cNvSpPr/>
          <p:nvPr/>
        </p:nvSpPr>
        <p:spPr>
          <a:xfrm>
            <a:off x="8803280" y="1417047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CJNI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Jeton SSO</a:t>
            </a:r>
          </a:p>
        </p:txBody>
      </p:sp>
      <p:sp>
        <p:nvSpPr>
          <p:cNvPr id="169" name="BA_C8">
            <a:extLst>
              <a:ext uri="{FF2B5EF4-FFF2-40B4-BE49-F238E27FC236}">
                <a16:creationId xmlns:a16="http://schemas.microsoft.com/office/drawing/2014/main" id="{32925154-BA1C-CB10-B42F-A8BC67D576F7}"/>
              </a:ext>
            </a:extLst>
          </p:cNvPr>
          <p:cNvSpPr/>
          <p:nvPr/>
        </p:nvSpPr>
        <p:spPr>
          <a:xfrm>
            <a:off x="9490384" y="1417047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C8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Consentements</a:t>
            </a:r>
          </a:p>
        </p:txBody>
      </p:sp>
      <p:sp>
        <p:nvSpPr>
          <p:cNvPr id="170" name="BA_D9">
            <a:extLst>
              <a:ext uri="{FF2B5EF4-FFF2-40B4-BE49-F238E27FC236}">
                <a16:creationId xmlns:a16="http://schemas.microsoft.com/office/drawing/2014/main" id="{C2051567-B715-1DFD-9528-AA09FE5437D3}"/>
              </a:ext>
            </a:extLst>
          </p:cNvPr>
          <p:cNvSpPr/>
          <p:nvPr/>
        </p:nvSpPr>
        <p:spPr>
          <a:xfrm>
            <a:off x="10160477" y="1417047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D9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Base Doc AWS</a:t>
            </a:r>
          </a:p>
        </p:txBody>
      </p:sp>
      <p:sp>
        <p:nvSpPr>
          <p:cNvPr id="171" name="BA_F3">
            <a:extLst>
              <a:ext uri="{FF2B5EF4-FFF2-40B4-BE49-F238E27FC236}">
                <a16:creationId xmlns:a16="http://schemas.microsoft.com/office/drawing/2014/main" id="{497DE297-7329-CD71-0922-B636E00F808D}"/>
              </a:ext>
            </a:extLst>
          </p:cNvPr>
          <p:cNvSpPr/>
          <p:nvPr/>
        </p:nvSpPr>
        <p:spPr>
          <a:xfrm>
            <a:off x="8114072" y="1734468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F3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Versement Libre</a:t>
            </a:r>
          </a:p>
        </p:txBody>
      </p:sp>
      <p:sp>
        <p:nvSpPr>
          <p:cNvPr id="172" name="BA_F4">
            <a:extLst>
              <a:ext uri="{FF2B5EF4-FFF2-40B4-BE49-F238E27FC236}">
                <a16:creationId xmlns:a16="http://schemas.microsoft.com/office/drawing/2014/main" id="{BA1158D3-A83B-8DC3-19D6-CD82F61749FB}"/>
              </a:ext>
            </a:extLst>
          </p:cNvPr>
          <p:cNvSpPr/>
          <p:nvPr/>
        </p:nvSpPr>
        <p:spPr>
          <a:xfrm>
            <a:off x="8803280" y="1734468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F4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Synthèse </a:t>
            </a:r>
            <a:r>
              <a:rPr kumimoji="0" lang="fr-FR" sz="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Opér</a:t>
            </a: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.</a:t>
            </a:r>
          </a:p>
        </p:txBody>
      </p:sp>
      <p:sp>
        <p:nvSpPr>
          <p:cNvPr id="173" name="BA_F5">
            <a:extLst>
              <a:ext uri="{FF2B5EF4-FFF2-40B4-BE49-F238E27FC236}">
                <a16:creationId xmlns:a16="http://schemas.microsoft.com/office/drawing/2014/main" id="{EDFF32A2-196E-24D7-4EB0-242B0696C965}"/>
              </a:ext>
            </a:extLst>
          </p:cNvPr>
          <p:cNvSpPr/>
          <p:nvPr/>
        </p:nvSpPr>
        <p:spPr>
          <a:xfrm>
            <a:off x="9490384" y="1734468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F5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Conf</a:t>
            </a: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. New Nova</a:t>
            </a:r>
          </a:p>
        </p:txBody>
      </p:sp>
      <p:sp>
        <p:nvSpPr>
          <p:cNvPr id="174" name="BA_F6">
            <a:extLst>
              <a:ext uri="{FF2B5EF4-FFF2-40B4-BE49-F238E27FC236}">
                <a16:creationId xmlns:a16="http://schemas.microsoft.com/office/drawing/2014/main" id="{9047C741-91BF-01CB-A548-FE5A85FF9326}"/>
              </a:ext>
            </a:extLst>
          </p:cNvPr>
          <p:cNvSpPr/>
          <p:nvPr/>
        </p:nvSpPr>
        <p:spPr>
          <a:xfrm>
            <a:off x="10160477" y="1734468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F6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API Adhésion</a:t>
            </a:r>
          </a:p>
        </p:txBody>
      </p:sp>
      <p:sp>
        <p:nvSpPr>
          <p:cNvPr id="175" name="BA_F7">
            <a:extLst>
              <a:ext uri="{FF2B5EF4-FFF2-40B4-BE49-F238E27FC236}">
                <a16:creationId xmlns:a16="http://schemas.microsoft.com/office/drawing/2014/main" id="{5AB92768-EB4E-165C-6D1E-17DF1CB464C3}"/>
              </a:ext>
            </a:extLst>
          </p:cNvPr>
          <p:cNvSpPr/>
          <p:nvPr/>
        </p:nvSpPr>
        <p:spPr>
          <a:xfrm>
            <a:off x="8114072" y="2047150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F7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Arbitrage</a:t>
            </a:r>
          </a:p>
        </p:txBody>
      </p:sp>
      <p:sp>
        <p:nvSpPr>
          <p:cNvPr id="176" name="BA_G3">
            <a:extLst>
              <a:ext uri="{FF2B5EF4-FFF2-40B4-BE49-F238E27FC236}">
                <a16:creationId xmlns:a16="http://schemas.microsoft.com/office/drawing/2014/main" id="{7D516E1E-DC57-662F-5408-86E4CED5D928}"/>
              </a:ext>
            </a:extLst>
          </p:cNvPr>
          <p:cNvSpPr/>
          <p:nvPr/>
        </p:nvSpPr>
        <p:spPr>
          <a:xfrm>
            <a:off x="9490384" y="2047150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G3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Pièces médicales</a:t>
            </a:r>
          </a:p>
        </p:txBody>
      </p:sp>
      <p:sp>
        <p:nvSpPr>
          <p:cNvPr id="177" name="BA_G4">
            <a:extLst>
              <a:ext uri="{FF2B5EF4-FFF2-40B4-BE49-F238E27FC236}">
                <a16:creationId xmlns:a16="http://schemas.microsoft.com/office/drawing/2014/main" id="{C80A3128-3CA9-61A4-2507-A84A9F23CAD2}"/>
              </a:ext>
            </a:extLst>
          </p:cNvPr>
          <p:cNvSpPr/>
          <p:nvPr/>
        </p:nvSpPr>
        <p:spPr>
          <a:xfrm>
            <a:off x="10160477" y="2047150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G4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API FRC</a:t>
            </a:r>
          </a:p>
        </p:txBody>
      </p:sp>
      <p:sp>
        <p:nvSpPr>
          <p:cNvPr id="178" name="BA_G6">
            <a:extLst>
              <a:ext uri="{FF2B5EF4-FFF2-40B4-BE49-F238E27FC236}">
                <a16:creationId xmlns:a16="http://schemas.microsoft.com/office/drawing/2014/main" id="{E2CC9C80-FFCE-3017-F2FC-1C0B7F1584AF}"/>
              </a:ext>
            </a:extLst>
          </p:cNvPr>
          <p:cNvSpPr/>
          <p:nvPr/>
        </p:nvSpPr>
        <p:spPr>
          <a:xfrm>
            <a:off x="8114072" y="2368438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G6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API </a:t>
            </a:r>
            <a:r>
              <a:rPr kumimoji="0" lang="fr-FR" sz="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Passport</a:t>
            </a:r>
            <a:endParaRPr kumimoji="0" lang="fr-FR" sz="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9" name="BA_GQ">
            <a:extLst>
              <a:ext uri="{FF2B5EF4-FFF2-40B4-BE49-F238E27FC236}">
                <a16:creationId xmlns:a16="http://schemas.microsoft.com/office/drawing/2014/main" id="{1A2DD66A-9092-3B17-4E03-258D79634C04}"/>
              </a:ext>
            </a:extLst>
          </p:cNvPr>
          <p:cNvSpPr/>
          <p:nvPr/>
        </p:nvSpPr>
        <p:spPr>
          <a:xfrm>
            <a:off x="8803280" y="2368438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GQ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GED Prévoyance</a:t>
            </a:r>
          </a:p>
        </p:txBody>
      </p:sp>
      <p:sp>
        <p:nvSpPr>
          <p:cNvPr id="180" name="BA_I5">
            <a:extLst>
              <a:ext uri="{FF2B5EF4-FFF2-40B4-BE49-F238E27FC236}">
                <a16:creationId xmlns:a16="http://schemas.microsoft.com/office/drawing/2014/main" id="{750DCB53-0AB3-9334-0F49-381C40A111BA}"/>
              </a:ext>
            </a:extLst>
          </p:cNvPr>
          <p:cNvSpPr/>
          <p:nvPr/>
        </p:nvSpPr>
        <p:spPr>
          <a:xfrm>
            <a:off x="8114072" y="2696076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I5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Lanceur New Nova</a:t>
            </a:r>
          </a:p>
        </p:txBody>
      </p:sp>
      <p:sp>
        <p:nvSpPr>
          <p:cNvPr id="181" name="BA_I9">
            <a:extLst>
              <a:ext uri="{FF2B5EF4-FFF2-40B4-BE49-F238E27FC236}">
                <a16:creationId xmlns:a16="http://schemas.microsoft.com/office/drawing/2014/main" id="{835E7451-84A5-BFF9-63B6-5F1A72800100}"/>
              </a:ext>
            </a:extLst>
          </p:cNvPr>
          <p:cNvSpPr/>
          <p:nvPr/>
        </p:nvSpPr>
        <p:spPr>
          <a:xfrm>
            <a:off x="8803280" y="2696076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I9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Keycloak</a:t>
            </a: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 Intranet</a:t>
            </a:r>
          </a:p>
        </p:txBody>
      </p:sp>
      <p:sp>
        <p:nvSpPr>
          <p:cNvPr id="182" name="BA_K7">
            <a:extLst>
              <a:ext uri="{FF2B5EF4-FFF2-40B4-BE49-F238E27FC236}">
                <a16:creationId xmlns:a16="http://schemas.microsoft.com/office/drawing/2014/main" id="{A04D5D9F-F9CE-268A-948D-CE8EFAA87131}"/>
              </a:ext>
            </a:extLst>
          </p:cNvPr>
          <p:cNvSpPr/>
          <p:nvPr/>
        </p:nvSpPr>
        <p:spPr>
          <a:xfrm>
            <a:off x="9490384" y="2696076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K7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Aiguilleur</a:t>
            </a:r>
          </a:p>
        </p:txBody>
      </p:sp>
      <p:sp>
        <p:nvSpPr>
          <p:cNvPr id="183" name="BA_K9">
            <a:extLst>
              <a:ext uri="{FF2B5EF4-FFF2-40B4-BE49-F238E27FC236}">
                <a16:creationId xmlns:a16="http://schemas.microsoft.com/office/drawing/2014/main" id="{DDCE2620-9940-CF5F-3DBE-4719EAA592C1}"/>
              </a:ext>
            </a:extLst>
          </p:cNvPr>
          <p:cNvSpPr/>
          <p:nvPr/>
        </p:nvSpPr>
        <p:spPr>
          <a:xfrm>
            <a:off x="10160477" y="2696076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K9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Keycloak</a:t>
            </a: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 Internet</a:t>
            </a:r>
          </a:p>
        </p:txBody>
      </p:sp>
      <p:sp>
        <p:nvSpPr>
          <p:cNvPr id="184" name="BA_L8">
            <a:extLst>
              <a:ext uri="{FF2B5EF4-FFF2-40B4-BE49-F238E27FC236}">
                <a16:creationId xmlns:a16="http://schemas.microsoft.com/office/drawing/2014/main" id="{406A9F84-4A0F-96C9-CC3C-25BF12AC3A4A}"/>
              </a:ext>
            </a:extLst>
          </p:cNvPr>
          <p:cNvSpPr/>
          <p:nvPr/>
        </p:nvSpPr>
        <p:spPr>
          <a:xfrm>
            <a:off x="8114072" y="3027052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L8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API Archivage</a:t>
            </a:r>
          </a:p>
        </p:txBody>
      </p:sp>
      <p:sp>
        <p:nvSpPr>
          <p:cNvPr id="185" name="BA_L9">
            <a:extLst>
              <a:ext uri="{FF2B5EF4-FFF2-40B4-BE49-F238E27FC236}">
                <a16:creationId xmlns:a16="http://schemas.microsoft.com/office/drawing/2014/main" id="{908134EE-B6D8-307A-1631-EEADA04B6466}"/>
              </a:ext>
            </a:extLst>
          </p:cNvPr>
          <p:cNvSpPr/>
          <p:nvPr/>
        </p:nvSpPr>
        <p:spPr>
          <a:xfrm>
            <a:off x="8803280" y="3027052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L9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API Structure</a:t>
            </a:r>
          </a:p>
        </p:txBody>
      </p:sp>
      <p:sp>
        <p:nvSpPr>
          <p:cNvPr id="186" name="BA_N6">
            <a:extLst>
              <a:ext uri="{FF2B5EF4-FFF2-40B4-BE49-F238E27FC236}">
                <a16:creationId xmlns:a16="http://schemas.microsoft.com/office/drawing/2014/main" id="{BCC3F058-3FD1-7A74-B978-64D58A1102C1}"/>
              </a:ext>
            </a:extLst>
          </p:cNvPr>
          <p:cNvSpPr/>
          <p:nvPr/>
        </p:nvSpPr>
        <p:spPr>
          <a:xfrm>
            <a:off x="9490384" y="3034498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N6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API produit</a:t>
            </a:r>
          </a:p>
        </p:txBody>
      </p:sp>
      <p:sp>
        <p:nvSpPr>
          <p:cNvPr id="187" name="BA_N8">
            <a:extLst>
              <a:ext uri="{FF2B5EF4-FFF2-40B4-BE49-F238E27FC236}">
                <a16:creationId xmlns:a16="http://schemas.microsoft.com/office/drawing/2014/main" id="{F01B0DB9-9286-BB7F-F0AC-C89658EE2035}"/>
              </a:ext>
            </a:extLst>
          </p:cNvPr>
          <p:cNvSpPr/>
          <p:nvPr/>
        </p:nvSpPr>
        <p:spPr>
          <a:xfrm>
            <a:off x="10160477" y="3034498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N8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Notif</a:t>
            </a: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. Distributeur</a:t>
            </a:r>
          </a:p>
        </p:txBody>
      </p:sp>
      <p:sp>
        <p:nvSpPr>
          <p:cNvPr id="188" name="BA_P4">
            <a:extLst>
              <a:ext uri="{FF2B5EF4-FFF2-40B4-BE49-F238E27FC236}">
                <a16:creationId xmlns:a16="http://schemas.microsoft.com/office/drawing/2014/main" id="{4B64AF8D-023F-96B9-AB3B-DEF7D941BA3F}"/>
              </a:ext>
            </a:extLst>
          </p:cNvPr>
          <p:cNvSpPr/>
          <p:nvPr/>
        </p:nvSpPr>
        <p:spPr>
          <a:xfrm>
            <a:off x="8114072" y="3354466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P4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Services Editique</a:t>
            </a:r>
          </a:p>
        </p:txBody>
      </p:sp>
      <p:sp>
        <p:nvSpPr>
          <p:cNvPr id="189" name="BA_P5">
            <a:extLst>
              <a:ext uri="{FF2B5EF4-FFF2-40B4-BE49-F238E27FC236}">
                <a16:creationId xmlns:a16="http://schemas.microsoft.com/office/drawing/2014/main" id="{B2BF988D-B81C-8B49-81D1-A9053316871E}"/>
              </a:ext>
            </a:extLst>
          </p:cNvPr>
          <p:cNvSpPr/>
          <p:nvPr/>
        </p:nvSpPr>
        <p:spPr>
          <a:xfrm>
            <a:off x="8803280" y="3354466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P5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API Contrat</a:t>
            </a:r>
          </a:p>
        </p:txBody>
      </p:sp>
      <p:sp>
        <p:nvSpPr>
          <p:cNvPr id="190" name="BA_P6">
            <a:extLst>
              <a:ext uri="{FF2B5EF4-FFF2-40B4-BE49-F238E27FC236}">
                <a16:creationId xmlns:a16="http://schemas.microsoft.com/office/drawing/2014/main" id="{775D76FF-966D-9B9B-BBB8-E26CC2EB420E}"/>
              </a:ext>
            </a:extLst>
          </p:cNvPr>
          <p:cNvSpPr/>
          <p:nvPr/>
        </p:nvSpPr>
        <p:spPr>
          <a:xfrm>
            <a:off x="9490384" y="3369007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P6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API Support</a:t>
            </a:r>
          </a:p>
        </p:txBody>
      </p:sp>
      <p:sp>
        <p:nvSpPr>
          <p:cNvPr id="191" name="BA_P7">
            <a:extLst>
              <a:ext uri="{FF2B5EF4-FFF2-40B4-BE49-F238E27FC236}">
                <a16:creationId xmlns:a16="http://schemas.microsoft.com/office/drawing/2014/main" id="{0AEF9538-DFD5-2169-D783-848CBA444780}"/>
              </a:ext>
            </a:extLst>
          </p:cNvPr>
          <p:cNvSpPr/>
          <p:nvPr/>
        </p:nvSpPr>
        <p:spPr>
          <a:xfrm>
            <a:off x="10160477" y="3369007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P7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Campagnes et Frais</a:t>
            </a:r>
          </a:p>
        </p:txBody>
      </p:sp>
      <p:sp>
        <p:nvSpPr>
          <p:cNvPr id="192" name="BA_P8">
            <a:extLst>
              <a:ext uri="{FF2B5EF4-FFF2-40B4-BE49-F238E27FC236}">
                <a16:creationId xmlns:a16="http://schemas.microsoft.com/office/drawing/2014/main" id="{82DDD19E-B644-D150-5D43-143988F6DB3A}"/>
              </a:ext>
            </a:extLst>
          </p:cNvPr>
          <p:cNvSpPr/>
          <p:nvPr/>
        </p:nvSpPr>
        <p:spPr>
          <a:xfrm>
            <a:off x="8114072" y="3698914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P8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Habilit</a:t>
            </a: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. &amp;  </a:t>
            </a:r>
            <a:r>
              <a:rPr kumimoji="0" lang="fr-FR" sz="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Délég</a:t>
            </a: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.</a:t>
            </a:r>
          </a:p>
        </p:txBody>
      </p:sp>
      <p:sp>
        <p:nvSpPr>
          <p:cNvPr id="193" name="BA_Q1">
            <a:extLst>
              <a:ext uri="{FF2B5EF4-FFF2-40B4-BE49-F238E27FC236}">
                <a16:creationId xmlns:a16="http://schemas.microsoft.com/office/drawing/2014/main" id="{1839A23E-589C-46B3-1C4C-20B93201BD63}"/>
              </a:ext>
            </a:extLst>
          </p:cNvPr>
          <p:cNvSpPr/>
          <p:nvPr/>
        </p:nvSpPr>
        <p:spPr>
          <a:xfrm>
            <a:off x="8803280" y="3698914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Q1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API </a:t>
            </a:r>
            <a:r>
              <a:rPr kumimoji="0" lang="fr-FR" sz="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Déciséo</a:t>
            </a:r>
            <a:endParaRPr kumimoji="0" lang="fr-FR" sz="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4" name="BA_W1">
            <a:extLst>
              <a:ext uri="{FF2B5EF4-FFF2-40B4-BE49-F238E27FC236}">
                <a16:creationId xmlns:a16="http://schemas.microsoft.com/office/drawing/2014/main" id="{B2A7FC56-5F84-9C5C-8007-55E7D649828A}"/>
              </a:ext>
            </a:extLst>
          </p:cNvPr>
          <p:cNvSpPr/>
          <p:nvPr/>
        </p:nvSpPr>
        <p:spPr>
          <a:xfrm>
            <a:off x="8114072" y="4023294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W1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API Signature</a:t>
            </a:r>
          </a:p>
        </p:txBody>
      </p:sp>
      <p:sp>
        <p:nvSpPr>
          <p:cNvPr id="195" name="BA_W2">
            <a:extLst>
              <a:ext uri="{FF2B5EF4-FFF2-40B4-BE49-F238E27FC236}">
                <a16:creationId xmlns:a16="http://schemas.microsoft.com/office/drawing/2014/main" id="{B7B9F637-498B-6440-E167-3BA7297D3A04}"/>
              </a:ext>
            </a:extLst>
          </p:cNvPr>
          <p:cNvSpPr/>
          <p:nvPr/>
        </p:nvSpPr>
        <p:spPr>
          <a:xfrm>
            <a:off x="8803280" y="4023294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W2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Clause </a:t>
            </a:r>
            <a:r>
              <a:rPr kumimoji="0" lang="fr-FR" sz="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Bénéf</a:t>
            </a: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.</a:t>
            </a:r>
          </a:p>
        </p:txBody>
      </p:sp>
      <p:sp>
        <p:nvSpPr>
          <p:cNvPr id="196" name="BA_W4">
            <a:extLst>
              <a:ext uri="{FF2B5EF4-FFF2-40B4-BE49-F238E27FC236}">
                <a16:creationId xmlns:a16="http://schemas.microsoft.com/office/drawing/2014/main" id="{17920E53-19C3-1C00-03AC-7F9AE90CAC46}"/>
              </a:ext>
            </a:extLst>
          </p:cNvPr>
          <p:cNvSpPr/>
          <p:nvPr/>
        </p:nvSpPr>
        <p:spPr>
          <a:xfrm>
            <a:off x="9490384" y="4047213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W4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Modif</a:t>
            </a: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. </a:t>
            </a:r>
            <a:r>
              <a:rPr kumimoji="0" lang="fr-FR" sz="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Gar</a:t>
            </a: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. </a:t>
            </a:r>
            <a:r>
              <a:rPr kumimoji="0" lang="fr-FR" sz="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Prév</a:t>
            </a: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.</a:t>
            </a:r>
          </a:p>
        </p:txBody>
      </p:sp>
      <p:sp>
        <p:nvSpPr>
          <p:cNvPr id="197" name="Gr_REFUC">
            <a:extLst>
              <a:ext uri="{FF2B5EF4-FFF2-40B4-BE49-F238E27FC236}">
                <a16:creationId xmlns:a16="http://schemas.microsoft.com/office/drawing/2014/main" id="{2E58212B-2254-4B3A-D02B-762F3EE0C57B}"/>
              </a:ext>
            </a:extLst>
          </p:cNvPr>
          <p:cNvSpPr/>
          <p:nvPr/>
        </p:nvSpPr>
        <p:spPr>
          <a:xfrm>
            <a:off x="4497472" y="3115682"/>
            <a:ext cx="769204" cy="591273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  <a:effectLst>
            <a:outerShdw blurRad="50800" dist="38100" dir="2700000" algn="ctr" rotWithShape="0">
              <a:schemeClr val="tx1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/>
            </a:endParaRPr>
          </a:p>
        </p:txBody>
      </p:sp>
      <p:sp>
        <p:nvSpPr>
          <p:cNvPr id="198" name="ZT_REFUC">
            <a:extLst>
              <a:ext uri="{FF2B5EF4-FFF2-40B4-BE49-F238E27FC236}">
                <a16:creationId xmlns:a16="http://schemas.microsoft.com/office/drawing/2014/main" id="{6160C833-470D-4EE5-8D74-851D5C09514E}"/>
              </a:ext>
            </a:extLst>
          </p:cNvPr>
          <p:cNvSpPr txBox="1"/>
          <p:nvPr/>
        </p:nvSpPr>
        <p:spPr>
          <a:xfrm>
            <a:off x="4585812" y="3143267"/>
            <a:ext cx="664123" cy="246221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REFUC</a:t>
            </a:r>
          </a:p>
        </p:txBody>
      </p:sp>
      <p:sp>
        <p:nvSpPr>
          <p:cNvPr id="199" name="BA_VL">
            <a:extLst>
              <a:ext uri="{FF2B5EF4-FFF2-40B4-BE49-F238E27FC236}">
                <a16:creationId xmlns:a16="http://schemas.microsoft.com/office/drawing/2014/main" id="{72632A25-B72C-F953-6DDD-DCD0E36170C8}"/>
              </a:ext>
            </a:extLst>
          </p:cNvPr>
          <p:cNvSpPr/>
          <p:nvPr/>
        </p:nvSpPr>
        <p:spPr>
          <a:xfrm>
            <a:off x="4562134" y="3360904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VL</a:t>
            </a:r>
            <a:endParaRPr kumimoji="0" lang="fr-FR" sz="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Référ</a:t>
            </a: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. UC</a:t>
            </a:r>
          </a:p>
        </p:txBody>
      </p:sp>
      <p:sp>
        <p:nvSpPr>
          <p:cNvPr id="200" name="Gr_EBX">
            <a:extLst>
              <a:ext uri="{FF2B5EF4-FFF2-40B4-BE49-F238E27FC236}">
                <a16:creationId xmlns:a16="http://schemas.microsoft.com/office/drawing/2014/main" id="{ECF87BFF-2B0E-A196-383C-146FD8461B77}"/>
              </a:ext>
            </a:extLst>
          </p:cNvPr>
          <p:cNvSpPr/>
          <p:nvPr/>
        </p:nvSpPr>
        <p:spPr>
          <a:xfrm>
            <a:off x="3593887" y="3113812"/>
            <a:ext cx="834318" cy="61200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  <a:effectLst>
            <a:outerShdw blurRad="50800" dist="38100" dir="2700000" algn="ctr" rotWithShape="0">
              <a:schemeClr val="tx1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/>
            </a:endParaRPr>
          </a:p>
        </p:txBody>
      </p:sp>
      <p:sp>
        <p:nvSpPr>
          <p:cNvPr id="201" name="ZT_EBX">
            <a:extLst>
              <a:ext uri="{FF2B5EF4-FFF2-40B4-BE49-F238E27FC236}">
                <a16:creationId xmlns:a16="http://schemas.microsoft.com/office/drawing/2014/main" id="{1D7384B7-4B5C-4D3C-D039-DA85FB839346}"/>
              </a:ext>
            </a:extLst>
          </p:cNvPr>
          <p:cNvSpPr txBox="1"/>
          <p:nvPr/>
        </p:nvSpPr>
        <p:spPr>
          <a:xfrm>
            <a:off x="3603261" y="3141397"/>
            <a:ext cx="824943" cy="246221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EBX</a:t>
            </a:r>
          </a:p>
        </p:txBody>
      </p:sp>
      <p:sp>
        <p:nvSpPr>
          <p:cNvPr id="202" name="BA_EBX">
            <a:extLst>
              <a:ext uri="{FF2B5EF4-FFF2-40B4-BE49-F238E27FC236}">
                <a16:creationId xmlns:a16="http://schemas.microsoft.com/office/drawing/2014/main" id="{688B8A11-72BE-1516-CF6F-E4C843B7E89A}"/>
              </a:ext>
            </a:extLst>
          </p:cNvPr>
          <p:cNvSpPr/>
          <p:nvPr/>
        </p:nvSpPr>
        <p:spPr>
          <a:xfrm>
            <a:off x="3697255" y="3370753"/>
            <a:ext cx="648000" cy="276281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EBX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EBX-Platform</a:t>
            </a:r>
          </a:p>
        </p:txBody>
      </p:sp>
      <p:sp>
        <p:nvSpPr>
          <p:cNvPr id="203" name="ZoneProjet">
            <a:extLst>
              <a:ext uri="{FF2B5EF4-FFF2-40B4-BE49-F238E27FC236}">
                <a16:creationId xmlns:a16="http://schemas.microsoft.com/office/drawing/2014/main" id="{A307322A-1FCC-07E6-F34B-40FE42521FB4}"/>
              </a:ext>
            </a:extLst>
          </p:cNvPr>
          <p:cNvSpPr txBox="1"/>
          <p:nvPr/>
        </p:nvSpPr>
        <p:spPr>
          <a:xfrm>
            <a:off x="1361039" y="524643"/>
            <a:ext cx="923330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>
            <a:defPPr>
              <a:defRPr lang="fr-FR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b="1" i="0" u="none" strike="noStrike" cap="none" spc="0" normalizeH="0" baseline="0">
                <a:ln>
                  <a:noFill/>
                </a:ln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PROJET</a:t>
            </a:r>
            <a:endParaRPr lang="fr-FR" dirty="0"/>
          </a:p>
        </p:txBody>
      </p:sp>
      <p:sp>
        <p:nvSpPr>
          <p:cNvPr id="204" name="ZT_Titre">
            <a:extLst>
              <a:ext uri="{FF2B5EF4-FFF2-40B4-BE49-F238E27FC236}">
                <a16:creationId xmlns:a16="http://schemas.microsoft.com/office/drawing/2014/main" id="{FC10913A-53A0-248F-81F5-3225D7ED4395}"/>
              </a:ext>
            </a:extLst>
          </p:cNvPr>
          <p:cNvSpPr txBox="1"/>
          <p:nvPr/>
        </p:nvSpPr>
        <p:spPr>
          <a:xfrm>
            <a:off x="0" y="-124544"/>
            <a:ext cx="12192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800" b="0" i="0" u="none" strike="noStrike" kern="1200" cap="none" spc="0" normalizeH="0" baseline="0" noProof="0" dirty="0">
                <a:ln>
                  <a:noFill/>
                </a:ln>
                <a:solidFill>
                  <a:srgbClr val="5B9BD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Identification des composants applicatifs</a:t>
            </a:r>
          </a:p>
        </p:txBody>
      </p:sp>
      <p:sp>
        <p:nvSpPr>
          <p:cNvPr id="205" name="Gr_BDOC">
            <a:extLst>
              <a:ext uri="{FF2B5EF4-FFF2-40B4-BE49-F238E27FC236}">
                <a16:creationId xmlns:a16="http://schemas.microsoft.com/office/drawing/2014/main" id="{9A5F1B39-96EA-FE01-A530-72EA86A44961}"/>
              </a:ext>
            </a:extLst>
          </p:cNvPr>
          <p:cNvSpPr/>
          <p:nvPr/>
        </p:nvSpPr>
        <p:spPr>
          <a:xfrm>
            <a:off x="5353697" y="3111592"/>
            <a:ext cx="744111" cy="61200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  <a:effectLst>
            <a:outerShdw blurRad="50800" dist="38100" dir="2700000" algn="ctr" rotWithShape="0">
              <a:schemeClr val="tx1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/>
            </a:endParaRPr>
          </a:p>
        </p:txBody>
      </p:sp>
      <p:sp>
        <p:nvSpPr>
          <p:cNvPr id="206" name="ZT_BDOC">
            <a:extLst>
              <a:ext uri="{FF2B5EF4-FFF2-40B4-BE49-F238E27FC236}">
                <a16:creationId xmlns:a16="http://schemas.microsoft.com/office/drawing/2014/main" id="{0A8BFD1A-01D6-2A64-4F36-FFB55A1506B3}"/>
              </a:ext>
            </a:extLst>
          </p:cNvPr>
          <p:cNvSpPr txBox="1"/>
          <p:nvPr/>
        </p:nvSpPr>
        <p:spPr>
          <a:xfrm>
            <a:off x="5429887" y="3139177"/>
            <a:ext cx="623531" cy="246221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BDOC</a:t>
            </a:r>
          </a:p>
        </p:txBody>
      </p:sp>
      <p:sp>
        <p:nvSpPr>
          <p:cNvPr id="207" name="BA_BX">
            <a:extLst>
              <a:ext uri="{FF2B5EF4-FFF2-40B4-BE49-F238E27FC236}">
                <a16:creationId xmlns:a16="http://schemas.microsoft.com/office/drawing/2014/main" id="{C8DC9601-7ACA-3353-5175-11C020D8EDEB}"/>
              </a:ext>
            </a:extLst>
          </p:cNvPr>
          <p:cNvSpPr/>
          <p:nvPr/>
        </p:nvSpPr>
        <p:spPr>
          <a:xfrm>
            <a:off x="5405378" y="3393901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BX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BDOC WEB</a:t>
            </a:r>
          </a:p>
        </p:txBody>
      </p:sp>
      <p:sp>
        <p:nvSpPr>
          <p:cNvPr id="208" name="ZT_MàJ">
            <a:extLst>
              <a:ext uri="{FF2B5EF4-FFF2-40B4-BE49-F238E27FC236}">
                <a16:creationId xmlns:a16="http://schemas.microsoft.com/office/drawing/2014/main" id="{C2E43003-C76D-3615-5841-2B3BAAECF650}"/>
              </a:ext>
            </a:extLst>
          </p:cNvPr>
          <p:cNvSpPr txBox="1"/>
          <p:nvPr/>
        </p:nvSpPr>
        <p:spPr>
          <a:xfrm>
            <a:off x="390525" y="6491355"/>
            <a:ext cx="169950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Mise à jour : xx/xx/2026</a:t>
            </a:r>
          </a:p>
        </p:txBody>
      </p:sp>
      <p:sp>
        <p:nvSpPr>
          <p:cNvPr id="209" name="ZT_Validité">
            <a:extLst>
              <a:ext uri="{FF2B5EF4-FFF2-40B4-BE49-F238E27FC236}">
                <a16:creationId xmlns:a16="http://schemas.microsoft.com/office/drawing/2014/main" id="{E735B017-CC79-A318-EDD3-DEA85C8A641F}"/>
              </a:ext>
            </a:extLst>
          </p:cNvPr>
          <p:cNvSpPr txBox="1"/>
          <p:nvPr/>
        </p:nvSpPr>
        <p:spPr>
          <a:xfrm>
            <a:off x="10479876" y="6501427"/>
            <a:ext cx="126444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Validité : T2 2026</a:t>
            </a:r>
          </a:p>
        </p:txBody>
      </p:sp>
      <p:sp>
        <p:nvSpPr>
          <p:cNvPr id="210" name="Légende_Comp3">
            <a:extLst>
              <a:ext uri="{FF2B5EF4-FFF2-40B4-BE49-F238E27FC236}">
                <a16:creationId xmlns:a16="http://schemas.microsoft.com/office/drawing/2014/main" id="{2EDA3A2E-B0B5-8CAB-4F63-6EFDA4C7CBD6}"/>
              </a:ext>
            </a:extLst>
          </p:cNvPr>
          <p:cNvSpPr/>
          <p:nvPr/>
        </p:nvSpPr>
        <p:spPr>
          <a:xfrm>
            <a:off x="6567797" y="549933"/>
            <a:ext cx="1080000" cy="360000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Composant </a:t>
            </a:r>
            <a:b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créé ou modifié</a:t>
            </a:r>
          </a:p>
        </p:txBody>
      </p:sp>
      <p:sp>
        <p:nvSpPr>
          <p:cNvPr id="211" name="Légende_Comp2">
            <a:extLst>
              <a:ext uri="{FF2B5EF4-FFF2-40B4-BE49-F238E27FC236}">
                <a16:creationId xmlns:a16="http://schemas.microsoft.com/office/drawing/2014/main" id="{3769E7BC-18D1-8634-AA2B-C705E64A9717}"/>
              </a:ext>
            </a:extLst>
          </p:cNvPr>
          <p:cNvSpPr/>
          <p:nvPr/>
        </p:nvSpPr>
        <p:spPr>
          <a:xfrm>
            <a:off x="5383906" y="547517"/>
            <a:ext cx="1080000" cy="360000"/>
          </a:xfrm>
          <a:prstGeom prst="round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Composant utilisé</a:t>
            </a:r>
          </a:p>
        </p:txBody>
      </p:sp>
      <p:sp>
        <p:nvSpPr>
          <p:cNvPr id="212" name="Légende_Comp1">
            <a:extLst>
              <a:ext uri="{FF2B5EF4-FFF2-40B4-BE49-F238E27FC236}">
                <a16:creationId xmlns:a16="http://schemas.microsoft.com/office/drawing/2014/main" id="{2A15E46A-3AEA-C6BF-9484-02063436004A}"/>
              </a:ext>
            </a:extLst>
          </p:cNvPr>
          <p:cNvSpPr/>
          <p:nvPr/>
        </p:nvSpPr>
        <p:spPr>
          <a:xfrm>
            <a:off x="4200015" y="542942"/>
            <a:ext cx="1080000" cy="360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Composant non exploité</a:t>
            </a:r>
          </a:p>
        </p:txBody>
      </p:sp>
      <p:sp>
        <p:nvSpPr>
          <p:cNvPr id="213" name="BA_T2">
            <a:extLst>
              <a:ext uri="{FF2B5EF4-FFF2-40B4-BE49-F238E27FC236}">
                <a16:creationId xmlns:a16="http://schemas.microsoft.com/office/drawing/2014/main" id="{E167565D-0178-0CEC-EB6F-49E915440818}"/>
              </a:ext>
            </a:extLst>
          </p:cNvPr>
          <p:cNvSpPr/>
          <p:nvPr/>
        </p:nvSpPr>
        <p:spPr>
          <a:xfrm>
            <a:off x="9490384" y="3696185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T2</a:t>
            </a:r>
            <a:endParaRPr kumimoji="0" lang="fr-FR" sz="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KConnect</a:t>
            </a: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 MUTU</a:t>
            </a:r>
          </a:p>
        </p:txBody>
      </p:sp>
      <p:sp>
        <p:nvSpPr>
          <p:cNvPr id="214" name="BA_T3">
            <a:extLst>
              <a:ext uri="{FF2B5EF4-FFF2-40B4-BE49-F238E27FC236}">
                <a16:creationId xmlns:a16="http://schemas.microsoft.com/office/drawing/2014/main" id="{95C52601-6FE6-93D5-D89B-0DC2140B123A}"/>
              </a:ext>
            </a:extLst>
          </p:cNvPr>
          <p:cNvSpPr/>
          <p:nvPr/>
        </p:nvSpPr>
        <p:spPr>
          <a:xfrm>
            <a:off x="10160477" y="3696185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T3</a:t>
            </a:r>
            <a:endParaRPr kumimoji="0" lang="fr-FR" sz="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KConnect</a:t>
            </a: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 CAA</a:t>
            </a:r>
          </a:p>
        </p:txBody>
      </p:sp>
      <p:sp>
        <p:nvSpPr>
          <p:cNvPr id="215" name="BA_F8">
            <a:extLst>
              <a:ext uri="{FF2B5EF4-FFF2-40B4-BE49-F238E27FC236}">
                <a16:creationId xmlns:a16="http://schemas.microsoft.com/office/drawing/2014/main" id="{BB388FB4-6F72-BDDF-58C1-40CF7FF448A7}"/>
              </a:ext>
            </a:extLst>
          </p:cNvPr>
          <p:cNvSpPr/>
          <p:nvPr/>
        </p:nvSpPr>
        <p:spPr>
          <a:xfrm>
            <a:off x="8803280" y="2047150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F8</a:t>
            </a:r>
            <a:endParaRPr kumimoji="0" lang="fr-FR" sz="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API MOOP</a:t>
            </a:r>
          </a:p>
        </p:txBody>
      </p:sp>
      <p:sp>
        <p:nvSpPr>
          <p:cNvPr id="216" name="Gr_ETL">
            <a:extLst>
              <a:ext uri="{FF2B5EF4-FFF2-40B4-BE49-F238E27FC236}">
                <a16:creationId xmlns:a16="http://schemas.microsoft.com/office/drawing/2014/main" id="{9ACD412C-ED3E-173E-A599-235238920389}"/>
              </a:ext>
            </a:extLst>
          </p:cNvPr>
          <p:cNvSpPr/>
          <p:nvPr/>
        </p:nvSpPr>
        <p:spPr>
          <a:xfrm>
            <a:off x="1617823" y="2849127"/>
            <a:ext cx="862923" cy="561929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  <a:effectLst>
            <a:outerShdw blurRad="50800" dist="38100" dir="2700000" algn="ctr" rotWithShape="0">
              <a:schemeClr val="tx1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/>
            </a:endParaRPr>
          </a:p>
        </p:txBody>
      </p:sp>
      <p:sp>
        <p:nvSpPr>
          <p:cNvPr id="217" name="ZT_ETL">
            <a:extLst>
              <a:ext uri="{FF2B5EF4-FFF2-40B4-BE49-F238E27FC236}">
                <a16:creationId xmlns:a16="http://schemas.microsoft.com/office/drawing/2014/main" id="{1EE58B09-6DB4-907E-557D-F2E69FA57244}"/>
              </a:ext>
            </a:extLst>
          </p:cNvPr>
          <p:cNvSpPr txBox="1"/>
          <p:nvPr/>
        </p:nvSpPr>
        <p:spPr>
          <a:xfrm>
            <a:off x="1611935" y="2858784"/>
            <a:ext cx="898650" cy="246221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ETL</a:t>
            </a:r>
          </a:p>
        </p:txBody>
      </p:sp>
      <p:sp>
        <p:nvSpPr>
          <p:cNvPr id="218" name="BA_PWC2">
            <a:extLst>
              <a:ext uri="{FF2B5EF4-FFF2-40B4-BE49-F238E27FC236}">
                <a16:creationId xmlns:a16="http://schemas.microsoft.com/office/drawing/2014/main" id="{67059F7C-18D1-1ABD-17E8-DAC1B23855C0}"/>
              </a:ext>
            </a:extLst>
          </p:cNvPr>
          <p:cNvSpPr/>
          <p:nvPr/>
        </p:nvSpPr>
        <p:spPr>
          <a:xfrm>
            <a:off x="1715817" y="3076593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PWC2</a:t>
            </a:r>
            <a:endParaRPr kumimoji="0" lang="fr-FR" sz="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ETL PREDICA</a:t>
            </a:r>
          </a:p>
        </p:txBody>
      </p:sp>
      <p:sp>
        <p:nvSpPr>
          <p:cNvPr id="219" name="Légende_Date1">
            <a:extLst>
              <a:ext uri="{FF2B5EF4-FFF2-40B4-BE49-F238E27FC236}">
                <a16:creationId xmlns:a16="http://schemas.microsoft.com/office/drawing/2014/main" id="{7A86E382-DE2E-CEB1-94B1-693A5D555BF0}"/>
              </a:ext>
            </a:extLst>
          </p:cNvPr>
          <p:cNvSpPr txBox="1"/>
          <p:nvPr/>
        </p:nvSpPr>
        <p:spPr>
          <a:xfrm rot="19102564">
            <a:off x="7647306" y="559123"/>
            <a:ext cx="927160" cy="369332"/>
          </a:xfrm>
          <a:prstGeom prst="rect">
            <a:avLst/>
          </a:prstGeom>
          <a:noFill/>
          <a:ln cap="flat">
            <a:noFill/>
            <a:prstDash val="solid"/>
          </a:ln>
          <a:effectLst>
            <a:softEdge rad="0"/>
          </a:effectLst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900" b="0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Date de </a:t>
            </a:r>
            <a:r>
              <a:rPr kumimoji="0" lang="fr-FR" sz="900" b="0" i="0" u="none" strike="noStrike" kern="1200" cap="none" spc="0" normalizeH="0" baseline="0" noProof="0" dirty="0" err="1">
                <a:ln>
                  <a:noFill/>
                </a:ln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MeP</a:t>
            </a:r>
            <a:r>
              <a:rPr kumimoji="0" lang="fr-FR" sz="900" b="0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 prévue</a:t>
            </a:r>
          </a:p>
        </p:txBody>
      </p:sp>
      <p:sp>
        <p:nvSpPr>
          <p:cNvPr id="222" name="Légende_Date2">
            <a:extLst>
              <a:ext uri="{FF2B5EF4-FFF2-40B4-BE49-F238E27FC236}">
                <a16:creationId xmlns:a16="http://schemas.microsoft.com/office/drawing/2014/main" id="{A4784689-E7E3-6029-843C-9710ABBABEE2}"/>
              </a:ext>
            </a:extLst>
          </p:cNvPr>
          <p:cNvSpPr txBox="1"/>
          <p:nvPr/>
        </p:nvSpPr>
        <p:spPr>
          <a:xfrm rot="19102564">
            <a:off x="8343008" y="568799"/>
            <a:ext cx="927160" cy="369332"/>
          </a:xfrm>
          <a:prstGeom prst="rect">
            <a:avLst/>
          </a:prstGeom>
          <a:noFill/>
          <a:ln cap="flat">
            <a:noFill/>
            <a:prstDash val="solid"/>
          </a:ln>
          <a:effectLst>
            <a:softEdge rad="0"/>
          </a:effectLst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900" b="0" i="0" u="none" strike="noStrike" kern="1200" cap="none" spc="0" normalizeH="0" baseline="0" noProof="0" dirty="0">
                <a:ln>
                  <a:noFill/>
                </a:ln>
                <a:solidFill>
                  <a:srgbClr val="70AD4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Date de </a:t>
            </a:r>
            <a:r>
              <a:rPr kumimoji="0" lang="fr-FR" sz="900" b="0" i="0" u="none" strike="noStrike" kern="1200" cap="none" spc="0" normalizeH="0" baseline="0" noProof="0" dirty="0" err="1">
                <a:ln>
                  <a:noFill/>
                </a:ln>
                <a:solidFill>
                  <a:srgbClr val="70AD4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MeP</a:t>
            </a:r>
            <a:r>
              <a:rPr kumimoji="0" lang="fr-FR" sz="900" b="0" i="0" u="none" strike="noStrike" kern="1200" cap="none" spc="0" normalizeH="0" baseline="0" noProof="0" dirty="0">
                <a:ln>
                  <a:noFill/>
                </a:ln>
                <a:solidFill>
                  <a:srgbClr val="70AD4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 effective</a:t>
            </a:r>
          </a:p>
        </p:txBody>
      </p:sp>
      <p:sp>
        <p:nvSpPr>
          <p:cNvPr id="223" name="Gr_CATS">
            <a:extLst>
              <a:ext uri="{FF2B5EF4-FFF2-40B4-BE49-F238E27FC236}">
                <a16:creationId xmlns:a16="http://schemas.microsoft.com/office/drawing/2014/main" id="{4E721E06-1657-1E09-D264-EA8DFA6AF8FC}"/>
              </a:ext>
            </a:extLst>
          </p:cNvPr>
          <p:cNvSpPr/>
          <p:nvPr/>
        </p:nvSpPr>
        <p:spPr>
          <a:xfrm>
            <a:off x="447324" y="5119889"/>
            <a:ext cx="5579420" cy="1254012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4" name="ZT_CATS">
            <a:extLst>
              <a:ext uri="{FF2B5EF4-FFF2-40B4-BE49-F238E27FC236}">
                <a16:creationId xmlns:a16="http://schemas.microsoft.com/office/drawing/2014/main" id="{4C65D0CE-86A9-C057-10EB-FA84630C19E3}"/>
              </a:ext>
            </a:extLst>
          </p:cNvPr>
          <p:cNvSpPr txBox="1"/>
          <p:nvPr/>
        </p:nvSpPr>
        <p:spPr>
          <a:xfrm>
            <a:off x="370835" y="5083258"/>
            <a:ext cx="5409144" cy="246221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CA-TS</a:t>
            </a:r>
            <a:endParaRPr kumimoji="0" lang="fr-FR" sz="1000" b="1" i="1" u="none" strike="noStrike" kern="1200" cap="none" spc="0" normalizeH="0" baseline="0" noProof="0" dirty="0">
              <a:ln>
                <a:noFill/>
              </a:ln>
              <a:solidFill>
                <a:srgbClr val="7030A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5" name="BA_PDI9">
            <a:extLst>
              <a:ext uri="{FF2B5EF4-FFF2-40B4-BE49-F238E27FC236}">
                <a16:creationId xmlns:a16="http://schemas.microsoft.com/office/drawing/2014/main" id="{84959091-E5BD-383E-3EF3-0C7D435DBF11}"/>
              </a:ext>
            </a:extLst>
          </p:cNvPr>
          <p:cNvSpPr/>
          <p:nvPr/>
        </p:nvSpPr>
        <p:spPr>
          <a:xfrm>
            <a:off x="506780" y="5666800"/>
            <a:ext cx="648000" cy="288000"/>
          </a:xfrm>
          <a:prstGeom prst="roundRect">
            <a:avLst/>
          </a:prstGeom>
          <a:solidFill>
            <a:srgbClr val="B6D3EC"/>
          </a:solidFill>
          <a:ln w="6350"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PDI9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6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/>
              </a:rPr>
              <a:t>-</a:t>
            </a:r>
            <a:endParaRPr kumimoji="0" lang="fr-FR" sz="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6" name="BA_XConnect">
            <a:extLst>
              <a:ext uri="{FF2B5EF4-FFF2-40B4-BE49-F238E27FC236}">
                <a16:creationId xmlns:a16="http://schemas.microsoft.com/office/drawing/2014/main" id="{56E99C3E-92BD-BC36-F060-519B7277B2B5}"/>
              </a:ext>
            </a:extLst>
          </p:cNvPr>
          <p:cNvSpPr/>
          <p:nvPr/>
        </p:nvSpPr>
        <p:spPr>
          <a:xfrm>
            <a:off x="1189563" y="5663009"/>
            <a:ext cx="648000" cy="288000"/>
          </a:xfrm>
          <a:prstGeom prst="roundRect">
            <a:avLst/>
          </a:prstGeom>
          <a:solidFill>
            <a:srgbClr val="B6D3EC"/>
          </a:solidFill>
          <a:ln w="6350"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Xconnect</a:t>
            </a:r>
            <a:endParaRPr kumimoji="0" lang="fr-FR" sz="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6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/>
              </a:rPr>
              <a:t>-</a:t>
            </a:r>
            <a:endParaRPr kumimoji="0" lang="fr-FR" sz="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7" name="BA_SIMM">
            <a:extLst>
              <a:ext uri="{FF2B5EF4-FFF2-40B4-BE49-F238E27FC236}">
                <a16:creationId xmlns:a16="http://schemas.microsoft.com/office/drawing/2014/main" id="{D776705E-BB21-E661-F3D9-5735815BA8C8}"/>
              </a:ext>
            </a:extLst>
          </p:cNvPr>
          <p:cNvSpPr/>
          <p:nvPr/>
        </p:nvSpPr>
        <p:spPr>
          <a:xfrm>
            <a:off x="2557693" y="5660385"/>
            <a:ext cx="648000" cy="288000"/>
          </a:xfrm>
          <a:prstGeom prst="roundRect">
            <a:avLst/>
          </a:prstGeom>
          <a:solidFill>
            <a:srgbClr val="B6D3EC"/>
          </a:solidFill>
          <a:ln w="6350"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SIMM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6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/>
              </a:rPr>
              <a:t>-</a:t>
            </a:r>
            <a:endParaRPr kumimoji="0" lang="fr-FR" sz="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8" name="BA_BAM">
            <a:extLst>
              <a:ext uri="{FF2B5EF4-FFF2-40B4-BE49-F238E27FC236}">
                <a16:creationId xmlns:a16="http://schemas.microsoft.com/office/drawing/2014/main" id="{AA3C2109-E949-6E73-C26F-B58ACA170EF3}"/>
              </a:ext>
            </a:extLst>
          </p:cNvPr>
          <p:cNvSpPr/>
          <p:nvPr/>
        </p:nvSpPr>
        <p:spPr>
          <a:xfrm>
            <a:off x="2833493" y="5340532"/>
            <a:ext cx="648000" cy="288000"/>
          </a:xfrm>
          <a:prstGeom prst="roundRect">
            <a:avLst/>
          </a:prstGeom>
          <a:solidFill>
            <a:srgbClr val="B6D3EC"/>
          </a:solidFill>
          <a:ln w="6350"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BAM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6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/>
              </a:rPr>
              <a:t>-</a:t>
            </a:r>
            <a:endParaRPr kumimoji="0" lang="fr-FR" sz="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9" name="BA_RAC">
            <a:extLst>
              <a:ext uri="{FF2B5EF4-FFF2-40B4-BE49-F238E27FC236}">
                <a16:creationId xmlns:a16="http://schemas.microsoft.com/office/drawing/2014/main" id="{28C4921B-E919-B286-AAFA-C24E708988E3}"/>
              </a:ext>
            </a:extLst>
          </p:cNvPr>
          <p:cNvSpPr/>
          <p:nvPr/>
        </p:nvSpPr>
        <p:spPr>
          <a:xfrm>
            <a:off x="4892893" y="5338051"/>
            <a:ext cx="648000" cy="288000"/>
          </a:xfrm>
          <a:prstGeom prst="roundRect">
            <a:avLst/>
          </a:prstGeom>
          <a:solidFill>
            <a:srgbClr val="B6D3EC"/>
          </a:solidFill>
          <a:ln w="6350"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RAC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6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/>
              </a:rPr>
              <a:t>-</a:t>
            </a:r>
            <a:endParaRPr kumimoji="0" lang="fr-FR" sz="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0" name="BA_DétContratNatifMB">
            <a:extLst>
              <a:ext uri="{FF2B5EF4-FFF2-40B4-BE49-F238E27FC236}">
                <a16:creationId xmlns:a16="http://schemas.microsoft.com/office/drawing/2014/main" id="{6B212EAD-E0C8-F1DB-7DE3-BBE0B617749E}"/>
              </a:ext>
            </a:extLst>
          </p:cNvPr>
          <p:cNvSpPr/>
          <p:nvPr/>
        </p:nvSpPr>
        <p:spPr>
          <a:xfrm>
            <a:off x="506780" y="5329301"/>
            <a:ext cx="1326281" cy="288000"/>
          </a:xfrm>
          <a:prstGeom prst="roundRect">
            <a:avLst/>
          </a:prstGeom>
          <a:solidFill>
            <a:srgbClr val="B6D3EC"/>
          </a:solidFill>
          <a:ln w="6350"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Dét</a:t>
            </a: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. Contrat natif MB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6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/>
              </a:rPr>
              <a:t>-</a:t>
            </a:r>
            <a:endParaRPr kumimoji="0" lang="fr-FR" sz="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1" name="BA_BPM">
            <a:extLst>
              <a:ext uri="{FF2B5EF4-FFF2-40B4-BE49-F238E27FC236}">
                <a16:creationId xmlns:a16="http://schemas.microsoft.com/office/drawing/2014/main" id="{8309CE81-1987-F1B6-0C1C-545D67CBD781}"/>
              </a:ext>
            </a:extLst>
          </p:cNvPr>
          <p:cNvSpPr/>
          <p:nvPr/>
        </p:nvSpPr>
        <p:spPr>
          <a:xfrm>
            <a:off x="1875772" y="5663009"/>
            <a:ext cx="648000" cy="288000"/>
          </a:xfrm>
          <a:prstGeom prst="roundRect">
            <a:avLst/>
          </a:prstGeom>
          <a:solidFill>
            <a:srgbClr val="B6D3EC"/>
          </a:solidFill>
          <a:ln w="6350"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BPM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6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/>
              </a:rPr>
              <a:t>-</a:t>
            </a:r>
            <a:endParaRPr kumimoji="0" lang="fr-FR" sz="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2" name="BA_APX9">
            <a:extLst>
              <a:ext uri="{FF2B5EF4-FFF2-40B4-BE49-F238E27FC236}">
                <a16:creationId xmlns:a16="http://schemas.microsoft.com/office/drawing/2014/main" id="{E3636943-3360-59EF-8F8A-D061C2BC7CFA}"/>
              </a:ext>
            </a:extLst>
          </p:cNvPr>
          <p:cNvSpPr/>
          <p:nvPr/>
        </p:nvSpPr>
        <p:spPr>
          <a:xfrm>
            <a:off x="511818" y="6003252"/>
            <a:ext cx="648000" cy="288000"/>
          </a:xfrm>
          <a:prstGeom prst="roundRect">
            <a:avLst/>
          </a:prstGeom>
          <a:solidFill>
            <a:srgbClr val="B6D3EC"/>
          </a:solidFill>
          <a:ln w="6350"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APX9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6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/>
              </a:rPr>
              <a:t>-</a:t>
            </a:r>
            <a:endParaRPr kumimoji="0" lang="fr-FR" sz="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3" name="BA_HUB">
            <a:extLst>
              <a:ext uri="{FF2B5EF4-FFF2-40B4-BE49-F238E27FC236}">
                <a16:creationId xmlns:a16="http://schemas.microsoft.com/office/drawing/2014/main" id="{F05EA48B-546A-4B2C-430B-2FBCC7621BA0}"/>
              </a:ext>
            </a:extLst>
          </p:cNvPr>
          <p:cNvSpPr/>
          <p:nvPr/>
        </p:nvSpPr>
        <p:spPr>
          <a:xfrm>
            <a:off x="3242082" y="5660385"/>
            <a:ext cx="648000" cy="288000"/>
          </a:xfrm>
          <a:prstGeom prst="roundRect">
            <a:avLst/>
          </a:prstGeom>
          <a:solidFill>
            <a:srgbClr val="B6D3EC"/>
          </a:solidFill>
          <a:ln w="6350"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HUB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6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/>
              </a:rPr>
              <a:t>-</a:t>
            </a:r>
            <a:endParaRPr kumimoji="0" lang="fr-FR" sz="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4" name="BA_NPC">
            <a:extLst>
              <a:ext uri="{FF2B5EF4-FFF2-40B4-BE49-F238E27FC236}">
                <a16:creationId xmlns:a16="http://schemas.microsoft.com/office/drawing/2014/main" id="{E4D46EFB-F6B4-CA0F-EA66-61F111A764C2}"/>
              </a:ext>
            </a:extLst>
          </p:cNvPr>
          <p:cNvSpPr/>
          <p:nvPr/>
        </p:nvSpPr>
        <p:spPr>
          <a:xfrm>
            <a:off x="3515693" y="5337169"/>
            <a:ext cx="648000" cy="288000"/>
          </a:xfrm>
          <a:prstGeom prst="roundRect">
            <a:avLst/>
          </a:prstGeom>
          <a:solidFill>
            <a:srgbClr val="B6D3EC"/>
          </a:solidFill>
          <a:ln w="6350"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NPC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6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/>
              </a:rPr>
              <a:t>-</a:t>
            </a:r>
            <a:endParaRPr kumimoji="0" lang="fr-FR" sz="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5" name="BA_Microservices">
            <a:extLst>
              <a:ext uri="{FF2B5EF4-FFF2-40B4-BE49-F238E27FC236}">
                <a16:creationId xmlns:a16="http://schemas.microsoft.com/office/drawing/2014/main" id="{BB040E7B-03D8-6F3E-EFEF-0F95DBECF8C9}"/>
              </a:ext>
            </a:extLst>
          </p:cNvPr>
          <p:cNvSpPr/>
          <p:nvPr/>
        </p:nvSpPr>
        <p:spPr>
          <a:xfrm>
            <a:off x="1867224" y="5336000"/>
            <a:ext cx="925408" cy="288000"/>
          </a:xfrm>
          <a:prstGeom prst="roundRect">
            <a:avLst/>
          </a:prstGeom>
          <a:solidFill>
            <a:srgbClr val="B6D3EC"/>
          </a:solidFill>
          <a:ln w="6350"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Microservices</a:t>
            </a:r>
            <a:endParaRPr kumimoji="0" lang="fr-FR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6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/>
              </a:rPr>
              <a:t>-</a:t>
            </a:r>
            <a:endParaRPr kumimoji="0" lang="fr-FR" sz="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6" name="BA_SIG9">
            <a:extLst>
              <a:ext uri="{FF2B5EF4-FFF2-40B4-BE49-F238E27FC236}">
                <a16:creationId xmlns:a16="http://schemas.microsoft.com/office/drawing/2014/main" id="{3935C8AB-ADC4-6677-B8DC-7093027A2677}"/>
              </a:ext>
            </a:extLst>
          </p:cNvPr>
          <p:cNvSpPr/>
          <p:nvPr/>
        </p:nvSpPr>
        <p:spPr>
          <a:xfrm>
            <a:off x="4203138" y="5331299"/>
            <a:ext cx="648000" cy="288000"/>
          </a:xfrm>
          <a:prstGeom prst="roundRect">
            <a:avLst/>
          </a:prstGeom>
          <a:solidFill>
            <a:srgbClr val="B6D3EC"/>
          </a:solidFill>
          <a:ln w="6350"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SIG9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6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/>
              </a:rPr>
              <a:t>-</a:t>
            </a:r>
            <a:endParaRPr kumimoji="0" lang="fr-FR" sz="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7" name="Gr_MVS">
            <a:extLst>
              <a:ext uri="{FF2B5EF4-FFF2-40B4-BE49-F238E27FC236}">
                <a16:creationId xmlns:a16="http://schemas.microsoft.com/office/drawing/2014/main" id="{7B3778F0-5ABD-8E76-4316-F6B32D63CBB9}"/>
              </a:ext>
            </a:extLst>
          </p:cNvPr>
          <p:cNvSpPr/>
          <p:nvPr/>
        </p:nvSpPr>
        <p:spPr>
          <a:xfrm>
            <a:off x="560497" y="1111645"/>
            <a:ext cx="2901105" cy="1661382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  <a:effectLst>
            <a:outerShdw blurRad="50800" dist="38100" dir="2700000" algn="ctr" rotWithShape="0">
              <a:schemeClr val="tx1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/>
            </a:endParaRPr>
          </a:p>
        </p:txBody>
      </p:sp>
      <p:sp>
        <p:nvSpPr>
          <p:cNvPr id="238" name="BA_CICS_LCL">
            <a:extLst>
              <a:ext uri="{FF2B5EF4-FFF2-40B4-BE49-F238E27FC236}">
                <a16:creationId xmlns:a16="http://schemas.microsoft.com/office/drawing/2014/main" id="{36F75F2A-FFDA-83C3-DCA4-554A9A881599}"/>
              </a:ext>
            </a:extLst>
          </p:cNvPr>
          <p:cNvSpPr/>
          <p:nvPr/>
        </p:nvSpPr>
        <p:spPr>
          <a:xfrm>
            <a:off x="623669" y="1641943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CICS</a:t>
            </a:r>
          </a:p>
        </p:txBody>
      </p:sp>
      <p:sp>
        <p:nvSpPr>
          <p:cNvPr id="239" name="BA_DB2_LCL">
            <a:extLst>
              <a:ext uri="{FF2B5EF4-FFF2-40B4-BE49-F238E27FC236}">
                <a16:creationId xmlns:a16="http://schemas.microsoft.com/office/drawing/2014/main" id="{3D021F45-4B7E-6AD6-7A9A-6463D21220FE}"/>
              </a:ext>
            </a:extLst>
          </p:cNvPr>
          <p:cNvSpPr/>
          <p:nvPr/>
        </p:nvSpPr>
        <p:spPr>
          <a:xfrm>
            <a:off x="1307275" y="1641222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DB2</a:t>
            </a:r>
          </a:p>
        </p:txBody>
      </p:sp>
      <p:sp>
        <p:nvSpPr>
          <p:cNvPr id="240" name="ZT_MVS">
            <a:extLst>
              <a:ext uri="{FF2B5EF4-FFF2-40B4-BE49-F238E27FC236}">
                <a16:creationId xmlns:a16="http://schemas.microsoft.com/office/drawing/2014/main" id="{62999DFF-5E62-BFD0-9054-4C3F3FC34225}"/>
              </a:ext>
            </a:extLst>
          </p:cNvPr>
          <p:cNvSpPr txBox="1"/>
          <p:nvPr/>
        </p:nvSpPr>
        <p:spPr>
          <a:xfrm>
            <a:off x="560496" y="1111645"/>
            <a:ext cx="2901106" cy="246221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MVS Z/OS (</a:t>
            </a:r>
            <a:r>
              <a:rPr kumimoji="0" lang="fr-FR" sz="1000" b="1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Ingenium</a:t>
            </a:r>
            <a:r>
              <a:rPr kumimoji="0" lang="fr-FR" sz="1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)</a:t>
            </a:r>
            <a:endParaRPr kumimoji="0" lang="fr-FR" sz="1000" b="1" i="1" u="none" strike="noStrike" kern="1200" cap="none" spc="0" normalizeH="0" baseline="0" noProof="0" dirty="0">
              <a:ln>
                <a:noFill/>
              </a:ln>
              <a:solidFill>
                <a:srgbClr val="ED7D3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1" name="BA_ING_CA">
            <a:extLst>
              <a:ext uri="{FF2B5EF4-FFF2-40B4-BE49-F238E27FC236}">
                <a16:creationId xmlns:a16="http://schemas.microsoft.com/office/drawing/2014/main" id="{25A59A44-7EC7-299B-FB69-00F4648F3752}"/>
              </a:ext>
            </a:extLst>
          </p:cNvPr>
          <p:cNvSpPr/>
          <p:nvPr/>
        </p:nvSpPr>
        <p:spPr>
          <a:xfrm>
            <a:off x="2043446" y="1970146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INVI/VC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Ingenium</a:t>
            </a: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 CA</a:t>
            </a:r>
          </a:p>
        </p:txBody>
      </p:sp>
      <p:sp>
        <p:nvSpPr>
          <p:cNvPr id="242" name="BA_PE_CA">
            <a:extLst>
              <a:ext uri="{FF2B5EF4-FFF2-40B4-BE49-F238E27FC236}">
                <a16:creationId xmlns:a16="http://schemas.microsoft.com/office/drawing/2014/main" id="{A27657C3-257A-05FA-8567-95851BFB2AA3}"/>
              </a:ext>
            </a:extLst>
          </p:cNvPr>
          <p:cNvSpPr/>
          <p:nvPr/>
        </p:nvSpPr>
        <p:spPr>
          <a:xfrm>
            <a:off x="2716487" y="1971824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PE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Base Pers CA</a:t>
            </a:r>
          </a:p>
        </p:txBody>
      </p:sp>
      <p:sp>
        <p:nvSpPr>
          <p:cNvPr id="243" name="BA_Autre_CA">
            <a:extLst>
              <a:ext uri="{FF2B5EF4-FFF2-40B4-BE49-F238E27FC236}">
                <a16:creationId xmlns:a16="http://schemas.microsoft.com/office/drawing/2014/main" id="{979C7EE2-FD93-A5C1-2074-4D49EAD55B64}"/>
              </a:ext>
            </a:extLst>
          </p:cNvPr>
          <p:cNvSpPr/>
          <p:nvPr/>
        </p:nvSpPr>
        <p:spPr>
          <a:xfrm>
            <a:off x="2377796" y="2309491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…</a:t>
            </a:r>
          </a:p>
        </p:txBody>
      </p:sp>
      <p:sp>
        <p:nvSpPr>
          <p:cNvPr id="244" name="BA_ING_LCL">
            <a:extLst>
              <a:ext uri="{FF2B5EF4-FFF2-40B4-BE49-F238E27FC236}">
                <a16:creationId xmlns:a16="http://schemas.microsoft.com/office/drawing/2014/main" id="{D0363C32-B90E-CD0F-FB92-6FB4805CFB01}"/>
              </a:ext>
            </a:extLst>
          </p:cNvPr>
          <p:cNvSpPr/>
          <p:nvPr/>
        </p:nvSpPr>
        <p:spPr>
          <a:xfrm>
            <a:off x="619469" y="1964817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INVI/VC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Ingenium</a:t>
            </a: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 LCL</a:t>
            </a:r>
          </a:p>
        </p:txBody>
      </p:sp>
      <p:sp>
        <p:nvSpPr>
          <p:cNvPr id="245" name="BA_PE_LCL">
            <a:extLst>
              <a:ext uri="{FF2B5EF4-FFF2-40B4-BE49-F238E27FC236}">
                <a16:creationId xmlns:a16="http://schemas.microsoft.com/office/drawing/2014/main" id="{F09CED9D-1193-7EA9-97AC-387F564B4C55}"/>
              </a:ext>
            </a:extLst>
          </p:cNvPr>
          <p:cNvSpPr/>
          <p:nvPr/>
        </p:nvSpPr>
        <p:spPr>
          <a:xfrm>
            <a:off x="1305439" y="1963152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PE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Base Pers LCL</a:t>
            </a:r>
          </a:p>
        </p:txBody>
      </p:sp>
      <p:sp>
        <p:nvSpPr>
          <p:cNvPr id="246" name="BA_Autre_LCL">
            <a:extLst>
              <a:ext uri="{FF2B5EF4-FFF2-40B4-BE49-F238E27FC236}">
                <a16:creationId xmlns:a16="http://schemas.microsoft.com/office/drawing/2014/main" id="{2B7B174C-C787-E0A9-49FD-525B0EF45F33}"/>
              </a:ext>
            </a:extLst>
          </p:cNvPr>
          <p:cNvSpPr/>
          <p:nvPr/>
        </p:nvSpPr>
        <p:spPr>
          <a:xfrm>
            <a:off x="1010215" y="2285082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…</a:t>
            </a:r>
          </a:p>
        </p:txBody>
      </p:sp>
      <p:cxnSp>
        <p:nvCxnSpPr>
          <p:cNvPr id="247" name="Connecteur droit">
            <a:extLst>
              <a:ext uri="{FF2B5EF4-FFF2-40B4-BE49-F238E27FC236}">
                <a16:creationId xmlns:a16="http://schemas.microsoft.com/office/drawing/2014/main" id="{5DE1A6D7-ADF9-2178-64C3-E8F811820F67}"/>
              </a:ext>
            </a:extLst>
          </p:cNvPr>
          <p:cNvCxnSpPr/>
          <p:nvPr/>
        </p:nvCxnSpPr>
        <p:spPr>
          <a:xfrm>
            <a:off x="1984365" y="1430388"/>
            <a:ext cx="4993" cy="1220450"/>
          </a:xfrm>
          <a:prstGeom prst="line">
            <a:avLst/>
          </a:prstGeom>
          <a:ln w="9525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8" name="ZT_CA">
            <a:extLst>
              <a:ext uri="{FF2B5EF4-FFF2-40B4-BE49-F238E27FC236}">
                <a16:creationId xmlns:a16="http://schemas.microsoft.com/office/drawing/2014/main" id="{8DBC210F-A65E-7264-98CA-04194B334EBA}"/>
              </a:ext>
            </a:extLst>
          </p:cNvPr>
          <p:cNvSpPr txBox="1"/>
          <p:nvPr/>
        </p:nvSpPr>
        <p:spPr>
          <a:xfrm>
            <a:off x="2418813" y="1371697"/>
            <a:ext cx="551086" cy="246221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CA</a:t>
            </a:r>
            <a:endParaRPr kumimoji="0" lang="fr-FR" sz="1000" b="1" i="1" u="none" strike="noStrike" kern="1200" cap="none" spc="0" normalizeH="0" baseline="0" noProof="0" dirty="0">
              <a:ln>
                <a:noFill/>
              </a:ln>
              <a:solidFill>
                <a:srgbClr val="ED7D3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9" name="ZT_LCL">
            <a:extLst>
              <a:ext uri="{FF2B5EF4-FFF2-40B4-BE49-F238E27FC236}">
                <a16:creationId xmlns:a16="http://schemas.microsoft.com/office/drawing/2014/main" id="{64702D5F-E3F0-686E-6351-BA6C7B89585E}"/>
              </a:ext>
            </a:extLst>
          </p:cNvPr>
          <p:cNvSpPr txBox="1"/>
          <p:nvPr/>
        </p:nvSpPr>
        <p:spPr>
          <a:xfrm>
            <a:off x="1032399" y="1378099"/>
            <a:ext cx="551086" cy="246221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LCL</a:t>
            </a:r>
            <a:endParaRPr kumimoji="0" lang="fr-FR" sz="1000" b="1" i="1" u="none" strike="noStrike" kern="1200" cap="none" spc="0" normalizeH="0" baseline="0" noProof="0" dirty="0">
              <a:ln>
                <a:noFill/>
              </a:ln>
              <a:solidFill>
                <a:srgbClr val="ED7D3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0" name="BA_CICS_CA">
            <a:extLst>
              <a:ext uri="{FF2B5EF4-FFF2-40B4-BE49-F238E27FC236}">
                <a16:creationId xmlns:a16="http://schemas.microsoft.com/office/drawing/2014/main" id="{0CCA919D-ED23-7C39-1737-6FBEDA245E53}"/>
              </a:ext>
            </a:extLst>
          </p:cNvPr>
          <p:cNvSpPr/>
          <p:nvPr/>
        </p:nvSpPr>
        <p:spPr>
          <a:xfrm>
            <a:off x="2021573" y="1646459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CICS</a:t>
            </a:r>
          </a:p>
        </p:txBody>
      </p:sp>
      <p:sp>
        <p:nvSpPr>
          <p:cNvPr id="251" name="BA_DB2_CA">
            <a:extLst>
              <a:ext uri="{FF2B5EF4-FFF2-40B4-BE49-F238E27FC236}">
                <a16:creationId xmlns:a16="http://schemas.microsoft.com/office/drawing/2014/main" id="{28B7FAD7-D65E-85D7-977D-22E94621D18A}"/>
              </a:ext>
            </a:extLst>
          </p:cNvPr>
          <p:cNvSpPr/>
          <p:nvPr/>
        </p:nvSpPr>
        <p:spPr>
          <a:xfrm>
            <a:off x="2717879" y="1645738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DB2</a:t>
            </a:r>
          </a:p>
        </p:txBody>
      </p:sp>
      <p:sp>
        <p:nvSpPr>
          <p:cNvPr id="252" name="BA_GG">
            <a:extLst>
              <a:ext uri="{FF2B5EF4-FFF2-40B4-BE49-F238E27FC236}">
                <a16:creationId xmlns:a16="http://schemas.microsoft.com/office/drawing/2014/main" id="{107F8F16-81F3-7146-549E-D8D9270FA757}"/>
              </a:ext>
            </a:extLst>
          </p:cNvPr>
          <p:cNvSpPr/>
          <p:nvPr/>
        </p:nvSpPr>
        <p:spPr>
          <a:xfrm>
            <a:off x="5540187" y="2498620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GG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Sim.Prév</a:t>
            </a: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. Décès</a:t>
            </a:r>
          </a:p>
        </p:txBody>
      </p:sp>
      <p:sp>
        <p:nvSpPr>
          <p:cNvPr id="253" name="BA_GH">
            <a:extLst>
              <a:ext uri="{FF2B5EF4-FFF2-40B4-BE49-F238E27FC236}">
                <a16:creationId xmlns:a16="http://schemas.microsoft.com/office/drawing/2014/main" id="{E718B9C1-728E-C279-0512-160A67B10E06}"/>
              </a:ext>
            </a:extLst>
          </p:cNvPr>
          <p:cNvSpPr/>
          <p:nvPr/>
        </p:nvSpPr>
        <p:spPr>
          <a:xfrm>
            <a:off x="6247379" y="2507699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GH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Moteur </a:t>
            </a:r>
            <a:r>
              <a:rPr kumimoji="0" lang="fr-FR" sz="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Epicaste</a:t>
            </a:r>
            <a:endParaRPr kumimoji="0" lang="fr-FR" sz="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4" name="Gr_Editique">
            <a:extLst>
              <a:ext uri="{FF2B5EF4-FFF2-40B4-BE49-F238E27FC236}">
                <a16:creationId xmlns:a16="http://schemas.microsoft.com/office/drawing/2014/main" id="{40D07950-40B9-6F35-45B1-0726D539FC20}"/>
              </a:ext>
            </a:extLst>
          </p:cNvPr>
          <p:cNvSpPr/>
          <p:nvPr/>
        </p:nvSpPr>
        <p:spPr>
          <a:xfrm>
            <a:off x="6994566" y="3106138"/>
            <a:ext cx="754043" cy="61200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  <a:effectLst>
            <a:outerShdw blurRad="50800" dist="38100" dir="2700000" algn="ctr" rotWithShape="0">
              <a:schemeClr val="tx1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/>
            </a:endParaRPr>
          </a:p>
        </p:txBody>
      </p:sp>
      <p:sp>
        <p:nvSpPr>
          <p:cNvPr id="255" name="ZT_Editique">
            <a:extLst>
              <a:ext uri="{FF2B5EF4-FFF2-40B4-BE49-F238E27FC236}">
                <a16:creationId xmlns:a16="http://schemas.microsoft.com/office/drawing/2014/main" id="{32FE7F71-849F-845D-228B-A0634FF928CC}"/>
              </a:ext>
            </a:extLst>
          </p:cNvPr>
          <p:cNvSpPr txBox="1"/>
          <p:nvPr/>
        </p:nvSpPr>
        <p:spPr>
          <a:xfrm>
            <a:off x="6967388" y="3133723"/>
            <a:ext cx="781221" cy="246221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Editique</a:t>
            </a:r>
          </a:p>
        </p:txBody>
      </p:sp>
      <p:sp>
        <p:nvSpPr>
          <p:cNvPr id="256" name="BA_ONDM">
            <a:extLst>
              <a:ext uri="{FF2B5EF4-FFF2-40B4-BE49-F238E27FC236}">
                <a16:creationId xmlns:a16="http://schemas.microsoft.com/office/drawing/2014/main" id="{4E8839B0-04E0-0AD5-1B4C-45633061B320}"/>
              </a:ext>
            </a:extLst>
          </p:cNvPr>
          <p:cNvSpPr/>
          <p:nvPr/>
        </p:nvSpPr>
        <p:spPr>
          <a:xfrm>
            <a:off x="7053165" y="3363079"/>
            <a:ext cx="648000" cy="276281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ONDM</a:t>
            </a:r>
            <a:endParaRPr kumimoji="0" lang="fr-FR" sz="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On </a:t>
            </a:r>
            <a:r>
              <a:rPr kumimoji="0" lang="fr-FR" sz="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Demand</a:t>
            </a:r>
            <a:endParaRPr kumimoji="0" lang="fr-FR" sz="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257" name="Groupe_Retour">
            <a:extLst>
              <a:ext uri="{FF2B5EF4-FFF2-40B4-BE49-F238E27FC236}">
                <a16:creationId xmlns:a16="http://schemas.microsoft.com/office/drawing/2014/main" id="{B7285DF6-9EB7-CEFE-E8FB-1895DCFF4A89}"/>
              </a:ext>
            </a:extLst>
          </p:cNvPr>
          <p:cNvGrpSpPr/>
          <p:nvPr/>
        </p:nvGrpSpPr>
        <p:grpSpPr>
          <a:xfrm>
            <a:off x="0" y="0"/>
            <a:ext cx="1417975" cy="461665"/>
            <a:chOff x="0" y="0"/>
            <a:chExt cx="1417975" cy="461665"/>
          </a:xfrm>
        </p:grpSpPr>
        <p:sp>
          <p:nvSpPr>
            <p:cNvPr id="258" name="Rectangle 257">
              <a:hlinkClick r:id="rId3" action="ppaction://hlinksldjump"/>
              <a:extLst>
                <a:ext uri="{FF2B5EF4-FFF2-40B4-BE49-F238E27FC236}">
                  <a16:creationId xmlns:a16="http://schemas.microsoft.com/office/drawing/2014/main" id="{7143E77A-FE9D-2219-B748-E8221649562A}"/>
                </a:ext>
              </a:extLst>
            </p:cNvPr>
            <p:cNvSpPr/>
            <p:nvPr/>
          </p:nvSpPr>
          <p:spPr>
            <a:xfrm>
              <a:off x="0" y="0"/>
              <a:ext cx="768479" cy="461665"/>
            </a:xfrm>
            <a:prstGeom prst="rect">
              <a:avLst/>
            </a:prstGeom>
            <a:noFill/>
          </p:spPr>
          <p:txBody>
            <a:bodyPr wrap="square" lIns="91440" tIns="45720" rIns="91440" bIns="45720" anchor="ctr">
              <a:spAutoFit/>
            </a:bodyPr>
            <a:lstStyle/>
            <a:p>
              <a:pPr algn="ctr"/>
              <a:r>
                <a:rPr lang="fr-FR" sz="2400" b="1" spc="50" dirty="0">
                  <a:ln w="9525" cmpd="sng">
                    <a:solidFill>
                      <a:schemeClr val="accent1"/>
                    </a:solidFill>
                    <a:prstDash val="solid"/>
                  </a:ln>
                  <a:solidFill>
                    <a:srgbClr val="70AD47">
                      <a:tint val="1000"/>
                    </a:srgbClr>
                  </a:solidFill>
                  <a:effectLst>
                    <a:glow rad="38100">
                      <a:schemeClr val="accent1">
                        <a:alpha val="40000"/>
                      </a:schemeClr>
                    </a:glow>
                  </a:effectLst>
                  <a:latin typeface="HoloLens MDL2 Assets" panose="050A0102010101010101" pitchFamily="18" charset="0"/>
                </a:rPr>
                <a:t></a:t>
              </a:r>
              <a:endParaRPr lang="fr-FR" sz="1400" dirty="0">
                <a:solidFill>
                  <a:srgbClr val="5B9BD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/>
              </a:endParaRPr>
            </a:p>
          </p:txBody>
        </p:sp>
        <p:sp>
          <p:nvSpPr>
            <p:cNvPr id="259" name="ZoneTexte 258">
              <a:extLst>
                <a:ext uri="{FF2B5EF4-FFF2-40B4-BE49-F238E27FC236}">
                  <a16:creationId xmlns:a16="http://schemas.microsoft.com/office/drawing/2014/main" id="{60FFD96D-ECE3-45EA-D23A-E3A79D1422D0}"/>
                </a:ext>
              </a:extLst>
            </p:cNvPr>
            <p:cNvSpPr txBox="1"/>
            <p:nvPr/>
          </p:nvSpPr>
          <p:spPr>
            <a:xfrm>
              <a:off x="525450" y="71273"/>
              <a:ext cx="89252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1400" dirty="0">
                  <a:solidFill>
                    <a:srgbClr val="5B9BD5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libri" panose="020F0502020204030204"/>
                </a:rPr>
                <a:t>Retour</a:t>
              </a:r>
              <a:endParaRPr lang="fr-FR" sz="1400" dirty="0"/>
            </a:p>
          </p:txBody>
        </p:sp>
      </p:grpSp>
      <p:sp>
        <p:nvSpPr>
          <p:cNvPr id="260" name="BA_PW">
            <a:extLst>
              <a:ext uri="{FF2B5EF4-FFF2-40B4-BE49-F238E27FC236}">
                <a16:creationId xmlns:a16="http://schemas.microsoft.com/office/drawing/2014/main" id="{690B535B-F649-99BB-513A-FBF11F9C6F44}"/>
              </a:ext>
            </a:extLst>
          </p:cNvPr>
          <p:cNvSpPr/>
          <p:nvPr/>
        </p:nvSpPr>
        <p:spPr>
          <a:xfrm>
            <a:off x="4517645" y="1819606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PW</a:t>
            </a:r>
            <a:br>
              <a:rPr lang="fr-FR" sz="10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/>
              </a:rPr>
            </a:b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SFC</a:t>
            </a:r>
          </a:p>
        </p:txBody>
      </p:sp>
      <p:sp>
        <p:nvSpPr>
          <p:cNvPr id="2" name="Étoile à 5 branches">
            <a:extLst>
              <a:ext uri="{FF2B5EF4-FFF2-40B4-BE49-F238E27FC236}">
                <a16:creationId xmlns:a16="http://schemas.microsoft.com/office/drawing/2014/main" id="{78966564-D4DC-59BC-A521-3BF68C5AC035}"/>
              </a:ext>
            </a:extLst>
          </p:cNvPr>
          <p:cNvSpPr/>
          <p:nvPr/>
        </p:nvSpPr>
        <p:spPr>
          <a:xfrm>
            <a:off x="9368151" y="554532"/>
            <a:ext cx="108000" cy="108000"/>
          </a:xfrm>
          <a:prstGeom prst="star5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Légende_Nouveau_Bloc">
            <a:extLst>
              <a:ext uri="{FF2B5EF4-FFF2-40B4-BE49-F238E27FC236}">
                <a16:creationId xmlns:a16="http://schemas.microsoft.com/office/drawing/2014/main" id="{3091D987-9067-A4F8-64DA-0BE1345E086D}"/>
              </a:ext>
            </a:extLst>
          </p:cNvPr>
          <p:cNvSpPr txBox="1"/>
          <p:nvPr/>
        </p:nvSpPr>
        <p:spPr>
          <a:xfrm>
            <a:off x="9464720" y="491658"/>
            <a:ext cx="934871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Nouveau bloc</a:t>
            </a:r>
          </a:p>
        </p:txBody>
      </p:sp>
      <p:sp>
        <p:nvSpPr>
          <p:cNvPr id="4" name="Légende_Nouveau_Bloc">
            <a:extLst>
              <a:ext uri="{FF2B5EF4-FFF2-40B4-BE49-F238E27FC236}">
                <a16:creationId xmlns:a16="http://schemas.microsoft.com/office/drawing/2014/main" id="{2F2E4796-6D31-5A10-53F8-39C34271ADD6}"/>
              </a:ext>
            </a:extLst>
          </p:cNvPr>
          <p:cNvSpPr txBox="1"/>
          <p:nvPr/>
        </p:nvSpPr>
        <p:spPr>
          <a:xfrm>
            <a:off x="9467926" y="723619"/>
            <a:ext cx="963725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Bloc supprimé</a:t>
            </a:r>
          </a:p>
        </p:txBody>
      </p:sp>
      <p:sp>
        <p:nvSpPr>
          <p:cNvPr id="5" name="Croix 4">
            <a:extLst>
              <a:ext uri="{FF2B5EF4-FFF2-40B4-BE49-F238E27FC236}">
                <a16:creationId xmlns:a16="http://schemas.microsoft.com/office/drawing/2014/main" id="{72AFBF12-5161-23A5-A5FE-0F7C28089F55}"/>
              </a:ext>
            </a:extLst>
          </p:cNvPr>
          <p:cNvSpPr/>
          <p:nvPr/>
        </p:nvSpPr>
        <p:spPr>
          <a:xfrm rot="2700000">
            <a:off x="9371629" y="785103"/>
            <a:ext cx="108000" cy="108000"/>
          </a:xfrm>
          <a:prstGeom prst="plus">
            <a:avLst>
              <a:gd name="adj" fmla="val 45756"/>
            </a:avLst>
          </a:prstGeom>
          <a:solidFill>
            <a:schemeClr val="tx1"/>
          </a:solidFill>
          <a:ln>
            <a:solidFill>
              <a:srgbClr val="FF0000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BA_GH">
            <a:extLst>
              <a:ext uri="{FF2B5EF4-FFF2-40B4-BE49-F238E27FC236}">
                <a16:creationId xmlns:a16="http://schemas.microsoft.com/office/drawing/2014/main" id="{2C77153D-5E17-D119-F55B-22E3CF7F5C3F}"/>
              </a:ext>
            </a:extLst>
          </p:cNvPr>
          <p:cNvSpPr/>
          <p:nvPr/>
        </p:nvSpPr>
        <p:spPr>
          <a:xfrm>
            <a:off x="6247379" y="1786384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HJ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Contenus statiques</a:t>
            </a:r>
          </a:p>
        </p:txBody>
      </p:sp>
      <p:sp>
        <p:nvSpPr>
          <p:cNvPr id="16" name="BA_H4">
            <a:extLst>
              <a:ext uri="{FF2B5EF4-FFF2-40B4-BE49-F238E27FC236}">
                <a16:creationId xmlns:a16="http://schemas.microsoft.com/office/drawing/2014/main" id="{4C57B2BB-CD7D-620C-B85D-1EE374062244}"/>
              </a:ext>
            </a:extLst>
          </p:cNvPr>
          <p:cNvSpPr/>
          <p:nvPr/>
        </p:nvSpPr>
        <p:spPr>
          <a:xfrm>
            <a:off x="9490384" y="2374473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H4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API VR </a:t>
            </a:r>
            <a:r>
              <a:rPr kumimoji="0" lang="fr-FR" sz="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Selfcare</a:t>
            </a:r>
            <a:endParaRPr kumimoji="0" lang="fr-FR" sz="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BA_HH">
            <a:extLst>
              <a:ext uri="{FF2B5EF4-FFF2-40B4-BE49-F238E27FC236}">
                <a16:creationId xmlns:a16="http://schemas.microsoft.com/office/drawing/2014/main" id="{6AF591CD-5FD1-B351-00C9-08CA3AEC59D0}"/>
              </a:ext>
            </a:extLst>
          </p:cNvPr>
          <p:cNvSpPr/>
          <p:nvPr/>
        </p:nvSpPr>
        <p:spPr>
          <a:xfrm>
            <a:off x="10160477" y="2374473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HH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API Sim. épargne</a:t>
            </a:r>
          </a:p>
        </p:txBody>
      </p:sp>
      <p:sp>
        <p:nvSpPr>
          <p:cNvPr id="23" name="Gr_LCL">
            <a:extLst>
              <a:ext uri="{FF2B5EF4-FFF2-40B4-BE49-F238E27FC236}">
                <a16:creationId xmlns:a16="http://schemas.microsoft.com/office/drawing/2014/main" id="{6E9BC11D-1F01-0364-63FA-8DA38535C7F9}"/>
              </a:ext>
            </a:extLst>
          </p:cNvPr>
          <p:cNvSpPr/>
          <p:nvPr/>
        </p:nvSpPr>
        <p:spPr>
          <a:xfrm>
            <a:off x="6075866" y="5122749"/>
            <a:ext cx="5632947" cy="1248594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ZT_CATS">
            <a:extLst>
              <a:ext uri="{FF2B5EF4-FFF2-40B4-BE49-F238E27FC236}">
                <a16:creationId xmlns:a16="http://schemas.microsoft.com/office/drawing/2014/main" id="{F33A3298-DE5F-DAA3-F563-7FAA7BB4E756}"/>
              </a:ext>
            </a:extLst>
          </p:cNvPr>
          <p:cNvSpPr txBox="1"/>
          <p:nvPr/>
        </p:nvSpPr>
        <p:spPr>
          <a:xfrm>
            <a:off x="6122619" y="5107819"/>
            <a:ext cx="5399528" cy="246221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LCL</a:t>
            </a:r>
            <a:endParaRPr kumimoji="0" lang="fr-FR" sz="1000" b="1" i="1" u="none" strike="noStrike" kern="1200" cap="none" spc="0" normalizeH="0" baseline="0" noProof="0" dirty="0">
              <a:ln>
                <a:noFill/>
              </a:ln>
              <a:solidFill>
                <a:srgbClr val="7030A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BA_BEL">
            <a:extLst>
              <a:ext uri="{FF2B5EF4-FFF2-40B4-BE49-F238E27FC236}">
                <a16:creationId xmlns:a16="http://schemas.microsoft.com/office/drawing/2014/main" id="{4AB45DE6-5031-1464-EC8E-C7FF5BFE378A}"/>
              </a:ext>
            </a:extLst>
          </p:cNvPr>
          <p:cNvSpPr/>
          <p:nvPr/>
        </p:nvSpPr>
        <p:spPr>
          <a:xfrm>
            <a:off x="6135322" y="5643027"/>
            <a:ext cx="648000" cy="288000"/>
          </a:xfrm>
          <a:prstGeom prst="roundRect">
            <a:avLst/>
          </a:prstGeom>
          <a:solidFill>
            <a:srgbClr val="B6D3EC"/>
          </a:solidFill>
          <a:ln w="6350">
            <a:solidFill>
              <a:schemeClr val="accent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BEL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6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/>
              </a:rPr>
              <a:t>-</a:t>
            </a:r>
            <a:endParaRPr kumimoji="0" lang="fr-FR" sz="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BA_Docapost">
            <a:extLst>
              <a:ext uri="{FF2B5EF4-FFF2-40B4-BE49-F238E27FC236}">
                <a16:creationId xmlns:a16="http://schemas.microsoft.com/office/drawing/2014/main" id="{2CD9B411-AFAD-268C-B266-BF630E15C5A0}"/>
              </a:ext>
            </a:extLst>
          </p:cNvPr>
          <p:cNvSpPr/>
          <p:nvPr/>
        </p:nvSpPr>
        <p:spPr>
          <a:xfrm>
            <a:off x="6145849" y="5987729"/>
            <a:ext cx="648000" cy="288000"/>
          </a:xfrm>
          <a:prstGeom prst="roundRect">
            <a:avLst/>
          </a:prstGeom>
          <a:solidFill>
            <a:srgbClr val="B6D3EC"/>
          </a:solidFill>
          <a:ln w="6350">
            <a:solidFill>
              <a:schemeClr val="accent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Docapost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6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/>
              </a:rPr>
              <a:t>-</a:t>
            </a:r>
            <a:endParaRPr kumimoji="0" lang="fr-FR" sz="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BA_Mescomptes">
            <a:extLst>
              <a:ext uri="{FF2B5EF4-FFF2-40B4-BE49-F238E27FC236}">
                <a16:creationId xmlns:a16="http://schemas.microsoft.com/office/drawing/2014/main" id="{E8FB558A-DABA-BB28-8944-2F803880F007}"/>
              </a:ext>
            </a:extLst>
          </p:cNvPr>
          <p:cNvSpPr/>
          <p:nvPr/>
        </p:nvSpPr>
        <p:spPr>
          <a:xfrm>
            <a:off x="6135322" y="5323284"/>
            <a:ext cx="1326281" cy="288000"/>
          </a:xfrm>
          <a:prstGeom prst="roundRect">
            <a:avLst/>
          </a:prstGeom>
          <a:solidFill>
            <a:srgbClr val="B6D3EC"/>
          </a:solidFill>
          <a:ln w="6350">
            <a:solidFill>
              <a:schemeClr val="accent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MesComptes</a:t>
            </a:r>
            <a:endParaRPr kumimoji="0" lang="fr-FR" sz="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Gr_SimulAssur">
            <a:extLst>
              <a:ext uri="{FF2B5EF4-FFF2-40B4-BE49-F238E27FC236}">
                <a16:creationId xmlns:a16="http://schemas.microsoft.com/office/drawing/2014/main" id="{2F9A619D-9D47-B3F1-45B6-BFB12A9891E3}"/>
              </a:ext>
            </a:extLst>
          </p:cNvPr>
          <p:cNvSpPr/>
          <p:nvPr/>
        </p:nvSpPr>
        <p:spPr>
          <a:xfrm>
            <a:off x="4476637" y="3792663"/>
            <a:ext cx="1627675" cy="1021008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  <a:effectLst>
            <a:outerShdw blurRad="50800" dist="38100" dir="2700000" algn="ctr" rotWithShape="0">
              <a:schemeClr val="tx1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/>
            </a:endParaRPr>
          </a:p>
        </p:txBody>
      </p:sp>
      <p:sp>
        <p:nvSpPr>
          <p:cNvPr id="8" name="ZT_SimulAssur">
            <a:extLst>
              <a:ext uri="{FF2B5EF4-FFF2-40B4-BE49-F238E27FC236}">
                <a16:creationId xmlns:a16="http://schemas.microsoft.com/office/drawing/2014/main" id="{F6E313F2-4FB2-7BE8-BE76-52867A9B5D4F}"/>
              </a:ext>
            </a:extLst>
          </p:cNvPr>
          <p:cNvSpPr txBox="1"/>
          <p:nvPr/>
        </p:nvSpPr>
        <p:spPr>
          <a:xfrm>
            <a:off x="4500323" y="3819978"/>
            <a:ext cx="1714025" cy="246221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1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SimulAssur</a:t>
            </a:r>
            <a:endParaRPr kumimoji="0" lang="fr-FR" sz="1000" b="1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BA_VS">
            <a:extLst>
              <a:ext uri="{FF2B5EF4-FFF2-40B4-BE49-F238E27FC236}">
                <a16:creationId xmlns:a16="http://schemas.microsoft.com/office/drawing/2014/main" id="{B1F0795F-DC32-2702-BD34-A1730B317932}"/>
              </a:ext>
            </a:extLst>
          </p:cNvPr>
          <p:cNvSpPr/>
          <p:nvPr/>
        </p:nvSpPr>
        <p:spPr>
          <a:xfrm>
            <a:off x="4611474" y="4115819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0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/>
              </a:rPr>
              <a:t>VS</a:t>
            </a:r>
            <a:endParaRPr kumimoji="0" lang="fr-FR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Sim, </a:t>
            </a:r>
            <a:r>
              <a:rPr kumimoji="0" lang="fr-FR" sz="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Ass.V</a:t>
            </a: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 pour LCL</a:t>
            </a:r>
          </a:p>
        </p:txBody>
      </p:sp>
      <p:sp>
        <p:nvSpPr>
          <p:cNvPr id="10" name="BA_RS">
            <a:extLst>
              <a:ext uri="{FF2B5EF4-FFF2-40B4-BE49-F238E27FC236}">
                <a16:creationId xmlns:a16="http://schemas.microsoft.com/office/drawing/2014/main" id="{E595480A-FF58-FFF5-080A-1651C775CC05}"/>
              </a:ext>
            </a:extLst>
          </p:cNvPr>
          <p:cNvSpPr/>
          <p:nvPr/>
        </p:nvSpPr>
        <p:spPr>
          <a:xfrm>
            <a:off x="5363789" y="4119805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SR</a:t>
            </a:r>
          </a:p>
          <a:p>
            <a:pPr lvl="0" algn="ctr">
              <a:defRPr/>
            </a:pPr>
            <a:r>
              <a:rPr lang="fr-FR" sz="6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Sim, </a:t>
            </a:r>
            <a:r>
              <a:rPr lang="fr-FR" sz="600" dirty="0" err="1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Ass.V</a:t>
            </a:r>
            <a:r>
              <a:rPr lang="fr-FR" sz="6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pour CA</a:t>
            </a:r>
          </a:p>
        </p:txBody>
      </p:sp>
      <p:sp>
        <p:nvSpPr>
          <p:cNvPr id="11" name="BA_EP">
            <a:extLst>
              <a:ext uri="{FF2B5EF4-FFF2-40B4-BE49-F238E27FC236}">
                <a16:creationId xmlns:a16="http://schemas.microsoft.com/office/drawing/2014/main" id="{F68FC2EB-7FEF-4486-CAD5-C2498D43762A}"/>
              </a:ext>
            </a:extLst>
          </p:cNvPr>
          <p:cNvSpPr/>
          <p:nvPr/>
        </p:nvSpPr>
        <p:spPr>
          <a:xfrm>
            <a:off x="4611474" y="4500624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0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/>
              </a:rPr>
              <a:t>EP</a:t>
            </a:r>
            <a:endParaRPr kumimoji="0" lang="fr-FR" sz="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Sim, EPICASTE</a:t>
            </a:r>
          </a:p>
        </p:txBody>
      </p:sp>
      <p:sp>
        <p:nvSpPr>
          <p:cNvPr id="12" name="BA_Autre_PFD">
            <a:extLst>
              <a:ext uri="{FF2B5EF4-FFF2-40B4-BE49-F238E27FC236}">
                <a16:creationId xmlns:a16="http://schemas.microsoft.com/office/drawing/2014/main" id="{5F7F4B28-072A-819C-15EE-7DD92ABF0985}"/>
              </a:ext>
            </a:extLst>
          </p:cNvPr>
          <p:cNvSpPr/>
          <p:nvPr/>
        </p:nvSpPr>
        <p:spPr>
          <a:xfrm>
            <a:off x="5363789" y="4472097"/>
            <a:ext cx="648000" cy="288000"/>
          </a:xfrm>
          <a:prstGeom prst="roundRect">
            <a:avLst/>
          </a:prstGeom>
          <a:solidFill>
            <a:srgbClr val="B6D3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3746602887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E6A8E0370D4B54D99C92E33153F946A" ma:contentTypeVersion="" ma:contentTypeDescription="Crée un document." ma:contentTypeScope="" ma:versionID="584589e785576f0fb712aec22b0942f2">
  <xsd:schema xmlns:xsd="http://www.w3.org/2001/XMLSchema" xmlns:xs="http://www.w3.org/2001/XMLSchema" xmlns:p="http://schemas.microsoft.com/office/2006/metadata/properties" xmlns:ns2="22e88a27-55ef-4084-9dbd-641a4bb576ce" targetNamespace="http://schemas.microsoft.com/office/2006/metadata/properties" ma:root="true" ma:fieldsID="bca53b08244bd94c27361818980d4ceb" ns2:_="">
    <xsd:import namespace="22e88a27-55ef-4084-9dbd-641a4bb576ce"/>
    <xsd:element name="properties">
      <xsd:complexType>
        <xsd:sequence>
          <xsd:element name="documentManagement">
            <xsd:complexType>
              <xsd:all>
                <xsd:element ref="ns2:SharedWithUser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2e88a27-55ef-4084-9dbd-641a4bb576ce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Partagé avec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AA249D5C-8B6C-4E19-8F04-9EB2BED28D23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343D69B8-DDBA-44F4-BA2E-06F95065CF31}">
  <ds:schemaRefs>
    <ds:schemaRef ds:uri="http://purl.org/dc/dcmitype/"/>
    <ds:schemaRef ds:uri="http://schemas.microsoft.com/office/2006/metadata/properties"/>
    <ds:schemaRef ds:uri="http://schemas.microsoft.com/office/2006/documentManagement/types"/>
    <ds:schemaRef ds:uri="http://www.w3.org/XML/1998/namespace"/>
    <ds:schemaRef ds:uri="http://purl.org/dc/elements/1.1/"/>
    <ds:schemaRef ds:uri="http://schemas.microsoft.com/office/infopath/2007/PartnerControls"/>
    <ds:schemaRef ds:uri="http://schemas.openxmlformats.org/package/2006/metadata/core-properties"/>
    <ds:schemaRef ds:uri="22e88a27-55ef-4084-9dbd-641a4bb576ce"/>
    <ds:schemaRef ds:uri="http://purl.org/dc/terms/"/>
  </ds:schemaRefs>
</ds:datastoreItem>
</file>

<file path=customXml/itemProps3.xml><?xml version="1.0" encoding="utf-8"?>
<ds:datastoreItem xmlns:ds="http://schemas.openxmlformats.org/officeDocument/2006/customXml" ds:itemID="{7464D58B-CBDD-48A7-BA0B-E99BCA9DB72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2e88a27-55ef-4084-9dbd-641a4bb576c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18145</TotalTime>
  <Words>5296</Words>
  <Application>Microsoft Office PowerPoint</Application>
  <PresentationFormat>Grand écran</PresentationFormat>
  <Paragraphs>2922</Paragraphs>
  <Slides>15</Slides>
  <Notes>14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15</vt:i4>
      </vt:variant>
    </vt:vector>
  </HeadingPairs>
  <TitlesOfParts>
    <vt:vector size="21" baseType="lpstr">
      <vt:lpstr>Aptos</vt:lpstr>
      <vt:lpstr>Arial</vt:lpstr>
      <vt:lpstr>Calibri</vt:lpstr>
      <vt:lpstr>Calibri Light</vt:lpstr>
      <vt:lpstr>HoloLens MDL2 Assets</vt:lpstr>
      <vt:lpstr>Thème Office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CA-GIP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SISSOKO-CAMARA_CAPGEMINI Mariam</dc:creator>
  <cp:lastModifiedBy>KAMKUI-LELE_HN-SERVICES Frederic</cp:lastModifiedBy>
  <cp:revision>80</cp:revision>
  <dcterms:created xsi:type="dcterms:W3CDTF">2025-01-29T16:05:47Z</dcterms:created>
  <dcterms:modified xsi:type="dcterms:W3CDTF">2026-02-17T08:29:31Z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4cad6431-53ea-4466-8111-3fefa470bcb9_Enabled">
    <vt:lpwstr>true</vt:lpwstr>
  </property>
  <property fmtid="{D5CDD505-2E9C-101B-9397-08002B2CF9AE}" pid="3" name="MSIP_Label_4cad6431-53ea-4466-8111-3fefa470bcb9_SetDate">
    <vt:lpwstr>2025-01-29T17:21:16Z</vt:lpwstr>
  </property>
  <property fmtid="{D5CDD505-2E9C-101B-9397-08002B2CF9AE}" pid="4" name="MSIP_Label_4cad6431-53ea-4466-8111-3fefa470bcb9_Method">
    <vt:lpwstr>Privileged</vt:lpwstr>
  </property>
  <property fmtid="{D5CDD505-2E9C-101B-9397-08002B2CF9AE}" pid="5" name="MSIP_Label_4cad6431-53ea-4466-8111-3fefa470bcb9_Name">
    <vt:lpwstr>Usage Interne</vt:lpwstr>
  </property>
  <property fmtid="{D5CDD505-2E9C-101B-9397-08002B2CF9AE}" pid="6" name="MSIP_Label_4cad6431-53ea-4466-8111-3fefa470bcb9_SiteId">
    <vt:lpwstr>fb3baf17-c313-474c-8d5d-577a3ec97a32</vt:lpwstr>
  </property>
  <property fmtid="{D5CDD505-2E9C-101B-9397-08002B2CF9AE}" pid="7" name="MSIP_Label_4cad6431-53ea-4466-8111-3fefa470bcb9_ActionId">
    <vt:lpwstr>0cd4c741-2a2c-4308-8360-7c607bb9f67e</vt:lpwstr>
  </property>
  <property fmtid="{D5CDD505-2E9C-101B-9397-08002B2CF9AE}" pid="8" name="MSIP_Label_4cad6431-53ea-4466-8111-3fefa470bcb9_ContentBits">
    <vt:lpwstr>0</vt:lpwstr>
  </property>
  <property fmtid="{D5CDD505-2E9C-101B-9397-08002B2CF9AE}" pid="9" name="ContentTypeId">
    <vt:lpwstr>0x010100DE6A8E0370D4B54D99C92E33153F946A</vt:lpwstr>
  </property>
</Properties>
</file>